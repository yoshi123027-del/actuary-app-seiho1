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74" r:id="rId6"/>
    <p:sldId id="260" r:id="rId7"/>
    <p:sldId id="261" r:id="rId8"/>
    <p:sldId id="262" r:id="rId9"/>
    <p:sldId id="287" r:id="rId10"/>
    <p:sldId id="264" r:id="rId11"/>
    <p:sldId id="265" r:id="rId12"/>
    <p:sldId id="276" r:id="rId13"/>
    <p:sldId id="266" r:id="rId14"/>
    <p:sldId id="275" r:id="rId15"/>
    <p:sldId id="277" r:id="rId16"/>
    <p:sldId id="279" r:id="rId17"/>
    <p:sldId id="288" r:id="rId18"/>
    <p:sldId id="269" r:id="rId19"/>
    <p:sldId id="281" r:id="rId20"/>
    <p:sldId id="280" r:id="rId21"/>
    <p:sldId id="270" r:id="rId22"/>
    <p:sldId id="283" r:id="rId23"/>
    <p:sldId id="271" r:id="rId24"/>
    <p:sldId id="273" r:id="rId25"/>
  </p:sldIdLst>
  <p:sldSz cx="9144000" cy="5143500" type="screen16x9"/>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875C"/>
    <a:srgbClr val="1C75B3"/>
    <a:srgbClr val="C9534B"/>
    <a:srgbClr val="2A7EB8"/>
    <a:srgbClr val="045730"/>
    <a:srgbClr val="D94138"/>
    <a:srgbClr val="04522F"/>
    <a:srgbClr val="05337C"/>
    <a:srgbClr val="4B6073"/>
    <a:srgbClr val="7080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454" autoAdjust="0"/>
    <p:restoredTop sz="87758" autoAdjust="0"/>
  </p:normalViewPr>
  <p:slideViewPr>
    <p:cSldViewPr snapToGrid="0" snapToObjects="1">
      <p:cViewPr varScale="1">
        <p:scale>
          <a:sx n="85" d="100"/>
          <a:sy n="85" d="100"/>
        </p:scale>
        <p:origin x="108" y="7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bar"/>
        <c:grouping val="clustered"/>
        <c:varyColors val="0"/>
        <c:ser>
          <c:idx val="0"/>
          <c:order val="0"/>
          <c:tx>
            <c:v>GMAE</c:v>
          </c:tx>
          <c:spPr>
            <a:solidFill>
              <a:srgbClr val="2F73B7"/>
            </a:solidFill>
          </c:spPr>
          <c:invertIfNegative val="1"/>
          <c:dLbls>
            <c:spPr>
              <a:noFill/>
              <a:ln>
                <a:noFill/>
              </a:ln>
              <a:effectLst/>
            </c:spPr>
            <c:txPr>
              <a:bodyPr anchorCtr="1"/>
              <a:lstStyle/>
              <a:p>
                <a:pPr>
                  <a:defRPr sz="863" b="1">
                    <a:solidFill>
                      <a:srgbClr val="111827"/>
                    </a:solidFill>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PCMV</c:v>
              </c:pt>
              <c:pt idx="1">
                <c:v>DOMV</c:v>
              </c:pt>
              <c:pt idx="2">
                <c:v>cTCMV</c:v>
              </c:pt>
              <c:pt idx="3">
                <c:v>dTCMV</c:v>
              </c:pt>
            </c:strLit>
          </c:cat>
          <c:val>
            <c:numLit>
              <c:formatCode>0.000</c:formatCode>
              <c:ptCount val="4"/>
              <c:pt idx="0">
                <c:v>2.5000000000000001E-2</c:v>
              </c:pt>
              <c:pt idx="1">
                <c:v>7.8E-2</c:v>
              </c:pt>
              <c:pt idx="2">
                <c:v>6.0000000000000001E-3</c:v>
              </c:pt>
              <c:pt idx="3">
                <c:v>6.9000000000000006E-2</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FE9-41C4-BA53-509A2ED7F592}"/>
            </c:ext>
          </c:extLst>
        </c:ser>
        <c:ser>
          <c:idx val="1"/>
          <c:order val="1"/>
          <c:tx>
            <c:v>最大差</c:v>
          </c:tx>
          <c:spPr>
            <a:solidFill>
              <a:srgbClr val="9CC7EE"/>
            </a:solidFill>
          </c:spPr>
          <c:invertIfNegative val="1"/>
          <c:dLbls>
            <c:spPr>
              <a:noFill/>
              <a:ln>
                <a:noFill/>
              </a:ln>
              <a:effectLst/>
            </c:spPr>
            <c:txPr>
              <a:bodyPr anchorCtr="1"/>
              <a:lstStyle/>
              <a:p>
                <a:pPr>
                  <a:defRPr sz="863" b="1">
                    <a:solidFill>
                      <a:srgbClr val="111827"/>
                    </a:solidFill>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PCMV</c:v>
              </c:pt>
              <c:pt idx="1">
                <c:v>DOMV</c:v>
              </c:pt>
              <c:pt idx="2">
                <c:v>cTCMV</c:v>
              </c:pt>
              <c:pt idx="3">
                <c:v>dTCMV</c:v>
              </c:pt>
            </c:strLit>
          </c:cat>
          <c:val>
            <c:numLit>
              <c:formatCode>0.000</c:formatCode>
              <c:ptCount val="4"/>
              <c:pt idx="0">
                <c:v>7.3999999999999996E-2</c:v>
              </c:pt>
              <c:pt idx="1">
                <c:v>0.21099999999999999</c:v>
              </c:pt>
              <c:pt idx="2">
                <c:v>2.5000000000000001E-2</c:v>
              </c:pt>
              <c:pt idx="3">
                <c:v>0.27200000000000002</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2FE9-41C4-BA53-509A2ED7F592}"/>
            </c:ext>
          </c:extLst>
        </c:ser>
        <c:dLbls>
          <c:dLblPos val="outEnd"/>
          <c:showLegendKey val="0"/>
          <c:showVal val="1"/>
          <c:showCatName val="0"/>
          <c:showSerName val="0"/>
          <c:showPercent val="0"/>
          <c:showBubbleSize val="0"/>
        </c:dLbls>
        <c:gapWidth val="58"/>
        <c:axId val="48650112"/>
        <c:axId val="48672768"/>
      </c:barChart>
      <c:catAx>
        <c:axId val="48650112"/>
        <c:scaling>
          <c:orientation val="minMax"/>
        </c:scaling>
        <c:delete val="0"/>
        <c:axPos val="l"/>
        <c:majorGridlines>
          <c:spPr>
            <a:ln w="9525">
              <a:solidFill>
                <a:srgbClr val="E5EAF0"/>
              </a:solidFill>
              <a:prstDash val="solid"/>
            </a:ln>
          </c:spPr>
        </c:majorGridlines>
        <c:numFmt formatCode="General" sourceLinked="1"/>
        <c:majorTickMark val="none"/>
        <c:minorTickMark val="none"/>
        <c:tickLblPos val="nextTo"/>
        <c:spPr>
          <a:ln w="9525">
            <a:solidFill>
              <a:srgbClr val="CBD5E1"/>
            </a:solidFill>
            <a:prstDash val="solid"/>
          </a:ln>
        </c:spPr>
        <c:txPr>
          <a:bodyPr anchorCtr="1"/>
          <a:lstStyle/>
          <a:p>
            <a:pPr>
              <a:defRPr sz="825">
                <a:solidFill>
                  <a:srgbClr val="64748B"/>
                </a:solidFill>
              </a:defRPr>
            </a:pPr>
            <a:endParaRPr lang="ja-JP"/>
          </a:p>
        </c:txPr>
        <c:crossAx val="48672768"/>
        <c:crosses val="autoZero"/>
        <c:auto val="1"/>
        <c:lblAlgn val="ctr"/>
        <c:lblOffset val="100"/>
        <c:noMultiLvlLbl val="0"/>
      </c:catAx>
      <c:valAx>
        <c:axId val="48672768"/>
        <c:scaling>
          <c:orientation val="minMax"/>
        </c:scaling>
        <c:delete val="0"/>
        <c:axPos val="b"/>
        <c:numFmt formatCode="0.000" sourceLinked="1"/>
        <c:majorTickMark val="none"/>
        <c:minorTickMark val="none"/>
        <c:tickLblPos val="nextTo"/>
        <c:spPr>
          <a:ln w="9525">
            <a:solidFill>
              <a:srgbClr val="CBD5E1"/>
            </a:solidFill>
            <a:prstDash val="solid"/>
          </a:ln>
        </c:spPr>
        <c:txPr>
          <a:bodyPr anchorCtr="1"/>
          <a:lstStyle/>
          <a:p>
            <a:pPr>
              <a:defRPr sz="975" b="1">
                <a:solidFill>
                  <a:srgbClr val="111827"/>
                </a:solidFill>
              </a:defRPr>
            </a:pPr>
            <a:endParaRPr lang="ja-JP"/>
          </a:p>
        </c:txPr>
        <c:crossAx val="48650112"/>
        <c:crosses val="autoZero"/>
        <c:crossBetween val="between"/>
      </c:valAx>
      <c:spPr>
        <a:solidFill>
          <a:srgbClr val="FFFFFF"/>
        </a:solidFill>
        <a:ln w="0">
          <a:noFill/>
          <a:prstDash val="solid"/>
        </a:ln>
      </c:spPr>
    </c:plotArea>
    <c:legend>
      <c:legendPos val="b"/>
      <c:overlay val="0"/>
      <c:txPr>
        <a:bodyPr anchorCtr="1"/>
        <a:lstStyle/>
        <a:p>
          <a:pPr>
            <a:defRPr sz="900">
              <a:solidFill>
                <a:srgbClr val="64748B"/>
              </a:solidFill>
            </a:defRPr>
          </a:pPr>
          <a:endParaRPr lang="ja-JP"/>
        </a:p>
      </c:txPr>
    </c:legend>
    <c:plotVisOnly val="1"/>
    <c:dispBlanksAs val="zero"/>
    <c:showDLblsOverMax val="1"/>
  </c:chart>
  <c:spPr>
    <a:solidFill>
      <a:srgbClr val="FFFFFF"/>
    </a:solidFill>
    <a:ln w="0">
      <a:no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55A53-3288-F617-7282-6056042F43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1BE482-9BED-0A8C-F07F-AC2D9AB556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3F8343-61B4-EFD8-4955-ED6855B0B862}"/>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CFEBBA13-DBD4-C2B0-7C5A-FCBED9D2347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991126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118F6-B6D9-365A-D141-FC1D1818E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964190-86B2-75A7-CC19-AACF7C8255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63C7B0-C5E0-554A-8B77-FD06F330FB11}"/>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91F75E83-E31E-7EE1-7176-A6B3E954A93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7537542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2AAE-0376-AB47-3ADD-310830201D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C03FF-1748-135B-9353-2984582F92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A74188-A9F8-19F5-86FE-30F57555F7E8}"/>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7A0C463F-7B4E-FC28-0CCD-6019660BB22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535077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BD6C7-4A60-220C-1531-24BEE5A76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460A2D-D229-16AE-17B8-6061F6005B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FEF7C7-1664-47B1-6DAD-B5B9A6955814}"/>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F3A05E66-C40E-8792-22A4-0CF8EA016F6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38402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EB087-CF1D-A461-B4C1-F2CAFA250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D7A614-7F48-1613-4032-2E302BFCF0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F7C7B4-7D44-2D2F-29AF-146EA732BACB}"/>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703B1BF5-7903-D589-FFC4-A101734656C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449005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77016-076A-BEEE-D9C5-7A745B327D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1B12DE-CB63-1D12-BB88-F637CF24C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2C9B60-4CA2-CD8B-3350-43DEDFDE82E8}"/>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B0370016-70C8-6603-888A-154DFD05C38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721672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C3267-342B-88CD-CACC-C44DBD399B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568BF8-012B-1B92-92B3-38382AC83D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72C145-D9BE-1259-A369-8F301BD50D50}"/>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C7458674-40C1-1F1A-7D6D-6778FAF6B9B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320972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22B-EFF2-FCE1-D43E-29AD5940AD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726AB5-D5B6-E3D1-3D3A-2E867446F5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03D1C5-C69E-3655-FFFE-3C11378CAC13}"/>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CA8D6941-7A3D-52A9-60E7-0D8129F76DE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3622758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29439-883B-69D4-4DBF-6197153334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D89D34-4D1D-51D5-7ADF-24A7A32223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1C6F89-C4CB-F65F-E29C-CB974ABA2025}"/>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AB9062F3-5745-D59F-EAA8-5BE61C353AD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448212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AC824-429E-4FBA-9E0F-AFA57D013CC0}"/>
              </a:ext>
            </a:extLst>
          </p:cNvPr>
          <p:cNvSpPr>
            <a:spLocks noGrp="1"/>
          </p:cNvSpPr>
          <p:nvPr>
            <p:ph type="ctrTitle" hasCustomPrompt="1"/>
          </p:nvPr>
        </p:nvSpPr>
        <p:spPr>
          <a:xfrm>
            <a:off x="685800" y="1597819"/>
            <a:ext cx="7772400" cy="1102519"/>
          </a:xfrm>
        </p:spPr>
        <p:txBody>
          <a:bodyPr/>
          <a:lstStyle>
            <a:lvl1pPr>
              <a:buNone/>
              <a:defRPr/>
            </a:lvl1pPr>
          </a:lstStyle>
          <a:p>
            <a:r>
              <a:t>Century Gothic 44</a:t>
            </a:r>
          </a:p>
        </p:txBody>
      </p:sp>
      <p:sp>
        <p:nvSpPr>
          <p:cNvPr id="3" name="Subtitle 2">
            <a:extLst>
              <a:ext uri="{FF2B5EF4-FFF2-40B4-BE49-F238E27FC236}">
                <a16:creationId xmlns:a16="http://schemas.microsoft.com/office/drawing/2014/main" id="{1030D375-A893-4528-94B4-B0814F6B13B4}"/>
              </a:ext>
            </a:extLst>
          </p:cNvPr>
          <p:cNvSpPr>
            <a:spLocks noGrp="1"/>
          </p:cNvSpPr>
          <p:nvPr>
            <p:ph type="subTitle" idx="1" hasCustomPrompt="1"/>
          </p:nvPr>
        </p:nvSpPr>
        <p:spPr>
          <a:xfrm>
            <a:off x="1371600" y="2914650"/>
            <a:ext cx="6400800" cy="1314450"/>
          </a:xfrm>
        </p:spPr>
        <p:txBody>
          <a:bodyPr/>
          <a:lstStyle>
            <a:lvl1pPr marL="0" indent="0" algn="ctr">
              <a:buNone/>
              <a:defRPr>
                <a:solidFill>
                  <a:srgbClr val="333333"/>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Century Gothic 32</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543DD-1B6C-45DD-98B2-74B6F700FAFB}"/>
              </a:ext>
            </a:extLst>
          </p:cNvPr>
          <p:cNvSpPr>
            <a:spLocks noGrp="1"/>
          </p:cNvSpPr>
          <p:nvPr>
            <p:ph type="title" hasCustomPrompt="1"/>
          </p:nvPr>
        </p:nvSpPr>
        <p:spPr/>
        <p:txBody>
          <a:bodyPr/>
          <a:lstStyle>
            <a:lvl1pPr>
              <a:buNone/>
              <a:defRPr/>
            </a:lvl1pPr>
          </a:lstStyle>
          <a:p>
            <a:r>
              <a:t>Century Gothic 44</a:t>
            </a:r>
          </a:p>
        </p:txBody>
      </p:sp>
      <p:sp>
        <p:nvSpPr>
          <p:cNvPr id="3" name="Content Placeholder 2">
            <a:extLst>
              <a:ext uri="{FF2B5EF4-FFF2-40B4-BE49-F238E27FC236}">
                <a16:creationId xmlns:a16="http://schemas.microsoft.com/office/drawing/2014/main" id="{327DF5ED-8821-49CF-B29D-4AF2D4961302}"/>
              </a:ext>
            </a:extLst>
          </p:cNvPr>
          <p:cNvSpPr>
            <a:spLocks noGrp="1"/>
          </p:cNvSpPr>
          <p:nvPr>
            <p:ph idx="1" hasCustomPrompt="1"/>
          </p:nvPr>
        </p:nvSpPr>
        <p:spPr/>
        <p:txBody>
          <a:bodyPr/>
          <a:lstStyle>
            <a:lvl1pPr>
              <a:buNone/>
              <a:defRPr>
                <a:solidFill>
                  <a:srgbClr val="333333"/>
                </a:solidFill>
              </a:defRPr>
            </a:lvl1pPr>
            <a:lvl2pPr>
              <a:buNone/>
              <a:defRPr>
                <a:solidFill>
                  <a:srgbClr val="333333"/>
                </a:solidFill>
              </a:defRPr>
            </a:lvl2pPr>
            <a:lvl3pPr>
              <a:buNone/>
              <a:defRPr>
                <a:solidFill>
                  <a:srgbClr val="333333"/>
                </a:solidFill>
              </a:defRPr>
            </a:lvl3pPr>
            <a:lvl4pPr>
              <a:buNone/>
              <a:defRPr>
                <a:solidFill>
                  <a:srgbClr val="333333"/>
                </a:solidFill>
              </a:defRPr>
            </a:lvl4pPr>
            <a:lvl5pPr>
              <a:buNone/>
              <a:defRPr>
                <a:solidFill>
                  <a:srgbClr val="333333"/>
                </a:solidFill>
              </a:defRPr>
            </a:lvl5pPr>
          </a:lstStyle>
          <a:p>
            <a:pPr>
              <a:buNone/>
            </a:pPr>
            <a:r>
              <a:t>Century Gothic 32</a:t>
            </a:r>
          </a:p>
          <a:p>
            <a:pPr>
              <a:buNone/>
            </a:pPr>
            <a:r>
              <a:t>Century Gothic 28</a:t>
            </a:r>
          </a:p>
          <a:p>
            <a:pPr>
              <a:buNone/>
            </a:pPr>
            <a:r>
              <a:t>Century Gothic 24</a:t>
            </a:r>
          </a:p>
          <a:p>
            <a:pPr>
              <a:buNone/>
            </a:pPr>
            <a:r>
              <a:t>Century Gothic 20</a:t>
            </a:r>
          </a:p>
          <a:p>
            <a:pPr>
              <a:buNone/>
            </a:pPr>
            <a:r>
              <a:t>Century Gothic 20</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2943F-AF54-4B16-9225-07F57DEB511F}"/>
              </a:ext>
            </a:extLst>
          </p:cNvPr>
          <p:cNvSpPr>
            <a:spLocks noGrp="1"/>
          </p:cNvSpPr>
          <p:nvPr>
            <p:ph type="title" hasCustomPrompt="1"/>
          </p:nvPr>
        </p:nvSpPr>
        <p:spPr>
          <a:xfrm>
            <a:off x="722313" y="3305176"/>
            <a:ext cx="7772400" cy="1021556"/>
          </a:xfrm>
        </p:spPr>
        <p:txBody>
          <a:bodyPr anchor="t"/>
          <a:lstStyle>
            <a:lvl1pPr algn="l">
              <a:buNone/>
              <a:defRPr sz="4000" b="1" cap="all"/>
            </a:lvl1pPr>
          </a:lstStyle>
          <a:p>
            <a:r>
              <a:t>Century Gothic 40</a:t>
            </a:r>
          </a:p>
        </p:txBody>
      </p:sp>
      <p:sp>
        <p:nvSpPr>
          <p:cNvPr id="3" name="Text Placeholder 2">
            <a:extLst>
              <a:ext uri="{FF2B5EF4-FFF2-40B4-BE49-F238E27FC236}">
                <a16:creationId xmlns:a16="http://schemas.microsoft.com/office/drawing/2014/main" id="{24E19B8B-B00A-4644-BAB2-66D33153582F}"/>
              </a:ext>
            </a:extLst>
          </p:cNvPr>
          <p:cNvSpPr>
            <a:spLocks noGrp="1"/>
          </p:cNvSpPr>
          <p:nvPr>
            <p:ph type="body" idx="1" hasCustomPrompt="1"/>
          </p:nvPr>
        </p:nvSpPr>
        <p:spPr>
          <a:xfrm>
            <a:off x="722313" y="2180035"/>
            <a:ext cx="7772400" cy="1125140"/>
          </a:xfrm>
        </p:spPr>
        <p:txBody>
          <a:bodyPr anchor="b"/>
          <a:lstStyle>
            <a:lvl1pPr marL="0" indent="0">
              <a:buNone/>
              <a:defRPr sz="2000">
                <a:solidFill>
                  <a:srgbClr val="33333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a:buNone/>
            </a:pPr>
            <a:r>
              <a:t>Century Gothic 20</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8F97A-B2AA-412D-A2AE-4A7511676D3C}"/>
              </a:ext>
            </a:extLst>
          </p:cNvPr>
          <p:cNvSpPr>
            <a:spLocks noGrp="1"/>
          </p:cNvSpPr>
          <p:nvPr>
            <p:ph type="title" hasCustomPrompt="1"/>
          </p:nvPr>
        </p:nvSpPr>
        <p:spPr>
          <a:xfrm>
            <a:off x="457200" y="905347"/>
            <a:ext cx="8229600" cy="857250"/>
          </a:xfrm>
        </p:spPr>
        <p:txBody>
          <a:bodyPr/>
          <a:lstStyle>
            <a:lvl1pPr>
              <a:buNone/>
              <a:defRPr/>
            </a:lvl1pPr>
          </a:lstStyle>
          <a:p>
            <a:r>
              <a:t>Century Gothic 44</a:t>
            </a:r>
          </a:p>
        </p:txBody>
      </p:sp>
      <p:sp>
        <p:nvSpPr>
          <p:cNvPr id="3" name="Content Placeholder 2">
            <a:extLst>
              <a:ext uri="{FF2B5EF4-FFF2-40B4-BE49-F238E27FC236}">
                <a16:creationId xmlns:a16="http://schemas.microsoft.com/office/drawing/2014/main" id="{0C3FD5E9-C352-45E8-9AE7-09344C13CF98}"/>
              </a:ext>
            </a:extLst>
          </p:cNvPr>
          <p:cNvSpPr>
            <a:spLocks noGrp="1"/>
          </p:cNvSpPr>
          <p:nvPr>
            <p:ph idx="1" hasCustomPrompt="1"/>
          </p:nvPr>
        </p:nvSpPr>
        <p:spPr>
          <a:xfrm>
            <a:off x="457200" y="1762597"/>
            <a:ext cx="4038600" cy="3160104"/>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a:buNone/>
            </a:pPr>
            <a:r>
              <a:t>Century Gothic 28</a:t>
            </a:r>
          </a:p>
          <a:p>
            <a:pPr>
              <a:buNone/>
            </a:pPr>
            <a:r>
              <a:t>Century Gothic 24</a:t>
            </a:r>
          </a:p>
          <a:p>
            <a:pPr>
              <a:buNone/>
            </a:pPr>
            <a:r>
              <a:t>Century Gothic 20</a:t>
            </a:r>
          </a:p>
          <a:p>
            <a:pPr>
              <a:buNone/>
            </a:pPr>
            <a:r>
              <a:t>Century Gothic 18</a:t>
            </a:r>
          </a:p>
          <a:p>
            <a:pPr>
              <a:buNone/>
            </a:pPr>
            <a:r>
              <a:t>Century Gothic 18</a:t>
            </a:r>
          </a:p>
        </p:txBody>
      </p:sp>
      <p:sp>
        <p:nvSpPr>
          <p:cNvPr id="4" name="Content Placeholder 3">
            <a:extLst>
              <a:ext uri="{FF2B5EF4-FFF2-40B4-BE49-F238E27FC236}">
                <a16:creationId xmlns:a16="http://schemas.microsoft.com/office/drawing/2014/main" id="{5415C4DA-8B26-47EA-A7B5-4E742FA6088C}"/>
              </a:ext>
            </a:extLst>
          </p:cNvPr>
          <p:cNvSpPr>
            <a:spLocks noGrp="1"/>
          </p:cNvSpPr>
          <p:nvPr>
            <p:ph idx="2" hasCustomPrompt="1"/>
          </p:nvPr>
        </p:nvSpPr>
        <p:spPr>
          <a:xfrm>
            <a:off x="4648202" y="1759417"/>
            <a:ext cx="4038600" cy="3160104"/>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a:buNone/>
            </a:pPr>
            <a:r>
              <a:t>Century Gothic 28</a:t>
            </a:r>
          </a:p>
          <a:p>
            <a:pPr>
              <a:buNone/>
            </a:pPr>
            <a:r>
              <a:t>Century Gothic 24</a:t>
            </a:r>
          </a:p>
          <a:p>
            <a:pPr>
              <a:buNone/>
            </a:pPr>
            <a:r>
              <a:t>Century Gothic 20</a:t>
            </a:r>
          </a:p>
          <a:p>
            <a:pPr>
              <a:buNone/>
            </a:pPr>
            <a:r>
              <a:t>Century Gothic 18</a:t>
            </a:r>
          </a:p>
          <a:p>
            <a:pPr>
              <a:buNone/>
            </a:pPr>
            <a:r>
              <a:t>Century Gothic 18</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1E80C-94B4-450F-A383-85154F1FCB25}"/>
              </a:ext>
            </a:extLst>
          </p:cNvPr>
          <p:cNvSpPr>
            <a:spLocks noGrp="1"/>
          </p:cNvSpPr>
          <p:nvPr>
            <p:ph type="title" hasCustomPrompt="1"/>
          </p:nvPr>
        </p:nvSpPr>
        <p:spPr>
          <a:xfrm>
            <a:off x="457200" y="798036"/>
            <a:ext cx="8229600" cy="857250"/>
          </a:xfrm>
        </p:spPr>
        <p:txBody>
          <a:bodyPr/>
          <a:lstStyle>
            <a:lvl1pPr>
              <a:buNone/>
              <a:defRPr/>
            </a:lvl1pPr>
          </a:lstStyle>
          <a:p>
            <a:r>
              <a:t>Century Gothic 44</a:t>
            </a:r>
          </a:p>
        </p:txBody>
      </p:sp>
      <p:sp>
        <p:nvSpPr>
          <p:cNvPr id="3" name="Text Placeholder 2">
            <a:extLst>
              <a:ext uri="{FF2B5EF4-FFF2-40B4-BE49-F238E27FC236}">
                <a16:creationId xmlns:a16="http://schemas.microsoft.com/office/drawing/2014/main" id="{1BB7B6F8-9C2C-469B-B9F1-36C66ED96DB4}"/>
              </a:ext>
            </a:extLst>
          </p:cNvPr>
          <p:cNvSpPr>
            <a:spLocks noGrp="1"/>
          </p:cNvSpPr>
          <p:nvPr>
            <p:ph type="body" idx="1" hasCustomPrompt="1"/>
          </p:nvPr>
        </p:nvSpPr>
        <p:spPr>
          <a:xfrm>
            <a:off x="457200" y="1655286"/>
            <a:ext cx="4040188" cy="5968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Century Gothic 24</a:t>
            </a:r>
          </a:p>
        </p:txBody>
      </p:sp>
      <p:sp>
        <p:nvSpPr>
          <p:cNvPr id="4" name="Content Placeholder 3">
            <a:extLst>
              <a:ext uri="{FF2B5EF4-FFF2-40B4-BE49-F238E27FC236}">
                <a16:creationId xmlns:a16="http://schemas.microsoft.com/office/drawing/2014/main" id="{CC01FD7E-D181-4C0A-ADF3-67CFAB320653}"/>
              </a:ext>
            </a:extLst>
          </p:cNvPr>
          <p:cNvSpPr>
            <a:spLocks noGrp="1"/>
          </p:cNvSpPr>
          <p:nvPr>
            <p:ph idx="2" hasCustomPrompt="1"/>
          </p:nvPr>
        </p:nvSpPr>
        <p:spPr>
          <a:xfrm>
            <a:off x="457200" y="2278437"/>
            <a:ext cx="4040188" cy="2608552"/>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a:buNone/>
            </a:pPr>
            <a:r>
              <a:t>Century Gothic 24</a:t>
            </a:r>
          </a:p>
          <a:p>
            <a:pPr>
              <a:buNone/>
            </a:pPr>
            <a:r>
              <a:t>Century Gothic 20</a:t>
            </a:r>
          </a:p>
          <a:p>
            <a:pPr>
              <a:buNone/>
            </a:pPr>
            <a:r>
              <a:t>Century Gothic 18</a:t>
            </a:r>
          </a:p>
          <a:p>
            <a:pPr>
              <a:buNone/>
            </a:pPr>
            <a:r>
              <a:t>Century Gothic 16</a:t>
            </a:r>
          </a:p>
          <a:p>
            <a:pPr>
              <a:buNone/>
            </a:pPr>
            <a:r>
              <a:t>Century Gothic 16</a:t>
            </a:r>
          </a:p>
        </p:txBody>
      </p:sp>
      <p:sp>
        <p:nvSpPr>
          <p:cNvPr id="5" name="Text Placeholder 4">
            <a:extLst>
              <a:ext uri="{FF2B5EF4-FFF2-40B4-BE49-F238E27FC236}">
                <a16:creationId xmlns:a16="http://schemas.microsoft.com/office/drawing/2014/main" id="{0782F443-9F97-48AE-8DAE-0DFFEF686AA6}"/>
              </a:ext>
            </a:extLst>
          </p:cNvPr>
          <p:cNvSpPr>
            <a:spLocks noGrp="1"/>
          </p:cNvSpPr>
          <p:nvPr>
            <p:ph type="body" idx="3" hasCustomPrompt="1"/>
          </p:nvPr>
        </p:nvSpPr>
        <p:spPr>
          <a:xfrm>
            <a:off x="4645025" y="1655286"/>
            <a:ext cx="4041775" cy="61459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Century Gothic 24</a:t>
            </a:r>
          </a:p>
        </p:txBody>
      </p:sp>
      <p:sp>
        <p:nvSpPr>
          <p:cNvPr id="6" name="Content Placeholder 5">
            <a:extLst>
              <a:ext uri="{FF2B5EF4-FFF2-40B4-BE49-F238E27FC236}">
                <a16:creationId xmlns:a16="http://schemas.microsoft.com/office/drawing/2014/main" id="{8A32F8F1-4DC2-406C-B8F5-1F79FA5915D5}"/>
              </a:ext>
            </a:extLst>
          </p:cNvPr>
          <p:cNvSpPr>
            <a:spLocks noGrp="1"/>
          </p:cNvSpPr>
          <p:nvPr>
            <p:ph idx="4" hasCustomPrompt="1"/>
          </p:nvPr>
        </p:nvSpPr>
        <p:spPr>
          <a:xfrm>
            <a:off x="4645025" y="2272624"/>
            <a:ext cx="4041775" cy="2677829"/>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a:buNone/>
            </a:pPr>
            <a:r>
              <a:t>Century Gothic 24</a:t>
            </a:r>
          </a:p>
          <a:p>
            <a:pPr>
              <a:buNone/>
            </a:pPr>
            <a:r>
              <a:t>Century Gothic 20</a:t>
            </a:r>
          </a:p>
          <a:p>
            <a:pPr>
              <a:buNone/>
            </a:pPr>
            <a:r>
              <a:t>Century Gothic 18</a:t>
            </a:r>
          </a:p>
          <a:p>
            <a:pPr>
              <a:buNone/>
            </a:pPr>
            <a:r>
              <a:t>Century Gothic 16</a:t>
            </a:r>
          </a:p>
          <a:p>
            <a:pPr>
              <a:buNone/>
            </a:pPr>
            <a:r>
              <a:t>Century Gothic 16</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7C342-3E1B-42D5-B372-37DCA199780A}"/>
              </a:ext>
            </a:extLst>
          </p:cNvPr>
          <p:cNvSpPr>
            <a:spLocks noGrp="1"/>
          </p:cNvSpPr>
          <p:nvPr>
            <p:ph type="title" hasCustomPrompt="1"/>
          </p:nvPr>
        </p:nvSpPr>
        <p:spPr/>
        <p:txBody>
          <a:bodyPr/>
          <a:lstStyle>
            <a:lvl1pPr>
              <a:buNone/>
              <a:defRPr/>
            </a:lvl1pPr>
          </a:lstStyle>
          <a:p>
            <a:r>
              <a:t>Century Gothic 44</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38660-BE0B-4FC2-AB8D-A17CBC3FF815}"/>
              </a:ext>
            </a:extLst>
          </p:cNvPr>
          <p:cNvSpPr>
            <a:spLocks noGrp="1"/>
          </p:cNvSpPr>
          <p:nvPr>
            <p:ph type="title" hasCustomPrompt="1"/>
          </p:nvPr>
        </p:nvSpPr>
        <p:spPr>
          <a:xfrm>
            <a:off x="457201" y="758439"/>
            <a:ext cx="3008313" cy="871538"/>
          </a:xfrm>
        </p:spPr>
        <p:txBody>
          <a:bodyPr anchor="b"/>
          <a:lstStyle>
            <a:lvl1pPr algn="l">
              <a:buNone/>
              <a:defRPr sz="2000" b="1"/>
            </a:lvl1pPr>
          </a:lstStyle>
          <a:p>
            <a:r>
              <a:t>Century Gothic 20</a:t>
            </a:r>
          </a:p>
        </p:txBody>
      </p:sp>
      <p:sp>
        <p:nvSpPr>
          <p:cNvPr id="3" name="Content Placeholder 2">
            <a:extLst>
              <a:ext uri="{FF2B5EF4-FFF2-40B4-BE49-F238E27FC236}">
                <a16:creationId xmlns:a16="http://schemas.microsoft.com/office/drawing/2014/main" id="{5323D207-02CC-4B5A-97BA-182650529B59}"/>
              </a:ext>
            </a:extLst>
          </p:cNvPr>
          <p:cNvSpPr>
            <a:spLocks noGrp="1"/>
          </p:cNvSpPr>
          <p:nvPr>
            <p:ph idx="1" hasCustomPrompt="1"/>
          </p:nvPr>
        </p:nvSpPr>
        <p:spPr>
          <a:xfrm>
            <a:off x="3575050" y="758439"/>
            <a:ext cx="5111750" cy="4219424"/>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Century Gothic 32</a:t>
            </a:r>
          </a:p>
          <a:p>
            <a:pPr>
              <a:buNone/>
            </a:pPr>
            <a:r>
              <a:t>Century Gothic 28</a:t>
            </a:r>
          </a:p>
          <a:p>
            <a:pPr>
              <a:buNone/>
            </a:pPr>
            <a:r>
              <a:t>Century Gothic 24</a:t>
            </a:r>
          </a:p>
          <a:p>
            <a:pPr>
              <a:buNone/>
            </a:pPr>
            <a:r>
              <a:t>Century Gothic 20</a:t>
            </a:r>
          </a:p>
          <a:p>
            <a:pPr>
              <a:buNone/>
            </a:pPr>
            <a:r>
              <a:t>Century Gothic 20</a:t>
            </a:r>
          </a:p>
        </p:txBody>
      </p:sp>
      <p:sp>
        <p:nvSpPr>
          <p:cNvPr id="4" name="Text Placeholder 3">
            <a:extLst>
              <a:ext uri="{FF2B5EF4-FFF2-40B4-BE49-F238E27FC236}">
                <a16:creationId xmlns:a16="http://schemas.microsoft.com/office/drawing/2014/main" id="{EBBCF4A0-4DF6-44DD-B5AE-D954E0113C76}"/>
              </a:ext>
            </a:extLst>
          </p:cNvPr>
          <p:cNvSpPr>
            <a:spLocks noGrp="1"/>
          </p:cNvSpPr>
          <p:nvPr>
            <p:ph type="body" idx="2" hasCustomPrompt="1"/>
          </p:nvPr>
        </p:nvSpPr>
        <p:spPr>
          <a:xfrm>
            <a:off x="457201" y="1629977"/>
            <a:ext cx="3008313" cy="335517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buNone/>
            </a:pPr>
            <a:r>
              <a:t>Century Gothic 14</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D8ACB-4094-4674-BC93-19317353288C}"/>
              </a:ext>
            </a:extLst>
          </p:cNvPr>
          <p:cNvSpPr>
            <a:spLocks noGrp="1"/>
          </p:cNvSpPr>
          <p:nvPr>
            <p:ph type="title" hasCustomPrompt="1"/>
          </p:nvPr>
        </p:nvSpPr>
        <p:spPr>
          <a:xfrm>
            <a:off x="1792288" y="3748367"/>
            <a:ext cx="5486400" cy="425054"/>
          </a:xfrm>
        </p:spPr>
        <p:txBody>
          <a:bodyPr anchor="b"/>
          <a:lstStyle>
            <a:lvl1pPr algn="l">
              <a:buNone/>
              <a:defRPr sz="2000" b="1"/>
            </a:lvl1pPr>
          </a:lstStyle>
          <a:p>
            <a:r>
              <a:t>Century Gothic 20</a:t>
            </a:r>
          </a:p>
        </p:txBody>
      </p:sp>
      <p:sp>
        <p:nvSpPr>
          <p:cNvPr id="3" name="Picture Placeholder 2">
            <a:extLst>
              <a:ext uri="{FF2B5EF4-FFF2-40B4-BE49-F238E27FC236}">
                <a16:creationId xmlns:a16="http://schemas.microsoft.com/office/drawing/2014/main" id="{C391C09D-1A59-46D2-8D5B-4FB27DAE8887}"/>
              </a:ext>
            </a:extLst>
          </p:cNvPr>
          <p:cNvSpPr>
            <a:spLocks noGrp="1"/>
          </p:cNvSpPr>
          <p:nvPr>
            <p:ph type="pic" idx="1"/>
          </p:nvPr>
        </p:nvSpPr>
        <p:spPr>
          <a:xfrm>
            <a:off x="1792288" y="970079"/>
            <a:ext cx="5486400" cy="27167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DA8785B3-9EE6-4C54-9C19-B1E5A5FE31FB}"/>
              </a:ext>
            </a:extLst>
          </p:cNvPr>
          <p:cNvSpPr>
            <a:spLocks noGrp="1"/>
          </p:cNvSpPr>
          <p:nvPr>
            <p:ph type="body" idx="2" hasCustomPrompt="1"/>
          </p:nvPr>
        </p:nvSpPr>
        <p:spPr>
          <a:xfrm>
            <a:off x="1792288" y="4173421"/>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buNone/>
            </a:pPr>
            <a:r>
              <a:t>Century Gothic 14</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011F4-5130-42DF-9131-CA16DEBFF41F}"/>
              </a:ext>
            </a:extLst>
          </p:cNvPr>
          <p:cNvSpPr>
            <a:spLocks noGrp="1"/>
          </p:cNvSpPr>
          <p:nvPr>
            <p:ph type="title" hasCustomPrompt="1"/>
          </p:nvPr>
        </p:nvSpPr>
        <p:spPr/>
        <p:txBody>
          <a:bodyPr/>
          <a:lstStyle>
            <a:lvl1pPr>
              <a:buNone/>
              <a:defRPr/>
            </a:lvl1pPr>
          </a:lstStyle>
          <a:p>
            <a:r>
              <a:t>Century Gothic 44</a:t>
            </a:r>
          </a:p>
        </p:txBody>
      </p:sp>
      <p:sp>
        <p:nvSpPr>
          <p:cNvPr id="3" name="Vertical Text Placeholder 2">
            <a:extLst>
              <a:ext uri="{FF2B5EF4-FFF2-40B4-BE49-F238E27FC236}">
                <a16:creationId xmlns:a16="http://schemas.microsoft.com/office/drawing/2014/main" id="{BC10D5CC-7DE1-463A-945B-64350DBE3F35}"/>
              </a:ext>
            </a:extLst>
          </p:cNvPr>
          <p:cNvSpPr>
            <a:spLocks noGrp="1"/>
          </p:cNvSpPr>
          <p:nvPr>
            <p:ph type="body" idx="1" hasCustomPrompt="1"/>
          </p:nvPr>
        </p:nvSpPr>
        <p:spPr/>
        <p:txBody>
          <a:bodyPr vert="eaVert"/>
          <a:lstStyle>
            <a:lvl1pPr>
              <a:buNone/>
              <a:defRPr/>
            </a:lvl1pPr>
            <a:lvl2pPr>
              <a:buNone/>
              <a:defRPr/>
            </a:lvl2pPr>
            <a:lvl3pPr>
              <a:buNone/>
              <a:defRPr/>
            </a:lvl3pPr>
            <a:lvl4pPr>
              <a:buNone/>
              <a:defRPr/>
            </a:lvl4pPr>
            <a:lvl5pPr>
              <a:buNone/>
              <a:defRPr/>
            </a:lvl5pPr>
          </a:lstStyle>
          <a:p>
            <a:pPr>
              <a:buNone/>
            </a:pPr>
            <a:r>
              <a:t>Century Gothic 32</a:t>
            </a:r>
          </a:p>
          <a:p>
            <a:pPr>
              <a:buNone/>
            </a:pPr>
            <a:r>
              <a:t>Century Gothic 28</a:t>
            </a:r>
          </a:p>
          <a:p>
            <a:pPr>
              <a:buNone/>
            </a:pPr>
            <a:r>
              <a:t>Century Gothic 24</a:t>
            </a:r>
          </a:p>
          <a:p>
            <a:pPr>
              <a:buNone/>
            </a:pPr>
            <a:r>
              <a:t>Century Gothic 20</a:t>
            </a:r>
          </a:p>
          <a:p>
            <a:pPr>
              <a:buNone/>
            </a:pPr>
            <a:r>
              <a:t>Century Gothic 20</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5263EC-C8E1-4EB5-BCFF-82CA18310412}"/>
              </a:ext>
            </a:extLst>
          </p:cNvPr>
          <p:cNvSpPr>
            <a:spLocks noGrp="1"/>
          </p:cNvSpPr>
          <p:nvPr>
            <p:ph type="title" hasCustomPrompt="1"/>
          </p:nvPr>
        </p:nvSpPr>
        <p:spPr>
          <a:xfrm>
            <a:off x="6629400" y="926305"/>
            <a:ext cx="2057400" cy="3930506"/>
          </a:xfrm>
        </p:spPr>
        <p:txBody>
          <a:bodyPr vert="eaVert"/>
          <a:lstStyle>
            <a:lvl1pPr>
              <a:buNone/>
              <a:defRPr/>
            </a:lvl1pPr>
          </a:lstStyle>
          <a:p>
            <a:r>
              <a:t>Century Gothic 44</a:t>
            </a:r>
          </a:p>
        </p:txBody>
      </p:sp>
      <p:sp>
        <p:nvSpPr>
          <p:cNvPr id="3" name="Vertical Text Placeholder 2">
            <a:extLst>
              <a:ext uri="{FF2B5EF4-FFF2-40B4-BE49-F238E27FC236}">
                <a16:creationId xmlns:a16="http://schemas.microsoft.com/office/drawing/2014/main" id="{BBFA8FD4-BBA7-4557-90E7-5175DD942718}"/>
              </a:ext>
            </a:extLst>
          </p:cNvPr>
          <p:cNvSpPr>
            <a:spLocks noGrp="1"/>
          </p:cNvSpPr>
          <p:nvPr>
            <p:ph type="body" idx="1" hasCustomPrompt="1"/>
          </p:nvPr>
        </p:nvSpPr>
        <p:spPr>
          <a:xfrm>
            <a:off x="457200" y="926305"/>
            <a:ext cx="6019800" cy="3930507"/>
          </a:xfrm>
        </p:spPr>
        <p:txBody>
          <a:bodyPr vert="eaVert"/>
          <a:lstStyle>
            <a:lvl1pPr>
              <a:buNone/>
              <a:defRPr/>
            </a:lvl1pPr>
            <a:lvl2pPr>
              <a:buNone/>
              <a:defRPr/>
            </a:lvl2pPr>
            <a:lvl3pPr>
              <a:buNone/>
              <a:defRPr/>
            </a:lvl3pPr>
            <a:lvl4pPr>
              <a:buNone/>
              <a:defRPr/>
            </a:lvl4pPr>
            <a:lvl5pPr>
              <a:buNone/>
              <a:defRPr/>
            </a:lvl5pPr>
          </a:lstStyle>
          <a:p>
            <a:pPr>
              <a:buNone/>
            </a:pPr>
            <a:r>
              <a:t>Century Gothic 32</a:t>
            </a:r>
          </a:p>
          <a:p>
            <a:pPr>
              <a:buNone/>
            </a:pPr>
            <a:r>
              <a:t>Century Gothic 28</a:t>
            </a:r>
          </a:p>
          <a:p>
            <a:pPr>
              <a:buNone/>
            </a:pPr>
            <a:r>
              <a:t>Century Gothic 24</a:t>
            </a:r>
          </a:p>
          <a:p>
            <a:pPr>
              <a:buNone/>
            </a:pPr>
            <a:r>
              <a:t>Century Gothic 20</a:t>
            </a:r>
          </a:p>
          <a:p>
            <a:pPr>
              <a:buNone/>
            </a:pPr>
            <a:r>
              <a:t>Century Gothic 20</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A397DF-86ED-46AF-8C30-39E39F147352}"/>
              </a:ext>
            </a:extLst>
          </p:cNvPr>
          <p:cNvSpPr>
            <a:spLocks noGrp="1"/>
          </p:cNvSpPr>
          <p:nvPr>
            <p:ph type="title"/>
          </p:nvPr>
        </p:nvSpPr>
        <p:spPr>
          <a:xfrm>
            <a:off x="457200" y="1121299"/>
            <a:ext cx="8229600" cy="857250"/>
          </a:xfrm>
          <a:prstGeom prst="rect">
            <a:avLst/>
          </a:prstGeom>
        </p:spPr>
        <p:txBody>
          <a:bodyPr vert="horz" lIns="91440" tIns="45720" rIns="91440" bIns="45720" anchor="ctr">
            <a:normAutofit/>
          </a:bodyPr>
          <a:lstStyle/>
          <a:p>
            <a:r>
              <a:t>Century Gothic 44</a:t>
            </a:r>
          </a:p>
        </p:txBody>
      </p:sp>
      <p:sp>
        <p:nvSpPr>
          <p:cNvPr id="6" name="Slide Number Placeholder 5">
            <a:extLst>
              <a:ext uri="{FF2B5EF4-FFF2-40B4-BE49-F238E27FC236}">
                <a16:creationId xmlns:a16="http://schemas.microsoft.com/office/drawing/2014/main" id="{9B30F12C-1DDB-431C-A968-D1629CD99CD8}"/>
              </a:ext>
            </a:extLst>
          </p:cNvPr>
          <p:cNvSpPr>
            <a:spLocks noGrp="1"/>
          </p:cNvSpPr>
          <p:nvPr/>
        </p:nvSpPr>
        <p:spPr>
          <a:xfrm>
            <a:off x="5943599" y="4675190"/>
            <a:ext cx="3042271" cy="365125"/>
          </a:xfrm>
          <a:prstGeom prst="rect">
            <a:avLst/>
          </a:prstGeom>
        </p:spPr>
        <p:txBody>
          <a:bodyPr vert="horz" lIns="91440" tIns="45720" rIns="91440" bIns="45720" anchor="ctr"/>
          <a:lstStyle>
            <a:lvl1pPr marL="0" algn="r">
              <a:buNone/>
              <a:defRPr sz="1200">
                <a:solidFill>
                  <a:schemeClr val="tx1">
                    <a:tint val="75000"/>
                  </a:schemeClr>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a:lstStyle>
          <a:p>
            <a:pPr marL="0" indent="0" algn="r">
              <a:lnSpc>
                <a:spcPct val="100000"/>
              </a:lnSpc>
              <a:spcBef>
                <a:spcPts val="0"/>
              </a:spcBef>
              <a:spcAft>
                <a:spcPts val="0"/>
              </a:spcAft>
              <a:buNone/>
            </a:pPr>
            <a:fld id="{BACA22B2-051F-40E8-A24E-9B9580574EE3}" type="slidenum">
              <a:rPr sz="1000" b="0" i="0" u="none" cap="none">
                <a:ln>
                  <a:noFill/>
                </a:ln>
                <a:solidFill>
                  <a:prstClr val="black">
                    <a:tint val="75000"/>
                  </a:prstClr>
                </a:solidFill>
                <a:latin typeface="Century Gothic"/>
                <a:ea typeface="Century Gothic"/>
                <a:cs typeface="Century Gothic"/>
              </a:rPr>
              <a:t>‹#›</a:t>
            </a:fld>
            <a:endParaRPr sz="1000" b="0" i="0" u="none" cap="none">
              <a:ln>
                <a:noFill/>
              </a:ln>
              <a:solidFill>
                <a:prstClr val="black">
                  <a:tint val="75000"/>
                </a:prstClr>
              </a:solidFill>
              <a:latin typeface="Century Gothic"/>
              <a:ea typeface="Century Gothic"/>
              <a:cs typeface="Century Gothic"/>
            </a:endParaRPr>
          </a:p>
        </p:txBody>
      </p:sp>
      <p:pic>
        <p:nvPicPr>
          <p:cNvPr id="12" name="図 10"/>
          <p:cNvPicPr>
            <a:picLocks noChangeAspect="1"/>
          </p:cNvPicPr>
          <p:nvPr/>
        </p:nvPicPr>
        <p:blipFill>
          <a:blip r:embed="rId14"/>
          <a:stretch>
            <a:fillRect/>
          </a:stretch>
        </p:blipFill>
        <p:spPr>
          <a:xfrm>
            <a:off x="26" y="-2605"/>
            <a:ext cx="2999958" cy="776213"/>
          </a:xfrm>
          <a:prstGeom prst="rect">
            <a:avLst/>
          </a:prstGeom>
        </p:spPr>
      </p:pic>
      <p:pic>
        <p:nvPicPr>
          <p:cNvPr id="13" name="Picture 2"/>
          <p:cNvPicPr>
            <a:picLocks noChangeAspect="1"/>
          </p:cNvPicPr>
          <p:nvPr/>
        </p:nvPicPr>
        <p:blipFill>
          <a:blip r:embed="rId15"/>
          <a:stretch>
            <a:fillRect/>
          </a:stretch>
        </p:blipFill>
        <p:spPr>
          <a:xfrm>
            <a:off x="5637945" y="124777"/>
            <a:ext cx="2143916" cy="291131"/>
          </a:xfrm>
          <a:prstGeom prst="rect">
            <a:avLst/>
          </a:prstGeom>
        </p:spPr>
      </p:pic>
      <p:pic>
        <p:nvPicPr>
          <p:cNvPr id="14" name="図 15"/>
          <p:cNvPicPr>
            <a:picLocks noChangeAspect="1"/>
          </p:cNvPicPr>
          <p:nvPr/>
        </p:nvPicPr>
        <p:blipFill>
          <a:blip r:embed="rId16"/>
          <a:stretch>
            <a:fillRect/>
          </a:stretch>
        </p:blipFill>
        <p:spPr>
          <a:xfrm>
            <a:off x="7909488" y="124777"/>
            <a:ext cx="1222750" cy="29113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ctr">
        <a:buNone/>
        <a:defRPr sz="4400" b="1">
          <a:solidFill>
            <a:srgbClr val="007BB0"/>
          </a:solidFill>
          <a:latin typeface="Century Gothic"/>
          <a:ea typeface="Century Gothic"/>
          <a:cs typeface="Century Gothic"/>
        </a:defRPr>
      </a:lvl1pPr>
    </p:titleStyle>
    <p:bodyStyle>
      <a:lvl1pPr marL="342900" indent="-342900" algn="l">
        <a:buChar char="•"/>
        <a:defRPr sz="3200">
          <a:solidFill>
            <a:srgbClr val="333333"/>
          </a:solidFill>
          <a:latin typeface="Century Gothic"/>
          <a:ea typeface="Century Gothic"/>
          <a:cs typeface="Century Gothic"/>
        </a:defRPr>
      </a:lvl1pPr>
      <a:lvl2pPr marL="742950" indent="-285750" algn="l">
        <a:buChar char="–"/>
        <a:defRPr sz="2800">
          <a:solidFill>
            <a:srgbClr val="333333"/>
          </a:solidFill>
          <a:latin typeface="Century Gothic"/>
          <a:ea typeface="Century Gothic"/>
          <a:cs typeface="Century Gothic"/>
        </a:defRPr>
      </a:lvl2pPr>
      <a:lvl3pPr marL="1143000" indent="-228600" algn="l">
        <a:buChar char="•"/>
        <a:defRPr sz="2400">
          <a:solidFill>
            <a:srgbClr val="333333"/>
          </a:solidFill>
          <a:latin typeface="Century Gothic"/>
          <a:ea typeface="Century Gothic"/>
          <a:cs typeface="Century Gothic"/>
        </a:defRPr>
      </a:lvl3pPr>
      <a:lvl4pPr marL="1600200" indent="-228600" algn="l">
        <a:buChar char="–"/>
        <a:defRPr sz="2000">
          <a:solidFill>
            <a:srgbClr val="333333"/>
          </a:solidFill>
          <a:latin typeface="Century Gothic"/>
          <a:ea typeface="Century Gothic"/>
          <a:cs typeface="Century Gothic"/>
        </a:defRPr>
      </a:lvl4pPr>
      <a:lvl5pPr marL="2057400" indent="-228600" algn="l">
        <a:buChar char="»"/>
        <a:defRPr sz="2000">
          <a:solidFill>
            <a:srgbClr val="333333"/>
          </a:solidFill>
          <a:latin typeface="Century Gothic"/>
          <a:ea typeface="Century Gothic"/>
          <a:cs typeface="Century Gothic"/>
        </a:defRPr>
      </a:lvl5pPr>
      <a:lvl6pPr marL="2514600" indent="-228600" algn="l">
        <a:buChar char="•"/>
        <a:defRPr sz="2000">
          <a:solidFill>
            <a:schemeClr val="tx1"/>
          </a:solidFill>
          <a:latin typeface="+mn-lt"/>
          <a:ea typeface="+mn-lt"/>
          <a:cs typeface="+mn-lt"/>
        </a:defRPr>
      </a:lvl6pPr>
      <a:lvl7pPr marL="2971800" indent="-228600" algn="l">
        <a:buChar char="•"/>
        <a:defRPr sz="2000">
          <a:solidFill>
            <a:schemeClr val="tx1"/>
          </a:solidFill>
          <a:latin typeface="+mn-lt"/>
          <a:ea typeface="+mn-lt"/>
          <a:cs typeface="+mn-lt"/>
        </a:defRPr>
      </a:lvl7pPr>
      <a:lvl8pPr marL="3429000" indent="-228600" algn="l">
        <a:buChar char="•"/>
        <a:defRPr sz="2000">
          <a:solidFill>
            <a:schemeClr val="tx1"/>
          </a:solidFill>
          <a:latin typeface="+mn-lt"/>
          <a:ea typeface="+mn-lt"/>
          <a:cs typeface="+mn-lt"/>
        </a:defRPr>
      </a:lvl8pPr>
      <a:lvl9pPr marL="3886200" indent="-228600" algn="l">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21.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26.sv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25.png"/><Relationship Id="rId5" Type="http://schemas.openxmlformats.org/officeDocument/2006/relationships/image" Target="../media/image28.png"/><Relationship Id="rId4" Type="http://schemas.openxmlformats.org/officeDocument/2006/relationships/image" Target="../media/image24.svg"/></Relationships>
</file>

<file path=ppt/slides/_rels/slide8.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39.png"/></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410.png"/></Relationships>
</file>

<file path=ppt/slides/_rels/slide15.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44.svg"/></Relationships>
</file>

<file path=ppt/slides/_rels/slide16.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46.svg"/></Relationships>
</file>

<file path=ppt/slides/_rels/slide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8" Type="http://schemas.openxmlformats.org/officeDocument/2006/relationships/image" Target="../media/image480.png"/><Relationship Id="rId3" Type="http://schemas.openxmlformats.org/officeDocument/2006/relationships/image" Target="../media/image48.png"/><Relationship Id="rId7" Type="http://schemas.openxmlformats.org/officeDocument/2006/relationships/image" Target="../media/image470.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52.png"/></Relationships>
</file>

<file path=ppt/slides/_rels/slide2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7EAC3-A801-54FB-610F-002A88882808}"/>
              </a:ext>
            </a:extLst>
          </p:cNvPr>
          <p:cNvSpPr>
            <a:spLocks noGrp="1"/>
          </p:cNvSpPr>
          <p:nvPr>
            <p:ph type="ctrTitle"/>
          </p:nvPr>
        </p:nvSpPr>
        <p:spPr>
          <a:xfrm>
            <a:off x="685800" y="1304925"/>
            <a:ext cx="7772400" cy="666750"/>
          </a:xfrm>
        </p:spPr>
        <p:txBody>
          <a:bodyPr wrap="none" lIns="0" tIns="0" rIns="0" bIns="0" anchor="ctr">
            <a:normAutofit/>
          </a:bodyPr>
          <a:lstStyle/>
          <a:p>
            <a:pPr algn="ctr">
              <a:buNone/>
              <a:defRPr sz="3225" b="1">
                <a:solidFill>
                  <a:srgbClr val="07183B"/>
                </a:solidFill>
                <a:latin typeface="Noto Sans CJK JP"/>
                <a:ea typeface="Noto Sans CJK JP"/>
                <a:cs typeface="Noto Sans CJK JP"/>
              </a:defRPr>
            </a:pPr>
            <a:r>
              <a:rPr sz="3225" b="1" dirty="0" err="1">
                <a:solidFill>
                  <a:srgbClr val="07183B"/>
                </a:solidFill>
                <a:latin typeface="Noto Sans CJK JP"/>
                <a:ea typeface="Noto Sans CJK JP"/>
                <a:cs typeface="Noto Sans CJK JP"/>
              </a:rPr>
              <a:t>DC年金の制約付き最適グライドパス</a:t>
            </a:r>
            <a:endParaRPr sz="3225" b="1" dirty="0">
              <a:solidFill>
                <a:srgbClr val="07183B"/>
              </a:solidFill>
              <a:latin typeface="Noto Sans CJK JP"/>
              <a:ea typeface="Noto Sans CJK JP"/>
              <a:cs typeface="Noto Sans CJK JP"/>
            </a:endParaRPr>
          </a:p>
        </p:txBody>
      </p:sp>
      <p:sp>
        <p:nvSpPr>
          <p:cNvPr id="3" name="Subtitle 2">
            <a:extLst>
              <a:ext uri="{FF2B5EF4-FFF2-40B4-BE49-F238E27FC236}">
                <a16:creationId xmlns:a16="http://schemas.microsoft.com/office/drawing/2014/main" id="{9F1A25D7-3507-353E-D399-0F0C6263BC1B}"/>
              </a:ext>
            </a:extLst>
          </p:cNvPr>
          <p:cNvSpPr>
            <a:spLocks noGrp="1"/>
          </p:cNvSpPr>
          <p:nvPr>
            <p:ph type="subTitle" idx="1"/>
          </p:nvPr>
        </p:nvSpPr>
        <p:spPr>
          <a:xfrm>
            <a:off x="1143000" y="1943100"/>
            <a:ext cx="6858000" cy="361950"/>
          </a:xfrm>
        </p:spPr>
        <p:txBody>
          <a:bodyPr wrap="none" lIns="0" tIns="0" rIns="0" bIns="0" anchor="ctr">
            <a:normAutofit/>
          </a:bodyPr>
          <a:lstStyle/>
          <a:p>
            <a:pPr algn="ctr">
              <a:lnSpc>
                <a:spcPct val="118000"/>
              </a:lnSpc>
              <a:buNone/>
              <a:defRPr sz="1613">
                <a:solidFill>
                  <a:srgbClr val="215FB4"/>
                </a:solidFill>
                <a:latin typeface="Noto Sans CJK JP"/>
                <a:ea typeface="Noto Sans CJK JP"/>
                <a:cs typeface="Noto Sans CJK JP"/>
              </a:defRPr>
            </a:pPr>
            <a:r>
              <a:rPr lang="ja-JP" altLang="en-US" sz="1613" dirty="0">
                <a:solidFill>
                  <a:srgbClr val="215FB4"/>
                </a:solidFill>
                <a:latin typeface="Noto Sans CJK JP"/>
                <a:ea typeface="Noto Sans CJK JP"/>
                <a:cs typeface="Noto Sans CJK JP"/>
              </a:rPr>
              <a:t>「</a:t>
            </a:r>
            <a:r>
              <a:rPr sz="1613" dirty="0">
                <a:solidFill>
                  <a:srgbClr val="215FB4"/>
                </a:solidFill>
                <a:latin typeface="Noto Sans CJK JP"/>
                <a:ea typeface="Noto Sans CJK JP"/>
                <a:cs typeface="Noto Sans CJK JP"/>
              </a:rPr>
              <a:t>4つの平均・分散解概念</a:t>
            </a:r>
            <a:r>
              <a:rPr lang="ja-JP" altLang="en-US" sz="1613" dirty="0">
                <a:solidFill>
                  <a:srgbClr val="215FB4"/>
                </a:solidFill>
                <a:latin typeface="Noto Sans CJK JP"/>
                <a:ea typeface="Noto Sans CJK JP"/>
                <a:cs typeface="Noto Sans CJK JP"/>
              </a:rPr>
              <a:t>」</a:t>
            </a:r>
            <a:r>
              <a:rPr sz="1613" dirty="0">
                <a:solidFill>
                  <a:srgbClr val="215FB4"/>
                </a:solidFill>
                <a:latin typeface="Noto Sans CJK JP"/>
                <a:ea typeface="Noto Sans CJK JP"/>
                <a:cs typeface="Noto Sans CJK JP"/>
              </a:rPr>
              <a:t>× </a:t>
            </a:r>
            <a:r>
              <a:rPr lang="ja-JP" altLang="en-US" sz="1613" dirty="0">
                <a:solidFill>
                  <a:srgbClr val="215FB4"/>
                </a:solidFill>
                <a:latin typeface="Noto Sans CJK JP"/>
                <a:ea typeface="Noto Sans CJK JP"/>
                <a:cs typeface="Noto Sans CJK JP"/>
              </a:rPr>
              <a:t>「</a:t>
            </a:r>
            <a:r>
              <a:rPr sz="1613" dirty="0">
                <a:solidFill>
                  <a:srgbClr val="215FB4"/>
                </a:solidFill>
                <a:latin typeface="Noto Sans CJK JP"/>
                <a:ea typeface="Noto Sans CJK JP"/>
                <a:cs typeface="Noto Sans CJK JP"/>
              </a:rPr>
              <a:t>strict / clip</a:t>
            </a:r>
            <a:r>
              <a:rPr lang="ja-JP" altLang="en-US" sz="1613" dirty="0">
                <a:solidFill>
                  <a:srgbClr val="215FB4"/>
                </a:solidFill>
                <a:latin typeface="Noto Sans CJK JP"/>
                <a:ea typeface="Noto Sans CJK JP"/>
                <a:cs typeface="Noto Sans CJK JP"/>
              </a:rPr>
              <a:t>」</a:t>
            </a:r>
            <a:r>
              <a:rPr sz="1613" dirty="0">
                <a:solidFill>
                  <a:srgbClr val="215FB4"/>
                </a:solidFill>
                <a:latin typeface="Noto Sans CJK JP"/>
                <a:ea typeface="Noto Sans CJK JP"/>
                <a:cs typeface="Noto Sans CJK JP"/>
              </a:rPr>
              <a:t> × </a:t>
            </a:r>
            <a:r>
              <a:rPr lang="ja-JP" altLang="en-US" sz="1613" dirty="0">
                <a:solidFill>
                  <a:srgbClr val="215FB4"/>
                </a:solidFill>
                <a:latin typeface="Noto Sans CJK JP"/>
                <a:ea typeface="Noto Sans CJK JP"/>
                <a:cs typeface="Noto Sans CJK JP"/>
              </a:rPr>
              <a:t>「</a:t>
            </a:r>
            <a:r>
              <a:rPr sz="1613" dirty="0" err="1">
                <a:solidFill>
                  <a:srgbClr val="215FB4"/>
                </a:solidFill>
                <a:latin typeface="Noto Sans CJK JP"/>
                <a:ea typeface="Noto Sans CJK JP"/>
                <a:cs typeface="Noto Sans CJK JP"/>
              </a:rPr>
              <a:t>rolling評価</a:t>
            </a:r>
            <a:r>
              <a:rPr lang="ja-JP" altLang="en-US" sz="1613" dirty="0">
                <a:solidFill>
                  <a:srgbClr val="215FB4"/>
                </a:solidFill>
                <a:latin typeface="Noto Sans CJK JP"/>
                <a:ea typeface="Noto Sans CJK JP"/>
                <a:cs typeface="Noto Sans CJK JP"/>
              </a:rPr>
              <a:t>」</a:t>
            </a:r>
            <a:endParaRPr sz="1613" dirty="0">
              <a:solidFill>
                <a:srgbClr val="215FB4"/>
              </a:solidFill>
              <a:latin typeface="Noto Sans CJK JP"/>
              <a:ea typeface="Noto Sans CJK JP"/>
              <a:cs typeface="Noto Sans CJK JP"/>
            </a:endParaRPr>
          </a:p>
        </p:txBody>
      </p:sp>
      <p:sp>
        <p:nvSpPr>
          <p:cNvPr id="5" name="TextBox 4">
            <a:extLst>
              <a:ext uri="{FF2B5EF4-FFF2-40B4-BE49-F238E27FC236}">
                <a16:creationId xmlns:a16="http://schemas.microsoft.com/office/drawing/2014/main" id="{698CD78D-F7D9-D8B6-711C-E452E5C80226}"/>
              </a:ext>
            </a:extLst>
          </p:cNvPr>
          <p:cNvSpPr>
            <a:spLocks noGrp="1"/>
          </p:cNvSpPr>
          <p:nvPr/>
        </p:nvSpPr>
        <p:spPr>
          <a:xfrm>
            <a:off x="1371600" y="4086225"/>
            <a:ext cx="6400800" cy="704850"/>
          </a:xfrm>
          <a:prstGeom prst="rect">
            <a:avLst/>
          </a:prstGeom>
          <a:noFill/>
        </p:spPr>
        <p:txBody>
          <a:bodyPr wrap="square" lIns="0" tIns="0" rIns="0" bIns="0" anchor="ctr">
            <a:normAutofit/>
          </a:bodyPr>
          <a:lstStyle/>
          <a:p>
            <a:pPr algn="ctr">
              <a:buNone/>
              <a:defRPr sz="555" i="1">
                <a:solidFill>
                  <a:srgbClr val="374151"/>
                </a:solidFill>
                <a:latin typeface="Century Gothic"/>
                <a:ea typeface="Century Gothic"/>
                <a:cs typeface="Century Gothic"/>
              </a:defRPr>
            </a:pPr>
            <a:r>
              <a:rPr sz="555" b="1" i="1">
                <a:solidFill>
                  <a:srgbClr val="374151"/>
                </a:solidFill>
                <a:latin typeface="Century Gothic"/>
                <a:ea typeface="Century Gothic"/>
                <a:cs typeface="Century Gothic"/>
              </a:rPr>
              <a:t>© Yoshiki Nagayama</a:t>
            </a:r>
          </a:p>
          <a:p>
            <a:pPr algn="ctr">
              <a:buNone/>
              <a:defRPr sz="555" i="1">
                <a:solidFill>
                  <a:srgbClr val="374151"/>
                </a:solidFill>
                <a:latin typeface="Century Gothic"/>
                <a:ea typeface="Century Gothic"/>
                <a:cs typeface="Century Gothic"/>
              </a:defRPr>
            </a:pPr>
            <a:r>
              <a:rPr sz="555" i="1">
                <a:solidFill>
                  <a:srgbClr val="374151"/>
                </a:solidFill>
                <a:latin typeface="Century Gothic"/>
                <a:ea typeface="Century Gothic"/>
                <a:cs typeface="Century Gothic"/>
              </a:rPr>
              <a:t>This presentation has been prepared for the 33rd International Congress of Actuaries. The IAJ and IAA assume no responsibility for the opinions or content expressed herein, which do not necessarily reflect their views.</a:t>
            </a:r>
          </a:p>
        </p:txBody>
      </p:sp>
      <p:sp>
        <p:nvSpPr>
          <p:cNvPr id="6" name="正方形/長方形 5">
            <a:extLst>
              <a:ext uri="{FF2B5EF4-FFF2-40B4-BE49-F238E27FC236}">
                <a16:creationId xmlns:a16="http://schemas.microsoft.com/office/drawing/2014/main" id="{1732E488-5208-40EC-BACA-8509E894C234}"/>
              </a:ext>
            </a:extLst>
          </p:cNvPr>
          <p:cNvSpPr>
            <a:spLocks noGrp="1"/>
          </p:cNvSpPr>
          <p:nvPr/>
        </p:nvSpPr>
        <p:spPr>
          <a:xfrm>
            <a:off x="2667000" y="3905250"/>
            <a:ext cx="3810000" cy="266700"/>
          </a:xfrm>
          <a:prstGeom prst="rect">
            <a:avLst/>
          </a:prstGeom>
          <a:noFill/>
          <a:ln w="0">
            <a:noFill/>
            <a:prstDash val="solid"/>
          </a:ln>
        </p:spPr>
        <p:txBody>
          <a:bodyPr wrap="none" lIns="0" tIns="0" rIns="0" bIns="0" anchor="ctr">
            <a:normAutofit/>
          </a:bodyPr>
          <a:lstStyle/>
          <a:p>
            <a:pPr algn="ctr">
              <a:lnSpc>
                <a:spcPct val="106000"/>
              </a:lnSpc>
              <a:buNone/>
              <a:defRPr sz="1140" b="0">
                <a:solidFill>
                  <a:srgbClr val="334155"/>
                </a:solidFill>
                <a:latin typeface="Georgia"/>
                <a:ea typeface="Georgia"/>
                <a:cs typeface="Georgia"/>
              </a:defRPr>
            </a:pPr>
            <a:r>
              <a:rPr sz="1140" b="0">
                <a:solidFill>
                  <a:srgbClr val="334155"/>
                </a:solidFill>
                <a:latin typeface="Georgia"/>
                <a:ea typeface="Georgia"/>
                <a:cs typeface="Georgia"/>
              </a:rPr>
              <a:t>Yoshiki Nagayama</a:t>
            </a:r>
          </a:p>
        </p:txBody>
      </p:sp>
      <p:sp>
        <p:nvSpPr>
          <p:cNvPr id="7" name="chapter-tab-1">
            <a:extLst>
              <a:ext uri="{FF2B5EF4-FFF2-40B4-BE49-F238E27FC236}">
                <a16:creationId xmlns:a16="http://schemas.microsoft.com/office/drawing/2014/main" id="{A0CF1C0B-3BBF-4191-97C4-C402785D6744}"/>
              </a:ext>
            </a:extLst>
          </p:cNvPr>
          <p:cNvSpPr>
            <a:spLocks noGrp="1"/>
          </p:cNvSpPr>
          <p:nvPr/>
        </p:nvSpPr>
        <p:spPr>
          <a:xfrm>
            <a:off x="457200" y="4857750"/>
            <a:ext cx="2057400" cy="238125"/>
          </a:xfrm>
          <a:prstGeom prst="parallelogram">
            <a:avLst/>
          </a:prstGeom>
          <a:solidFill>
            <a:srgbClr val="4A90E2"/>
          </a:solidFill>
          <a:ln w="11430">
            <a:solidFill>
              <a:srgbClr val="4A90E2"/>
            </a:solidFill>
            <a:prstDash val="solid"/>
          </a:ln>
        </p:spPr>
        <p:txBody>
          <a:bodyPr wrap="none" lIns="76200" tIns="0" rIns="76200" bIns="0" anchor="ctr">
            <a:normAutofit/>
          </a:bodyPr>
          <a:lstStyle/>
          <a:p>
            <a:pPr algn="ctr">
              <a:buNone/>
              <a:defRPr sz="998" b="1">
                <a:solidFill>
                  <a:srgbClr val="FFFFFF"/>
                </a:solidFill>
                <a:latin typeface="Noto Sans CJK JP"/>
                <a:ea typeface="Noto Sans CJK JP"/>
                <a:cs typeface="Noto Sans CJK JP"/>
              </a:defRPr>
            </a:pPr>
            <a:r>
              <a:rPr sz="998" b="1">
                <a:solidFill>
                  <a:srgbClr val="FFFFFF"/>
                </a:solidFill>
                <a:latin typeface="Noto Sans CJK JP"/>
                <a:ea typeface="Noto Sans CJK JP"/>
                <a:cs typeface="Noto Sans CJK JP"/>
              </a:rPr>
              <a:t>1 前提</a:t>
            </a:r>
          </a:p>
        </p:txBody>
      </p:sp>
      <p:sp>
        <p:nvSpPr>
          <p:cNvPr id="8" name="chapter-tab-2">
            <a:extLst>
              <a:ext uri="{FF2B5EF4-FFF2-40B4-BE49-F238E27FC236}">
                <a16:creationId xmlns:a16="http://schemas.microsoft.com/office/drawing/2014/main" id="{E6FB43A9-7D96-49BD-B317-2D67016A7AC7}"/>
              </a:ext>
            </a:extLst>
          </p:cNvPr>
          <p:cNvSpPr>
            <a:spLocks noGrp="1"/>
          </p:cNvSpPr>
          <p:nvPr/>
        </p:nvSpPr>
        <p:spPr>
          <a:xfrm>
            <a:off x="2428875" y="4857750"/>
            <a:ext cx="2057400" cy="238125"/>
          </a:xfrm>
          <a:prstGeom prst="parallelogram">
            <a:avLst/>
          </a:prstGeom>
          <a:solidFill>
            <a:srgbClr val="FFFFFF"/>
          </a:solidFill>
          <a:ln w="10001">
            <a:solidFill>
              <a:srgbClr val="2F73B7"/>
            </a:solidFill>
            <a:prstDash val="solid"/>
          </a:ln>
        </p:spPr>
        <p:txBody>
          <a:bodyPr wrap="none" lIns="76200" tIns="0" rIns="76200" bIns="0" anchor="ctr">
            <a:normAutofit/>
          </a:bodyPr>
          <a:lstStyle/>
          <a:p>
            <a:pPr algn="ctr">
              <a:buNone/>
              <a:defRPr sz="998" b="1">
                <a:solidFill>
                  <a:srgbClr val="2F73B7"/>
                </a:solidFill>
                <a:latin typeface="Noto Sans CJK JP"/>
                <a:ea typeface="Noto Sans CJK JP"/>
                <a:cs typeface="Noto Sans CJK JP"/>
              </a:defRPr>
            </a:pPr>
            <a:r>
              <a:rPr sz="998" b="1">
                <a:solidFill>
                  <a:srgbClr val="2F73B7"/>
                </a:solidFill>
                <a:latin typeface="Noto Sans CJK JP"/>
                <a:ea typeface="Noto Sans CJK JP"/>
                <a:cs typeface="Noto Sans CJK JP"/>
              </a:rPr>
              <a:t>2 数理理論</a:t>
            </a:r>
          </a:p>
        </p:txBody>
      </p:sp>
      <p:sp>
        <p:nvSpPr>
          <p:cNvPr id="9" name="chapter-tab-3">
            <a:extLst>
              <a:ext uri="{FF2B5EF4-FFF2-40B4-BE49-F238E27FC236}">
                <a16:creationId xmlns:a16="http://schemas.microsoft.com/office/drawing/2014/main" id="{C3FF8B88-322D-406C-8E2C-2C04C7290912}"/>
              </a:ext>
            </a:extLst>
          </p:cNvPr>
          <p:cNvSpPr>
            <a:spLocks noGrp="1"/>
          </p:cNvSpPr>
          <p:nvPr/>
        </p:nvSpPr>
        <p:spPr>
          <a:xfrm>
            <a:off x="4400550" y="4857750"/>
            <a:ext cx="2057400" cy="238125"/>
          </a:xfrm>
          <a:prstGeom prst="parallelogram">
            <a:avLst/>
          </a:prstGeom>
          <a:solidFill>
            <a:srgbClr val="FFFFFF"/>
          </a:solidFill>
          <a:ln w="10001">
            <a:solidFill>
              <a:srgbClr val="2A8F6A"/>
            </a:solidFill>
            <a:prstDash val="solid"/>
          </a:ln>
        </p:spPr>
        <p:txBody>
          <a:bodyPr wrap="none" lIns="76200" tIns="0" rIns="76200" bIns="0" anchor="ctr">
            <a:normAutofit/>
          </a:bodyPr>
          <a:lstStyle/>
          <a:p>
            <a:pPr algn="ctr">
              <a:buNone/>
              <a:defRPr sz="998" b="1">
                <a:solidFill>
                  <a:srgbClr val="2A8F6A"/>
                </a:solidFill>
                <a:latin typeface="Noto Sans CJK JP"/>
                <a:ea typeface="Noto Sans CJK JP"/>
                <a:cs typeface="Noto Sans CJK JP"/>
              </a:defRPr>
            </a:pPr>
            <a:r>
              <a:rPr sz="998" b="1">
                <a:solidFill>
                  <a:srgbClr val="2A8F6A"/>
                </a:solidFill>
                <a:latin typeface="Noto Sans CJK JP"/>
                <a:ea typeface="Noto Sans CJK JP"/>
                <a:cs typeface="Noto Sans CJK JP"/>
              </a:rPr>
              <a:t>3 シミュレーション</a:t>
            </a:r>
          </a:p>
        </p:txBody>
      </p:sp>
      <p:sp>
        <p:nvSpPr>
          <p:cNvPr id="10" name="chapter-tab-4">
            <a:extLst>
              <a:ext uri="{FF2B5EF4-FFF2-40B4-BE49-F238E27FC236}">
                <a16:creationId xmlns:a16="http://schemas.microsoft.com/office/drawing/2014/main" id="{DD624ABE-382B-42E5-82E6-0E6C6737F011}"/>
              </a:ext>
            </a:extLst>
          </p:cNvPr>
          <p:cNvSpPr>
            <a:spLocks noGrp="1"/>
          </p:cNvSpPr>
          <p:nvPr/>
        </p:nvSpPr>
        <p:spPr>
          <a:xfrm>
            <a:off x="6372225" y="4857750"/>
            <a:ext cx="2057400" cy="238125"/>
          </a:xfrm>
          <a:prstGeom prst="parallelogram">
            <a:avLst/>
          </a:prstGeom>
          <a:solidFill>
            <a:srgbClr val="FFFFFF"/>
          </a:solidFill>
          <a:ln w="10001">
            <a:solidFill>
              <a:srgbClr val="C9534B"/>
            </a:solidFill>
            <a:prstDash val="solid"/>
          </a:ln>
        </p:spPr>
        <p:txBody>
          <a:bodyPr wrap="none" lIns="76200" tIns="0" rIns="76200" bIns="0" anchor="ctr">
            <a:normAutofit/>
          </a:bodyPr>
          <a:lstStyle/>
          <a:p>
            <a:pPr algn="ctr">
              <a:buNone/>
              <a:defRPr sz="998" b="1">
                <a:solidFill>
                  <a:srgbClr val="C9534B"/>
                </a:solidFill>
                <a:latin typeface="Noto Sans CJK JP"/>
                <a:ea typeface="Noto Sans CJK JP"/>
                <a:cs typeface="Noto Sans CJK JP"/>
              </a:defRPr>
            </a:pPr>
            <a:r>
              <a:rPr sz="998" b="1">
                <a:solidFill>
                  <a:srgbClr val="C9534B"/>
                </a:solidFill>
                <a:latin typeface="Noto Sans CJK JP"/>
                <a:ea typeface="Noto Sans CJK JP"/>
                <a:cs typeface="Noto Sans CJK JP"/>
              </a:rPr>
              <a:t>4 結論</a:t>
            </a:r>
          </a:p>
        </p:txBody>
      </p:sp>
      <p:sp>
        <p:nvSpPr>
          <p:cNvPr id="11" name="title-glide-curve-blue">
            <a:extLst>
              <a:ext uri="{FF2B5EF4-FFF2-40B4-BE49-F238E27FC236}">
                <a16:creationId xmlns:a16="http://schemas.microsoft.com/office/drawing/2014/main" id="{B7077A98-8D64-41F9-AE40-0416D497FBEA}"/>
              </a:ext>
            </a:extLst>
          </p:cNvPr>
          <p:cNvSpPr>
            <a:spLocks noGrp="1"/>
          </p:cNvSpPr>
          <p:nvPr/>
        </p:nvSpPr>
        <p:spPr>
          <a:xfrm>
            <a:off x="1695450" y="2476500"/>
            <a:ext cx="6096000" cy="1428750"/>
          </a:xfrm>
          <a:custGeom>
            <a:avLst/>
            <a:gdLst/>
            <a:ahLst/>
            <a:cxnLst/>
            <a:rect l="0" t="0" r="0" b="0"/>
            <a:pathLst>
              <a:path w="6096000" h="1428750">
                <a:moveTo>
                  <a:pt x="0" y="171450"/>
                </a:moveTo>
                <a:lnTo>
                  <a:pt x="127000" y="161180"/>
                </a:lnTo>
                <a:lnTo>
                  <a:pt x="254000" y="152801"/>
                </a:lnTo>
                <a:lnTo>
                  <a:pt x="381000" y="146297"/>
                </a:lnTo>
                <a:lnTo>
                  <a:pt x="508000" y="141643"/>
                </a:lnTo>
                <a:lnTo>
                  <a:pt x="635000" y="138814"/>
                </a:lnTo>
                <a:lnTo>
                  <a:pt x="762000" y="137778"/>
                </a:lnTo>
                <a:lnTo>
                  <a:pt x="889000" y="138499"/>
                </a:lnTo>
                <a:lnTo>
                  <a:pt x="1016000" y="140935"/>
                </a:lnTo>
                <a:lnTo>
                  <a:pt x="1143000" y="145040"/>
                </a:lnTo>
                <a:lnTo>
                  <a:pt x="1270000" y="150765"/>
                </a:lnTo>
                <a:lnTo>
                  <a:pt x="1397000" y="158053"/>
                </a:lnTo>
                <a:lnTo>
                  <a:pt x="1524000" y="166845"/>
                </a:lnTo>
                <a:lnTo>
                  <a:pt x="1651000" y="177076"/>
                </a:lnTo>
                <a:lnTo>
                  <a:pt x="1778000" y="188677"/>
                </a:lnTo>
                <a:lnTo>
                  <a:pt x="1905000" y="201575"/>
                </a:lnTo>
                <a:lnTo>
                  <a:pt x="2032000" y="215691"/>
                </a:lnTo>
                <a:lnTo>
                  <a:pt x="2159000" y="230944"/>
                </a:lnTo>
                <a:lnTo>
                  <a:pt x="2286000" y="247249"/>
                </a:lnTo>
                <a:lnTo>
                  <a:pt x="2413000" y="264516"/>
                </a:lnTo>
                <a:lnTo>
                  <a:pt x="2540000" y="282654"/>
                </a:lnTo>
                <a:lnTo>
                  <a:pt x="2667000" y="301565"/>
                </a:lnTo>
                <a:lnTo>
                  <a:pt x="2794000" y="321153"/>
                </a:lnTo>
                <a:lnTo>
                  <a:pt x="2921000" y="341315"/>
                </a:lnTo>
                <a:lnTo>
                  <a:pt x="3048000" y="361950"/>
                </a:lnTo>
                <a:lnTo>
                  <a:pt x="3175000" y="382952"/>
                </a:lnTo>
                <a:lnTo>
                  <a:pt x="3302000" y="404214"/>
                </a:lnTo>
                <a:lnTo>
                  <a:pt x="3429000" y="425629"/>
                </a:lnTo>
                <a:lnTo>
                  <a:pt x="3556000" y="447089"/>
                </a:lnTo>
                <a:lnTo>
                  <a:pt x="3683000" y="468482"/>
                </a:lnTo>
                <a:lnTo>
                  <a:pt x="3810000" y="489702"/>
                </a:lnTo>
                <a:lnTo>
                  <a:pt x="3937000" y="510637"/>
                </a:lnTo>
                <a:lnTo>
                  <a:pt x="4064000" y="531179"/>
                </a:lnTo>
                <a:lnTo>
                  <a:pt x="4191000" y="551220"/>
                </a:lnTo>
                <a:lnTo>
                  <a:pt x="4318000" y="570652"/>
                </a:lnTo>
                <a:lnTo>
                  <a:pt x="4445000" y="589371"/>
                </a:lnTo>
                <a:lnTo>
                  <a:pt x="4572000" y="607271"/>
                </a:lnTo>
                <a:lnTo>
                  <a:pt x="4699000" y="624252"/>
                </a:lnTo>
                <a:lnTo>
                  <a:pt x="4826000" y="640213"/>
                </a:lnTo>
                <a:lnTo>
                  <a:pt x="4953000" y="655057"/>
                </a:lnTo>
                <a:lnTo>
                  <a:pt x="5080000" y="668690"/>
                </a:lnTo>
                <a:lnTo>
                  <a:pt x="5207000" y="681021"/>
                </a:lnTo>
                <a:lnTo>
                  <a:pt x="5334000" y="691961"/>
                </a:lnTo>
                <a:lnTo>
                  <a:pt x="5461000" y="701425"/>
                </a:lnTo>
                <a:lnTo>
                  <a:pt x="5588000" y="709332"/>
                </a:lnTo>
                <a:lnTo>
                  <a:pt x="5715000" y="715605"/>
                </a:lnTo>
                <a:lnTo>
                  <a:pt x="5842000" y="720170"/>
                </a:lnTo>
                <a:lnTo>
                  <a:pt x="5969000" y="722957"/>
                </a:lnTo>
                <a:lnTo>
                  <a:pt x="6096000" y="723900"/>
                </a:lnTo>
              </a:path>
            </a:pathLst>
          </a:custGeom>
          <a:noFill/>
          <a:ln w="10954">
            <a:solidFill>
              <a:srgbClr val="2768C8"/>
            </a:solidFill>
            <a:prstDash val="solid"/>
          </a:ln>
        </p:spPr>
      </p:sp>
      <p:sp>
        <p:nvSpPr>
          <p:cNvPr id="12" name="title-glide-curve-cyan">
            <a:extLst>
              <a:ext uri="{FF2B5EF4-FFF2-40B4-BE49-F238E27FC236}">
                <a16:creationId xmlns:a16="http://schemas.microsoft.com/office/drawing/2014/main" id="{9BD0CCF5-6BA2-43D2-A656-910FADC742F8}"/>
              </a:ext>
            </a:extLst>
          </p:cNvPr>
          <p:cNvSpPr>
            <a:spLocks noGrp="1"/>
          </p:cNvSpPr>
          <p:nvPr/>
        </p:nvSpPr>
        <p:spPr>
          <a:xfrm>
            <a:off x="1695450" y="2476500"/>
            <a:ext cx="6096000" cy="1428750"/>
          </a:xfrm>
          <a:custGeom>
            <a:avLst/>
            <a:gdLst/>
            <a:ahLst/>
            <a:cxnLst/>
            <a:rect l="0" t="0" r="0" b="0"/>
            <a:pathLst>
              <a:path w="6096000" h="1428750">
                <a:moveTo>
                  <a:pt x="0" y="171450"/>
                </a:moveTo>
                <a:lnTo>
                  <a:pt x="127000" y="161498"/>
                </a:lnTo>
                <a:lnTo>
                  <a:pt x="254000" y="154055"/>
                </a:lnTo>
                <a:lnTo>
                  <a:pt x="381000" y="149078"/>
                </a:lnTo>
                <a:lnTo>
                  <a:pt x="508000" y="146516"/>
                </a:lnTo>
                <a:lnTo>
                  <a:pt x="635000" y="146316"/>
                </a:lnTo>
                <a:lnTo>
                  <a:pt x="762000" y="148420"/>
                </a:lnTo>
                <a:lnTo>
                  <a:pt x="889000" y="152763"/>
                </a:lnTo>
                <a:lnTo>
                  <a:pt x="1016000" y="159279"/>
                </a:lnTo>
                <a:lnTo>
                  <a:pt x="1143000" y="167895"/>
                </a:lnTo>
                <a:lnTo>
                  <a:pt x="1270000" y="178532"/>
                </a:lnTo>
                <a:lnTo>
                  <a:pt x="1397000" y="191110"/>
                </a:lnTo>
                <a:lnTo>
                  <a:pt x="1524000" y="205541"/>
                </a:lnTo>
                <a:lnTo>
                  <a:pt x="1651000" y="221733"/>
                </a:lnTo>
                <a:lnTo>
                  <a:pt x="1778000" y="239590"/>
                </a:lnTo>
                <a:lnTo>
                  <a:pt x="1905000" y="259013"/>
                </a:lnTo>
                <a:lnTo>
                  <a:pt x="2032000" y="279897"/>
                </a:lnTo>
                <a:lnTo>
                  <a:pt x="2159000" y="302132"/>
                </a:lnTo>
                <a:lnTo>
                  <a:pt x="2286000" y="325607"/>
                </a:lnTo>
                <a:lnTo>
                  <a:pt x="2413000" y="350206"/>
                </a:lnTo>
                <a:lnTo>
                  <a:pt x="2540000" y="375809"/>
                </a:lnTo>
                <a:lnTo>
                  <a:pt x="2667000" y="402294"/>
                </a:lnTo>
                <a:lnTo>
                  <a:pt x="2794000" y="429535"/>
                </a:lnTo>
                <a:lnTo>
                  <a:pt x="2921000" y="457406"/>
                </a:lnTo>
                <a:lnTo>
                  <a:pt x="3048000" y="485775"/>
                </a:lnTo>
                <a:lnTo>
                  <a:pt x="3175000" y="514511"/>
                </a:lnTo>
                <a:lnTo>
                  <a:pt x="3302000" y="543482"/>
                </a:lnTo>
                <a:lnTo>
                  <a:pt x="3429000" y="572551"/>
                </a:lnTo>
                <a:lnTo>
                  <a:pt x="3556000" y="601583"/>
                </a:lnTo>
                <a:lnTo>
                  <a:pt x="3683000" y="630443"/>
                </a:lnTo>
                <a:lnTo>
                  <a:pt x="3810000" y="658994"/>
                </a:lnTo>
                <a:lnTo>
                  <a:pt x="3937000" y="687099"/>
                </a:lnTo>
                <a:lnTo>
                  <a:pt x="4064000" y="714623"/>
                </a:lnTo>
                <a:lnTo>
                  <a:pt x="4191000" y="741431"/>
                </a:lnTo>
                <a:lnTo>
                  <a:pt x="4318000" y="767389"/>
                </a:lnTo>
                <a:lnTo>
                  <a:pt x="4445000" y="792364"/>
                </a:lnTo>
                <a:lnTo>
                  <a:pt x="4572000" y="816226"/>
                </a:lnTo>
                <a:lnTo>
                  <a:pt x="4699000" y="838845"/>
                </a:lnTo>
                <a:lnTo>
                  <a:pt x="4826000" y="860096"/>
                </a:lnTo>
                <a:lnTo>
                  <a:pt x="4953000" y="879853"/>
                </a:lnTo>
                <a:lnTo>
                  <a:pt x="5080000" y="897996"/>
                </a:lnTo>
                <a:lnTo>
                  <a:pt x="5207000" y="914406"/>
                </a:lnTo>
                <a:lnTo>
                  <a:pt x="5334000" y="928969"/>
                </a:lnTo>
                <a:lnTo>
                  <a:pt x="5461000" y="941573"/>
                </a:lnTo>
                <a:lnTo>
                  <a:pt x="5588000" y="952109"/>
                </a:lnTo>
                <a:lnTo>
                  <a:pt x="5715000" y="960474"/>
                </a:lnTo>
                <a:lnTo>
                  <a:pt x="5842000" y="966566"/>
                </a:lnTo>
                <a:lnTo>
                  <a:pt x="5969000" y="970289"/>
                </a:lnTo>
                <a:lnTo>
                  <a:pt x="6096000" y="971550"/>
                </a:lnTo>
              </a:path>
            </a:pathLst>
          </a:custGeom>
          <a:noFill/>
          <a:ln w="10954">
            <a:solidFill>
              <a:srgbClr val="20A6A4"/>
            </a:solidFill>
            <a:prstDash val="solid"/>
          </a:ln>
        </p:spPr>
      </p:sp>
      <p:sp>
        <p:nvSpPr>
          <p:cNvPr id="13" name="title-glide-curve-green">
            <a:extLst>
              <a:ext uri="{FF2B5EF4-FFF2-40B4-BE49-F238E27FC236}">
                <a16:creationId xmlns:a16="http://schemas.microsoft.com/office/drawing/2014/main" id="{A78891F2-9B5D-482F-AD68-D18BAC13596E}"/>
              </a:ext>
            </a:extLst>
          </p:cNvPr>
          <p:cNvSpPr>
            <a:spLocks noGrp="1"/>
          </p:cNvSpPr>
          <p:nvPr/>
        </p:nvSpPr>
        <p:spPr>
          <a:xfrm>
            <a:off x="1695450" y="2476500"/>
            <a:ext cx="6096000" cy="1428750"/>
          </a:xfrm>
          <a:custGeom>
            <a:avLst/>
            <a:gdLst/>
            <a:ahLst/>
            <a:cxnLst/>
            <a:rect l="0" t="0" r="0" b="0"/>
            <a:pathLst>
              <a:path w="6096000" h="1428750">
                <a:moveTo>
                  <a:pt x="0" y="171450"/>
                </a:moveTo>
                <a:lnTo>
                  <a:pt x="127000" y="161816"/>
                </a:lnTo>
                <a:lnTo>
                  <a:pt x="254000" y="155309"/>
                </a:lnTo>
                <a:lnTo>
                  <a:pt x="381000" y="151859"/>
                </a:lnTo>
                <a:lnTo>
                  <a:pt x="508000" y="151389"/>
                </a:lnTo>
                <a:lnTo>
                  <a:pt x="635000" y="153818"/>
                </a:lnTo>
                <a:lnTo>
                  <a:pt x="762000" y="159061"/>
                </a:lnTo>
                <a:lnTo>
                  <a:pt x="889000" y="167028"/>
                </a:lnTo>
                <a:lnTo>
                  <a:pt x="1016000" y="177624"/>
                </a:lnTo>
                <a:lnTo>
                  <a:pt x="1143000" y="190749"/>
                </a:lnTo>
                <a:lnTo>
                  <a:pt x="1270000" y="206300"/>
                </a:lnTo>
                <a:lnTo>
                  <a:pt x="1397000" y="224167"/>
                </a:lnTo>
                <a:lnTo>
                  <a:pt x="1524000" y="244236"/>
                </a:lnTo>
                <a:lnTo>
                  <a:pt x="1651000" y="266389"/>
                </a:lnTo>
                <a:lnTo>
                  <a:pt x="1778000" y="290503"/>
                </a:lnTo>
                <a:lnTo>
                  <a:pt x="1905000" y="316452"/>
                </a:lnTo>
                <a:lnTo>
                  <a:pt x="2032000" y="344102"/>
                </a:lnTo>
                <a:lnTo>
                  <a:pt x="2159000" y="373320"/>
                </a:lnTo>
                <a:lnTo>
                  <a:pt x="2286000" y="403965"/>
                </a:lnTo>
                <a:lnTo>
                  <a:pt x="2413000" y="435895"/>
                </a:lnTo>
                <a:lnTo>
                  <a:pt x="2540000" y="468964"/>
                </a:lnTo>
                <a:lnTo>
                  <a:pt x="2667000" y="503022"/>
                </a:lnTo>
                <a:lnTo>
                  <a:pt x="2794000" y="537918"/>
                </a:lnTo>
                <a:lnTo>
                  <a:pt x="2921000" y="573496"/>
                </a:lnTo>
                <a:lnTo>
                  <a:pt x="3048000" y="609600"/>
                </a:lnTo>
                <a:lnTo>
                  <a:pt x="3175000" y="646071"/>
                </a:lnTo>
                <a:lnTo>
                  <a:pt x="3302000" y="682749"/>
                </a:lnTo>
                <a:lnTo>
                  <a:pt x="3429000" y="719472"/>
                </a:lnTo>
                <a:lnTo>
                  <a:pt x="3556000" y="756078"/>
                </a:lnTo>
                <a:lnTo>
                  <a:pt x="3683000" y="792403"/>
                </a:lnTo>
                <a:lnTo>
                  <a:pt x="3810000" y="828286"/>
                </a:lnTo>
                <a:lnTo>
                  <a:pt x="3937000" y="863561"/>
                </a:lnTo>
                <a:lnTo>
                  <a:pt x="4064000" y="898068"/>
                </a:lnTo>
                <a:lnTo>
                  <a:pt x="4191000" y="931643"/>
                </a:lnTo>
                <a:lnTo>
                  <a:pt x="4318000" y="964126"/>
                </a:lnTo>
                <a:lnTo>
                  <a:pt x="4445000" y="995358"/>
                </a:lnTo>
                <a:lnTo>
                  <a:pt x="4572000" y="1025181"/>
                </a:lnTo>
                <a:lnTo>
                  <a:pt x="4699000" y="1053439"/>
                </a:lnTo>
                <a:lnTo>
                  <a:pt x="4826000" y="1079978"/>
                </a:lnTo>
                <a:lnTo>
                  <a:pt x="4953000" y="1104648"/>
                </a:lnTo>
                <a:lnTo>
                  <a:pt x="5080000" y="1127301"/>
                </a:lnTo>
                <a:lnTo>
                  <a:pt x="5207000" y="1147792"/>
                </a:lnTo>
                <a:lnTo>
                  <a:pt x="5334000" y="1165978"/>
                </a:lnTo>
                <a:lnTo>
                  <a:pt x="5461000" y="1181721"/>
                </a:lnTo>
                <a:lnTo>
                  <a:pt x="5588000" y="1194887"/>
                </a:lnTo>
                <a:lnTo>
                  <a:pt x="5715000" y="1205343"/>
                </a:lnTo>
                <a:lnTo>
                  <a:pt x="5842000" y="1212962"/>
                </a:lnTo>
                <a:lnTo>
                  <a:pt x="5969000" y="1217621"/>
                </a:lnTo>
                <a:lnTo>
                  <a:pt x="6096000" y="1219200"/>
                </a:lnTo>
              </a:path>
            </a:pathLst>
          </a:custGeom>
          <a:noFill/>
          <a:ln w="10954">
            <a:solidFill>
              <a:srgbClr val="5A9A42"/>
            </a:solidFill>
            <a:prstDash val="solid"/>
          </a:ln>
        </p:spPr>
      </p:sp>
      <p:sp>
        <p:nvSpPr>
          <p:cNvPr id="14" name="title-glide-curve-red">
            <a:extLst>
              <a:ext uri="{FF2B5EF4-FFF2-40B4-BE49-F238E27FC236}">
                <a16:creationId xmlns:a16="http://schemas.microsoft.com/office/drawing/2014/main" id="{CDBD01B2-0AF8-4E93-A2F5-077A8959CCA3}"/>
              </a:ext>
            </a:extLst>
          </p:cNvPr>
          <p:cNvSpPr>
            <a:spLocks noGrp="1"/>
          </p:cNvSpPr>
          <p:nvPr/>
        </p:nvSpPr>
        <p:spPr>
          <a:xfrm>
            <a:off x="1695450" y="2476500"/>
            <a:ext cx="6096000" cy="1428750"/>
          </a:xfrm>
          <a:custGeom>
            <a:avLst/>
            <a:gdLst/>
            <a:ahLst/>
            <a:cxnLst/>
            <a:rect l="0" t="0" r="0" b="0"/>
            <a:pathLst>
              <a:path w="6096000" h="1428750">
                <a:moveTo>
                  <a:pt x="0" y="171450"/>
                </a:moveTo>
                <a:lnTo>
                  <a:pt x="127000" y="162134"/>
                </a:lnTo>
                <a:lnTo>
                  <a:pt x="254000" y="156563"/>
                </a:lnTo>
                <a:lnTo>
                  <a:pt x="381000" y="154640"/>
                </a:lnTo>
                <a:lnTo>
                  <a:pt x="508000" y="156262"/>
                </a:lnTo>
                <a:lnTo>
                  <a:pt x="635000" y="161320"/>
                </a:lnTo>
                <a:lnTo>
                  <a:pt x="762000" y="169702"/>
                </a:lnTo>
                <a:lnTo>
                  <a:pt x="889000" y="181292"/>
                </a:lnTo>
                <a:lnTo>
                  <a:pt x="1016000" y="195968"/>
                </a:lnTo>
                <a:lnTo>
                  <a:pt x="1143000" y="213604"/>
                </a:lnTo>
                <a:lnTo>
                  <a:pt x="1270000" y="234067"/>
                </a:lnTo>
                <a:lnTo>
                  <a:pt x="1397000" y="257223"/>
                </a:lnTo>
                <a:lnTo>
                  <a:pt x="1524000" y="282931"/>
                </a:lnTo>
                <a:lnTo>
                  <a:pt x="1651000" y="311045"/>
                </a:lnTo>
                <a:lnTo>
                  <a:pt x="1778000" y="341416"/>
                </a:lnTo>
                <a:lnTo>
                  <a:pt x="1905000" y="373890"/>
                </a:lnTo>
                <a:lnTo>
                  <a:pt x="2032000" y="408308"/>
                </a:lnTo>
                <a:lnTo>
                  <a:pt x="2159000" y="444508"/>
                </a:lnTo>
                <a:lnTo>
                  <a:pt x="2286000" y="482323"/>
                </a:lnTo>
                <a:lnTo>
                  <a:pt x="2413000" y="521585"/>
                </a:lnTo>
                <a:lnTo>
                  <a:pt x="2540000" y="562120"/>
                </a:lnTo>
                <a:lnTo>
                  <a:pt x="2667000" y="603751"/>
                </a:lnTo>
                <a:lnTo>
                  <a:pt x="2794000" y="646301"/>
                </a:lnTo>
                <a:lnTo>
                  <a:pt x="2921000" y="689586"/>
                </a:lnTo>
                <a:lnTo>
                  <a:pt x="3048000" y="733425"/>
                </a:lnTo>
                <a:lnTo>
                  <a:pt x="3175000" y="777631"/>
                </a:lnTo>
                <a:lnTo>
                  <a:pt x="3302000" y="822016"/>
                </a:lnTo>
                <a:lnTo>
                  <a:pt x="3429000" y="866393"/>
                </a:lnTo>
                <a:lnTo>
                  <a:pt x="3556000" y="910572"/>
                </a:lnTo>
                <a:lnTo>
                  <a:pt x="3683000" y="954364"/>
                </a:lnTo>
                <a:lnTo>
                  <a:pt x="3810000" y="997578"/>
                </a:lnTo>
                <a:lnTo>
                  <a:pt x="3937000" y="1040024"/>
                </a:lnTo>
                <a:lnTo>
                  <a:pt x="4064000" y="1081512"/>
                </a:lnTo>
                <a:lnTo>
                  <a:pt x="4191000" y="1121855"/>
                </a:lnTo>
                <a:lnTo>
                  <a:pt x="4318000" y="1160863"/>
                </a:lnTo>
                <a:lnTo>
                  <a:pt x="4445000" y="1198352"/>
                </a:lnTo>
                <a:lnTo>
                  <a:pt x="4572000" y="1234135"/>
                </a:lnTo>
                <a:lnTo>
                  <a:pt x="4699000" y="1268032"/>
                </a:lnTo>
                <a:lnTo>
                  <a:pt x="4826000" y="1299861"/>
                </a:lnTo>
                <a:lnTo>
                  <a:pt x="4953000" y="1329444"/>
                </a:lnTo>
                <a:lnTo>
                  <a:pt x="5080000" y="1356607"/>
                </a:lnTo>
                <a:lnTo>
                  <a:pt x="5207000" y="1381178"/>
                </a:lnTo>
                <a:lnTo>
                  <a:pt x="5334000" y="1402987"/>
                </a:lnTo>
                <a:lnTo>
                  <a:pt x="5461000" y="1421870"/>
                </a:lnTo>
                <a:lnTo>
                  <a:pt x="5588000" y="1437664"/>
                </a:lnTo>
                <a:lnTo>
                  <a:pt x="5715000" y="1450212"/>
                </a:lnTo>
                <a:lnTo>
                  <a:pt x="5842000" y="1459358"/>
                </a:lnTo>
                <a:lnTo>
                  <a:pt x="5969000" y="1464953"/>
                </a:lnTo>
                <a:lnTo>
                  <a:pt x="6096000" y="1466850"/>
                </a:lnTo>
              </a:path>
            </a:pathLst>
          </a:custGeom>
          <a:noFill/>
          <a:ln w="10954">
            <a:solidFill>
              <a:srgbClr val="F04438"/>
            </a:solidFill>
            <a:prstDash val="solid"/>
          </a:ln>
        </p:spPr>
      </p:sp>
      <p:sp>
        <p:nvSpPr>
          <p:cNvPr id="4" name="正方形/長方形 3">
            <a:extLst>
              <a:ext uri="{FF2B5EF4-FFF2-40B4-BE49-F238E27FC236}">
                <a16:creationId xmlns:a16="http://schemas.microsoft.com/office/drawing/2014/main" id="{CC5CDE70-458B-9D6A-95E6-6E3560ECFB1B}"/>
              </a:ext>
            </a:extLst>
          </p:cNvPr>
          <p:cNvSpPr/>
          <p:nvPr/>
        </p:nvSpPr>
        <p:spPr>
          <a:xfrm>
            <a:off x="4135582" y="4225636"/>
            <a:ext cx="845127" cy="184439"/>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1253331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B5FB2-DE08-01C4-4B0F-3D45E31A046E}"/>
              </a:ext>
            </a:extLst>
          </p:cNvPr>
          <p:cNvSpPr>
            <a:spLocks noGrp="1"/>
          </p:cNvSpPr>
          <p:nvPr>
            <p:ph type="title"/>
          </p:nvPr>
        </p:nvSpPr>
        <p:spPr>
          <a:xfrm>
            <a:off x="457200" y="990600"/>
            <a:ext cx="6758940" cy="609600"/>
          </a:xfrm>
        </p:spPr>
        <p:txBody>
          <a:bodyPr wrap="none" lIns="0" tIns="0" rIns="0" bIns="0" anchor="ctr">
            <a:normAutofit fontScale="90000"/>
          </a:bodyPr>
          <a:lstStyle/>
          <a:p>
            <a:pPr algn="l">
              <a:defRPr sz="2213" b="1">
                <a:solidFill>
                  <a:srgbClr val="111827"/>
                </a:solidFill>
                <a:latin typeface="Noto Sans CJK JP"/>
                <a:ea typeface="Noto Sans CJK JP"/>
                <a:cs typeface="Noto Sans CJK JP"/>
              </a:defRPr>
            </a:pPr>
            <a:r>
              <a:rPr lang="ja-JP" altLang="en-US" sz="2213" b="1" dirty="0">
                <a:solidFill>
                  <a:srgbClr val="111827"/>
                </a:solidFill>
                <a:latin typeface="Noto Sans CJK JP"/>
                <a:ea typeface="Noto Sans CJK JP"/>
                <a:cs typeface="Noto Sans CJK JP"/>
              </a:rPr>
              <a:t>退職時点の残高最大化のために、</a:t>
            </a:r>
            <a:br>
              <a:rPr lang="en-US" altLang="ja-JP" sz="2213" b="1" dirty="0">
                <a:solidFill>
                  <a:srgbClr val="111827"/>
                </a:solidFill>
                <a:latin typeface="Noto Sans CJK JP"/>
                <a:ea typeface="Noto Sans CJK JP"/>
                <a:cs typeface="Noto Sans CJK JP"/>
              </a:rPr>
            </a:br>
            <a:r>
              <a:rPr sz="2213" b="1" dirty="0" err="1">
                <a:solidFill>
                  <a:srgbClr val="C62820"/>
                </a:solidFill>
                <a:latin typeface="Noto Sans CJK JP"/>
                <a:ea typeface="Noto Sans CJK JP"/>
                <a:cs typeface="Noto Sans CJK JP"/>
              </a:rPr>
              <a:t>運用比率</a:t>
            </a:r>
            <a:r>
              <a:rPr lang="ja-JP" altLang="en-US" sz="2213" dirty="0">
                <a:solidFill>
                  <a:srgbClr val="111827"/>
                </a:solidFill>
                <a:latin typeface="Noto Sans CJK JP"/>
                <a:ea typeface="Noto Sans CJK JP"/>
                <a:cs typeface="Noto Sans CJK JP"/>
              </a:rPr>
              <a:t>で最適化</a:t>
            </a:r>
            <a:endParaRPr sz="2213" b="1" dirty="0">
              <a:solidFill>
                <a:srgbClr val="111827"/>
              </a:solidFill>
              <a:latin typeface="Noto Sans CJK JP"/>
              <a:ea typeface="Noto Sans CJK JP"/>
              <a:cs typeface="Noto Sans CJK JP"/>
            </a:endParaRPr>
          </a:p>
        </p:txBody>
      </p:sp>
      <p:sp>
        <p:nvSpPr>
          <p:cNvPr id="3" name="title-divider">
            <a:extLst>
              <a:ext uri="{FF2B5EF4-FFF2-40B4-BE49-F238E27FC236}">
                <a16:creationId xmlns:a16="http://schemas.microsoft.com/office/drawing/2014/main" id="{3240A815-3306-48B1-AFBC-FF0821D28FE2}"/>
              </a:ext>
            </a:extLst>
          </p:cNvPr>
          <p:cNvSpPr>
            <a:spLocks noGrp="1"/>
          </p:cNvSpPr>
          <p:nvPr/>
        </p:nvSpPr>
        <p:spPr>
          <a:xfrm>
            <a:off x="457200" y="1676400"/>
            <a:ext cx="6984000" cy="9525"/>
          </a:xfrm>
          <a:prstGeom prst="rect">
            <a:avLst/>
          </a:prstGeom>
          <a:solidFill>
            <a:srgbClr val="E5EAF0"/>
          </a:solidFill>
          <a:ln w="0">
            <a:noFill/>
            <a:prstDash val="solid"/>
          </a:ln>
        </p:spPr>
      </p:sp>
      <p:sp>
        <p:nvSpPr>
          <p:cNvPr id="4" name="title-accent">
            <a:extLst>
              <a:ext uri="{FF2B5EF4-FFF2-40B4-BE49-F238E27FC236}">
                <a16:creationId xmlns:a16="http://schemas.microsoft.com/office/drawing/2014/main" id="{BA38459C-EABE-41C4-BAE7-8348F7203738}"/>
              </a:ext>
            </a:extLst>
          </p:cNvPr>
          <p:cNvSpPr>
            <a:spLocks noGrp="1"/>
          </p:cNvSpPr>
          <p:nvPr/>
        </p:nvSpPr>
        <p:spPr>
          <a:xfrm>
            <a:off x="457200" y="1666875"/>
            <a:ext cx="552450" cy="38100"/>
          </a:xfrm>
          <a:prstGeom prst="rect">
            <a:avLst/>
          </a:prstGeom>
          <a:solidFill>
            <a:srgbClr val="4A90E2"/>
          </a:solidFill>
          <a:ln w="0">
            <a:noFill/>
            <a:prstDash val="solid"/>
          </a:ln>
        </p:spPr>
      </p:sp>
      <p:sp>
        <p:nvSpPr>
          <p:cNvPr id="36" name="chapter-tab-1">
            <a:extLst>
              <a:ext uri="{FF2B5EF4-FFF2-40B4-BE49-F238E27FC236}">
                <a16:creationId xmlns:a16="http://schemas.microsoft.com/office/drawing/2014/main" id="{DFDF27D5-D064-4912-9873-42075417423C}"/>
              </a:ext>
            </a:extLst>
          </p:cNvPr>
          <p:cNvSpPr>
            <a:spLocks noGrp="1"/>
          </p:cNvSpPr>
          <p:nvPr/>
        </p:nvSpPr>
        <p:spPr>
          <a:xfrm>
            <a:off x="457200" y="4857750"/>
            <a:ext cx="2057400" cy="238125"/>
          </a:xfrm>
          <a:prstGeom prst="parallelogram">
            <a:avLst/>
          </a:prstGeom>
          <a:solidFill>
            <a:srgbClr val="4A90E2"/>
          </a:solidFill>
          <a:ln w="11430">
            <a:solidFill>
              <a:srgbClr val="4A90E2"/>
            </a:solidFill>
            <a:prstDash val="solid"/>
          </a:ln>
        </p:spPr>
        <p:txBody>
          <a:bodyPr wrap="none" lIns="76200" tIns="0" rIns="76200" bIns="0" anchor="ctr">
            <a:normAutofit/>
          </a:bodyPr>
          <a:lstStyle/>
          <a:p>
            <a:pPr algn="ctr">
              <a:buNone/>
              <a:defRPr sz="998" b="1">
                <a:solidFill>
                  <a:srgbClr val="FFFFFF"/>
                </a:solidFill>
                <a:latin typeface="Noto Sans CJK JP"/>
                <a:ea typeface="Noto Sans CJK JP"/>
                <a:cs typeface="Noto Sans CJK JP"/>
              </a:defRPr>
            </a:pPr>
            <a:r>
              <a:rPr sz="998" b="1">
                <a:solidFill>
                  <a:srgbClr val="FFFFFF"/>
                </a:solidFill>
                <a:latin typeface="Noto Sans CJK JP"/>
                <a:ea typeface="Noto Sans CJK JP"/>
                <a:cs typeface="Noto Sans CJK JP"/>
              </a:rPr>
              <a:t>1 前提</a:t>
            </a:r>
          </a:p>
        </p:txBody>
      </p:sp>
      <p:sp>
        <p:nvSpPr>
          <p:cNvPr id="37" name="chapter-tab-2">
            <a:extLst>
              <a:ext uri="{FF2B5EF4-FFF2-40B4-BE49-F238E27FC236}">
                <a16:creationId xmlns:a16="http://schemas.microsoft.com/office/drawing/2014/main" id="{F8F3E5BC-08B1-47E8-915B-999FA7B17BAA}"/>
              </a:ext>
            </a:extLst>
          </p:cNvPr>
          <p:cNvSpPr>
            <a:spLocks noGrp="1"/>
          </p:cNvSpPr>
          <p:nvPr/>
        </p:nvSpPr>
        <p:spPr>
          <a:xfrm>
            <a:off x="2428875" y="4857750"/>
            <a:ext cx="2057400" cy="238125"/>
          </a:xfrm>
          <a:prstGeom prst="parallelogram">
            <a:avLst/>
          </a:prstGeom>
          <a:solidFill>
            <a:srgbClr val="FFFFFF"/>
          </a:solidFill>
          <a:ln w="10001">
            <a:solidFill>
              <a:srgbClr val="2F73B7"/>
            </a:solidFill>
            <a:prstDash val="solid"/>
          </a:ln>
        </p:spPr>
        <p:txBody>
          <a:bodyPr wrap="none" lIns="76200" tIns="0" rIns="76200" bIns="0" anchor="ctr">
            <a:normAutofit/>
          </a:bodyPr>
          <a:lstStyle/>
          <a:p>
            <a:pPr algn="ctr">
              <a:buNone/>
              <a:defRPr sz="998" b="1">
                <a:solidFill>
                  <a:srgbClr val="2F73B7"/>
                </a:solidFill>
                <a:latin typeface="Noto Sans CJK JP"/>
                <a:ea typeface="Noto Sans CJK JP"/>
                <a:cs typeface="Noto Sans CJK JP"/>
              </a:defRPr>
            </a:pPr>
            <a:r>
              <a:rPr sz="998" b="1">
                <a:solidFill>
                  <a:srgbClr val="2F73B7"/>
                </a:solidFill>
                <a:latin typeface="Noto Sans CJK JP"/>
                <a:ea typeface="Noto Sans CJK JP"/>
                <a:cs typeface="Noto Sans CJK JP"/>
              </a:rPr>
              <a:t>2 数理理論</a:t>
            </a:r>
          </a:p>
        </p:txBody>
      </p:sp>
      <p:sp>
        <p:nvSpPr>
          <p:cNvPr id="38" name="chapter-tab-3">
            <a:extLst>
              <a:ext uri="{FF2B5EF4-FFF2-40B4-BE49-F238E27FC236}">
                <a16:creationId xmlns:a16="http://schemas.microsoft.com/office/drawing/2014/main" id="{1C8ECE64-0A16-4023-97FA-8CD9CE0ED94D}"/>
              </a:ext>
            </a:extLst>
          </p:cNvPr>
          <p:cNvSpPr>
            <a:spLocks noGrp="1"/>
          </p:cNvSpPr>
          <p:nvPr/>
        </p:nvSpPr>
        <p:spPr>
          <a:xfrm>
            <a:off x="4400550" y="4857750"/>
            <a:ext cx="2057400" cy="238125"/>
          </a:xfrm>
          <a:prstGeom prst="parallelogram">
            <a:avLst/>
          </a:prstGeom>
          <a:solidFill>
            <a:srgbClr val="FFFFFF"/>
          </a:solidFill>
          <a:ln w="10001">
            <a:solidFill>
              <a:srgbClr val="2A8F6A"/>
            </a:solidFill>
            <a:prstDash val="solid"/>
          </a:ln>
        </p:spPr>
        <p:txBody>
          <a:bodyPr wrap="none" lIns="76200" tIns="0" rIns="76200" bIns="0" anchor="ctr">
            <a:normAutofit/>
          </a:bodyPr>
          <a:lstStyle/>
          <a:p>
            <a:pPr algn="ctr">
              <a:buNone/>
              <a:defRPr sz="998" b="1">
                <a:solidFill>
                  <a:srgbClr val="2A8F6A"/>
                </a:solidFill>
                <a:latin typeface="Noto Sans CJK JP"/>
                <a:ea typeface="Noto Sans CJK JP"/>
                <a:cs typeface="Noto Sans CJK JP"/>
              </a:defRPr>
            </a:pPr>
            <a:r>
              <a:rPr sz="998" b="1">
                <a:solidFill>
                  <a:srgbClr val="2A8F6A"/>
                </a:solidFill>
                <a:latin typeface="Noto Sans CJK JP"/>
                <a:ea typeface="Noto Sans CJK JP"/>
                <a:cs typeface="Noto Sans CJK JP"/>
              </a:rPr>
              <a:t>3 シミュレーション</a:t>
            </a:r>
          </a:p>
        </p:txBody>
      </p:sp>
      <p:sp>
        <p:nvSpPr>
          <p:cNvPr id="39" name="chapter-tab-4">
            <a:extLst>
              <a:ext uri="{FF2B5EF4-FFF2-40B4-BE49-F238E27FC236}">
                <a16:creationId xmlns:a16="http://schemas.microsoft.com/office/drawing/2014/main" id="{F9EC25DE-9CFE-4CEF-8F9E-704A5768FD67}"/>
              </a:ext>
            </a:extLst>
          </p:cNvPr>
          <p:cNvSpPr>
            <a:spLocks noGrp="1"/>
          </p:cNvSpPr>
          <p:nvPr/>
        </p:nvSpPr>
        <p:spPr>
          <a:xfrm>
            <a:off x="6372225" y="4857750"/>
            <a:ext cx="2057400" cy="238125"/>
          </a:xfrm>
          <a:prstGeom prst="parallelogram">
            <a:avLst/>
          </a:prstGeom>
          <a:solidFill>
            <a:srgbClr val="FFFFFF"/>
          </a:solidFill>
          <a:ln w="10001">
            <a:solidFill>
              <a:srgbClr val="C9534B"/>
            </a:solidFill>
            <a:prstDash val="solid"/>
          </a:ln>
        </p:spPr>
        <p:txBody>
          <a:bodyPr wrap="none" lIns="76200" tIns="0" rIns="76200" bIns="0" anchor="ctr">
            <a:normAutofit/>
          </a:bodyPr>
          <a:lstStyle/>
          <a:p>
            <a:pPr algn="ctr">
              <a:buNone/>
              <a:defRPr sz="998" b="1">
                <a:solidFill>
                  <a:srgbClr val="C9534B"/>
                </a:solidFill>
                <a:latin typeface="Noto Sans CJK JP"/>
                <a:ea typeface="Noto Sans CJK JP"/>
                <a:cs typeface="Noto Sans CJK JP"/>
              </a:defRPr>
            </a:pPr>
            <a:r>
              <a:rPr sz="998" b="1">
                <a:solidFill>
                  <a:srgbClr val="C9534B"/>
                </a:solidFill>
                <a:latin typeface="Noto Sans CJK JP"/>
                <a:ea typeface="Noto Sans CJK JP"/>
                <a:cs typeface="Noto Sans CJK JP"/>
              </a:rPr>
              <a:t>4 結論</a:t>
            </a:r>
          </a:p>
        </p:txBody>
      </p:sp>
      <p:sp>
        <p:nvSpPr>
          <p:cNvPr id="40" name="allocation-timeline">
            <a:extLst>
              <a:ext uri="{FF2B5EF4-FFF2-40B4-BE49-F238E27FC236}">
                <a16:creationId xmlns:a16="http://schemas.microsoft.com/office/drawing/2014/main" id="{0CD41AE0-460D-4F46-BFF5-A87774E0959D}"/>
              </a:ext>
            </a:extLst>
          </p:cNvPr>
          <p:cNvSpPr>
            <a:spLocks noGrp="1"/>
          </p:cNvSpPr>
          <p:nvPr/>
        </p:nvSpPr>
        <p:spPr>
          <a:xfrm>
            <a:off x="647700" y="3333750"/>
            <a:ext cx="7848600" cy="133350"/>
          </a:xfrm>
          <a:prstGeom prst="rightArrow">
            <a:avLst/>
          </a:prstGeom>
          <a:solidFill>
            <a:srgbClr val="07183B"/>
          </a:solidFill>
          <a:ln w="0">
            <a:noFill/>
            <a:prstDash val="solid"/>
          </a:ln>
        </p:spPr>
      </p:sp>
      <p:sp>
        <p:nvSpPr>
          <p:cNvPr id="41" name="contribution-arrow-1">
            <a:extLst>
              <a:ext uri="{FF2B5EF4-FFF2-40B4-BE49-F238E27FC236}">
                <a16:creationId xmlns:a16="http://schemas.microsoft.com/office/drawing/2014/main" id="{6DF6BDD6-E53F-4B41-AE92-975CC5D458C5}"/>
              </a:ext>
            </a:extLst>
          </p:cNvPr>
          <p:cNvSpPr>
            <a:spLocks noGrp="1"/>
          </p:cNvSpPr>
          <p:nvPr/>
        </p:nvSpPr>
        <p:spPr>
          <a:xfrm>
            <a:off x="993458" y="2862263"/>
            <a:ext cx="142875" cy="457200"/>
          </a:xfrm>
          <a:prstGeom prst="downArrow">
            <a:avLst/>
          </a:prstGeom>
          <a:solidFill>
            <a:srgbClr val="94A3B8"/>
          </a:solidFill>
          <a:ln w="0">
            <a:noFill/>
            <a:prstDash val="solid"/>
          </a:ln>
        </p:spPr>
      </p:sp>
      <p:sp>
        <p:nvSpPr>
          <p:cNvPr id="44" name="contribution-arrow-4">
            <a:extLst>
              <a:ext uri="{FF2B5EF4-FFF2-40B4-BE49-F238E27FC236}">
                <a16:creationId xmlns:a16="http://schemas.microsoft.com/office/drawing/2014/main" id="{2CFFDFFC-2E29-4B0F-B17E-DD1338CCBC9C}"/>
              </a:ext>
            </a:extLst>
          </p:cNvPr>
          <p:cNvSpPr>
            <a:spLocks noGrp="1"/>
          </p:cNvSpPr>
          <p:nvPr/>
        </p:nvSpPr>
        <p:spPr>
          <a:xfrm>
            <a:off x="2208848" y="2862263"/>
            <a:ext cx="142875" cy="457200"/>
          </a:xfrm>
          <a:prstGeom prst="downArrow">
            <a:avLst/>
          </a:prstGeom>
          <a:solidFill>
            <a:srgbClr val="94A3B8"/>
          </a:solidFill>
          <a:ln w="0">
            <a:noFill/>
            <a:prstDash val="solid"/>
          </a:ln>
        </p:spPr>
      </p:sp>
      <p:sp>
        <p:nvSpPr>
          <p:cNvPr id="49" name="contribution-label-1">
            <a:extLst>
              <a:ext uri="{FF2B5EF4-FFF2-40B4-BE49-F238E27FC236}">
                <a16:creationId xmlns:a16="http://schemas.microsoft.com/office/drawing/2014/main" id="{C6522C1B-8F8A-49BC-9678-87F9663A4F89}"/>
              </a:ext>
            </a:extLst>
          </p:cNvPr>
          <p:cNvSpPr>
            <a:spLocks noGrp="1"/>
          </p:cNvSpPr>
          <p:nvPr/>
        </p:nvSpPr>
        <p:spPr>
          <a:xfrm>
            <a:off x="802958" y="2481263"/>
            <a:ext cx="523875" cy="171450"/>
          </a:xfrm>
          <a:prstGeom prst="rect">
            <a:avLst/>
          </a:prstGeom>
          <a:noFill/>
          <a:ln w="0">
            <a:noFill/>
            <a:prstDash val="solid"/>
          </a:ln>
        </p:spPr>
        <p:txBody>
          <a:bodyPr wrap="none" lIns="0" tIns="0" rIns="0" bIns="0" anchor="ctr">
            <a:normAutofit/>
          </a:bodyPr>
          <a:lstStyle/>
          <a:p>
            <a:pPr algn="ctr">
              <a:buNone/>
              <a:defRPr sz="1125" b="0">
                <a:solidFill>
                  <a:srgbClr val="64748B"/>
                </a:solidFill>
                <a:latin typeface="Noto Sans CJK JP"/>
                <a:ea typeface="Noto Sans CJK JP"/>
                <a:cs typeface="Noto Sans CJK JP"/>
              </a:defRPr>
            </a:pPr>
            <a:r>
              <a:rPr sz="1125" b="0">
                <a:solidFill>
                  <a:srgbClr val="64748B"/>
                </a:solidFill>
                <a:latin typeface="Noto Sans CJK JP"/>
                <a:ea typeface="Noto Sans CJK JP"/>
                <a:cs typeface="Noto Sans CJK JP"/>
              </a:rPr>
              <a:t>掛金</a:t>
            </a:r>
          </a:p>
        </p:txBody>
      </p:sp>
      <p:pic>
        <p:nvPicPr>
          <p:cNvPr id="105" name="グラフィックス 104"/>
          <p:cNvPicPr>
            <a:picLocks noChangeAspect="1"/>
          </p:cNvPicPr>
          <p:nvPr/>
        </p:nvPicPr>
        <p:blipFill>
          <a:blip>
            <a:extLst>
              <a:ext uri="{96DAC541-7B7A-43D3-8B79-37D633B846F1}">
                <asvg:svgBlip xmlns:asvg="http://schemas.microsoft.com/office/drawing/2016/SVG/main" r:embed="rId3"/>
              </a:ext>
            </a:extLst>
          </a:blip>
          <a:stretch/>
        </p:blipFill>
        <p:spPr>
          <a:xfrm>
            <a:off x="841058" y="2662238"/>
            <a:ext cx="447675" cy="171450"/>
          </a:xfrm>
          <a:prstGeom prst="rect">
            <a:avLst/>
          </a:prstGeom>
        </p:spPr>
      </p:pic>
      <p:sp>
        <p:nvSpPr>
          <p:cNvPr id="55" name="contribution-label-4">
            <a:extLst>
              <a:ext uri="{FF2B5EF4-FFF2-40B4-BE49-F238E27FC236}">
                <a16:creationId xmlns:a16="http://schemas.microsoft.com/office/drawing/2014/main" id="{CCDF968F-F8C4-4A54-BD93-CEA23FFC79B8}"/>
              </a:ext>
            </a:extLst>
          </p:cNvPr>
          <p:cNvSpPr>
            <a:spLocks noGrp="1"/>
          </p:cNvSpPr>
          <p:nvPr/>
        </p:nvSpPr>
        <p:spPr>
          <a:xfrm>
            <a:off x="2018348" y="2481263"/>
            <a:ext cx="523875" cy="171450"/>
          </a:xfrm>
          <a:prstGeom prst="rect">
            <a:avLst/>
          </a:prstGeom>
          <a:noFill/>
          <a:ln w="0">
            <a:noFill/>
            <a:prstDash val="solid"/>
          </a:ln>
        </p:spPr>
        <p:txBody>
          <a:bodyPr wrap="none" lIns="0" tIns="0" rIns="0" bIns="0" anchor="ctr">
            <a:normAutofit/>
          </a:bodyPr>
          <a:lstStyle/>
          <a:p>
            <a:pPr algn="ctr">
              <a:buNone/>
              <a:defRPr sz="1125" b="0">
                <a:solidFill>
                  <a:srgbClr val="64748B"/>
                </a:solidFill>
                <a:latin typeface="Noto Sans CJK JP"/>
                <a:ea typeface="Noto Sans CJK JP"/>
                <a:cs typeface="Noto Sans CJK JP"/>
              </a:defRPr>
            </a:pPr>
            <a:r>
              <a:rPr sz="1125" b="0">
                <a:solidFill>
                  <a:srgbClr val="64748B"/>
                </a:solidFill>
                <a:latin typeface="Noto Sans CJK JP"/>
                <a:ea typeface="Noto Sans CJK JP"/>
                <a:cs typeface="Noto Sans CJK JP"/>
              </a:rPr>
              <a:t>掛金</a:t>
            </a:r>
          </a:p>
        </p:txBody>
      </p:sp>
      <p:pic>
        <p:nvPicPr>
          <p:cNvPr id="111" name="グラフィックス 110"/>
          <p:cNvPicPr>
            <a:picLocks noChangeAspect="1"/>
          </p:cNvPicPr>
          <p:nvPr/>
        </p:nvPicPr>
        <p:blipFill>
          <a:blip>
            <a:extLst>
              <a:ext uri="{96DAC541-7B7A-43D3-8B79-37D633B846F1}">
                <asvg:svgBlip xmlns:asvg="http://schemas.microsoft.com/office/drawing/2016/SVG/main" r:embed="rId3"/>
              </a:ext>
            </a:extLst>
          </a:blip>
          <a:stretch/>
        </p:blipFill>
        <p:spPr>
          <a:xfrm>
            <a:off x="2056448" y="2662238"/>
            <a:ext cx="447675" cy="171450"/>
          </a:xfrm>
          <a:prstGeom prst="rect">
            <a:avLst/>
          </a:prstGeom>
        </p:spPr>
      </p:pic>
      <p:sp>
        <p:nvSpPr>
          <p:cNvPr id="57" name="contribution-ellipsis">
            <a:extLst>
              <a:ext uri="{FF2B5EF4-FFF2-40B4-BE49-F238E27FC236}">
                <a16:creationId xmlns:a16="http://schemas.microsoft.com/office/drawing/2014/main" id="{145289DF-2DF0-4BE3-83B3-9726284F74C5}"/>
              </a:ext>
            </a:extLst>
          </p:cNvPr>
          <p:cNvSpPr>
            <a:spLocks noGrp="1"/>
          </p:cNvSpPr>
          <p:nvPr/>
        </p:nvSpPr>
        <p:spPr>
          <a:xfrm>
            <a:off x="1521143" y="2557463"/>
            <a:ext cx="285750" cy="247650"/>
          </a:xfrm>
          <a:prstGeom prst="rect">
            <a:avLst/>
          </a:prstGeom>
          <a:noFill/>
          <a:ln w="0">
            <a:noFill/>
            <a:prstDash val="solid"/>
          </a:ln>
        </p:spPr>
        <p:txBody>
          <a:bodyPr wrap="none" lIns="0" tIns="0" rIns="0" bIns="0" anchor="ctr">
            <a:normAutofit fontScale="97778" lnSpcReduction="10000"/>
          </a:bodyPr>
          <a:lstStyle/>
          <a:p>
            <a:pPr algn="ctr">
              <a:buNone/>
              <a:defRPr sz="1800" b="0">
                <a:solidFill>
                  <a:srgbClr val="07183B"/>
                </a:solidFill>
                <a:latin typeface="Georgia"/>
                <a:ea typeface="Georgia"/>
                <a:cs typeface="Georgia"/>
              </a:defRPr>
            </a:pPr>
            <a:r>
              <a:rPr sz="1800" b="0" dirty="0">
                <a:solidFill>
                  <a:srgbClr val="07183B"/>
                </a:solidFill>
                <a:latin typeface="Georgia"/>
                <a:ea typeface="Georgia"/>
                <a:cs typeface="Georgia"/>
              </a:rPr>
              <a:t>…</a:t>
            </a:r>
          </a:p>
        </p:txBody>
      </p:sp>
      <p:sp>
        <p:nvSpPr>
          <p:cNvPr id="58" name="dc-account-heading">
            <a:extLst>
              <a:ext uri="{FF2B5EF4-FFF2-40B4-BE49-F238E27FC236}">
                <a16:creationId xmlns:a16="http://schemas.microsoft.com/office/drawing/2014/main" id="{FA94DD94-CE38-45C8-9039-10240FA0B4FA}"/>
              </a:ext>
            </a:extLst>
          </p:cNvPr>
          <p:cNvSpPr>
            <a:spLocks noGrp="1"/>
          </p:cNvSpPr>
          <p:nvPr/>
        </p:nvSpPr>
        <p:spPr>
          <a:xfrm>
            <a:off x="2628900" y="1760220"/>
            <a:ext cx="857250" cy="247650"/>
          </a:xfrm>
          <a:prstGeom prst="rect">
            <a:avLst/>
          </a:prstGeom>
          <a:noFill/>
          <a:ln w="0">
            <a:noFill/>
            <a:prstDash val="solid"/>
          </a:ln>
        </p:spPr>
        <p:txBody>
          <a:bodyPr wrap="none" lIns="0" tIns="0" rIns="0" bIns="0" anchor="ctr">
            <a:normAutofit/>
          </a:bodyPr>
          <a:lstStyle/>
          <a:p>
            <a:pPr algn="r">
              <a:buNone/>
              <a:defRPr sz="1388" b="1">
                <a:solidFill>
                  <a:srgbClr val="07183B"/>
                </a:solidFill>
                <a:latin typeface="Noto Sans CJK JP"/>
                <a:ea typeface="Noto Sans CJK JP"/>
                <a:cs typeface="Noto Sans CJK JP"/>
              </a:defRPr>
            </a:pPr>
            <a:r>
              <a:rPr sz="1388" b="1" dirty="0" err="1">
                <a:solidFill>
                  <a:srgbClr val="07183B"/>
                </a:solidFill>
                <a:latin typeface="Noto Sans CJK JP"/>
                <a:ea typeface="Noto Sans CJK JP"/>
                <a:cs typeface="Noto Sans CJK JP"/>
              </a:rPr>
              <a:t>DC残高</a:t>
            </a:r>
            <a:endParaRPr sz="1388" b="1" dirty="0">
              <a:solidFill>
                <a:srgbClr val="07183B"/>
              </a:solidFill>
              <a:latin typeface="Noto Sans CJK JP"/>
              <a:ea typeface="Noto Sans CJK JP"/>
              <a:cs typeface="Noto Sans CJK JP"/>
            </a:endParaRPr>
          </a:p>
        </p:txBody>
      </p:sp>
      <p:sp>
        <p:nvSpPr>
          <p:cNvPr id="59" name="dc-account-heading-x">
            <a:extLst>
              <a:ext uri="{FF2B5EF4-FFF2-40B4-BE49-F238E27FC236}">
                <a16:creationId xmlns:a16="http://schemas.microsoft.com/office/drawing/2014/main" id="{3524D44A-3922-4B78-9A2F-39750DBCDB5C}"/>
              </a:ext>
            </a:extLst>
          </p:cNvPr>
          <p:cNvSpPr>
            <a:spLocks noGrp="1"/>
          </p:cNvSpPr>
          <p:nvPr/>
        </p:nvSpPr>
        <p:spPr>
          <a:xfrm>
            <a:off x="3505200" y="1760220"/>
            <a:ext cx="323850" cy="247650"/>
          </a:xfrm>
          <a:prstGeom prst="rect">
            <a:avLst/>
          </a:prstGeom>
          <a:noFill/>
          <a:ln w="0">
            <a:noFill/>
            <a:prstDash val="solid"/>
          </a:ln>
        </p:spPr>
        <p:txBody>
          <a:bodyPr wrap="none" lIns="0" tIns="0" rIns="0" bIns="0" anchor="ctr">
            <a:normAutofit/>
          </a:bodyPr>
          <a:lstStyle/>
          <a:p>
            <a:pPr algn="l">
              <a:buNone/>
              <a:defRPr sz="1463" b="0" i="1">
                <a:solidFill>
                  <a:srgbClr val="07183B"/>
                </a:solidFill>
                <a:latin typeface="Cambria Math"/>
                <a:ea typeface="Cambria Math"/>
                <a:cs typeface="Cambria Math"/>
              </a:defRPr>
            </a:pPr>
            <a:r>
              <a:rPr sz="1463" b="0" i="1" dirty="0">
                <a:solidFill>
                  <a:srgbClr val="07183B"/>
                </a:solidFill>
                <a:latin typeface="Cambria Math"/>
                <a:ea typeface="Cambria Math"/>
                <a:cs typeface="Cambria Math"/>
              </a:rPr>
              <a:t>Xₜ</a:t>
            </a:r>
          </a:p>
        </p:txBody>
      </p:sp>
      <p:pic>
        <p:nvPicPr>
          <p:cNvPr id="119" name="グラフィックス 118"/>
          <p:cNvPicPr>
            <a:picLocks noChangeAspect="1"/>
          </p:cNvPicPr>
          <p:nvPr/>
        </p:nvPicPr>
        <p:blipFill>
          <a:blip>
            <a:extLst>
              <a:ext uri="{96DAC541-7B7A-43D3-8B79-37D633B846F1}">
                <asvg:svgBlip xmlns:asvg="http://schemas.microsoft.com/office/drawing/2016/SVG/main" r:embed="rId4"/>
              </a:ext>
            </a:extLst>
          </a:blip>
          <a:stretch/>
        </p:blipFill>
        <p:spPr>
          <a:xfrm>
            <a:off x="3676650" y="2249567"/>
            <a:ext cx="617220" cy="169783"/>
          </a:xfrm>
          <a:prstGeom prst="rect">
            <a:avLst/>
          </a:prstGeom>
        </p:spPr>
      </p:pic>
      <p:sp>
        <p:nvSpPr>
          <p:cNvPr id="65" name="risky-allocation-label">
            <a:extLst>
              <a:ext uri="{FF2B5EF4-FFF2-40B4-BE49-F238E27FC236}">
                <a16:creationId xmlns:a16="http://schemas.microsoft.com/office/drawing/2014/main" id="{60902C0B-BB85-481E-B20B-4F995E87950B}"/>
              </a:ext>
            </a:extLst>
          </p:cNvPr>
          <p:cNvSpPr>
            <a:spLocks noGrp="1"/>
          </p:cNvSpPr>
          <p:nvPr/>
        </p:nvSpPr>
        <p:spPr>
          <a:xfrm>
            <a:off x="3552825" y="2636520"/>
            <a:ext cx="800100" cy="228600"/>
          </a:xfrm>
          <a:prstGeom prst="rect">
            <a:avLst/>
          </a:prstGeom>
          <a:noFill/>
          <a:ln w="0">
            <a:noFill/>
            <a:prstDash val="solid"/>
          </a:ln>
        </p:spPr>
        <p:txBody>
          <a:bodyPr wrap="none" lIns="0" tIns="0" rIns="0" bIns="0" anchor="ctr">
            <a:normAutofit/>
          </a:bodyPr>
          <a:lstStyle/>
          <a:p>
            <a:pPr algn="ctr">
              <a:buNone/>
              <a:defRPr sz="1275" b="1">
                <a:solidFill>
                  <a:srgbClr val="FFFFFF"/>
                </a:solidFill>
                <a:latin typeface="Noto Sans CJK JP"/>
                <a:ea typeface="Noto Sans CJK JP"/>
                <a:cs typeface="Noto Sans CJK JP"/>
              </a:defRPr>
            </a:pPr>
            <a:r>
              <a:rPr sz="1275" b="1" dirty="0" err="1">
                <a:solidFill>
                  <a:srgbClr val="4A8EDD"/>
                </a:solidFill>
                <a:latin typeface="Noto Sans CJK JP"/>
                <a:ea typeface="Noto Sans CJK JP"/>
                <a:cs typeface="Noto Sans CJK JP"/>
              </a:rPr>
              <a:t>リスク資産</a:t>
            </a:r>
            <a:endParaRPr sz="1275" b="1" dirty="0">
              <a:solidFill>
                <a:srgbClr val="4A8EDD"/>
              </a:solidFill>
              <a:latin typeface="Noto Sans CJK JP"/>
              <a:ea typeface="Noto Sans CJK JP"/>
              <a:cs typeface="Noto Sans CJK JP"/>
            </a:endParaRPr>
          </a:p>
        </p:txBody>
      </p:sp>
      <p:pic>
        <p:nvPicPr>
          <p:cNvPr id="121" name="グラフィックス 120"/>
          <p:cNvPicPr>
            <a:picLocks noChangeAspect="1"/>
          </p:cNvPicPr>
          <p:nvPr/>
        </p:nvPicPr>
        <p:blipFill>
          <a:blip>
            <a:extLst>
              <a:ext uri="{96DAC541-7B7A-43D3-8B79-37D633B846F1}">
                <asvg:svgBlip xmlns:asvg="http://schemas.microsoft.com/office/drawing/2016/SVG/main" r:embed="rId5"/>
              </a:ext>
            </a:extLst>
          </a:blip>
          <a:stretch/>
        </p:blipFill>
        <p:spPr>
          <a:xfrm>
            <a:off x="3811905" y="2907030"/>
            <a:ext cx="325755" cy="209550"/>
          </a:xfrm>
          <a:prstGeom prst="rect">
            <a:avLst/>
          </a:prstGeom>
        </p:spPr>
      </p:pic>
      <p:sp>
        <p:nvSpPr>
          <p:cNvPr id="67" name="optimization-heading">
            <a:extLst>
              <a:ext uri="{FF2B5EF4-FFF2-40B4-BE49-F238E27FC236}">
                <a16:creationId xmlns:a16="http://schemas.microsoft.com/office/drawing/2014/main" id="{FC405431-D7E9-40DC-AF99-D0F9F0D2E85B}"/>
              </a:ext>
            </a:extLst>
          </p:cNvPr>
          <p:cNvSpPr>
            <a:spLocks noGrp="1"/>
          </p:cNvSpPr>
          <p:nvPr/>
        </p:nvSpPr>
        <p:spPr>
          <a:xfrm>
            <a:off x="4667250" y="2043113"/>
            <a:ext cx="2667000" cy="266700"/>
          </a:xfrm>
          <a:prstGeom prst="rect">
            <a:avLst/>
          </a:prstGeom>
          <a:noFill/>
          <a:ln w="0">
            <a:noFill/>
            <a:prstDash val="solid"/>
          </a:ln>
        </p:spPr>
        <p:txBody>
          <a:bodyPr wrap="none" lIns="0" tIns="0" rIns="0" bIns="0" anchor="ctr">
            <a:normAutofit/>
          </a:bodyPr>
          <a:lstStyle/>
          <a:p>
            <a:pPr algn="ctr">
              <a:buNone/>
              <a:defRPr sz="1463" b="1">
                <a:solidFill>
                  <a:srgbClr val="C62820"/>
                </a:solidFill>
                <a:latin typeface="Noto Sans CJK JP"/>
                <a:ea typeface="Noto Sans CJK JP"/>
                <a:cs typeface="Noto Sans CJK JP"/>
              </a:defRPr>
            </a:pPr>
            <a:r>
              <a:rPr sz="1463" b="1">
                <a:solidFill>
                  <a:srgbClr val="C62820"/>
                </a:solidFill>
                <a:latin typeface="Noto Sans CJK JP"/>
                <a:ea typeface="Noto Sans CJK JP"/>
                <a:cs typeface="Noto Sans CJK JP"/>
              </a:rPr>
              <a:t>最適化するのは運用比率</a:t>
            </a:r>
          </a:p>
        </p:txBody>
      </p:sp>
      <p:pic>
        <p:nvPicPr>
          <p:cNvPr id="123" name="グラフィックス 122"/>
          <p:cNvPicPr>
            <a:picLocks noChangeAspect="1"/>
          </p:cNvPicPr>
          <p:nvPr/>
        </p:nvPicPr>
        <p:blipFill>
          <a:blip>
            <a:extLst>
              <a:ext uri="{96DAC541-7B7A-43D3-8B79-37D633B846F1}">
                <asvg:svgBlip xmlns:asvg="http://schemas.microsoft.com/office/drawing/2016/SVG/main" r:embed="rId6"/>
              </a:ext>
            </a:extLst>
          </a:blip>
          <a:stretch/>
        </p:blipFill>
        <p:spPr>
          <a:xfrm>
            <a:off x="4899660" y="2357438"/>
            <a:ext cx="2377440" cy="609600"/>
          </a:xfrm>
          <a:prstGeom prst="rect">
            <a:avLst/>
          </a:prstGeom>
        </p:spPr>
      </p:pic>
      <p:sp>
        <p:nvSpPr>
          <p:cNvPr id="69" name="optimization-question">
            <a:extLst>
              <a:ext uri="{FF2B5EF4-FFF2-40B4-BE49-F238E27FC236}">
                <a16:creationId xmlns:a16="http://schemas.microsoft.com/office/drawing/2014/main" id="{C4E2A950-5774-4F2C-BB29-9247C04679C7}"/>
              </a:ext>
            </a:extLst>
          </p:cNvPr>
          <p:cNvSpPr>
            <a:spLocks noGrp="1"/>
          </p:cNvSpPr>
          <p:nvPr/>
        </p:nvSpPr>
        <p:spPr>
          <a:xfrm>
            <a:off x="4495800" y="2986088"/>
            <a:ext cx="2990850" cy="285750"/>
          </a:xfrm>
          <a:prstGeom prst="rect">
            <a:avLst/>
          </a:prstGeom>
          <a:noFill/>
          <a:ln w="0">
            <a:noFill/>
            <a:prstDash val="solid"/>
          </a:ln>
        </p:spPr>
        <p:txBody>
          <a:bodyPr wrap="none" lIns="0" tIns="0" rIns="0" bIns="0" anchor="ctr">
            <a:normAutofit/>
          </a:bodyPr>
          <a:lstStyle/>
          <a:p>
            <a:pPr algn="ctr">
              <a:buNone/>
              <a:defRPr sz="1350" b="1">
                <a:solidFill>
                  <a:srgbClr val="C62820"/>
                </a:solidFill>
                <a:latin typeface="Noto Sans CJK JP"/>
                <a:ea typeface="Noto Sans CJK JP"/>
                <a:cs typeface="Noto Sans CJK JP"/>
              </a:defRPr>
            </a:pPr>
            <a:r>
              <a:rPr sz="1350" b="1" dirty="0" err="1">
                <a:solidFill>
                  <a:srgbClr val="C62820"/>
                </a:solidFill>
                <a:latin typeface="Noto Sans CJK JP"/>
                <a:ea typeface="Noto Sans CJK JP"/>
                <a:cs typeface="Noto Sans CJK JP"/>
              </a:rPr>
              <a:t>各時点で、どれだけリスクを取るか</a:t>
            </a:r>
            <a:endParaRPr sz="1350" b="1" dirty="0">
              <a:solidFill>
                <a:srgbClr val="C62820"/>
              </a:solidFill>
              <a:latin typeface="Noto Sans CJK JP"/>
              <a:ea typeface="Noto Sans CJK JP"/>
              <a:cs typeface="Noto Sans CJK JP"/>
            </a:endParaRPr>
          </a:p>
        </p:txBody>
      </p:sp>
      <p:sp>
        <p:nvSpPr>
          <p:cNvPr id="70" name="timeline-start-dot">
            <a:extLst>
              <a:ext uri="{FF2B5EF4-FFF2-40B4-BE49-F238E27FC236}">
                <a16:creationId xmlns:a16="http://schemas.microsoft.com/office/drawing/2014/main" id="{91966A09-64FE-4AEE-BDB4-BB3EFB67FB34}"/>
              </a:ext>
            </a:extLst>
          </p:cNvPr>
          <p:cNvSpPr>
            <a:spLocks noGrp="1"/>
          </p:cNvSpPr>
          <p:nvPr/>
        </p:nvSpPr>
        <p:spPr>
          <a:xfrm>
            <a:off x="638175" y="3305175"/>
            <a:ext cx="171450" cy="171450"/>
          </a:xfrm>
          <a:prstGeom prst="ellipse">
            <a:avLst/>
          </a:prstGeom>
          <a:solidFill>
            <a:srgbClr val="07183B"/>
          </a:solidFill>
          <a:ln w="0">
            <a:noFill/>
            <a:prstDash val="solid"/>
          </a:ln>
        </p:spPr>
      </p:sp>
      <p:sp>
        <p:nvSpPr>
          <p:cNvPr id="71" name="timeline-current-dot">
            <a:extLst>
              <a:ext uri="{FF2B5EF4-FFF2-40B4-BE49-F238E27FC236}">
                <a16:creationId xmlns:a16="http://schemas.microsoft.com/office/drawing/2014/main" id="{C3B7AD97-1091-4AED-99B3-C4D90E2CCBF3}"/>
              </a:ext>
            </a:extLst>
          </p:cNvPr>
          <p:cNvSpPr>
            <a:spLocks noGrp="1"/>
          </p:cNvSpPr>
          <p:nvPr/>
        </p:nvSpPr>
        <p:spPr>
          <a:xfrm>
            <a:off x="3190875" y="3286125"/>
            <a:ext cx="209550" cy="209550"/>
          </a:xfrm>
          <a:prstGeom prst="ellipse">
            <a:avLst/>
          </a:prstGeom>
          <a:solidFill>
            <a:srgbClr val="3B82F6"/>
          </a:solidFill>
          <a:ln w="11430">
            <a:solidFill>
              <a:srgbClr val="FFFFFF"/>
            </a:solidFill>
            <a:prstDash val="solid"/>
          </a:ln>
        </p:spPr>
      </p:sp>
      <p:sp>
        <p:nvSpPr>
          <p:cNvPr id="72" name="timeline-retirement-dot">
            <a:extLst>
              <a:ext uri="{FF2B5EF4-FFF2-40B4-BE49-F238E27FC236}">
                <a16:creationId xmlns:a16="http://schemas.microsoft.com/office/drawing/2014/main" id="{E6036F3A-8FBF-43CC-80F9-0D30A891A84B}"/>
              </a:ext>
            </a:extLst>
          </p:cNvPr>
          <p:cNvSpPr>
            <a:spLocks noGrp="1"/>
          </p:cNvSpPr>
          <p:nvPr/>
        </p:nvSpPr>
        <p:spPr>
          <a:xfrm>
            <a:off x="7886700" y="3305175"/>
            <a:ext cx="171450" cy="171450"/>
          </a:xfrm>
          <a:prstGeom prst="ellipse">
            <a:avLst/>
          </a:prstGeom>
          <a:solidFill>
            <a:srgbClr val="07183B"/>
          </a:solidFill>
          <a:ln w="0">
            <a:noFill/>
            <a:prstDash val="solid"/>
          </a:ln>
        </p:spPr>
      </p:sp>
      <p:sp>
        <p:nvSpPr>
          <p:cNvPr id="73" name="timeline-start-time">
            <a:extLst>
              <a:ext uri="{FF2B5EF4-FFF2-40B4-BE49-F238E27FC236}">
                <a16:creationId xmlns:a16="http://schemas.microsoft.com/office/drawing/2014/main" id="{4A626187-8E5F-4F54-B803-5762CF3BD2FE}"/>
              </a:ext>
            </a:extLst>
          </p:cNvPr>
          <p:cNvSpPr>
            <a:spLocks noGrp="1"/>
          </p:cNvSpPr>
          <p:nvPr/>
        </p:nvSpPr>
        <p:spPr>
          <a:xfrm>
            <a:off x="447675" y="3543300"/>
            <a:ext cx="666750" cy="209550"/>
          </a:xfrm>
          <a:prstGeom prst="rect">
            <a:avLst/>
          </a:prstGeom>
          <a:noFill/>
          <a:ln w="0">
            <a:noFill/>
            <a:prstDash val="solid"/>
          </a:ln>
        </p:spPr>
        <p:txBody>
          <a:bodyPr wrap="none" lIns="0" tIns="0" rIns="0" bIns="0" anchor="ctr">
            <a:normAutofit/>
          </a:bodyPr>
          <a:lstStyle/>
          <a:p>
            <a:pPr algn="ctr">
              <a:buNone/>
              <a:defRPr sz="1350" b="0" i="1">
                <a:solidFill>
                  <a:srgbClr val="07183B"/>
                </a:solidFill>
                <a:latin typeface="Cambria Math"/>
                <a:ea typeface="Cambria Math"/>
                <a:cs typeface="Cambria Math"/>
              </a:defRPr>
            </a:pPr>
            <a:r>
              <a:rPr sz="1350" b="0" i="1">
                <a:solidFill>
                  <a:srgbClr val="07183B"/>
                </a:solidFill>
                <a:latin typeface="Cambria Math"/>
                <a:ea typeface="Cambria Math"/>
                <a:cs typeface="Cambria Math"/>
              </a:rPr>
              <a:t>t = 0</a:t>
            </a:r>
          </a:p>
        </p:txBody>
      </p:sp>
      <p:sp>
        <p:nvSpPr>
          <p:cNvPr id="74" name="timeline-start-label">
            <a:extLst>
              <a:ext uri="{FF2B5EF4-FFF2-40B4-BE49-F238E27FC236}">
                <a16:creationId xmlns:a16="http://schemas.microsoft.com/office/drawing/2014/main" id="{27D9F907-3463-4572-ACD6-905F61FFC28F}"/>
              </a:ext>
            </a:extLst>
          </p:cNvPr>
          <p:cNvSpPr>
            <a:spLocks noGrp="1"/>
          </p:cNvSpPr>
          <p:nvPr/>
        </p:nvSpPr>
        <p:spPr>
          <a:xfrm>
            <a:off x="447675" y="3762375"/>
            <a:ext cx="666750" cy="228600"/>
          </a:xfrm>
          <a:prstGeom prst="rect">
            <a:avLst/>
          </a:prstGeom>
          <a:noFill/>
          <a:ln w="0">
            <a:noFill/>
            <a:prstDash val="solid"/>
          </a:ln>
        </p:spPr>
        <p:txBody>
          <a:bodyPr wrap="none" lIns="0" tIns="0" rIns="0" bIns="0" anchor="ctr">
            <a:normAutofit/>
          </a:bodyPr>
          <a:lstStyle/>
          <a:p>
            <a:pPr algn="ctr">
              <a:buNone/>
              <a:defRPr sz="1350" b="1">
                <a:solidFill>
                  <a:srgbClr val="07183B"/>
                </a:solidFill>
                <a:latin typeface="Noto Sans CJK JP"/>
                <a:ea typeface="Noto Sans CJK JP"/>
                <a:cs typeface="Noto Sans CJK JP"/>
              </a:defRPr>
            </a:pPr>
            <a:r>
              <a:rPr sz="1350" b="1">
                <a:solidFill>
                  <a:srgbClr val="07183B"/>
                </a:solidFill>
                <a:latin typeface="Noto Sans CJK JP"/>
                <a:ea typeface="Noto Sans CJK JP"/>
                <a:cs typeface="Noto Sans CJK JP"/>
              </a:rPr>
              <a:t>加入</a:t>
            </a:r>
          </a:p>
        </p:txBody>
      </p:sp>
      <p:sp>
        <p:nvSpPr>
          <p:cNvPr id="75" name="timeline-current-time">
            <a:extLst>
              <a:ext uri="{FF2B5EF4-FFF2-40B4-BE49-F238E27FC236}">
                <a16:creationId xmlns:a16="http://schemas.microsoft.com/office/drawing/2014/main" id="{DE36100F-D210-4A89-B95E-CDA216E4A6F6}"/>
              </a:ext>
            </a:extLst>
          </p:cNvPr>
          <p:cNvSpPr>
            <a:spLocks noGrp="1"/>
          </p:cNvSpPr>
          <p:nvPr/>
        </p:nvSpPr>
        <p:spPr>
          <a:xfrm>
            <a:off x="2971800" y="3543300"/>
            <a:ext cx="647700" cy="209550"/>
          </a:xfrm>
          <a:prstGeom prst="rect">
            <a:avLst/>
          </a:prstGeom>
          <a:noFill/>
          <a:ln w="0">
            <a:noFill/>
            <a:prstDash val="solid"/>
          </a:ln>
        </p:spPr>
        <p:txBody>
          <a:bodyPr wrap="none" lIns="0" tIns="0" rIns="0" bIns="0" anchor="ctr">
            <a:normAutofit fontScale="96491" lnSpcReduction="10000"/>
          </a:bodyPr>
          <a:lstStyle/>
          <a:p>
            <a:pPr algn="ctr">
              <a:buNone/>
              <a:defRPr sz="1425" b="0" i="1">
                <a:solidFill>
                  <a:srgbClr val="215FB4"/>
                </a:solidFill>
                <a:latin typeface="Cambria Math"/>
                <a:ea typeface="Cambria Math"/>
                <a:cs typeface="Cambria Math"/>
              </a:defRPr>
            </a:pPr>
            <a:r>
              <a:rPr sz="1425" b="0" i="1">
                <a:solidFill>
                  <a:srgbClr val="215FB4"/>
                </a:solidFill>
                <a:latin typeface="Cambria Math"/>
                <a:ea typeface="Cambria Math"/>
                <a:cs typeface="Cambria Math"/>
              </a:rPr>
              <a:t>t</a:t>
            </a:r>
          </a:p>
        </p:txBody>
      </p:sp>
      <p:sp>
        <p:nvSpPr>
          <p:cNvPr id="76" name="timeline-current-label">
            <a:extLst>
              <a:ext uri="{FF2B5EF4-FFF2-40B4-BE49-F238E27FC236}">
                <a16:creationId xmlns:a16="http://schemas.microsoft.com/office/drawing/2014/main" id="{120DA9AF-0956-4E33-ADAC-74DA1CC2A53E}"/>
              </a:ext>
            </a:extLst>
          </p:cNvPr>
          <p:cNvSpPr>
            <a:spLocks noGrp="1"/>
          </p:cNvSpPr>
          <p:nvPr/>
        </p:nvSpPr>
        <p:spPr>
          <a:xfrm>
            <a:off x="2971800" y="3762375"/>
            <a:ext cx="647700" cy="228600"/>
          </a:xfrm>
          <a:prstGeom prst="rect">
            <a:avLst/>
          </a:prstGeom>
          <a:noFill/>
          <a:ln w="0">
            <a:noFill/>
            <a:prstDash val="solid"/>
          </a:ln>
        </p:spPr>
        <p:txBody>
          <a:bodyPr wrap="none" lIns="0" tIns="0" rIns="0" bIns="0" anchor="ctr">
            <a:normAutofit/>
          </a:bodyPr>
          <a:lstStyle/>
          <a:p>
            <a:pPr algn="ctr">
              <a:buNone/>
              <a:defRPr sz="1350" b="1">
                <a:solidFill>
                  <a:srgbClr val="215FB4"/>
                </a:solidFill>
                <a:latin typeface="Noto Sans CJK JP"/>
                <a:ea typeface="Noto Sans CJK JP"/>
                <a:cs typeface="Noto Sans CJK JP"/>
              </a:defRPr>
            </a:pPr>
            <a:r>
              <a:rPr sz="1350" b="1">
                <a:solidFill>
                  <a:srgbClr val="215FB4"/>
                </a:solidFill>
                <a:latin typeface="Noto Sans CJK JP"/>
                <a:ea typeface="Noto Sans CJK JP"/>
                <a:cs typeface="Noto Sans CJK JP"/>
              </a:rPr>
              <a:t>現在</a:t>
            </a:r>
          </a:p>
        </p:txBody>
      </p:sp>
      <p:sp>
        <p:nvSpPr>
          <p:cNvPr id="77" name="timeline-retirement-time">
            <a:extLst>
              <a:ext uri="{FF2B5EF4-FFF2-40B4-BE49-F238E27FC236}">
                <a16:creationId xmlns:a16="http://schemas.microsoft.com/office/drawing/2014/main" id="{C79273F7-D971-4B87-B7EE-F7AD8C6EAE33}"/>
              </a:ext>
            </a:extLst>
          </p:cNvPr>
          <p:cNvSpPr>
            <a:spLocks noGrp="1"/>
          </p:cNvSpPr>
          <p:nvPr/>
        </p:nvSpPr>
        <p:spPr>
          <a:xfrm>
            <a:off x="7600950" y="3543300"/>
            <a:ext cx="838200" cy="209550"/>
          </a:xfrm>
          <a:prstGeom prst="rect">
            <a:avLst/>
          </a:prstGeom>
          <a:noFill/>
          <a:ln w="0">
            <a:noFill/>
            <a:prstDash val="solid"/>
          </a:ln>
        </p:spPr>
        <p:txBody>
          <a:bodyPr wrap="none" lIns="0" tIns="0" rIns="0" bIns="0" anchor="ctr">
            <a:normAutofit/>
          </a:bodyPr>
          <a:lstStyle/>
          <a:p>
            <a:pPr algn="ctr">
              <a:buNone/>
              <a:defRPr sz="1350" b="0" i="1">
                <a:solidFill>
                  <a:srgbClr val="07183B"/>
                </a:solidFill>
                <a:latin typeface="Cambria Math"/>
                <a:ea typeface="Cambria Math"/>
                <a:cs typeface="Cambria Math"/>
              </a:defRPr>
            </a:pPr>
            <a:r>
              <a:rPr sz="1350" b="0" i="1" dirty="0">
                <a:solidFill>
                  <a:srgbClr val="07183B"/>
                </a:solidFill>
                <a:latin typeface="Cambria Math"/>
                <a:ea typeface="Cambria Math"/>
                <a:cs typeface="Cambria Math"/>
              </a:rPr>
              <a:t>T </a:t>
            </a:r>
          </a:p>
        </p:txBody>
      </p:sp>
      <p:sp>
        <p:nvSpPr>
          <p:cNvPr id="78" name="timeline-retirement-label">
            <a:extLst>
              <a:ext uri="{FF2B5EF4-FFF2-40B4-BE49-F238E27FC236}">
                <a16:creationId xmlns:a16="http://schemas.microsoft.com/office/drawing/2014/main" id="{FC905206-148C-4C7A-9088-DE07CD9CE26B}"/>
              </a:ext>
            </a:extLst>
          </p:cNvPr>
          <p:cNvSpPr>
            <a:spLocks noGrp="1"/>
          </p:cNvSpPr>
          <p:nvPr/>
        </p:nvSpPr>
        <p:spPr>
          <a:xfrm>
            <a:off x="7600950" y="3762375"/>
            <a:ext cx="838200" cy="228600"/>
          </a:xfrm>
          <a:prstGeom prst="rect">
            <a:avLst/>
          </a:prstGeom>
          <a:noFill/>
          <a:ln w="0">
            <a:noFill/>
            <a:prstDash val="solid"/>
          </a:ln>
        </p:spPr>
        <p:txBody>
          <a:bodyPr wrap="none" lIns="0" tIns="0" rIns="0" bIns="0" anchor="ctr">
            <a:normAutofit/>
          </a:bodyPr>
          <a:lstStyle/>
          <a:p>
            <a:pPr algn="ctr">
              <a:buNone/>
              <a:defRPr sz="1350" b="1">
                <a:solidFill>
                  <a:srgbClr val="07183B"/>
                </a:solidFill>
                <a:latin typeface="Noto Sans CJK JP"/>
                <a:ea typeface="Noto Sans CJK JP"/>
                <a:cs typeface="Noto Sans CJK JP"/>
              </a:defRPr>
            </a:pPr>
            <a:r>
              <a:rPr sz="1350" b="1">
                <a:solidFill>
                  <a:srgbClr val="07183B"/>
                </a:solidFill>
                <a:latin typeface="Noto Sans CJK JP"/>
                <a:ea typeface="Noto Sans CJK JP"/>
                <a:cs typeface="Noto Sans CJK JP"/>
              </a:rPr>
              <a:t>退職</a:t>
            </a:r>
          </a:p>
        </p:txBody>
      </p:sp>
      <p:sp>
        <p:nvSpPr>
          <p:cNvPr id="79" name="optimization-takeaway-band">
            <a:extLst>
              <a:ext uri="{FF2B5EF4-FFF2-40B4-BE49-F238E27FC236}">
                <a16:creationId xmlns:a16="http://schemas.microsoft.com/office/drawing/2014/main" id="{B7AD29B8-DFA8-4EBF-96BF-E33B9BF3141E}"/>
              </a:ext>
            </a:extLst>
          </p:cNvPr>
          <p:cNvSpPr>
            <a:spLocks noGrp="1"/>
          </p:cNvSpPr>
          <p:nvPr/>
        </p:nvSpPr>
        <p:spPr>
          <a:xfrm>
            <a:off x="609600" y="4095750"/>
            <a:ext cx="7924800" cy="514350"/>
          </a:xfrm>
          <a:prstGeom prst="roundRect">
            <a:avLst>
              <a:gd name="adj" fmla="val 12963"/>
            </a:avLst>
          </a:prstGeom>
          <a:noFill/>
          <a:ln w="9525">
            <a:solidFill>
              <a:srgbClr val="8DB9EB"/>
            </a:solidFill>
            <a:prstDash val="solid"/>
          </a:ln>
        </p:spPr>
      </p:sp>
      <mc:AlternateContent xmlns:mc="http://schemas.openxmlformats.org/markup-compatibility/2006" xmlns:a14="http://schemas.microsoft.com/office/drawing/2010/main">
        <mc:Choice Requires="a14">
          <p:sp>
            <p:nvSpPr>
              <p:cNvPr id="80" name="optimization-takeaway">
                <a:extLst>
                  <a:ext uri="{FF2B5EF4-FFF2-40B4-BE49-F238E27FC236}">
                    <a16:creationId xmlns:a16="http://schemas.microsoft.com/office/drawing/2014/main" id="{B72A2617-9CC1-41AB-8D7F-E39831C92BA5}"/>
                  </a:ext>
                </a:extLst>
              </p:cNvPr>
              <p:cNvSpPr>
                <a:spLocks noGrp="1"/>
              </p:cNvSpPr>
              <p:nvPr/>
            </p:nvSpPr>
            <p:spPr>
              <a:xfrm>
                <a:off x="819150" y="4191000"/>
                <a:ext cx="7505700" cy="323850"/>
              </a:xfrm>
              <a:prstGeom prst="rect">
                <a:avLst/>
              </a:prstGeom>
              <a:noFill/>
              <a:ln w="0">
                <a:noFill/>
                <a:prstDash val="solid"/>
              </a:ln>
            </p:spPr>
            <p:txBody>
              <a:bodyPr wrap="none" lIns="0" tIns="0" rIns="0" bIns="0" anchor="ctr">
                <a:normAutofit/>
              </a:bodyPr>
              <a:lstStyle/>
              <a:p>
                <a:pPr algn="ctr">
                  <a:buNone/>
                  <a:defRPr sz="1388" b="1">
                    <a:solidFill>
                      <a:srgbClr val="215FB4"/>
                    </a:solidFill>
                    <a:latin typeface="Noto Sans CJK JP"/>
                    <a:ea typeface="Noto Sans CJK JP"/>
                    <a:cs typeface="Noto Sans CJK JP"/>
                  </a:defRPr>
                </a:pPr>
                <a:r>
                  <a:rPr lang="ja-JP" altLang="en-US" sz="1388" b="1" dirty="0">
                    <a:solidFill>
                      <a:srgbClr val="215FB4"/>
                    </a:solidFill>
                    <a:latin typeface="Noto Sans CJK JP"/>
                    <a:ea typeface="Noto Sans CJK JP"/>
                    <a:cs typeface="Noto Sans CJK JP"/>
                  </a:rPr>
                  <a:t>目的関数</a:t>
                </a:r>
                <a14:m>
                  <m:oMath xmlns:m="http://schemas.openxmlformats.org/officeDocument/2006/math">
                    <m:sSub>
                      <m:sSubPr>
                        <m:ctrlPr>
                          <a:rPr lang="ja-JP" altLang="en-US" sz="1388" b="1" i="1" smtClean="0">
                            <a:solidFill>
                              <a:srgbClr val="215FB4"/>
                            </a:solidFill>
                            <a:latin typeface="Cambria Math" panose="02040503050406030204" pitchFamily="18" charset="0"/>
                            <a:ea typeface="Noto Sans CJK JP"/>
                            <a:cs typeface="Noto Sans CJK JP"/>
                          </a:rPr>
                        </m:ctrlPr>
                      </m:sSubPr>
                      <m:e>
                        <m:r>
                          <a:rPr lang="ja-JP" altLang="en-US" sz="1388" b="1" i="1" smtClean="0">
                            <a:solidFill>
                              <a:srgbClr val="215FB4"/>
                            </a:solidFill>
                            <a:latin typeface="Cambria Math" panose="02040503050406030204" pitchFamily="18" charset="0"/>
                            <a:ea typeface="Noto Sans CJK JP"/>
                            <a:cs typeface="Noto Sans CJK JP"/>
                          </a:rPr>
                          <m:t>𝑱</m:t>
                        </m:r>
                      </m:e>
                      <m:sub>
                        <m:r>
                          <a:rPr lang="en-US" altLang="ja-JP" sz="1388" b="1" i="1" smtClean="0">
                            <a:solidFill>
                              <a:srgbClr val="215FB4"/>
                            </a:solidFill>
                            <a:latin typeface="Cambria Math" panose="02040503050406030204" pitchFamily="18" charset="0"/>
                            <a:ea typeface="Noto Sans CJK JP"/>
                            <a:cs typeface="Noto Sans CJK JP"/>
                          </a:rPr>
                          <m:t>𝒕</m:t>
                        </m:r>
                      </m:sub>
                    </m:sSub>
                  </m:oMath>
                </a14:m>
                <a:r>
                  <a:rPr lang="ja-JP" altLang="en-US" sz="1388" b="1" dirty="0">
                    <a:solidFill>
                      <a:srgbClr val="215FB4"/>
                    </a:solidFill>
                    <a:latin typeface="Noto Sans CJK JP"/>
                    <a:ea typeface="Noto Sans CJK JP"/>
                    <a:cs typeface="Noto Sans CJK JP"/>
                  </a:rPr>
                  <a:t>と </a:t>
                </a:r>
                <a14:m>
                  <m:oMath xmlns:m="http://schemas.openxmlformats.org/officeDocument/2006/math">
                    <m:r>
                      <a:rPr lang="en-US" altLang="ja-JP" sz="1388" b="1" i="1" smtClean="0">
                        <a:solidFill>
                          <a:srgbClr val="215FB4"/>
                        </a:solidFill>
                        <a:latin typeface="Cambria Math" panose="02040503050406030204" pitchFamily="18" charset="0"/>
                        <a:ea typeface="Noto Sans CJK JP"/>
                        <a:cs typeface="Noto Sans CJK JP"/>
                      </a:rPr>
                      <m:t>𝟎</m:t>
                    </m:r>
                    <m:r>
                      <a:rPr lang="en-US" altLang="ja-JP" sz="1388" b="1" i="1" smtClean="0">
                        <a:solidFill>
                          <a:srgbClr val="215FB4"/>
                        </a:solidFill>
                        <a:latin typeface="Cambria Math" panose="02040503050406030204" pitchFamily="18" charset="0"/>
                        <a:ea typeface="Cambria Math" panose="02040503050406030204" pitchFamily="18" charset="0"/>
                        <a:cs typeface="Noto Sans CJK JP"/>
                      </a:rPr>
                      <m:t>≤</m:t>
                    </m:r>
                    <m:sSub>
                      <m:sSubPr>
                        <m:ctrlPr>
                          <a:rPr lang="en-US" altLang="ja-JP" sz="1388" b="1" i="1" smtClean="0">
                            <a:solidFill>
                              <a:srgbClr val="215FB4"/>
                            </a:solidFill>
                            <a:latin typeface="Cambria Math" panose="02040503050406030204" pitchFamily="18" charset="0"/>
                            <a:ea typeface="Cambria Math" panose="02040503050406030204" pitchFamily="18" charset="0"/>
                            <a:cs typeface="Noto Sans CJK JP"/>
                          </a:rPr>
                        </m:ctrlPr>
                      </m:sSubPr>
                      <m:e>
                        <m:r>
                          <a:rPr lang="en-US" altLang="ja-JP" sz="1388" b="1" i="1" smtClean="0">
                            <a:solidFill>
                              <a:srgbClr val="215FB4"/>
                            </a:solidFill>
                            <a:latin typeface="Cambria Math" panose="02040503050406030204" pitchFamily="18" charset="0"/>
                            <a:ea typeface="Cambria Math" panose="02040503050406030204" pitchFamily="18" charset="0"/>
                            <a:cs typeface="Noto Sans CJK JP"/>
                          </a:rPr>
                          <m:t>𝝅</m:t>
                        </m:r>
                      </m:e>
                      <m:sub>
                        <m:r>
                          <a:rPr lang="en-US" altLang="ja-JP" sz="1388" b="1" i="1" smtClean="0">
                            <a:solidFill>
                              <a:srgbClr val="215FB4"/>
                            </a:solidFill>
                            <a:latin typeface="Cambria Math" panose="02040503050406030204" pitchFamily="18" charset="0"/>
                            <a:ea typeface="Cambria Math" panose="02040503050406030204" pitchFamily="18" charset="0"/>
                            <a:cs typeface="Noto Sans CJK JP"/>
                          </a:rPr>
                          <m:t>𝒕</m:t>
                        </m:r>
                      </m:sub>
                    </m:sSub>
                    <m:r>
                      <a:rPr lang="en-US" altLang="ja-JP" sz="1388" b="1" i="1" smtClean="0">
                        <a:solidFill>
                          <a:srgbClr val="215FB4"/>
                        </a:solidFill>
                        <a:latin typeface="Cambria Math" panose="02040503050406030204" pitchFamily="18" charset="0"/>
                        <a:ea typeface="Cambria Math" panose="02040503050406030204" pitchFamily="18" charset="0"/>
                        <a:cs typeface="Noto Sans CJK JP"/>
                      </a:rPr>
                      <m:t>≤</m:t>
                    </m:r>
                    <m:sSub>
                      <m:sSubPr>
                        <m:ctrlPr>
                          <a:rPr lang="en-US" altLang="ja-JP" sz="1388" b="1" i="1" smtClean="0">
                            <a:solidFill>
                              <a:srgbClr val="215FB4"/>
                            </a:solidFill>
                            <a:latin typeface="Cambria Math" panose="02040503050406030204" pitchFamily="18" charset="0"/>
                            <a:ea typeface="Cambria Math" panose="02040503050406030204" pitchFamily="18" charset="0"/>
                            <a:cs typeface="Noto Sans CJK JP"/>
                          </a:rPr>
                        </m:ctrlPr>
                      </m:sSubPr>
                      <m:e>
                        <m:r>
                          <a:rPr lang="en-US" altLang="ja-JP" sz="1388" b="1" i="1" smtClean="0">
                            <a:solidFill>
                              <a:srgbClr val="215FB4"/>
                            </a:solidFill>
                            <a:latin typeface="Cambria Math" panose="02040503050406030204" pitchFamily="18" charset="0"/>
                            <a:ea typeface="Cambria Math" panose="02040503050406030204" pitchFamily="18" charset="0"/>
                            <a:cs typeface="Noto Sans CJK JP"/>
                          </a:rPr>
                          <m:t>𝑿</m:t>
                        </m:r>
                      </m:e>
                      <m:sub>
                        <m:r>
                          <a:rPr lang="en-US" altLang="ja-JP" sz="1388" b="1" i="1" smtClean="0">
                            <a:solidFill>
                              <a:srgbClr val="215FB4"/>
                            </a:solidFill>
                            <a:latin typeface="Cambria Math" panose="02040503050406030204" pitchFamily="18" charset="0"/>
                            <a:ea typeface="Cambria Math" panose="02040503050406030204" pitchFamily="18" charset="0"/>
                            <a:cs typeface="Noto Sans CJK JP"/>
                          </a:rPr>
                          <m:t>𝒕</m:t>
                        </m:r>
                      </m:sub>
                    </m:sSub>
                  </m:oMath>
                </a14:m>
                <a:r>
                  <a:rPr lang="en-US" altLang="ja-JP" sz="1388" b="1" dirty="0">
                    <a:solidFill>
                      <a:srgbClr val="215FB4"/>
                    </a:solidFill>
                    <a:latin typeface="Noto Sans CJK JP"/>
                    <a:ea typeface="Noto Sans CJK JP"/>
                    <a:cs typeface="Noto Sans CJK JP"/>
                  </a:rPr>
                  <a:t> </a:t>
                </a:r>
                <a:r>
                  <a:rPr lang="ja-JP" altLang="en-US" sz="1388" b="1" dirty="0" err="1">
                    <a:solidFill>
                      <a:srgbClr val="215FB4"/>
                    </a:solidFill>
                    <a:latin typeface="Noto Sans CJK JP"/>
                    <a:ea typeface="Noto Sans CJK JP"/>
                    <a:cs typeface="Noto Sans CJK JP"/>
                  </a:rPr>
                  <a:t>の制約から、最適グライドパス</a:t>
                </a:r>
                <a14:m>
                  <m:oMath xmlns:m="http://schemas.openxmlformats.org/officeDocument/2006/math">
                    <m:sSub>
                      <m:sSubPr>
                        <m:ctrlPr>
                          <a:rPr lang="en-US" altLang="ja-JP" sz="1388" b="1" i="1" smtClean="0">
                            <a:solidFill>
                              <a:srgbClr val="215FB4"/>
                            </a:solidFill>
                            <a:latin typeface="Cambria Math" panose="02040503050406030204" pitchFamily="18" charset="0"/>
                            <a:ea typeface="Noto Sans CJK JP"/>
                            <a:cs typeface="Noto Sans CJK JP"/>
                          </a:rPr>
                        </m:ctrlPr>
                      </m:sSubPr>
                      <m:e>
                        <m:r>
                          <a:rPr lang="en-US" altLang="ja-JP" sz="1388" b="1" i="1" smtClean="0">
                            <a:solidFill>
                              <a:srgbClr val="215FB4"/>
                            </a:solidFill>
                            <a:latin typeface="Cambria Math" panose="02040503050406030204" pitchFamily="18" charset="0"/>
                            <a:ea typeface="Noto Sans CJK JP"/>
                            <a:cs typeface="Noto Sans CJK JP"/>
                          </a:rPr>
                          <m:t>𝒈</m:t>
                        </m:r>
                      </m:e>
                      <m:sub>
                        <m:r>
                          <a:rPr lang="en-US" altLang="ja-JP" sz="1388" b="1" i="1">
                            <a:solidFill>
                              <a:srgbClr val="215FB4"/>
                            </a:solidFill>
                            <a:latin typeface="Cambria Math" panose="02040503050406030204" pitchFamily="18" charset="0"/>
                            <a:ea typeface="Noto Sans CJK JP"/>
                            <a:cs typeface="Noto Sans CJK JP"/>
                          </a:rPr>
                          <m:t>𝒕</m:t>
                        </m:r>
                      </m:sub>
                    </m:sSub>
                  </m:oMath>
                </a14:m>
                <a:r>
                  <a:rPr lang="ja-JP" altLang="en-US" sz="1388" b="1" dirty="0" err="1">
                    <a:solidFill>
                      <a:srgbClr val="215FB4"/>
                    </a:solidFill>
                    <a:latin typeface="Noto Sans CJK JP"/>
                    <a:ea typeface="Noto Sans CJK JP"/>
                    <a:cs typeface="Noto Sans CJK JP"/>
                  </a:rPr>
                  <a:t>を導く</a:t>
                </a:r>
                <a:endParaRPr sz="1388" b="1" dirty="0">
                  <a:solidFill>
                    <a:srgbClr val="215FB4"/>
                  </a:solidFill>
                  <a:latin typeface="Noto Sans CJK JP"/>
                  <a:ea typeface="Noto Sans CJK JP"/>
                  <a:cs typeface="Noto Sans CJK JP"/>
                </a:endParaRPr>
              </a:p>
            </p:txBody>
          </p:sp>
        </mc:Choice>
        <mc:Fallback xmlns="">
          <p:sp>
            <p:nvSpPr>
              <p:cNvPr id="80" name="optimization-takeaway">
                <a:extLst>
                  <a:ext uri="{FF2B5EF4-FFF2-40B4-BE49-F238E27FC236}">
                    <a16:creationId xmlns:a16="http://schemas.microsoft.com/office/drawing/2014/main" id="{B72A2617-9CC1-41AB-8D7F-E39831C92BA5}"/>
                  </a:ext>
                </a:extLst>
              </p:cNvPr>
              <p:cNvSpPr>
                <a:spLocks noGrp="1" noRot="1" noChangeAspect="1" noMove="1" noResize="1" noEditPoints="1" noAdjustHandles="1" noChangeArrowheads="1" noChangeShapeType="1" noTextEdit="1"/>
              </p:cNvSpPr>
              <p:nvPr/>
            </p:nvSpPr>
            <p:spPr>
              <a:xfrm>
                <a:off x="819150" y="4191000"/>
                <a:ext cx="7505700" cy="323850"/>
              </a:xfrm>
              <a:prstGeom prst="rect">
                <a:avLst/>
              </a:prstGeom>
              <a:blipFill>
                <a:blip r:embed="rId7"/>
                <a:stretch>
                  <a:fillRect t="-5660" b="-13208"/>
                </a:stretch>
              </a:blipFill>
              <a:ln w="0">
                <a:noFill/>
                <a:prstDash val="solid"/>
              </a:ln>
            </p:spPr>
            <p:txBody>
              <a:bodyPr/>
              <a:lstStyle/>
              <a:p>
                <a:r>
                  <a:rPr lang="ja-JP" altLang="en-US">
                    <a:noFill/>
                  </a:rPr>
                  <a:t> </a:t>
                </a:r>
              </a:p>
            </p:txBody>
          </p:sp>
        </mc:Fallback>
      </mc:AlternateContent>
      <p:sp>
        <p:nvSpPr>
          <p:cNvPr id="8" name="dc-account-outline">
            <a:extLst>
              <a:ext uri="{FF2B5EF4-FFF2-40B4-BE49-F238E27FC236}">
                <a16:creationId xmlns:a16="http://schemas.microsoft.com/office/drawing/2014/main" id="{83C3108B-47F9-BA3C-9052-0981B1CC6F7D}"/>
              </a:ext>
            </a:extLst>
          </p:cNvPr>
          <p:cNvSpPr>
            <a:spLocks noGrp="1"/>
          </p:cNvSpPr>
          <p:nvPr/>
        </p:nvSpPr>
        <p:spPr>
          <a:xfrm>
            <a:off x="3057525" y="2007871"/>
            <a:ext cx="476250" cy="1325880"/>
          </a:xfrm>
          <a:prstGeom prst="rect">
            <a:avLst/>
          </a:prstGeom>
          <a:noFill/>
          <a:ln w="11430">
            <a:solidFill>
              <a:srgbClr val="7A8798"/>
            </a:solidFill>
            <a:prstDash val="solid"/>
          </a:ln>
        </p:spPr>
      </p:sp>
      <p:sp>
        <p:nvSpPr>
          <p:cNvPr id="10" name="safe-asset-portion">
            <a:extLst>
              <a:ext uri="{FF2B5EF4-FFF2-40B4-BE49-F238E27FC236}">
                <a16:creationId xmlns:a16="http://schemas.microsoft.com/office/drawing/2014/main" id="{9985A657-02B0-AA30-A08C-15DB3EC72C09}"/>
              </a:ext>
            </a:extLst>
          </p:cNvPr>
          <p:cNvSpPr>
            <a:spLocks noGrp="1"/>
          </p:cNvSpPr>
          <p:nvPr/>
        </p:nvSpPr>
        <p:spPr>
          <a:xfrm>
            <a:off x="3095625" y="2040255"/>
            <a:ext cx="400050" cy="352425"/>
          </a:xfrm>
          <a:prstGeom prst="rect">
            <a:avLst/>
          </a:prstGeom>
          <a:solidFill>
            <a:srgbClr val="EAF2FA"/>
          </a:solidFill>
          <a:ln w="0">
            <a:noFill/>
            <a:prstDash val="solid"/>
          </a:ln>
        </p:spPr>
      </p:sp>
      <p:sp>
        <p:nvSpPr>
          <p:cNvPr id="12" name="risky-asset-portion">
            <a:extLst>
              <a:ext uri="{FF2B5EF4-FFF2-40B4-BE49-F238E27FC236}">
                <a16:creationId xmlns:a16="http://schemas.microsoft.com/office/drawing/2014/main" id="{7F390FB4-7EA4-E37D-CFA7-91B9C12F5313}"/>
              </a:ext>
            </a:extLst>
          </p:cNvPr>
          <p:cNvSpPr>
            <a:spLocks noGrp="1"/>
          </p:cNvSpPr>
          <p:nvPr/>
        </p:nvSpPr>
        <p:spPr>
          <a:xfrm>
            <a:off x="3095625" y="2392680"/>
            <a:ext cx="400050" cy="893444"/>
          </a:xfrm>
          <a:prstGeom prst="rect">
            <a:avLst/>
          </a:prstGeom>
          <a:solidFill>
            <a:srgbClr val="4A8EDD"/>
          </a:solidFill>
          <a:ln w="0">
            <a:noFill/>
            <a:prstDash val="solid"/>
          </a:ln>
        </p:spPr>
      </p:sp>
      <p:sp>
        <p:nvSpPr>
          <p:cNvPr id="14" name="dc-account-label">
            <a:extLst>
              <a:ext uri="{FF2B5EF4-FFF2-40B4-BE49-F238E27FC236}">
                <a16:creationId xmlns:a16="http://schemas.microsoft.com/office/drawing/2014/main" id="{C8CF818E-8AAD-8733-B169-F67A169D4A96}"/>
              </a:ext>
            </a:extLst>
          </p:cNvPr>
          <p:cNvSpPr>
            <a:spLocks noGrp="1"/>
          </p:cNvSpPr>
          <p:nvPr/>
        </p:nvSpPr>
        <p:spPr>
          <a:xfrm>
            <a:off x="3771900" y="-176212"/>
            <a:ext cx="1257300" cy="209550"/>
          </a:xfrm>
          <a:prstGeom prst="rect">
            <a:avLst/>
          </a:prstGeom>
          <a:noFill/>
          <a:ln w="0">
            <a:noFill/>
            <a:prstDash val="solid"/>
          </a:ln>
        </p:spPr>
        <p:txBody>
          <a:bodyPr lIns="9525" tIns="0" rIns="9525" bIns="0" anchor="ctr">
            <a:normAutofit/>
          </a:bodyPr>
          <a:lstStyle/>
          <a:p>
            <a:pPr algn="ctr">
              <a:defRPr sz="1125" b="1">
                <a:solidFill>
                  <a:srgbClr val="172033"/>
                </a:solidFill>
                <a:latin typeface="Noto Sans CJK JP"/>
                <a:ea typeface="Noto Sans CJK JP"/>
                <a:cs typeface="Noto Sans CJK JP"/>
              </a:defRPr>
            </a:pPr>
            <a:r>
              <a:rPr sz="1125" b="1">
                <a:solidFill>
                  <a:srgbClr val="172033"/>
                </a:solidFill>
                <a:latin typeface="Noto Sans CJK JP"/>
                <a:ea typeface="Noto Sans CJK JP"/>
                <a:cs typeface="Noto Sans CJK JP"/>
              </a:rPr>
              <a:t>DC残高 Xₜ</a:t>
            </a:r>
          </a:p>
        </p:txBody>
      </p:sp>
      <p:sp>
        <p:nvSpPr>
          <p:cNvPr id="20" name="risky-allocation-label">
            <a:extLst>
              <a:ext uri="{FF2B5EF4-FFF2-40B4-BE49-F238E27FC236}">
                <a16:creationId xmlns:a16="http://schemas.microsoft.com/office/drawing/2014/main" id="{346220E7-F1B3-9929-A29E-798FBE80579D}"/>
              </a:ext>
            </a:extLst>
          </p:cNvPr>
          <p:cNvSpPr>
            <a:spLocks noGrp="1"/>
          </p:cNvSpPr>
          <p:nvPr/>
        </p:nvSpPr>
        <p:spPr>
          <a:xfrm>
            <a:off x="3583305" y="2036445"/>
            <a:ext cx="800100" cy="228600"/>
          </a:xfrm>
          <a:prstGeom prst="rect">
            <a:avLst/>
          </a:prstGeom>
          <a:noFill/>
          <a:ln w="0">
            <a:noFill/>
            <a:prstDash val="solid"/>
          </a:ln>
        </p:spPr>
        <p:txBody>
          <a:bodyPr wrap="none" lIns="0" tIns="0" rIns="0" bIns="0" anchor="ctr">
            <a:normAutofit/>
          </a:bodyPr>
          <a:lstStyle/>
          <a:p>
            <a:pPr algn="ctr">
              <a:buNone/>
              <a:defRPr sz="1275" b="1">
                <a:solidFill>
                  <a:srgbClr val="FFFFFF"/>
                </a:solidFill>
                <a:latin typeface="Noto Sans CJK JP"/>
                <a:ea typeface="Noto Sans CJK JP"/>
                <a:cs typeface="Noto Sans CJK JP"/>
              </a:defRPr>
            </a:pPr>
            <a:r>
              <a:rPr lang="ja-JP" altLang="en-US" sz="1275" b="1" dirty="0">
                <a:solidFill>
                  <a:schemeClr val="tx1">
                    <a:lumMod val="50000"/>
                    <a:lumOff val="50000"/>
                  </a:schemeClr>
                </a:solidFill>
                <a:latin typeface="Noto Sans CJK JP"/>
                <a:ea typeface="Noto Sans CJK JP"/>
                <a:cs typeface="Noto Sans CJK JP"/>
              </a:rPr>
              <a:t>安全</a:t>
            </a:r>
            <a:r>
              <a:rPr sz="1275" b="1" dirty="0" err="1">
                <a:solidFill>
                  <a:schemeClr val="tx1">
                    <a:lumMod val="50000"/>
                    <a:lumOff val="50000"/>
                  </a:schemeClr>
                </a:solidFill>
                <a:latin typeface="Noto Sans CJK JP"/>
                <a:ea typeface="Noto Sans CJK JP"/>
                <a:cs typeface="Noto Sans CJK JP"/>
              </a:rPr>
              <a:t>資産</a:t>
            </a:r>
            <a:endParaRPr sz="1275" b="1" dirty="0">
              <a:solidFill>
                <a:schemeClr val="tx1">
                  <a:lumMod val="50000"/>
                  <a:lumOff val="50000"/>
                </a:schemeClr>
              </a:solidFill>
              <a:latin typeface="Noto Sans CJK JP"/>
              <a:ea typeface="Noto Sans CJK JP"/>
              <a:cs typeface="Noto Sans CJK JP"/>
            </a:endParaRPr>
          </a:p>
        </p:txBody>
      </p:sp>
      <p:sp>
        <p:nvSpPr>
          <p:cNvPr id="27" name="dc-account-outline">
            <a:extLst>
              <a:ext uri="{FF2B5EF4-FFF2-40B4-BE49-F238E27FC236}">
                <a16:creationId xmlns:a16="http://schemas.microsoft.com/office/drawing/2014/main" id="{F98E5023-671B-CFB7-3227-E49E11268604}"/>
              </a:ext>
            </a:extLst>
          </p:cNvPr>
          <p:cNvSpPr>
            <a:spLocks noGrp="1"/>
          </p:cNvSpPr>
          <p:nvPr/>
        </p:nvSpPr>
        <p:spPr>
          <a:xfrm>
            <a:off x="7736205" y="1436480"/>
            <a:ext cx="476250" cy="1897269"/>
          </a:xfrm>
          <a:prstGeom prst="rect">
            <a:avLst/>
          </a:prstGeom>
          <a:noFill/>
          <a:ln w="11430">
            <a:solidFill>
              <a:srgbClr val="7A8798"/>
            </a:solidFill>
            <a:prstDash val="solid"/>
          </a:ln>
        </p:spPr>
      </p:sp>
      <p:sp>
        <p:nvSpPr>
          <p:cNvPr id="29" name="safe-asset-portion">
            <a:extLst>
              <a:ext uri="{FF2B5EF4-FFF2-40B4-BE49-F238E27FC236}">
                <a16:creationId xmlns:a16="http://schemas.microsoft.com/office/drawing/2014/main" id="{B76D004F-E212-B361-00B9-59E77EC526B5}"/>
              </a:ext>
            </a:extLst>
          </p:cNvPr>
          <p:cNvSpPr>
            <a:spLocks noGrp="1"/>
          </p:cNvSpPr>
          <p:nvPr/>
        </p:nvSpPr>
        <p:spPr>
          <a:xfrm>
            <a:off x="7770495" y="1486740"/>
            <a:ext cx="396000" cy="1387680"/>
          </a:xfrm>
          <a:prstGeom prst="rect">
            <a:avLst/>
          </a:prstGeom>
          <a:solidFill>
            <a:srgbClr val="EAF2FA"/>
          </a:solidFill>
          <a:ln w="0">
            <a:noFill/>
            <a:prstDash val="solid"/>
          </a:ln>
        </p:spPr>
      </p:sp>
      <p:sp>
        <p:nvSpPr>
          <p:cNvPr id="31" name="risky-asset-portion">
            <a:extLst>
              <a:ext uri="{FF2B5EF4-FFF2-40B4-BE49-F238E27FC236}">
                <a16:creationId xmlns:a16="http://schemas.microsoft.com/office/drawing/2014/main" id="{B0F7FD90-A820-EC3B-F170-AA6AEA8C183F}"/>
              </a:ext>
            </a:extLst>
          </p:cNvPr>
          <p:cNvSpPr>
            <a:spLocks noGrp="1"/>
          </p:cNvSpPr>
          <p:nvPr/>
        </p:nvSpPr>
        <p:spPr>
          <a:xfrm>
            <a:off x="7770495" y="2862262"/>
            <a:ext cx="400050" cy="454343"/>
          </a:xfrm>
          <a:prstGeom prst="rect">
            <a:avLst/>
          </a:prstGeom>
          <a:solidFill>
            <a:srgbClr val="4A8EDD"/>
          </a:solidFill>
          <a:ln w="0">
            <a:noFill/>
            <a:prstDash val="solid"/>
          </a:ln>
        </p:spPr>
      </p:sp>
      <p:sp>
        <p:nvSpPr>
          <p:cNvPr id="33" name="dc-account-heading">
            <a:extLst>
              <a:ext uri="{FF2B5EF4-FFF2-40B4-BE49-F238E27FC236}">
                <a16:creationId xmlns:a16="http://schemas.microsoft.com/office/drawing/2014/main" id="{2F389CE5-440D-5394-AA0D-4FEBE8638A50}"/>
              </a:ext>
            </a:extLst>
          </p:cNvPr>
          <p:cNvSpPr>
            <a:spLocks noGrp="1"/>
          </p:cNvSpPr>
          <p:nvPr/>
        </p:nvSpPr>
        <p:spPr>
          <a:xfrm>
            <a:off x="7355205" y="799328"/>
            <a:ext cx="857250" cy="247650"/>
          </a:xfrm>
          <a:prstGeom prst="rect">
            <a:avLst/>
          </a:prstGeom>
          <a:noFill/>
          <a:ln w="0">
            <a:noFill/>
            <a:prstDash val="solid"/>
          </a:ln>
        </p:spPr>
        <p:txBody>
          <a:bodyPr wrap="none" lIns="0" tIns="0" rIns="0" bIns="0" anchor="ctr">
            <a:normAutofit/>
          </a:bodyPr>
          <a:lstStyle/>
          <a:p>
            <a:pPr algn="r">
              <a:buNone/>
              <a:defRPr sz="1388" b="1">
                <a:solidFill>
                  <a:srgbClr val="07183B"/>
                </a:solidFill>
                <a:latin typeface="Noto Sans CJK JP"/>
                <a:ea typeface="Noto Sans CJK JP"/>
                <a:cs typeface="Noto Sans CJK JP"/>
              </a:defRPr>
            </a:pPr>
            <a:r>
              <a:rPr lang="ja-JP" altLang="en-US" sz="1388" b="1" dirty="0">
                <a:solidFill>
                  <a:srgbClr val="07183B"/>
                </a:solidFill>
                <a:latin typeface="Noto Sans CJK JP"/>
                <a:ea typeface="Noto Sans CJK JP"/>
                <a:cs typeface="Noto Sans CJK JP"/>
              </a:rPr>
              <a:t>目的関数</a:t>
            </a:r>
            <a:endParaRPr sz="1388" b="1" dirty="0">
              <a:solidFill>
                <a:srgbClr val="07183B"/>
              </a:solidFill>
              <a:latin typeface="Noto Sans CJK JP"/>
              <a:ea typeface="Noto Sans CJK JP"/>
              <a:cs typeface="Noto Sans CJK JP"/>
            </a:endParaRPr>
          </a:p>
        </p:txBody>
      </p:sp>
      <p:sp>
        <p:nvSpPr>
          <p:cNvPr id="35" name="dc-account-heading-x">
            <a:extLst>
              <a:ext uri="{FF2B5EF4-FFF2-40B4-BE49-F238E27FC236}">
                <a16:creationId xmlns:a16="http://schemas.microsoft.com/office/drawing/2014/main" id="{1711A8D4-AAA7-4EB2-A529-F085F748E3C8}"/>
              </a:ext>
            </a:extLst>
          </p:cNvPr>
          <p:cNvSpPr>
            <a:spLocks noGrp="1"/>
          </p:cNvSpPr>
          <p:nvPr/>
        </p:nvSpPr>
        <p:spPr>
          <a:xfrm>
            <a:off x="8267700" y="772294"/>
            <a:ext cx="323850" cy="247650"/>
          </a:xfrm>
          <a:prstGeom prst="rect">
            <a:avLst/>
          </a:prstGeom>
          <a:noFill/>
          <a:ln w="0">
            <a:noFill/>
            <a:prstDash val="solid"/>
          </a:ln>
        </p:spPr>
        <p:txBody>
          <a:bodyPr wrap="none" lIns="0" tIns="0" rIns="0" bIns="0" anchor="ctr">
            <a:normAutofit/>
          </a:bodyPr>
          <a:lstStyle/>
          <a:p>
            <a:pPr algn="l">
              <a:buNone/>
              <a:defRPr sz="1463" b="0" i="1">
                <a:solidFill>
                  <a:srgbClr val="07183B"/>
                </a:solidFill>
                <a:latin typeface="Cambria Math"/>
                <a:ea typeface="Cambria Math"/>
                <a:cs typeface="Cambria Math"/>
              </a:defRPr>
            </a:pPr>
            <a:r>
              <a:rPr lang="en-US" altLang="ja-JP" sz="1463" i="1" dirty="0">
                <a:solidFill>
                  <a:srgbClr val="07183B"/>
                </a:solidFill>
                <a:latin typeface="Cambria Math"/>
                <a:ea typeface="Cambria Math"/>
                <a:cs typeface="Cambria Math"/>
              </a:rPr>
              <a:t>J</a:t>
            </a:r>
            <a:r>
              <a:rPr sz="1463" b="0" i="1" dirty="0">
                <a:solidFill>
                  <a:srgbClr val="07183B"/>
                </a:solidFill>
                <a:latin typeface="Cambria Math"/>
                <a:ea typeface="Cambria Math"/>
                <a:cs typeface="Cambria Math"/>
              </a:rPr>
              <a:t>ₜ</a:t>
            </a:r>
          </a:p>
        </p:txBody>
      </p:sp>
      <mc:AlternateContent xmlns:mc="http://schemas.openxmlformats.org/markup-compatibility/2006" xmlns:a14="http://schemas.microsoft.com/office/drawing/2010/main">
        <mc:Choice Requires="a14">
          <p:sp>
            <p:nvSpPr>
              <p:cNvPr id="66" name="optimization-takeaway">
                <a:extLst>
                  <a:ext uri="{FF2B5EF4-FFF2-40B4-BE49-F238E27FC236}">
                    <a16:creationId xmlns:a16="http://schemas.microsoft.com/office/drawing/2014/main" id="{E207C77D-6A01-074D-FA1B-E90718753A13}"/>
                  </a:ext>
                </a:extLst>
              </p:cNvPr>
              <p:cNvSpPr>
                <a:spLocks noGrp="1"/>
              </p:cNvSpPr>
              <p:nvPr/>
            </p:nvSpPr>
            <p:spPr>
              <a:xfrm>
                <a:off x="7559040" y="1014799"/>
                <a:ext cx="1303020" cy="323850"/>
              </a:xfrm>
              <a:prstGeom prst="rect">
                <a:avLst/>
              </a:prstGeom>
              <a:noFill/>
              <a:ln w="0">
                <a:noFill/>
                <a:prstDash val="solid"/>
              </a:ln>
            </p:spPr>
            <p:txBody>
              <a:bodyPr wrap="none" lIns="0" tIns="0" rIns="0" bIns="0" anchor="ctr">
                <a:normAutofit fontScale="62500" lnSpcReduction="20000"/>
              </a:bodyPr>
              <a:lstStyle/>
              <a:p>
                <a:pPr algn="ctr">
                  <a:buNone/>
                  <a:defRPr sz="1388" b="1">
                    <a:solidFill>
                      <a:srgbClr val="215FB4"/>
                    </a:solidFill>
                    <a:latin typeface="Noto Sans CJK JP"/>
                    <a:ea typeface="Noto Sans CJK JP"/>
                    <a:cs typeface="Noto Sans CJK JP"/>
                  </a:defRPr>
                </a:pPr>
                <a14:m>
                  <m:oMathPara xmlns:m="http://schemas.openxmlformats.org/officeDocument/2006/math">
                    <m:oMath>
                      <m:r>
                        <a:rPr lang="en-US" altLang="ja-JP" sz="1388" b="1" i="1" smtClean="0">
                          <a:solidFill>
                            <a:srgbClr val="07183B"/>
                          </a:solidFill>
                          <a:latin typeface="Cambria Math" panose="02040503050406030204" pitchFamily="18" charset="0"/>
                          <a:ea typeface="Cambria Math" panose="02040503050406030204" pitchFamily="18" charset="0"/>
                          <a:cs typeface="Noto Sans CJK JP"/>
                        </a:rPr>
                        <m:t>=</m:t>
                      </m:r>
                      <m:sSub>
                        <m:sSubPr>
                          <m:ctrlPr>
                            <a:rPr lang="ja-JP" altLang="ar-AE" sz="1388" b="1" i="1" smtClean="0">
                              <a:solidFill>
                                <a:srgbClr val="07183B"/>
                              </a:solidFill>
                              <a:latin typeface="Cambria Math" panose="02040503050406030204" pitchFamily="18" charset="0"/>
                              <a:ea typeface="Cambria Math" panose="02040503050406030204" pitchFamily="18" charset="0"/>
                              <a:cs typeface="Noto Sans CJK JP"/>
                            </a:rPr>
                          </m:ctrlPr>
                        </m:sSubPr>
                        <m:e>
                          <m:r>
                            <a:rPr lang="ja-JP" altLang="ar-AE" sz="1388" b="1" i="1" smtClean="0">
                              <a:solidFill>
                                <a:srgbClr val="07183B"/>
                              </a:solidFill>
                              <a:latin typeface="Cambria Math" panose="02040503050406030204" pitchFamily="18" charset="0"/>
                              <a:ea typeface="Cambria Math" panose="02040503050406030204" pitchFamily="18" charset="0"/>
                              <a:cs typeface="Noto Sans CJK JP"/>
                            </a:rPr>
                            <m:t>𝑬</m:t>
                          </m:r>
                        </m:e>
                        <m:sub>
                          <m:r>
                            <a:rPr lang="en-US" altLang="ja-JP" sz="1388" b="1" i="1" smtClean="0">
                              <a:solidFill>
                                <a:srgbClr val="07183B"/>
                              </a:solidFill>
                              <a:latin typeface="Cambria Math" panose="02040503050406030204" pitchFamily="18" charset="0"/>
                              <a:ea typeface="Cambria Math" panose="02040503050406030204" pitchFamily="18" charset="0"/>
                              <a:cs typeface="Noto Sans CJK JP"/>
                            </a:rPr>
                            <m:t>𝒕</m:t>
                          </m:r>
                        </m:sub>
                      </m:sSub>
                      <m:d>
                        <m:dPr>
                          <m:begChr m:val="["/>
                          <m:endChr m:val="]"/>
                          <m:ctrlPr>
                            <a:rPr lang="ja-JP" altLang="ar-AE" sz="1388" b="1" i="1" smtClean="0">
                              <a:solidFill>
                                <a:srgbClr val="07183B"/>
                              </a:solidFill>
                              <a:latin typeface="Cambria Math" panose="02040503050406030204" pitchFamily="18" charset="0"/>
                              <a:ea typeface="Cambria Math" panose="02040503050406030204" pitchFamily="18" charset="0"/>
                              <a:cs typeface="Noto Sans CJK JP"/>
                            </a:rPr>
                          </m:ctrlPr>
                        </m:dPr>
                        <m:e>
                          <m:sSub>
                            <m:sSubPr>
                              <m:ctrlPr>
                                <a:rPr lang="ja-JP" altLang="ar-AE" sz="1388" b="1" i="1" smtClean="0">
                                  <a:solidFill>
                                    <a:srgbClr val="07183B"/>
                                  </a:solidFill>
                                  <a:latin typeface="Cambria Math" panose="02040503050406030204" pitchFamily="18" charset="0"/>
                                  <a:ea typeface="Cambria Math" panose="02040503050406030204" pitchFamily="18" charset="0"/>
                                  <a:cs typeface="Noto Sans CJK JP"/>
                                </a:rPr>
                              </m:ctrlPr>
                            </m:sSubPr>
                            <m:e>
                              <m:r>
                                <a:rPr lang="ja-JP" altLang="ar-AE" sz="1388" b="1" i="1" smtClean="0">
                                  <a:solidFill>
                                    <a:srgbClr val="07183B"/>
                                  </a:solidFill>
                                  <a:latin typeface="Cambria Math" panose="02040503050406030204" pitchFamily="18" charset="0"/>
                                  <a:ea typeface="Cambria Math" panose="02040503050406030204" pitchFamily="18" charset="0"/>
                                  <a:cs typeface="Noto Sans CJK JP"/>
                                </a:rPr>
                                <m:t>𝑿</m:t>
                              </m:r>
                            </m:e>
                            <m:sub>
                              <m:r>
                                <a:rPr lang="en-US" altLang="ja-JP" sz="1388" b="1" i="1" smtClean="0">
                                  <a:solidFill>
                                    <a:srgbClr val="07183B"/>
                                  </a:solidFill>
                                  <a:latin typeface="Cambria Math" panose="02040503050406030204" pitchFamily="18" charset="0"/>
                                  <a:ea typeface="Cambria Math" panose="02040503050406030204" pitchFamily="18" charset="0"/>
                                  <a:cs typeface="Noto Sans CJK JP"/>
                                </a:rPr>
                                <m:t>𝑻</m:t>
                              </m:r>
                            </m:sub>
                          </m:sSub>
                        </m:e>
                      </m:d>
                      <m:r>
                        <a:rPr lang="ar-AE" altLang="ja-JP" sz="1388" b="1" i="1" smtClean="0">
                          <a:solidFill>
                            <a:srgbClr val="07183B"/>
                          </a:solidFill>
                          <a:latin typeface="Cambria Math" panose="02040503050406030204" pitchFamily="18" charset="0"/>
                          <a:ea typeface="Cambria Math" panose="02040503050406030204" pitchFamily="18" charset="0"/>
                          <a:cs typeface="Noto Sans CJK JP"/>
                        </a:rPr>
                        <m:t>−</m:t>
                      </m:r>
                      <m:r>
                        <a:rPr lang="ja-JP" altLang="ar-AE" sz="1388" b="1" i="1" smtClean="0">
                          <a:solidFill>
                            <a:srgbClr val="07183B"/>
                          </a:solidFill>
                          <a:latin typeface="Cambria Math" panose="02040503050406030204" pitchFamily="18" charset="0"/>
                          <a:ea typeface="Cambria Math" panose="02040503050406030204" pitchFamily="18" charset="0"/>
                          <a:cs typeface="Noto Sans CJK JP"/>
                        </a:rPr>
                        <m:t>𝜿</m:t>
                      </m:r>
                      <m:r>
                        <a:rPr lang="en-US" altLang="ja-JP" sz="1388" b="1" i="1" smtClean="0">
                          <a:solidFill>
                            <a:srgbClr val="07183B"/>
                          </a:solidFill>
                          <a:latin typeface="Cambria Math" panose="02040503050406030204" pitchFamily="18" charset="0"/>
                          <a:ea typeface="Cambria Math" panose="02040503050406030204" pitchFamily="18" charset="0"/>
                          <a:cs typeface="Noto Sans CJK JP"/>
                        </a:rPr>
                        <m:t>∗</m:t>
                      </m:r>
                      <m:r>
                        <a:rPr lang="ja-JP" altLang="ar-AE" sz="1388" b="1" i="1" smtClean="0">
                          <a:solidFill>
                            <a:srgbClr val="07183B"/>
                          </a:solidFill>
                          <a:latin typeface="Cambria Math" panose="02040503050406030204" pitchFamily="18" charset="0"/>
                          <a:ea typeface="Cambria Math" panose="02040503050406030204" pitchFamily="18" charset="0"/>
                          <a:cs typeface="Noto Sans CJK JP"/>
                        </a:rPr>
                        <m:t>𝑽</m:t>
                      </m:r>
                      <m:r>
                        <a:rPr lang="en-US" altLang="ja-JP" sz="1388" b="1" i="1" smtClean="0">
                          <a:solidFill>
                            <a:srgbClr val="07183B"/>
                          </a:solidFill>
                          <a:latin typeface="Cambria Math" panose="02040503050406030204" pitchFamily="18" charset="0"/>
                          <a:ea typeface="Cambria Math" panose="02040503050406030204" pitchFamily="18" charset="0"/>
                          <a:cs typeface="Noto Sans CJK JP"/>
                        </a:rPr>
                        <m:t>𝒂</m:t>
                      </m:r>
                      <m:sSub>
                        <m:sSubPr>
                          <m:ctrlPr>
                            <a:rPr lang="en-US" altLang="ja-JP" sz="1388" b="1" i="1" smtClean="0">
                              <a:solidFill>
                                <a:srgbClr val="07183B"/>
                              </a:solidFill>
                              <a:latin typeface="Cambria Math" panose="02040503050406030204" pitchFamily="18" charset="0"/>
                              <a:ea typeface="Cambria Math" panose="02040503050406030204" pitchFamily="18" charset="0"/>
                              <a:cs typeface="Noto Sans CJK JP"/>
                            </a:rPr>
                          </m:ctrlPr>
                        </m:sSubPr>
                        <m:e>
                          <m:r>
                            <a:rPr lang="en-US" altLang="ja-JP" sz="1388" b="1" i="1" smtClean="0">
                              <a:solidFill>
                                <a:srgbClr val="07183B"/>
                              </a:solidFill>
                              <a:latin typeface="Cambria Math" panose="02040503050406030204" pitchFamily="18" charset="0"/>
                              <a:ea typeface="Cambria Math" panose="02040503050406030204" pitchFamily="18" charset="0"/>
                              <a:cs typeface="Noto Sans CJK JP"/>
                            </a:rPr>
                            <m:t>𝒓</m:t>
                          </m:r>
                        </m:e>
                        <m:sub>
                          <m:r>
                            <a:rPr lang="en-US" altLang="ja-JP" sz="1388" b="1" i="1">
                              <a:solidFill>
                                <a:srgbClr val="07183B"/>
                              </a:solidFill>
                              <a:latin typeface="Cambria Math" panose="02040503050406030204" pitchFamily="18" charset="0"/>
                              <a:ea typeface="Cambria Math" panose="02040503050406030204" pitchFamily="18" charset="0"/>
                              <a:cs typeface="Noto Sans CJK JP"/>
                            </a:rPr>
                            <m:t>𝒕</m:t>
                          </m:r>
                        </m:sub>
                      </m:sSub>
                      <m:r>
                        <a:rPr lang="ar-AE" altLang="ja-JP" sz="1388" b="1" i="1" smtClean="0">
                          <a:solidFill>
                            <a:srgbClr val="07183B"/>
                          </a:solidFill>
                          <a:latin typeface="Cambria Math" panose="02040503050406030204" pitchFamily="18" charset="0"/>
                          <a:ea typeface="Cambria Math" panose="02040503050406030204" pitchFamily="18" charset="0"/>
                          <a:cs typeface="Noto Sans CJK JP"/>
                        </a:rPr>
                        <m:t>[</m:t>
                      </m:r>
                      <m:sSub>
                        <m:sSubPr>
                          <m:ctrlPr>
                            <a:rPr lang="ja-JP" altLang="ar-AE" sz="1388" b="1" i="1">
                              <a:solidFill>
                                <a:srgbClr val="07183B"/>
                              </a:solidFill>
                              <a:latin typeface="Cambria Math" panose="02040503050406030204" pitchFamily="18" charset="0"/>
                              <a:ea typeface="Cambria Math" panose="02040503050406030204" pitchFamily="18" charset="0"/>
                              <a:cs typeface="Noto Sans CJK JP"/>
                            </a:rPr>
                          </m:ctrlPr>
                        </m:sSubPr>
                        <m:e>
                          <m:r>
                            <a:rPr lang="ja-JP" altLang="ar-AE" sz="1388" b="1" i="1">
                              <a:solidFill>
                                <a:srgbClr val="07183B"/>
                              </a:solidFill>
                              <a:latin typeface="Cambria Math" panose="02040503050406030204" pitchFamily="18" charset="0"/>
                              <a:ea typeface="Cambria Math" panose="02040503050406030204" pitchFamily="18" charset="0"/>
                              <a:cs typeface="Noto Sans CJK JP"/>
                            </a:rPr>
                            <m:t>𝑿</m:t>
                          </m:r>
                        </m:e>
                        <m:sub>
                          <m:r>
                            <a:rPr lang="en-US" altLang="ja-JP" sz="1388" b="1" i="1" smtClean="0">
                              <a:solidFill>
                                <a:srgbClr val="07183B"/>
                              </a:solidFill>
                              <a:latin typeface="Cambria Math" panose="02040503050406030204" pitchFamily="18" charset="0"/>
                              <a:ea typeface="Cambria Math" panose="02040503050406030204" pitchFamily="18" charset="0"/>
                              <a:cs typeface="Noto Sans CJK JP"/>
                            </a:rPr>
                            <m:t>𝑻</m:t>
                          </m:r>
                        </m:sub>
                      </m:sSub>
                      <m:r>
                        <a:rPr lang="ar-AE" altLang="ja-JP" sz="1388" b="1" i="1" smtClean="0">
                          <a:solidFill>
                            <a:srgbClr val="07183B"/>
                          </a:solidFill>
                          <a:latin typeface="Cambria Math" panose="02040503050406030204" pitchFamily="18" charset="0"/>
                          <a:ea typeface="Cambria Math" panose="02040503050406030204" pitchFamily="18" charset="0"/>
                          <a:cs typeface="Noto Sans CJK JP"/>
                        </a:rPr>
                        <m:t>]</m:t>
                      </m:r>
                    </m:oMath>
                  </m:oMathPara>
                </a14:m>
                <a:endParaRPr lang="ar-AE" sz="1388" b="1" dirty="0">
                  <a:solidFill>
                    <a:srgbClr val="07183B"/>
                  </a:solidFill>
                  <a:latin typeface="Noto Sans CJK JP"/>
                  <a:ea typeface="Noto Sans CJK JP"/>
                  <a:cs typeface="Noto Sans CJK JP"/>
                </a:endParaRPr>
              </a:p>
            </p:txBody>
          </p:sp>
        </mc:Choice>
        <mc:Fallback xmlns="">
          <p:sp>
            <p:nvSpPr>
              <p:cNvPr id="66" name="optimization-takeaway">
                <a:extLst>
                  <a:ext uri="{FF2B5EF4-FFF2-40B4-BE49-F238E27FC236}">
                    <a16:creationId xmlns:a16="http://schemas.microsoft.com/office/drawing/2014/main" id="{E207C77D-6A01-074D-FA1B-E90718753A13}"/>
                  </a:ext>
                </a:extLst>
              </p:cNvPr>
              <p:cNvSpPr>
                <a:spLocks noGrp="1" noRot="1" noChangeAspect="1" noMove="1" noResize="1" noEditPoints="1" noAdjustHandles="1" noChangeArrowheads="1" noChangeShapeType="1" noTextEdit="1"/>
              </p:cNvSpPr>
              <p:nvPr/>
            </p:nvSpPr>
            <p:spPr>
              <a:xfrm>
                <a:off x="7559040" y="1014799"/>
                <a:ext cx="1303020" cy="323850"/>
              </a:xfrm>
              <a:prstGeom prst="rect">
                <a:avLst/>
              </a:prstGeom>
              <a:blipFill>
                <a:blip r:embed="rId8"/>
                <a:stretch>
                  <a:fillRect r="-3271"/>
                </a:stretch>
              </a:blipFill>
              <a:ln w="0">
                <a:noFill/>
                <a:prstDash val="solid"/>
              </a:ln>
            </p:spPr>
            <p:txBody>
              <a:bodyPr/>
              <a:lstStyle/>
              <a:p>
                <a:r>
                  <a:rPr lang="ja-JP" altLang="en-US">
                    <a:noFill/>
                  </a:rPr>
                  <a:t> </a:t>
                </a:r>
              </a:p>
            </p:txBody>
          </p:sp>
        </mc:Fallback>
      </mc:AlternateContent>
      <p:sp>
        <p:nvSpPr>
          <p:cNvPr id="81" name="矢印: 右 80">
            <a:extLst>
              <a:ext uri="{FF2B5EF4-FFF2-40B4-BE49-F238E27FC236}">
                <a16:creationId xmlns:a16="http://schemas.microsoft.com/office/drawing/2014/main" id="{21E3E1BF-4C25-805C-1BC1-05E3A7B36689}"/>
              </a:ext>
            </a:extLst>
          </p:cNvPr>
          <p:cNvSpPr/>
          <p:nvPr/>
        </p:nvSpPr>
        <p:spPr>
          <a:xfrm rot="20852477">
            <a:off x="3896764" y="1268192"/>
            <a:ext cx="3594823" cy="366713"/>
          </a:xfrm>
          <a:prstGeom prst="rightArrow">
            <a:avLst/>
          </a:prstGeom>
          <a:gradFill flip="none" rotWithShape="1">
            <a:gsLst>
              <a:gs pos="0">
                <a:schemeClr val="tx2"/>
              </a:gs>
              <a:gs pos="50000">
                <a:schemeClr val="tx2">
                  <a:lumMod val="60000"/>
                  <a:lumOff val="40000"/>
                </a:schemeClr>
              </a:gs>
              <a:gs pos="100000">
                <a:schemeClr val="bg1">
                  <a:lumMod val="85000"/>
                </a:schemeClr>
              </a:gs>
            </a:gsLst>
            <a:lin ang="108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83" name="s4-objective-label">
                <a:extLst>
                  <a:ext uri="{FF2B5EF4-FFF2-40B4-BE49-F238E27FC236}">
                    <a16:creationId xmlns:a16="http://schemas.microsoft.com/office/drawing/2014/main" id="{A7EF3072-B454-6DEF-0124-552A306CB62F}"/>
                  </a:ext>
                </a:extLst>
              </p:cNvPr>
              <p:cNvSpPr>
                <a:spLocks noGrp="1"/>
              </p:cNvSpPr>
              <p:nvPr/>
            </p:nvSpPr>
            <p:spPr>
              <a:xfrm>
                <a:off x="5141553" y="897469"/>
                <a:ext cx="984971" cy="489125"/>
              </a:xfrm>
              <a:prstGeom prst="rect">
                <a:avLst/>
              </a:prstGeom>
              <a:noFill/>
              <a:ln w="0">
                <a:noFill/>
                <a:prstDash val="solid"/>
              </a:ln>
            </p:spPr>
            <p:txBody>
              <a:bodyPr wrap="square" lIns="0" tIns="0" rIns="0" bIns="0" anchor="ctr">
                <a:noAutofit/>
              </a:bodyPr>
              <a:lstStyle/>
              <a:p>
                <a:pPr algn="ctr">
                  <a:defRPr sz="938" b="1">
                    <a:solidFill>
                      <a:srgbClr val="215FB4"/>
                    </a:solidFill>
                    <a:latin typeface="Noto Sans CJK JP"/>
                    <a:ea typeface="Noto Sans CJK JP"/>
                    <a:cs typeface="Noto Sans CJK JP"/>
                  </a:defRPr>
                </a:pPr>
                <a14:m>
                  <m:oMathPara xmlns:m="http://schemas.openxmlformats.org/officeDocument/2006/math">
                    <m:oMath>
                      <m:func>
                        <m:funcPr>
                          <m:ctrlPr>
                            <a:rPr lang="en-US" sz="1600" b="0" i="1" smtClean="0">
                              <a:solidFill>
                                <a:schemeClr val="accent2"/>
                              </a:solidFill>
                              <a:latin typeface="Cambria Math" panose="02040503050406030204" pitchFamily="18" charset="0"/>
                              <a:ea typeface="Noto Sans CJK JP"/>
                              <a:cs typeface="Noto Sans CJK JP"/>
                            </a:rPr>
                          </m:ctrlPr>
                        </m:funcPr>
                        <m:fName>
                          <m:limLow>
                            <m:limLowPr>
                              <m:ctrlPr>
                                <a:rPr lang="en-US" sz="1600" b="0" i="1" smtClean="0">
                                  <a:solidFill>
                                    <a:schemeClr val="accent2"/>
                                  </a:solidFill>
                                  <a:latin typeface="Cambria Math" panose="02040503050406030204" pitchFamily="18" charset="0"/>
                                  <a:ea typeface="Noto Sans CJK JP"/>
                                  <a:cs typeface="Noto Sans CJK JP"/>
                                </a:rPr>
                              </m:ctrlPr>
                            </m:limLowPr>
                            <m:e>
                              <m:r>
                                <a:rPr lang="en-US" sz="1600" b="0" i="1" smtClean="0">
                                  <a:solidFill>
                                    <a:schemeClr val="accent2"/>
                                  </a:solidFill>
                                  <a:latin typeface="Cambria Math" panose="02040503050406030204" pitchFamily="18" charset="0"/>
                                  <a:ea typeface="Noto Sans CJK JP"/>
                                  <a:cs typeface="Noto Sans CJK JP"/>
                                </a:rPr>
                                <m:t>𝑚𝑎𝑥</m:t>
                              </m:r>
                            </m:e>
                            <m:lim>
                              <m:r>
                                <a:rPr lang="en-US" sz="1600" b="0" i="1" smtClean="0">
                                  <a:solidFill>
                                    <a:schemeClr val="accent2"/>
                                  </a:solidFill>
                                  <a:latin typeface="Cambria Math" panose="02040503050406030204" pitchFamily="18" charset="0"/>
                                  <a:ea typeface="Noto Sans CJK JP"/>
                                  <a:cs typeface="Noto Sans CJK JP"/>
                                </a:rPr>
                                <m:t>𝑔</m:t>
                              </m:r>
                              <m:r>
                                <a:rPr lang="en-US" sz="1600" b="0" i="1">
                                  <a:solidFill>
                                    <a:schemeClr val="accent2"/>
                                  </a:solidFill>
                                  <a:latin typeface="Cambria Math" panose="02040503050406030204" pitchFamily="18" charset="0"/>
                                  <a:ea typeface="Noto Sans CJK JP"/>
                                  <a:cs typeface="Noto Sans CJK JP"/>
                                </a:rPr>
                                <m:t>∈[0,</m:t>
                              </m:r>
                              <m:r>
                                <a:rPr lang="en-US" sz="1600" b="0" i="1" smtClean="0">
                                  <a:solidFill>
                                    <a:schemeClr val="accent2"/>
                                  </a:solidFill>
                                  <a:latin typeface="Cambria Math" panose="02040503050406030204" pitchFamily="18" charset="0"/>
                                  <a:ea typeface="Noto Sans CJK JP"/>
                                  <a:cs typeface="Noto Sans CJK JP"/>
                                </a:rPr>
                                <m:t>1]</m:t>
                              </m:r>
                            </m:lim>
                          </m:limLow>
                        </m:fName>
                        <m:e>
                          <m:r>
                            <m:rPr>
                              <m:nor/>
                            </m:rPr>
                            <a:rPr lang="ar-AE" altLang="ja-JP" sz="1600" i="1" dirty="0" smtClean="0">
                              <a:solidFill>
                                <a:schemeClr val="tx1"/>
                              </a:solidFill>
                              <a:latin typeface="Noto Sans CJK JP"/>
                              <a:ea typeface="Noto Sans CJK JP"/>
                              <a:cs typeface="Noto Sans CJK JP"/>
                            </a:rPr>
                            <m:t> </m:t>
                          </m:r>
                        </m:e>
                      </m:func>
                    </m:oMath>
                  </m:oMathPara>
                </a14:m>
                <a:endParaRPr lang="en-US" sz="1600" i="1" dirty="0">
                  <a:solidFill>
                    <a:schemeClr val="tx1"/>
                  </a:solidFill>
                  <a:latin typeface="Noto Sans CJK JP"/>
                  <a:ea typeface="Noto Sans CJK JP"/>
                  <a:cs typeface="Noto Sans CJK JP"/>
                </a:endParaRPr>
              </a:p>
            </p:txBody>
          </p:sp>
        </mc:Choice>
        <mc:Fallback xmlns="">
          <p:sp>
            <p:nvSpPr>
              <p:cNvPr id="83" name="s4-objective-label">
                <a:extLst>
                  <a:ext uri="{FF2B5EF4-FFF2-40B4-BE49-F238E27FC236}">
                    <a16:creationId xmlns:a16="http://schemas.microsoft.com/office/drawing/2014/main" id="{A7EF3072-B454-6DEF-0124-552A306CB62F}"/>
                  </a:ext>
                </a:extLst>
              </p:cNvPr>
              <p:cNvSpPr>
                <a:spLocks noGrp="1" noRot="1" noChangeAspect="1" noMove="1" noResize="1" noEditPoints="1" noAdjustHandles="1" noChangeArrowheads="1" noChangeShapeType="1" noTextEdit="1"/>
              </p:cNvSpPr>
              <p:nvPr/>
            </p:nvSpPr>
            <p:spPr>
              <a:xfrm>
                <a:off x="5141553" y="897469"/>
                <a:ext cx="984971" cy="489125"/>
              </a:xfrm>
              <a:prstGeom prst="rect">
                <a:avLst/>
              </a:prstGeom>
              <a:blipFill>
                <a:blip r:embed="rId9"/>
                <a:stretch>
                  <a:fillRect/>
                </a:stretch>
              </a:blipFill>
              <a:ln w="0">
                <a:noFill/>
                <a:prstDash val="solid"/>
              </a:ln>
            </p:spPr>
            <p:txBody>
              <a:bodyPr/>
              <a:lstStyle/>
              <a:p>
                <a:r>
                  <a:rPr lang="ja-JP" altLang="en-US">
                    <a:noFill/>
                  </a:rPr>
                  <a:t> </a:t>
                </a:r>
              </a:p>
            </p:txBody>
          </p:sp>
        </mc:Fallback>
      </mc:AlternateContent>
    </p:spTree>
    <p:extLst>
      <p:ext uri="{BB962C8B-B14F-4D97-AF65-F5344CB8AC3E}">
        <p14:creationId xmlns:p14="http://schemas.microsoft.com/office/powerpoint/2010/main" val="875397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B5FB2-DE08-01C4-4B0F-3D45E31A046E}"/>
              </a:ext>
            </a:extLst>
          </p:cNvPr>
          <p:cNvSpPr>
            <a:spLocks noGrp="1"/>
          </p:cNvSpPr>
          <p:nvPr>
            <p:ph type="title"/>
          </p:nvPr>
        </p:nvSpPr>
        <p:spPr>
          <a:xfrm>
            <a:off x="457200" y="990600"/>
            <a:ext cx="8229600" cy="609600"/>
          </a:xfrm>
        </p:spPr>
        <p:txBody>
          <a:bodyPr wrap="none" lIns="0" tIns="0" rIns="0" bIns="0" anchor="ctr">
            <a:normAutofit/>
          </a:bodyPr>
          <a:lstStyle/>
          <a:p>
            <a:pPr algn="l">
              <a:buNone/>
              <a:defRPr sz="1913" b="1">
                <a:solidFill>
                  <a:srgbClr val="111827"/>
                </a:solidFill>
                <a:latin typeface="Noto Sans CJK JP"/>
                <a:ea typeface="Noto Sans CJK JP"/>
                <a:cs typeface="Noto Sans CJK JP"/>
              </a:defRPr>
            </a:pPr>
            <a:r>
              <a:rPr sz="1913" b="1" dirty="0">
                <a:solidFill>
                  <a:srgbClr val="111827"/>
                </a:solidFill>
                <a:latin typeface="Noto Sans CJK JP"/>
                <a:ea typeface="Noto Sans CJK JP"/>
                <a:cs typeface="Noto Sans CJK JP"/>
              </a:rPr>
              <a:t>Black–</a:t>
            </a:r>
            <a:r>
              <a:rPr sz="1913" b="1" dirty="0" err="1">
                <a:solidFill>
                  <a:srgbClr val="111827"/>
                </a:solidFill>
                <a:latin typeface="Noto Sans CJK JP"/>
                <a:ea typeface="Noto Sans CJK JP"/>
                <a:cs typeface="Noto Sans CJK JP"/>
              </a:rPr>
              <a:t>Scholes市場に</a:t>
            </a:r>
            <a:r>
              <a:rPr sz="1913" b="1" dirty="0">
                <a:solidFill>
                  <a:srgbClr val="111827"/>
                </a:solidFill>
                <a:latin typeface="Noto Sans CJK JP"/>
                <a:ea typeface="Noto Sans CJK JP"/>
                <a:cs typeface="Noto Sans CJK JP"/>
              </a:rPr>
              <a:t> c と π </a:t>
            </a:r>
            <a:r>
              <a:rPr lang="ja-JP" altLang="en-US" sz="1913" b="1" dirty="0">
                <a:solidFill>
                  <a:srgbClr val="111827"/>
                </a:solidFill>
                <a:latin typeface="Noto Sans CJK JP"/>
                <a:ea typeface="Noto Sans CJK JP"/>
                <a:cs typeface="Noto Sans CJK JP"/>
              </a:rPr>
              <a:t>と投資制約</a:t>
            </a:r>
            <a:r>
              <a:rPr sz="1913" b="1" dirty="0" err="1">
                <a:solidFill>
                  <a:srgbClr val="111827"/>
                </a:solidFill>
                <a:latin typeface="Noto Sans CJK JP"/>
                <a:ea typeface="Noto Sans CJK JP"/>
                <a:cs typeface="Noto Sans CJK JP"/>
              </a:rPr>
              <a:t>を加え、DC残高</a:t>
            </a:r>
            <a:r>
              <a:rPr sz="1913" b="1" dirty="0">
                <a:solidFill>
                  <a:srgbClr val="111827"/>
                </a:solidFill>
                <a:latin typeface="Noto Sans CJK JP"/>
                <a:ea typeface="Noto Sans CJK JP"/>
                <a:cs typeface="Noto Sans CJK JP"/>
              </a:rPr>
              <a:t> X </a:t>
            </a:r>
            <a:r>
              <a:rPr sz="1913" b="1" dirty="0" err="1">
                <a:solidFill>
                  <a:srgbClr val="111827"/>
                </a:solidFill>
                <a:latin typeface="Noto Sans CJK JP"/>
                <a:ea typeface="Noto Sans CJK JP"/>
                <a:cs typeface="Noto Sans CJK JP"/>
              </a:rPr>
              <a:t>の富モデルになる</a:t>
            </a:r>
            <a:endParaRPr sz="1913" b="1" dirty="0">
              <a:solidFill>
                <a:srgbClr val="111827"/>
              </a:solidFill>
              <a:latin typeface="Noto Sans CJK JP"/>
              <a:ea typeface="Noto Sans CJK JP"/>
              <a:cs typeface="Noto Sans CJK JP"/>
            </a:endParaRPr>
          </a:p>
        </p:txBody>
      </p:sp>
      <p:sp>
        <p:nvSpPr>
          <p:cNvPr id="3" name="title-divider">
            <a:extLst>
              <a:ext uri="{FF2B5EF4-FFF2-40B4-BE49-F238E27FC236}">
                <a16:creationId xmlns:a16="http://schemas.microsoft.com/office/drawing/2014/main" id="{77CCF547-64E7-4B3C-A0DE-BA3B785BF010}"/>
              </a:ext>
            </a:extLst>
          </p:cNvPr>
          <p:cNvSpPr>
            <a:spLocks noGrp="1"/>
          </p:cNvSpPr>
          <p:nvPr/>
        </p:nvSpPr>
        <p:spPr>
          <a:xfrm>
            <a:off x="457200" y="1676400"/>
            <a:ext cx="8229600" cy="9525"/>
          </a:xfrm>
          <a:prstGeom prst="rect">
            <a:avLst/>
          </a:prstGeom>
          <a:solidFill>
            <a:srgbClr val="E5EAF0"/>
          </a:solidFill>
          <a:ln w="0">
            <a:noFill/>
            <a:prstDash val="solid"/>
          </a:ln>
        </p:spPr>
      </p:sp>
      <p:sp>
        <p:nvSpPr>
          <p:cNvPr id="4" name="title-accent">
            <a:extLst>
              <a:ext uri="{FF2B5EF4-FFF2-40B4-BE49-F238E27FC236}">
                <a16:creationId xmlns:a16="http://schemas.microsoft.com/office/drawing/2014/main" id="{FAB70FF0-F522-4C88-8AA8-B1C8C876578F}"/>
              </a:ext>
            </a:extLst>
          </p:cNvPr>
          <p:cNvSpPr>
            <a:spLocks noGrp="1"/>
          </p:cNvSpPr>
          <p:nvPr/>
        </p:nvSpPr>
        <p:spPr>
          <a:xfrm>
            <a:off x="457200" y="1666875"/>
            <a:ext cx="552450" cy="38100"/>
          </a:xfrm>
          <a:prstGeom prst="rect">
            <a:avLst/>
          </a:prstGeom>
          <a:solidFill>
            <a:srgbClr val="4A90E2"/>
          </a:solidFill>
          <a:ln w="0">
            <a:noFill/>
            <a:prstDash val="solid"/>
          </a:ln>
        </p:spPr>
      </p:sp>
      <p:sp>
        <p:nvSpPr>
          <p:cNvPr id="27" name="chapter-tab-1">
            <a:extLst>
              <a:ext uri="{FF2B5EF4-FFF2-40B4-BE49-F238E27FC236}">
                <a16:creationId xmlns:a16="http://schemas.microsoft.com/office/drawing/2014/main" id="{ED34B059-9563-4576-9892-9473B98ED02C}"/>
              </a:ext>
            </a:extLst>
          </p:cNvPr>
          <p:cNvSpPr>
            <a:spLocks noGrp="1"/>
          </p:cNvSpPr>
          <p:nvPr/>
        </p:nvSpPr>
        <p:spPr>
          <a:xfrm>
            <a:off x="457200" y="4857750"/>
            <a:ext cx="2057400" cy="238125"/>
          </a:xfrm>
          <a:prstGeom prst="parallelogram">
            <a:avLst/>
          </a:prstGeom>
          <a:solidFill>
            <a:srgbClr val="4A90E2"/>
          </a:solidFill>
          <a:ln w="11430">
            <a:solidFill>
              <a:srgbClr val="4A90E2"/>
            </a:solidFill>
            <a:prstDash val="solid"/>
          </a:ln>
        </p:spPr>
        <p:txBody>
          <a:bodyPr wrap="none" lIns="76200" tIns="0" rIns="76200" bIns="0" anchor="ctr">
            <a:normAutofit/>
          </a:bodyPr>
          <a:lstStyle/>
          <a:p>
            <a:pPr algn="ctr">
              <a:buNone/>
              <a:defRPr sz="998" b="1">
                <a:solidFill>
                  <a:srgbClr val="FFFFFF"/>
                </a:solidFill>
                <a:latin typeface="Noto Sans CJK JP"/>
                <a:ea typeface="Noto Sans CJK JP"/>
                <a:cs typeface="Noto Sans CJK JP"/>
              </a:defRPr>
            </a:pPr>
            <a:r>
              <a:rPr sz="998" b="1">
                <a:solidFill>
                  <a:srgbClr val="FFFFFF"/>
                </a:solidFill>
                <a:latin typeface="Noto Sans CJK JP"/>
                <a:ea typeface="Noto Sans CJK JP"/>
                <a:cs typeface="Noto Sans CJK JP"/>
              </a:rPr>
              <a:t>1 前提</a:t>
            </a:r>
          </a:p>
        </p:txBody>
      </p:sp>
      <p:sp>
        <p:nvSpPr>
          <p:cNvPr id="28" name="chapter-tab-2">
            <a:extLst>
              <a:ext uri="{FF2B5EF4-FFF2-40B4-BE49-F238E27FC236}">
                <a16:creationId xmlns:a16="http://schemas.microsoft.com/office/drawing/2014/main" id="{1D0209B4-CAAA-4D4C-90CA-DBBE1BCBCA41}"/>
              </a:ext>
            </a:extLst>
          </p:cNvPr>
          <p:cNvSpPr>
            <a:spLocks noGrp="1"/>
          </p:cNvSpPr>
          <p:nvPr/>
        </p:nvSpPr>
        <p:spPr>
          <a:xfrm>
            <a:off x="2428875" y="4857750"/>
            <a:ext cx="2057400" cy="238125"/>
          </a:xfrm>
          <a:prstGeom prst="parallelogram">
            <a:avLst/>
          </a:prstGeom>
          <a:solidFill>
            <a:srgbClr val="FFFFFF"/>
          </a:solidFill>
          <a:ln w="10001">
            <a:solidFill>
              <a:srgbClr val="2F73B7"/>
            </a:solidFill>
            <a:prstDash val="solid"/>
          </a:ln>
        </p:spPr>
        <p:txBody>
          <a:bodyPr wrap="none" lIns="76200" tIns="0" rIns="76200" bIns="0" anchor="ctr">
            <a:normAutofit/>
          </a:bodyPr>
          <a:lstStyle/>
          <a:p>
            <a:pPr algn="ctr">
              <a:buNone/>
              <a:defRPr sz="998" b="1">
                <a:solidFill>
                  <a:srgbClr val="2F73B7"/>
                </a:solidFill>
                <a:latin typeface="Noto Sans CJK JP"/>
                <a:ea typeface="Noto Sans CJK JP"/>
                <a:cs typeface="Noto Sans CJK JP"/>
              </a:defRPr>
            </a:pPr>
            <a:r>
              <a:rPr sz="998" b="1">
                <a:solidFill>
                  <a:srgbClr val="2F73B7"/>
                </a:solidFill>
                <a:latin typeface="Noto Sans CJK JP"/>
                <a:ea typeface="Noto Sans CJK JP"/>
                <a:cs typeface="Noto Sans CJK JP"/>
              </a:rPr>
              <a:t>2 数理理論</a:t>
            </a:r>
          </a:p>
        </p:txBody>
      </p:sp>
      <p:sp>
        <p:nvSpPr>
          <p:cNvPr id="29" name="chapter-tab-3">
            <a:extLst>
              <a:ext uri="{FF2B5EF4-FFF2-40B4-BE49-F238E27FC236}">
                <a16:creationId xmlns:a16="http://schemas.microsoft.com/office/drawing/2014/main" id="{54023064-8359-4303-8A32-41AABD60F8B5}"/>
              </a:ext>
            </a:extLst>
          </p:cNvPr>
          <p:cNvSpPr>
            <a:spLocks noGrp="1"/>
          </p:cNvSpPr>
          <p:nvPr/>
        </p:nvSpPr>
        <p:spPr>
          <a:xfrm>
            <a:off x="4400550" y="4857750"/>
            <a:ext cx="2057400" cy="238125"/>
          </a:xfrm>
          <a:prstGeom prst="parallelogram">
            <a:avLst/>
          </a:prstGeom>
          <a:solidFill>
            <a:srgbClr val="FFFFFF"/>
          </a:solidFill>
          <a:ln w="10001">
            <a:solidFill>
              <a:srgbClr val="2A8F6A"/>
            </a:solidFill>
            <a:prstDash val="solid"/>
          </a:ln>
        </p:spPr>
        <p:txBody>
          <a:bodyPr wrap="none" lIns="76200" tIns="0" rIns="76200" bIns="0" anchor="ctr">
            <a:normAutofit/>
          </a:bodyPr>
          <a:lstStyle/>
          <a:p>
            <a:pPr algn="ctr">
              <a:buNone/>
              <a:defRPr sz="998" b="1">
                <a:solidFill>
                  <a:srgbClr val="2A8F6A"/>
                </a:solidFill>
                <a:latin typeface="Noto Sans CJK JP"/>
                <a:ea typeface="Noto Sans CJK JP"/>
                <a:cs typeface="Noto Sans CJK JP"/>
              </a:defRPr>
            </a:pPr>
            <a:r>
              <a:rPr sz="998" b="1">
                <a:solidFill>
                  <a:srgbClr val="2A8F6A"/>
                </a:solidFill>
                <a:latin typeface="Noto Sans CJK JP"/>
                <a:ea typeface="Noto Sans CJK JP"/>
                <a:cs typeface="Noto Sans CJK JP"/>
              </a:rPr>
              <a:t>3 シミュレーション</a:t>
            </a:r>
          </a:p>
        </p:txBody>
      </p:sp>
      <p:sp>
        <p:nvSpPr>
          <p:cNvPr id="30" name="chapter-tab-4">
            <a:extLst>
              <a:ext uri="{FF2B5EF4-FFF2-40B4-BE49-F238E27FC236}">
                <a16:creationId xmlns:a16="http://schemas.microsoft.com/office/drawing/2014/main" id="{98D6D874-CA09-4B76-9F9A-E9B0352769DE}"/>
              </a:ext>
            </a:extLst>
          </p:cNvPr>
          <p:cNvSpPr>
            <a:spLocks noGrp="1"/>
          </p:cNvSpPr>
          <p:nvPr/>
        </p:nvSpPr>
        <p:spPr>
          <a:xfrm>
            <a:off x="6372225" y="4857750"/>
            <a:ext cx="2057400" cy="238125"/>
          </a:xfrm>
          <a:prstGeom prst="parallelogram">
            <a:avLst/>
          </a:prstGeom>
          <a:solidFill>
            <a:srgbClr val="FFFFFF"/>
          </a:solidFill>
          <a:ln w="10001">
            <a:solidFill>
              <a:srgbClr val="C9534B"/>
            </a:solidFill>
            <a:prstDash val="solid"/>
          </a:ln>
        </p:spPr>
        <p:txBody>
          <a:bodyPr wrap="none" lIns="76200" tIns="0" rIns="76200" bIns="0" anchor="ctr">
            <a:normAutofit/>
          </a:bodyPr>
          <a:lstStyle/>
          <a:p>
            <a:pPr algn="ctr">
              <a:buNone/>
              <a:defRPr sz="998" b="1">
                <a:solidFill>
                  <a:srgbClr val="C9534B"/>
                </a:solidFill>
                <a:latin typeface="Noto Sans CJK JP"/>
                <a:ea typeface="Noto Sans CJK JP"/>
                <a:cs typeface="Noto Sans CJK JP"/>
              </a:defRPr>
            </a:pPr>
            <a:r>
              <a:rPr sz="998" b="1">
                <a:solidFill>
                  <a:srgbClr val="C9534B"/>
                </a:solidFill>
                <a:latin typeface="Noto Sans CJK JP"/>
                <a:ea typeface="Noto Sans CJK JP"/>
                <a:cs typeface="Noto Sans CJK JP"/>
              </a:rPr>
              <a:t>4 結論</a:t>
            </a:r>
          </a:p>
        </p:txBody>
      </p:sp>
      <p:sp>
        <p:nvSpPr>
          <p:cNvPr id="31" name="model-construction-arrow-1">
            <a:extLst>
              <a:ext uri="{FF2B5EF4-FFF2-40B4-BE49-F238E27FC236}">
                <a16:creationId xmlns:a16="http://schemas.microsoft.com/office/drawing/2014/main" id="{EEC78B1B-E8FB-493A-B2AF-8CC261424CD1}"/>
              </a:ext>
            </a:extLst>
          </p:cNvPr>
          <p:cNvSpPr>
            <a:spLocks noGrp="1"/>
          </p:cNvSpPr>
          <p:nvPr/>
        </p:nvSpPr>
        <p:spPr>
          <a:xfrm>
            <a:off x="2569845" y="2400300"/>
            <a:ext cx="342900" cy="323850"/>
          </a:xfrm>
          <a:prstGeom prst="rightArrow">
            <a:avLst/>
          </a:prstGeom>
          <a:solidFill>
            <a:srgbClr val="215FB4"/>
          </a:solidFill>
          <a:ln w="0">
            <a:noFill/>
            <a:prstDash val="solid"/>
          </a:ln>
        </p:spPr>
      </p:sp>
      <p:sp>
        <p:nvSpPr>
          <p:cNvPr id="32" name="model-construction-arrow-2">
            <a:extLst>
              <a:ext uri="{FF2B5EF4-FFF2-40B4-BE49-F238E27FC236}">
                <a16:creationId xmlns:a16="http://schemas.microsoft.com/office/drawing/2014/main" id="{1FD875FD-D53F-49E2-A2D4-8894A59AE984}"/>
              </a:ext>
            </a:extLst>
          </p:cNvPr>
          <p:cNvSpPr>
            <a:spLocks noGrp="1"/>
          </p:cNvSpPr>
          <p:nvPr/>
        </p:nvSpPr>
        <p:spPr>
          <a:xfrm>
            <a:off x="5514975" y="2400300"/>
            <a:ext cx="342900" cy="323850"/>
          </a:xfrm>
          <a:prstGeom prst="rightArrow">
            <a:avLst/>
          </a:prstGeom>
          <a:solidFill>
            <a:srgbClr val="215FB4"/>
          </a:solidFill>
          <a:ln w="0">
            <a:noFill/>
            <a:prstDash val="solid"/>
          </a:ln>
        </p:spPr>
      </p:sp>
      <p:sp>
        <p:nvSpPr>
          <p:cNvPr id="33" name="stage-1-heading">
            <a:extLst>
              <a:ext uri="{FF2B5EF4-FFF2-40B4-BE49-F238E27FC236}">
                <a16:creationId xmlns:a16="http://schemas.microsoft.com/office/drawing/2014/main" id="{693899A2-0CFB-40EB-910C-95A974C8572A}"/>
              </a:ext>
            </a:extLst>
          </p:cNvPr>
          <p:cNvSpPr>
            <a:spLocks noGrp="1"/>
          </p:cNvSpPr>
          <p:nvPr/>
        </p:nvSpPr>
        <p:spPr>
          <a:xfrm>
            <a:off x="400050" y="1847850"/>
            <a:ext cx="2381250" cy="304800"/>
          </a:xfrm>
          <a:prstGeom prst="rect">
            <a:avLst/>
          </a:prstGeom>
          <a:noFill/>
          <a:ln w="0">
            <a:noFill/>
            <a:prstDash val="solid"/>
          </a:ln>
        </p:spPr>
        <p:txBody>
          <a:bodyPr wrap="none" lIns="0" tIns="0" rIns="0" bIns="0" anchor="ctr">
            <a:normAutofit/>
          </a:bodyPr>
          <a:lstStyle/>
          <a:p>
            <a:pPr algn="l">
              <a:buNone/>
              <a:defRPr sz="1575" b="1">
                <a:solidFill>
                  <a:srgbClr val="215FB4"/>
                </a:solidFill>
                <a:latin typeface="Noto Sans CJK JP"/>
                <a:ea typeface="Noto Sans CJK JP"/>
                <a:cs typeface="Noto Sans CJK JP"/>
              </a:defRPr>
            </a:pPr>
            <a:r>
              <a:rPr sz="1575" b="1">
                <a:solidFill>
                  <a:srgbClr val="215FB4"/>
                </a:solidFill>
                <a:latin typeface="Noto Sans CJK JP"/>
                <a:ea typeface="Noto Sans CJK JP"/>
                <a:cs typeface="Noto Sans CJK JP"/>
              </a:rPr>
              <a:t>① Black–Scholes市場</a:t>
            </a:r>
          </a:p>
        </p:txBody>
      </p:sp>
      <p:sp>
        <p:nvSpPr>
          <p:cNvPr id="34" name="stage-2-heading">
            <a:extLst>
              <a:ext uri="{FF2B5EF4-FFF2-40B4-BE49-F238E27FC236}">
                <a16:creationId xmlns:a16="http://schemas.microsoft.com/office/drawing/2014/main" id="{2828C571-DD23-4735-89BE-8ACABD44058C}"/>
              </a:ext>
            </a:extLst>
          </p:cNvPr>
          <p:cNvSpPr>
            <a:spLocks noGrp="1"/>
          </p:cNvSpPr>
          <p:nvPr/>
        </p:nvSpPr>
        <p:spPr>
          <a:xfrm>
            <a:off x="3112770" y="1847850"/>
            <a:ext cx="2190750" cy="304800"/>
          </a:xfrm>
          <a:prstGeom prst="rect">
            <a:avLst/>
          </a:prstGeom>
          <a:noFill/>
          <a:ln w="0">
            <a:noFill/>
            <a:prstDash val="solid"/>
          </a:ln>
        </p:spPr>
        <p:txBody>
          <a:bodyPr wrap="none" lIns="0" tIns="0" rIns="0" bIns="0" anchor="ctr">
            <a:normAutofit/>
          </a:bodyPr>
          <a:lstStyle/>
          <a:p>
            <a:pPr algn="l">
              <a:buNone/>
              <a:defRPr sz="1575" b="1">
                <a:solidFill>
                  <a:srgbClr val="215FB4"/>
                </a:solidFill>
                <a:latin typeface="Noto Sans CJK JP"/>
                <a:ea typeface="Noto Sans CJK JP"/>
                <a:cs typeface="Noto Sans CJK JP"/>
              </a:defRPr>
            </a:pPr>
            <a:r>
              <a:rPr sz="1575" b="1">
                <a:solidFill>
                  <a:srgbClr val="215FB4"/>
                </a:solidFill>
                <a:latin typeface="Noto Sans CJK JP"/>
                <a:ea typeface="Noto Sans CJK JP"/>
                <a:cs typeface="Noto Sans CJK JP"/>
              </a:rPr>
              <a:t>② DC固有の入力</a:t>
            </a:r>
          </a:p>
        </p:txBody>
      </p:sp>
      <p:sp>
        <p:nvSpPr>
          <p:cNvPr id="35" name="stage-3-heading">
            <a:extLst>
              <a:ext uri="{FF2B5EF4-FFF2-40B4-BE49-F238E27FC236}">
                <a16:creationId xmlns:a16="http://schemas.microsoft.com/office/drawing/2014/main" id="{9CB904C6-B8C3-4768-92BE-56DF17A33409}"/>
              </a:ext>
            </a:extLst>
          </p:cNvPr>
          <p:cNvSpPr>
            <a:spLocks noGrp="1"/>
          </p:cNvSpPr>
          <p:nvPr/>
        </p:nvSpPr>
        <p:spPr>
          <a:xfrm>
            <a:off x="6362700" y="1847850"/>
            <a:ext cx="2305050" cy="304800"/>
          </a:xfrm>
          <a:prstGeom prst="rect">
            <a:avLst/>
          </a:prstGeom>
          <a:noFill/>
          <a:ln w="0">
            <a:noFill/>
            <a:prstDash val="solid"/>
          </a:ln>
        </p:spPr>
        <p:txBody>
          <a:bodyPr wrap="none" lIns="0" tIns="0" rIns="0" bIns="0" anchor="ctr">
            <a:normAutofit/>
          </a:bodyPr>
          <a:lstStyle/>
          <a:p>
            <a:pPr algn="l">
              <a:buNone/>
              <a:defRPr sz="1575" b="1">
                <a:solidFill>
                  <a:srgbClr val="215FB4"/>
                </a:solidFill>
                <a:latin typeface="Noto Sans CJK JP"/>
                <a:ea typeface="Noto Sans CJK JP"/>
                <a:cs typeface="Noto Sans CJK JP"/>
              </a:defRPr>
            </a:pPr>
            <a:r>
              <a:rPr sz="1575" b="1">
                <a:solidFill>
                  <a:srgbClr val="215FB4"/>
                </a:solidFill>
                <a:latin typeface="Noto Sans CJK JP"/>
                <a:ea typeface="Noto Sans CJK JP"/>
                <a:cs typeface="Noto Sans CJK JP"/>
              </a:rPr>
              <a:t>③ DC残高 Xₜ</a:t>
            </a:r>
          </a:p>
        </p:txBody>
      </p:sp>
      <p:pic>
        <p:nvPicPr>
          <p:cNvPr id="67" name="グラフィックス 66"/>
          <p:cNvPicPr>
            <a:picLocks noChangeAspect="1"/>
          </p:cNvPicPr>
          <p:nvPr/>
        </p:nvPicPr>
        <p:blipFill>
          <a:blip>
            <a:extLst>
              <a:ext uri="{96DAC541-7B7A-43D3-8B79-37D633B846F1}">
                <asvg:svgBlip xmlns:asvg="http://schemas.microsoft.com/office/drawing/2016/SVG/main" r:embed="rId3"/>
              </a:ext>
            </a:extLst>
          </a:blip>
          <a:stretch/>
        </p:blipFill>
        <p:spPr>
          <a:xfrm>
            <a:off x="500061" y="2476500"/>
            <a:ext cx="963930" cy="400050"/>
          </a:xfrm>
          <a:prstGeom prst="rect">
            <a:avLst/>
          </a:prstGeom>
        </p:spPr>
      </p:pic>
      <p:pic>
        <p:nvPicPr>
          <p:cNvPr id="68" name="グラフィックス 67"/>
          <p:cNvPicPr>
            <a:picLocks noChangeAspect="1"/>
          </p:cNvPicPr>
          <p:nvPr/>
        </p:nvPicPr>
        <p:blipFill>
          <a:blip>
            <a:extLst>
              <a:ext uri="{96DAC541-7B7A-43D3-8B79-37D633B846F1}">
                <asvg:svgBlip xmlns:asvg="http://schemas.microsoft.com/office/drawing/2016/SVG/main" r:embed="rId4"/>
              </a:ext>
            </a:extLst>
          </a:blip>
          <a:stretch/>
        </p:blipFill>
        <p:spPr>
          <a:xfrm>
            <a:off x="500061" y="3303270"/>
            <a:ext cx="1952625" cy="457200"/>
          </a:xfrm>
          <a:prstGeom prst="rect">
            <a:avLst/>
          </a:prstGeom>
        </p:spPr>
      </p:pic>
      <p:sp>
        <p:nvSpPr>
          <p:cNvPr id="38" name="black-scholes-caption">
            <a:extLst>
              <a:ext uri="{FF2B5EF4-FFF2-40B4-BE49-F238E27FC236}">
                <a16:creationId xmlns:a16="http://schemas.microsoft.com/office/drawing/2014/main" id="{D68A6FC9-43B0-4412-9329-1E8C91ABF388}"/>
              </a:ext>
            </a:extLst>
          </p:cNvPr>
          <p:cNvSpPr>
            <a:spLocks noGrp="1"/>
          </p:cNvSpPr>
          <p:nvPr/>
        </p:nvSpPr>
        <p:spPr>
          <a:xfrm>
            <a:off x="500061" y="2994660"/>
            <a:ext cx="1085850" cy="266700"/>
          </a:xfrm>
          <a:prstGeom prst="rect">
            <a:avLst/>
          </a:prstGeom>
          <a:noFill/>
          <a:ln w="0">
            <a:noFill/>
            <a:prstDash val="solid"/>
          </a:ln>
        </p:spPr>
        <p:txBody>
          <a:bodyPr wrap="none" lIns="0" tIns="0" rIns="0" bIns="0" anchor="ctr">
            <a:normAutofit/>
          </a:bodyPr>
          <a:lstStyle/>
          <a:p>
            <a:pPr algn="l">
              <a:buNone/>
              <a:defRPr sz="1238">
                <a:solidFill>
                  <a:srgbClr val="111827"/>
                </a:solidFill>
                <a:latin typeface="Noto Sans CJK JP"/>
                <a:ea typeface="Noto Sans CJK JP"/>
                <a:cs typeface="Noto Sans CJK JP"/>
              </a:defRPr>
            </a:pPr>
            <a:r>
              <a:rPr lang="ja-JP" altLang="en-US" sz="1200" dirty="0">
                <a:solidFill>
                  <a:schemeClr val="bg1">
                    <a:lumMod val="50000"/>
                  </a:schemeClr>
                </a:solidFill>
                <a:latin typeface="Noto Sans CJK JP"/>
                <a:ea typeface="Noto Sans CJK JP"/>
                <a:cs typeface="Noto Sans CJK JP"/>
              </a:rPr>
              <a:t>・</a:t>
            </a:r>
            <a:r>
              <a:rPr sz="1200" dirty="0" err="1">
                <a:solidFill>
                  <a:schemeClr val="bg1">
                    <a:lumMod val="50000"/>
                  </a:schemeClr>
                </a:solidFill>
                <a:latin typeface="Noto Sans CJK JP"/>
                <a:ea typeface="Noto Sans CJK JP"/>
                <a:cs typeface="Noto Sans CJK JP"/>
              </a:rPr>
              <a:t>リスク資産</a:t>
            </a:r>
            <a:r>
              <a:rPr sz="1200" dirty="0">
                <a:solidFill>
                  <a:schemeClr val="bg1">
                    <a:lumMod val="50000"/>
                  </a:schemeClr>
                </a:solidFill>
                <a:latin typeface="Noto Sans CJK JP"/>
                <a:ea typeface="Noto Sans CJK JP"/>
                <a:cs typeface="Noto Sans CJK JP"/>
              </a:rPr>
              <a:t> </a:t>
            </a:r>
            <a:r>
              <a:rPr sz="1200" i="1" dirty="0">
                <a:solidFill>
                  <a:schemeClr val="bg1">
                    <a:lumMod val="50000"/>
                  </a:schemeClr>
                </a:solidFill>
                <a:latin typeface="Noto Sans CJK JP"/>
                <a:ea typeface="Noto Sans CJK JP"/>
                <a:cs typeface="Noto Sans CJK JP"/>
              </a:rPr>
              <a:t>Sₜ</a:t>
            </a:r>
          </a:p>
        </p:txBody>
      </p:sp>
      <p:pic>
        <p:nvPicPr>
          <p:cNvPr id="70" name="グラフィックス 69"/>
          <p:cNvPicPr>
            <a:picLocks noChangeAspect="1"/>
          </p:cNvPicPr>
          <p:nvPr/>
        </p:nvPicPr>
        <p:blipFill>
          <a:blip>
            <a:extLst>
              <a:ext uri="{96DAC541-7B7A-43D3-8B79-37D633B846F1}">
                <asvg:svgBlip xmlns:asvg="http://schemas.microsoft.com/office/drawing/2016/SVG/main" r:embed="rId5"/>
              </a:ext>
            </a:extLst>
          </a:blip>
          <a:stretch/>
        </p:blipFill>
        <p:spPr>
          <a:xfrm>
            <a:off x="3112770" y="2414588"/>
            <a:ext cx="809625" cy="228600"/>
          </a:xfrm>
          <a:prstGeom prst="rect">
            <a:avLst/>
          </a:prstGeom>
        </p:spPr>
      </p:pic>
      <p:pic>
        <p:nvPicPr>
          <p:cNvPr id="72" name="グラフィックス 71"/>
          <p:cNvPicPr>
            <a:picLocks noChangeAspect="1"/>
          </p:cNvPicPr>
          <p:nvPr/>
        </p:nvPicPr>
        <p:blipFill>
          <a:blip>
            <a:extLst>
              <a:ext uri="{96DAC541-7B7A-43D3-8B79-37D633B846F1}">
                <asvg:svgBlip xmlns:asvg="http://schemas.microsoft.com/office/drawing/2016/SVG/main" r:embed="rId6"/>
              </a:ext>
            </a:extLst>
          </a:blip>
          <a:stretch/>
        </p:blipFill>
        <p:spPr>
          <a:xfrm>
            <a:off x="3112769" y="3029925"/>
            <a:ext cx="587696" cy="216000"/>
          </a:xfrm>
          <a:prstGeom prst="rect">
            <a:avLst/>
          </a:prstGeom>
        </p:spPr>
      </p:pic>
      <p:sp>
        <p:nvSpPr>
          <p:cNvPr id="42" name="dc-risky-input-label">
            <a:extLst>
              <a:ext uri="{FF2B5EF4-FFF2-40B4-BE49-F238E27FC236}">
                <a16:creationId xmlns:a16="http://schemas.microsoft.com/office/drawing/2014/main" id="{B6A9C96E-6FC3-4BB2-86CA-2CA1D1A0131D}"/>
              </a:ext>
            </a:extLst>
          </p:cNvPr>
          <p:cNvSpPr>
            <a:spLocks noGrp="1"/>
          </p:cNvSpPr>
          <p:nvPr/>
        </p:nvSpPr>
        <p:spPr>
          <a:xfrm>
            <a:off x="4036695" y="2962275"/>
            <a:ext cx="1333500" cy="323850"/>
          </a:xfrm>
          <a:prstGeom prst="rect">
            <a:avLst/>
          </a:prstGeom>
          <a:noFill/>
          <a:ln w="0">
            <a:noFill/>
            <a:prstDash val="solid"/>
          </a:ln>
        </p:spPr>
        <p:txBody>
          <a:bodyPr wrap="none" lIns="0" tIns="0" rIns="0" bIns="0" anchor="ctr">
            <a:normAutofit/>
          </a:bodyPr>
          <a:lstStyle/>
          <a:p>
            <a:pPr algn="l">
              <a:buNone/>
              <a:defRPr sz="1013" b="1">
                <a:solidFill>
                  <a:srgbClr val="111827"/>
                </a:solidFill>
                <a:latin typeface="Noto Sans JP"/>
                <a:ea typeface="Noto Sans JP"/>
                <a:cs typeface="Noto Sans JP"/>
              </a:defRPr>
            </a:pPr>
            <a:r>
              <a:rPr sz="1200" b="1" dirty="0" err="1">
                <a:solidFill>
                  <a:srgbClr val="111827"/>
                </a:solidFill>
                <a:latin typeface="Noto Sans JP"/>
                <a:ea typeface="Noto Sans JP"/>
                <a:cs typeface="Noto Sans JP"/>
              </a:rPr>
              <a:t>リスク資産への投資額</a:t>
            </a:r>
            <a:endParaRPr sz="1200" b="1" dirty="0">
              <a:solidFill>
                <a:srgbClr val="111827"/>
              </a:solidFill>
              <a:latin typeface="Noto Sans JP"/>
              <a:ea typeface="Noto Sans JP"/>
              <a:cs typeface="Noto Sans JP"/>
            </a:endParaRPr>
          </a:p>
        </p:txBody>
      </p:sp>
      <p:pic>
        <p:nvPicPr>
          <p:cNvPr id="76" name="グラフィックス 75"/>
          <p:cNvPicPr>
            <a:picLocks noChangeAspect="1"/>
          </p:cNvPicPr>
          <p:nvPr/>
        </p:nvPicPr>
        <p:blipFill>
          <a:blip>
            <a:extLst>
              <a:ext uri="{96DAC541-7B7A-43D3-8B79-37D633B846F1}">
                <asvg:svgBlip xmlns:asvg="http://schemas.microsoft.com/office/drawing/2016/SVG/main" r:embed="rId7"/>
              </a:ext>
            </a:extLst>
          </a:blip>
          <a:stretch/>
        </p:blipFill>
        <p:spPr>
          <a:xfrm>
            <a:off x="6362699" y="3421649"/>
            <a:ext cx="1253490" cy="213094"/>
          </a:xfrm>
          <a:prstGeom prst="rect">
            <a:avLst/>
          </a:prstGeom>
        </p:spPr>
      </p:pic>
      <p:sp>
        <p:nvSpPr>
          <p:cNvPr id="46" name="dc-investment-constraint-caption">
            <a:extLst>
              <a:ext uri="{FF2B5EF4-FFF2-40B4-BE49-F238E27FC236}">
                <a16:creationId xmlns:a16="http://schemas.microsoft.com/office/drawing/2014/main" id="{828059AE-DF83-4E81-B794-BAB90E6BD7FE}"/>
              </a:ext>
            </a:extLst>
          </p:cNvPr>
          <p:cNvSpPr>
            <a:spLocks noGrp="1"/>
          </p:cNvSpPr>
          <p:nvPr/>
        </p:nvSpPr>
        <p:spPr>
          <a:xfrm>
            <a:off x="6286499" y="3112770"/>
            <a:ext cx="2552700" cy="247650"/>
          </a:xfrm>
          <a:prstGeom prst="rect">
            <a:avLst/>
          </a:prstGeom>
          <a:noFill/>
          <a:ln w="0">
            <a:noFill/>
            <a:prstDash val="solid"/>
          </a:ln>
        </p:spPr>
        <p:txBody>
          <a:bodyPr wrap="none" lIns="0" tIns="0" rIns="0" bIns="0" anchor="ctr">
            <a:normAutofit/>
          </a:bodyPr>
          <a:lstStyle/>
          <a:p>
            <a:pPr>
              <a:buNone/>
              <a:defRPr sz="1163" b="1">
                <a:solidFill>
                  <a:srgbClr val="C62820"/>
                </a:solidFill>
                <a:latin typeface="Noto Sans CJK JP"/>
                <a:ea typeface="Noto Sans CJK JP"/>
                <a:cs typeface="Noto Sans CJK JP"/>
              </a:defRPr>
            </a:pPr>
            <a:r>
              <a:rPr lang="ja-JP" altLang="en-US" sz="1050" b="1" dirty="0">
                <a:solidFill>
                  <a:srgbClr val="C62820"/>
                </a:solidFill>
                <a:latin typeface="Noto Sans CJK JP"/>
                <a:ea typeface="Noto Sans CJK JP"/>
                <a:cs typeface="Noto Sans CJK JP"/>
              </a:rPr>
              <a:t>ただし、</a:t>
            </a:r>
            <a:r>
              <a:rPr sz="1050" b="1" dirty="0" err="1">
                <a:solidFill>
                  <a:srgbClr val="C62820"/>
                </a:solidFill>
                <a:latin typeface="Noto Sans CJK JP"/>
                <a:ea typeface="Noto Sans CJK JP"/>
                <a:cs typeface="Noto Sans CJK JP"/>
              </a:rPr>
              <a:t>投資可能額は現在のDC残高を超えない</a:t>
            </a:r>
            <a:endParaRPr sz="1050" b="1" dirty="0">
              <a:solidFill>
                <a:srgbClr val="C62820"/>
              </a:solidFill>
              <a:latin typeface="Noto Sans CJK JP"/>
              <a:ea typeface="Noto Sans CJK JP"/>
              <a:cs typeface="Noto Sans CJK JP"/>
            </a:endParaRPr>
          </a:p>
        </p:txBody>
      </p:sp>
      <p:sp>
        <p:nvSpPr>
          <p:cNvPr id="47" name="model-takeaway-band">
            <a:extLst>
              <a:ext uri="{FF2B5EF4-FFF2-40B4-BE49-F238E27FC236}">
                <a16:creationId xmlns:a16="http://schemas.microsoft.com/office/drawing/2014/main" id="{9343F09B-9806-497F-9D94-3CDD38948DE9}"/>
              </a:ext>
            </a:extLst>
          </p:cNvPr>
          <p:cNvSpPr>
            <a:spLocks noGrp="1"/>
          </p:cNvSpPr>
          <p:nvPr/>
        </p:nvSpPr>
        <p:spPr>
          <a:xfrm>
            <a:off x="800100" y="3905250"/>
            <a:ext cx="7543800" cy="495300"/>
          </a:xfrm>
          <a:prstGeom prst="roundRect">
            <a:avLst>
              <a:gd name="adj" fmla="val 11538"/>
            </a:avLst>
          </a:prstGeom>
          <a:noFill/>
          <a:ln w="10478">
            <a:solidFill>
              <a:srgbClr val="215FB4"/>
            </a:solidFill>
            <a:prstDash val="solid"/>
          </a:ln>
        </p:spPr>
      </p:sp>
      <p:sp>
        <p:nvSpPr>
          <p:cNvPr id="48" name="model-takeaway">
            <a:extLst>
              <a:ext uri="{FF2B5EF4-FFF2-40B4-BE49-F238E27FC236}">
                <a16:creationId xmlns:a16="http://schemas.microsoft.com/office/drawing/2014/main" id="{9F1DC2D2-B867-43FF-B5F8-EF21A872BEDB}"/>
              </a:ext>
            </a:extLst>
          </p:cNvPr>
          <p:cNvSpPr>
            <a:spLocks noGrp="1"/>
          </p:cNvSpPr>
          <p:nvPr/>
        </p:nvSpPr>
        <p:spPr>
          <a:xfrm>
            <a:off x="1000125" y="4000500"/>
            <a:ext cx="7143750" cy="304800"/>
          </a:xfrm>
          <a:prstGeom prst="rect">
            <a:avLst/>
          </a:prstGeom>
          <a:noFill/>
          <a:ln w="0">
            <a:noFill/>
            <a:prstDash val="solid"/>
          </a:ln>
        </p:spPr>
        <p:txBody>
          <a:bodyPr wrap="none" lIns="0" tIns="0" rIns="0" bIns="0" anchor="ctr">
            <a:normAutofit/>
          </a:bodyPr>
          <a:lstStyle/>
          <a:p>
            <a:pPr algn="ctr">
              <a:buNone/>
              <a:defRPr sz="1500" b="1">
                <a:solidFill>
                  <a:srgbClr val="07183B"/>
                </a:solidFill>
                <a:latin typeface="Noto Sans CJK JP"/>
                <a:ea typeface="Noto Sans CJK JP"/>
                <a:cs typeface="Noto Sans CJK JP"/>
              </a:defRPr>
            </a:pPr>
            <a:r>
              <a:rPr sz="1500" b="1">
                <a:solidFill>
                  <a:srgbClr val="07183B"/>
                </a:solidFill>
                <a:latin typeface="Noto Sans CJK JP"/>
                <a:ea typeface="Noto Sans CJK JP"/>
                <a:cs typeface="Noto Sans CJK JP"/>
              </a:rPr>
              <a:t>市場モデル＋拠出＋投資制約から、DC残高の確率過程が定まる</a:t>
            </a:r>
          </a:p>
        </p:txBody>
      </p:sp>
      <p:sp>
        <p:nvSpPr>
          <p:cNvPr id="6" name="black-scholes-caption">
            <a:extLst>
              <a:ext uri="{FF2B5EF4-FFF2-40B4-BE49-F238E27FC236}">
                <a16:creationId xmlns:a16="http://schemas.microsoft.com/office/drawing/2014/main" id="{DA760C55-AE62-11AE-E416-288E4E2DFB35}"/>
              </a:ext>
            </a:extLst>
          </p:cNvPr>
          <p:cNvSpPr>
            <a:spLocks noGrp="1"/>
          </p:cNvSpPr>
          <p:nvPr/>
        </p:nvSpPr>
        <p:spPr>
          <a:xfrm>
            <a:off x="500061" y="2200275"/>
            <a:ext cx="902970" cy="266700"/>
          </a:xfrm>
          <a:prstGeom prst="rect">
            <a:avLst/>
          </a:prstGeom>
          <a:noFill/>
          <a:ln w="0">
            <a:noFill/>
            <a:prstDash val="solid"/>
          </a:ln>
        </p:spPr>
        <p:txBody>
          <a:bodyPr wrap="none" lIns="0" tIns="0" rIns="0" bIns="0" anchor="ctr">
            <a:normAutofit/>
          </a:bodyPr>
          <a:lstStyle/>
          <a:p>
            <a:pPr algn="l">
              <a:buNone/>
              <a:defRPr sz="1238">
                <a:solidFill>
                  <a:srgbClr val="111827"/>
                </a:solidFill>
                <a:latin typeface="Noto Sans CJK JP"/>
                <a:ea typeface="Noto Sans CJK JP"/>
                <a:cs typeface="Noto Sans CJK JP"/>
              </a:defRPr>
            </a:pPr>
            <a:r>
              <a:rPr lang="ja-JP" altLang="en-US" sz="1200" dirty="0">
                <a:solidFill>
                  <a:schemeClr val="bg1">
                    <a:lumMod val="50000"/>
                  </a:schemeClr>
                </a:solidFill>
                <a:latin typeface="Noto Sans CJK JP"/>
                <a:ea typeface="Noto Sans CJK JP"/>
                <a:cs typeface="Noto Sans CJK JP"/>
              </a:rPr>
              <a:t>・</a:t>
            </a:r>
            <a:r>
              <a:rPr sz="1200" dirty="0" err="1">
                <a:solidFill>
                  <a:schemeClr val="bg1">
                    <a:lumMod val="50000"/>
                  </a:schemeClr>
                </a:solidFill>
                <a:latin typeface="Noto Sans CJK JP"/>
                <a:ea typeface="Noto Sans CJK JP"/>
                <a:cs typeface="Noto Sans CJK JP"/>
              </a:rPr>
              <a:t>安全資産</a:t>
            </a:r>
            <a:r>
              <a:rPr sz="1200" dirty="0">
                <a:solidFill>
                  <a:schemeClr val="bg1">
                    <a:lumMod val="50000"/>
                  </a:schemeClr>
                </a:solidFill>
                <a:latin typeface="Noto Sans CJK JP"/>
                <a:ea typeface="Noto Sans CJK JP"/>
                <a:cs typeface="Noto Sans CJK JP"/>
              </a:rPr>
              <a:t> </a:t>
            </a:r>
            <a:r>
              <a:rPr sz="1200" i="1" dirty="0">
                <a:solidFill>
                  <a:schemeClr val="bg1">
                    <a:lumMod val="50000"/>
                  </a:schemeClr>
                </a:solidFill>
                <a:latin typeface="Noto Sans CJK JP"/>
                <a:ea typeface="Noto Sans CJK JP"/>
                <a:cs typeface="Noto Sans CJK JP"/>
              </a:rPr>
              <a:t>Bₜ</a:t>
            </a:r>
          </a:p>
        </p:txBody>
      </p:sp>
      <p:sp>
        <p:nvSpPr>
          <p:cNvPr id="8" name="dc-risky-input-label">
            <a:extLst>
              <a:ext uri="{FF2B5EF4-FFF2-40B4-BE49-F238E27FC236}">
                <a16:creationId xmlns:a16="http://schemas.microsoft.com/office/drawing/2014/main" id="{C34AD7DF-DC03-6E9E-1D5A-9E328BDF456D}"/>
              </a:ext>
            </a:extLst>
          </p:cNvPr>
          <p:cNvSpPr>
            <a:spLocks noGrp="1"/>
          </p:cNvSpPr>
          <p:nvPr/>
        </p:nvSpPr>
        <p:spPr>
          <a:xfrm>
            <a:off x="4036694" y="2292399"/>
            <a:ext cx="1333500" cy="609599"/>
          </a:xfrm>
          <a:prstGeom prst="rect">
            <a:avLst/>
          </a:prstGeom>
          <a:noFill/>
          <a:ln w="0">
            <a:noFill/>
            <a:prstDash val="solid"/>
          </a:ln>
        </p:spPr>
        <p:txBody>
          <a:bodyPr wrap="none" lIns="0" tIns="0" rIns="0" bIns="0" anchor="ctr">
            <a:normAutofit/>
          </a:bodyPr>
          <a:lstStyle/>
          <a:p>
            <a:pPr algn="l">
              <a:buNone/>
              <a:defRPr sz="1013" b="1">
                <a:solidFill>
                  <a:srgbClr val="111827"/>
                </a:solidFill>
                <a:latin typeface="Noto Sans JP"/>
                <a:ea typeface="Noto Sans JP"/>
                <a:cs typeface="Noto Sans JP"/>
              </a:defRPr>
            </a:pPr>
            <a:r>
              <a:rPr lang="ja-JP" altLang="en-US" sz="1200" b="1" dirty="0">
                <a:solidFill>
                  <a:srgbClr val="111827"/>
                </a:solidFill>
                <a:latin typeface="Noto Sans JP"/>
                <a:ea typeface="Noto Sans JP"/>
                <a:cs typeface="Noto Sans JP"/>
              </a:rPr>
              <a:t>継続的な掛金拠出</a:t>
            </a:r>
          </a:p>
          <a:p>
            <a:pPr algn="l">
              <a:buNone/>
              <a:defRPr sz="1013" b="1">
                <a:solidFill>
                  <a:srgbClr val="111827"/>
                </a:solidFill>
                <a:latin typeface="Noto Sans JP"/>
                <a:ea typeface="Noto Sans JP"/>
                <a:cs typeface="Noto Sans JP"/>
              </a:defRPr>
            </a:pPr>
            <a:r>
              <a:rPr lang="en-US" altLang="ja-JP" sz="1050" dirty="0">
                <a:solidFill>
                  <a:schemeClr val="tx1">
                    <a:lumMod val="50000"/>
                    <a:lumOff val="50000"/>
                  </a:schemeClr>
                </a:solidFill>
                <a:latin typeface="Noto Sans JP"/>
                <a:ea typeface="Noto Sans JP"/>
                <a:cs typeface="Noto Sans JP"/>
              </a:rPr>
              <a:t>※DB</a:t>
            </a:r>
            <a:r>
              <a:rPr lang="ja-JP" altLang="en-US" sz="1050" dirty="0">
                <a:solidFill>
                  <a:schemeClr val="tx1">
                    <a:lumMod val="50000"/>
                    <a:lumOff val="50000"/>
                  </a:schemeClr>
                </a:solidFill>
                <a:latin typeface="Noto Sans JP"/>
                <a:ea typeface="Noto Sans JP"/>
                <a:cs typeface="Noto Sans JP"/>
              </a:rPr>
              <a:t>給付も包含可能</a:t>
            </a:r>
            <a:endParaRPr sz="1050" dirty="0">
              <a:solidFill>
                <a:schemeClr val="tx1">
                  <a:lumMod val="50000"/>
                  <a:lumOff val="50000"/>
                </a:schemeClr>
              </a:solidFill>
              <a:latin typeface="Noto Sans JP"/>
              <a:ea typeface="Noto Sans JP"/>
              <a:cs typeface="Noto Sans JP"/>
            </a:endParaRPr>
          </a:p>
        </p:txBody>
      </p:sp>
      <p:pic>
        <p:nvPicPr>
          <p:cNvPr id="11" name="dc-account-sde">
            <a:extLst>
              <a:ext uri="{FF2B5EF4-FFF2-40B4-BE49-F238E27FC236}">
                <a16:creationId xmlns:a16="http://schemas.microsoft.com/office/drawing/2014/main" id="{D21F5B4E-1769-8BA9-B356-7BE5997FC1E7}"/>
              </a:ext>
            </a:extLst>
          </p:cNvPr>
          <p:cNvPicPr>
            <a:picLocks noChangeAspect="1"/>
          </p:cNvPicPr>
          <p:nvPr/>
        </p:nvPicPr>
        <p:blipFill>
          <a:blip r:embed="rId8"/>
          <a:stretch/>
        </p:blipFill>
        <p:spPr>
          <a:xfrm>
            <a:off x="6286499" y="2266950"/>
            <a:ext cx="2683109" cy="609600"/>
          </a:xfrm>
          <a:prstGeom prst="rect">
            <a:avLst/>
          </a:prstGeom>
        </p:spPr>
      </p:pic>
    </p:spTree>
    <p:extLst>
      <p:ext uri="{BB962C8B-B14F-4D97-AF65-F5344CB8AC3E}">
        <p14:creationId xmlns:p14="http://schemas.microsoft.com/office/powerpoint/2010/main" val="875397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B5FB2-DE08-01C4-4B0F-3D45E31A046E}"/>
              </a:ext>
            </a:extLst>
          </p:cNvPr>
          <p:cNvSpPr>
            <a:spLocks noGrp="1"/>
          </p:cNvSpPr>
          <p:nvPr>
            <p:ph type="title"/>
          </p:nvPr>
        </p:nvSpPr>
        <p:spPr>
          <a:xfrm>
            <a:off x="457200" y="990600"/>
            <a:ext cx="8229600" cy="609600"/>
          </a:xfrm>
        </p:spPr>
        <p:txBody>
          <a:bodyPr wrap="none" lIns="0" tIns="0" rIns="0" bIns="0" anchor="ctr">
            <a:normAutofit/>
          </a:bodyPr>
          <a:lstStyle/>
          <a:p>
            <a:pPr algn="l">
              <a:buNone/>
              <a:defRPr sz="1988" b="1">
                <a:solidFill>
                  <a:srgbClr val="111827"/>
                </a:solidFill>
                <a:latin typeface="Noto Sans CJK JP"/>
                <a:ea typeface="Noto Sans CJK JP"/>
                <a:cs typeface="Noto Sans CJK JP"/>
              </a:defRPr>
            </a:pPr>
            <a:r>
              <a:rPr sz="1988" b="1" dirty="0" err="1">
                <a:solidFill>
                  <a:srgbClr val="111827"/>
                </a:solidFill>
                <a:latin typeface="Noto Sans CJK JP"/>
                <a:ea typeface="Noto Sans CJK JP"/>
                <a:cs typeface="Noto Sans CJK JP"/>
              </a:rPr>
              <a:t>平均</a:t>
            </a:r>
            <a:r>
              <a:rPr lang="ja-JP" altLang="en-US" sz="1988" dirty="0">
                <a:solidFill>
                  <a:srgbClr val="111827"/>
                </a:solidFill>
                <a:latin typeface="Noto Sans CJK JP"/>
                <a:ea typeface="Noto Sans CJK JP"/>
                <a:cs typeface="Noto Sans CJK JP"/>
              </a:rPr>
              <a:t>・</a:t>
            </a:r>
            <a:r>
              <a:rPr sz="1988" b="1" dirty="0" err="1">
                <a:solidFill>
                  <a:srgbClr val="111827"/>
                </a:solidFill>
                <a:latin typeface="Noto Sans CJK JP"/>
                <a:ea typeface="Noto Sans CJK JP"/>
                <a:cs typeface="Noto Sans CJK JP"/>
              </a:rPr>
              <a:t>分散</a:t>
            </a:r>
            <a:r>
              <a:rPr lang="ja-JP" altLang="en-US" sz="1988" b="1" dirty="0">
                <a:solidFill>
                  <a:srgbClr val="111827"/>
                </a:solidFill>
                <a:latin typeface="Noto Sans CJK JP"/>
                <a:ea typeface="Noto Sans CJK JP"/>
                <a:cs typeface="Noto Sans CJK JP"/>
              </a:rPr>
              <a:t>最適化は複数の種類が存在する</a:t>
            </a:r>
            <a:endParaRPr sz="1988" b="1" dirty="0">
              <a:solidFill>
                <a:srgbClr val="111827"/>
              </a:solidFill>
              <a:latin typeface="Noto Sans CJK JP"/>
              <a:ea typeface="Noto Sans CJK JP"/>
              <a:cs typeface="Noto Sans CJK JP"/>
            </a:endParaRPr>
          </a:p>
        </p:txBody>
      </p:sp>
      <p:sp>
        <p:nvSpPr>
          <p:cNvPr id="3" name="title-divider">
            <a:extLst>
              <a:ext uri="{FF2B5EF4-FFF2-40B4-BE49-F238E27FC236}">
                <a16:creationId xmlns:a16="http://schemas.microsoft.com/office/drawing/2014/main" id="{7781C045-FB34-4A61-9750-496AD9C7E203}"/>
              </a:ext>
            </a:extLst>
          </p:cNvPr>
          <p:cNvSpPr>
            <a:spLocks noGrp="1"/>
          </p:cNvSpPr>
          <p:nvPr/>
        </p:nvSpPr>
        <p:spPr>
          <a:xfrm>
            <a:off x="457200" y="1676400"/>
            <a:ext cx="8229600" cy="9525"/>
          </a:xfrm>
          <a:prstGeom prst="rect">
            <a:avLst/>
          </a:prstGeom>
          <a:solidFill>
            <a:srgbClr val="E5EAF0"/>
          </a:solidFill>
          <a:ln w="0">
            <a:noFill/>
            <a:prstDash val="solid"/>
          </a:ln>
        </p:spPr>
      </p:sp>
      <p:sp>
        <p:nvSpPr>
          <p:cNvPr id="4" name="title-accent">
            <a:extLst>
              <a:ext uri="{FF2B5EF4-FFF2-40B4-BE49-F238E27FC236}">
                <a16:creationId xmlns:a16="http://schemas.microsoft.com/office/drawing/2014/main" id="{19741411-82B4-47AD-9D40-C2C691069FCC}"/>
              </a:ext>
            </a:extLst>
          </p:cNvPr>
          <p:cNvSpPr>
            <a:spLocks noGrp="1"/>
          </p:cNvSpPr>
          <p:nvPr/>
        </p:nvSpPr>
        <p:spPr>
          <a:xfrm>
            <a:off x="457200" y="1666875"/>
            <a:ext cx="552450" cy="38100"/>
          </a:xfrm>
          <a:prstGeom prst="rect">
            <a:avLst/>
          </a:prstGeom>
          <a:solidFill>
            <a:srgbClr val="4A90E2"/>
          </a:solidFill>
          <a:ln w="0">
            <a:noFill/>
            <a:prstDash val="solid"/>
          </a:ln>
        </p:spPr>
      </p:sp>
      <p:sp>
        <p:nvSpPr>
          <p:cNvPr id="8" name="chapter-tab-1">
            <a:extLst>
              <a:ext uri="{FF2B5EF4-FFF2-40B4-BE49-F238E27FC236}">
                <a16:creationId xmlns:a16="http://schemas.microsoft.com/office/drawing/2014/main" id="{10FA8C92-D909-480A-8C30-8D7BDD4CF0CB}"/>
              </a:ext>
            </a:extLst>
          </p:cNvPr>
          <p:cNvSpPr>
            <a:spLocks noGrp="1"/>
          </p:cNvSpPr>
          <p:nvPr/>
        </p:nvSpPr>
        <p:spPr>
          <a:xfrm>
            <a:off x="457200" y="4857750"/>
            <a:ext cx="2057400" cy="238125"/>
          </a:xfrm>
          <a:prstGeom prst="parallelogram">
            <a:avLst/>
          </a:prstGeom>
          <a:solidFill>
            <a:srgbClr val="4A90E2"/>
          </a:solidFill>
          <a:ln w="11430">
            <a:solidFill>
              <a:srgbClr val="4A90E2"/>
            </a:solidFill>
            <a:prstDash val="solid"/>
          </a:ln>
        </p:spPr>
        <p:txBody>
          <a:bodyPr wrap="none" lIns="76200" tIns="0" rIns="76200" bIns="0" anchor="ctr">
            <a:normAutofit/>
          </a:bodyPr>
          <a:lstStyle/>
          <a:p>
            <a:pPr algn="ctr">
              <a:buNone/>
              <a:defRPr sz="998" b="1">
                <a:solidFill>
                  <a:srgbClr val="FFFFFF"/>
                </a:solidFill>
                <a:latin typeface="Noto Sans CJK JP"/>
                <a:ea typeface="Noto Sans CJK JP"/>
                <a:cs typeface="Noto Sans CJK JP"/>
              </a:defRPr>
            </a:pPr>
            <a:r>
              <a:rPr sz="998" b="1">
                <a:solidFill>
                  <a:srgbClr val="FFFFFF"/>
                </a:solidFill>
                <a:latin typeface="Noto Sans CJK JP"/>
                <a:ea typeface="Noto Sans CJK JP"/>
                <a:cs typeface="Noto Sans CJK JP"/>
              </a:rPr>
              <a:t>1 前提</a:t>
            </a:r>
          </a:p>
        </p:txBody>
      </p:sp>
      <p:sp>
        <p:nvSpPr>
          <p:cNvPr id="9" name="chapter-tab-2">
            <a:extLst>
              <a:ext uri="{FF2B5EF4-FFF2-40B4-BE49-F238E27FC236}">
                <a16:creationId xmlns:a16="http://schemas.microsoft.com/office/drawing/2014/main" id="{B3E2CC5D-0D44-4CAF-89CF-D56AE56C88BD}"/>
              </a:ext>
            </a:extLst>
          </p:cNvPr>
          <p:cNvSpPr>
            <a:spLocks noGrp="1"/>
          </p:cNvSpPr>
          <p:nvPr/>
        </p:nvSpPr>
        <p:spPr>
          <a:xfrm>
            <a:off x="2428875" y="4857750"/>
            <a:ext cx="2057400" cy="238125"/>
          </a:xfrm>
          <a:prstGeom prst="parallelogram">
            <a:avLst/>
          </a:prstGeom>
          <a:solidFill>
            <a:srgbClr val="FFFFFF"/>
          </a:solidFill>
          <a:ln w="10001">
            <a:solidFill>
              <a:srgbClr val="2F73B7"/>
            </a:solidFill>
            <a:prstDash val="solid"/>
          </a:ln>
        </p:spPr>
        <p:txBody>
          <a:bodyPr wrap="none" lIns="76200" tIns="0" rIns="76200" bIns="0" anchor="ctr">
            <a:normAutofit/>
          </a:bodyPr>
          <a:lstStyle/>
          <a:p>
            <a:pPr algn="ctr">
              <a:buNone/>
              <a:defRPr sz="998" b="1">
                <a:solidFill>
                  <a:srgbClr val="2F73B7"/>
                </a:solidFill>
                <a:latin typeface="Noto Sans CJK JP"/>
                <a:ea typeface="Noto Sans CJK JP"/>
                <a:cs typeface="Noto Sans CJK JP"/>
              </a:defRPr>
            </a:pPr>
            <a:r>
              <a:rPr sz="998" b="1">
                <a:solidFill>
                  <a:srgbClr val="2F73B7"/>
                </a:solidFill>
                <a:latin typeface="Noto Sans CJK JP"/>
                <a:ea typeface="Noto Sans CJK JP"/>
                <a:cs typeface="Noto Sans CJK JP"/>
              </a:rPr>
              <a:t>2 数理理論</a:t>
            </a:r>
          </a:p>
        </p:txBody>
      </p:sp>
      <p:sp>
        <p:nvSpPr>
          <p:cNvPr id="10" name="chapter-tab-3">
            <a:extLst>
              <a:ext uri="{FF2B5EF4-FFF2-40B4-BE49-F238E27FC236}">
                <a16:creationId xmlns:a16="http://schemas.microsoft.com/office/drawing/2014/main" id="{15116819-3ABA-4A31-B247-593B5A71F9D2}"/>
              </a:ext>
            </a:extLst>
          </p:cNvPr>
          <p:cNvSpPr>
            <a:spLocks noGrp="1"/>
          </p:cNvSpPr>
          <p:nvPr/>
        </p:nvSpPr>
        <p:spPr>
          <a:xfrm>
            <a:off x="4400550" y="4857750"/>
            <a:ext cx="2057400" cy="238125"/>
          </a:xfrm>
          <a:prstGeom prst="parallelogram">
            <a:avLst/>
          </a:prstGeom>
          <a:solidFill>
            <a:srgbClr val="FFFFFF"/>
          </a:solidFill>
          <a:ln w="10001">
            <a:solidFill>
              <a:srgbClr val="2A8F6A"/>
            </a:solidFill>
            <a:prstDash val="solid"/>
          </a:ln>
        </p:spPr>
        <p:txBody>
          <a:bodyPr wrap="none" lIns="76200" tIns="0" rIns="76200" bIns="0" anchor="ctr">
            <a:normAutofit/>
          </a:bodyPr>
          <a:lstStyle/>
          <a:p>
            <a:pPr algn="ctr">
              <a:buNone/>
              <a:defRPr sz="998" b="1">
                <a:solidFill>
                  <a:srgbClr val="2A8F6A"/>
                </a:solidFill>
                <a:latin typeface="Noto Sans CJK JP"/>
                <a:ea typeface="Noto Sans CJK JP"/>
                <a:cs typeface="Noto Sans CJK JP"/>
              </a:defRPr>
            </a:pPr>
            <a:r>
              <a:rPr sz="998" b="1">
                <a:solidFill>
                  <a:srgbClr val="2A8F6A"/>
                </a:solidFill>
                <a:latin typeface="Noto Sans CJK JP"/>
                <a:ea typeface="Noto Sans CJK JP"/>
                <a:cs typeface="Noto Sans CJK JP"/>
              </a:rPr>
              <a:t>3 シミュレーション</a:t>
            </a:r>
          </a:p>
        </p:txBody>
      </p:sp>
      <p:sp>
        <p:nvSpPr>
          <p:cNvPr id="11" name="chapter-tab-4">
            <a:extLst>
              <a:ext uri="{FF2B5EF4-FFF2-40B4-BE49-F238E27FC236}">
                <a16:creationId xmlns:a16="http://schemas.microsoft.com/office/drawing/2014/main" id="{FBBE3DD5-7FBB-424F-9951-6CF5C78BB03C}"/>
              </a:ext>
            </a:extLst>
          </p:cNvPr>
          <p:cNvSpPr>
            <a:spLocks noGrp="1"/>
          </p:cNvSpPr>
          <p:nvPr/>
        </p:nvSpPr>
        <p:spPr>
          <a:xfrm>
            <a:off x="6372225" y="4857750"/>
            <a:ext cx="2057400" cy="238125"/>
          </a:xfrm>
          <a:prstGeom prst="parallelogram">
            <a:avLst/>
          </a:prstGeom>
          <a:solidFill>
            <a:srgbClr val="FFFFFF"/>
          </a:solidFill>
          <a:ln w="10001">
            <a:solidFill>
              <a:srgbClr val="C9534B"/>
            </a:solidFill>
            <a:prstDash val="solid"/>
          </a:ln>
        </p:spPr>
        <p:txBody>
          <a:bodyPr wrap="none" lIns="76200" tIns="0" rIns="76200" bIns="0" anchor="ctr">
            <a:normAutofit/>
          </a:bodyPr>
          <a:lstStyle/>
          <a:p>
            <a:pPr algn="ctr">
              <a:buNone/>
              <a:defRPr sz="998" b="1">
                <a:solidFill>
                  <a:srgbClr val="C9534B"/>
                </a:solidFill>
                <a:latin typeface="Noto Sans CJK JP"/>
                <a:ea typeface="Noto Sans CJK JP"/>
                <a:cs typeface="Noto Sans CJK JP"/>
              </a:defRPr>
            </a:pPr>
            <a:r>
              <a:rPr sz="998" b="1">
                <a:solidFill>
                  <a:srgbClr val="C9534B"/>
                </a:solidFill>
                <a:latin typeface="Noto Sans CJK JP"/>
                <a:ea typeface="Noto Sans CJK JP"/>
                <a:cs typeface="Noto Sans CJK JP"/>
              </a:rPr>
              <a:t>4 結論</a:t>
            </a:r>
          </a:p>
        </p:txBody>
      </p:sp>
      <p:sp>
        <p:nvSpPr>
          <p:cNvPr id="12" name="s4-objective-label">
            <a:extLst>
              <a:ext uri="{FF2B5EF4-FFF2-40B4-BE49-F238E27FC236}">
                <a16:creationId xmlns:a16="http://schemas.microsoft.com/office/drawing/2014/main" id="{2C1FA183-DD9F-4243-A43A-441C692D18A7}"/>
              </a:ext>
            </a:extLst>
          </p:cNvPr>
          <p:cNvSpPr>
            <a:spLocks noGrp="1"/>
          </p:cNvSpPr>
          <p:nvPr/>
        </p:nvSpPr>
        <p:spPr>
          <a:xfrm>
            <a:off x="3714750" y="1714500"/>
            <a:ext cx="1714500" cy="171450"/>
          </a:xfrm>
          <a:prstGeom prst="rect">
            <a:avLst/>
          </a:prstGeom>
          <a:noFill/>
          <a:ln w="0">
            <a:noFill/>
            <a:prstDash val="solid"/>
          </a:ln>
        </p:spPr>
        <p:txBody>
          <a:bodyPr wrap="square" lIns="0" tIns="0" rIns="0" bIns="0" anchor="ctr">
            <a:normAutofit/>
          </a:bodyPr>
          <a:lstStyle/>
          <a:p>
            <a:pPr algn="ctr">
              <a:defRPr sz="938" b="1">
                <a:solidFill>
                  <a:srgbClr val="215FB4"/>
                </a:solidFill>
                <a:latin typeface="Noto Sans CJK JP"/>
                <a:ea typeface="Noto Sans CJK JP"/>
                <a:cs typeface="Noto Sans CJK JP"/>
              </a:defRPr>
            </a:pPr>
            <a:r>
              <a:rPr sz="938" b="1" dirty="0" err="1">
                <a:solidFill>
                  <a:srgbClr val="215FB4"/>
                </a:solidFill>
                <a:latin typeface="Noto Sans CJK JP"/>
                <a:ea typeface="Noto Sans CJK JP"/>
                <a:cs typeface="Noto Sans CJK JP"/>
              </a:rPr>
              <a:t>共通の目的関数</a:t>
            </a:r>
            <a:r>
              <a:rPr lang="ja-JP" altLang="en-US" sz="938" b="1" dirty="0">
                <a:solidFill>
                  <a:srgbClr val="215FB4"/>
                </a:solidFill>
                <a:latin typeface="Noto Sans CJK JP"/>
                <a:ea typeface="Noto Sans CJK JP"/>
                <a:cs typeface="Noto Sans CJK JP"/>
              </a:rPr>
              <a:t>フレームワーク</a:t>
            </a:r>
            <a:endParaRPr sz="938" b="1" dirty="0">
              <a:solidFill>
                <a:srgbClr val="215FB4"/>
              </a:solidFill>
              <a:latin typeface="Noto Sans CJK JP"/>
              <a:ea typeface="Noto Sans CJK JP"/>
              <a:cs typeface="Noto Sans CJK JP"/>
            </a:endParaRPr>
          </a:p>
        </p:txBody>
      </p:sp>
      <p:sp>
        <p:nvSpPr>
          <p:cNvPr id="14" name="s4-max-label">
            <a:extLst>
              <a:ext uri="{FF2B5EF4-FFF2-40B4-BE49-F238E27FC236}">
                <a16:creationId xmlns:a16="http://schemas.microsoft.com/office/drawing/2014/main" id="{E037EB63-EA37-4830-A405-D455B0DA8C45}"/>
              </a:ext>
            </a:extLst>
          </p:cNvPr>
          <p:cNvSpPr>
            <a:spLocks noGrp="1"/>
          </p:cNvSpPr>
          <p:nvPr/>
        </p:nvSpPr>
        <p:spPr>
          <a:xfrm>
            <a:off x="3857625" y="2506224"/>
            <a:ext cx="1428750" cy="171450"/>
          </a:xfrm>
          <a:prstGeom prst="rect">
            <a:avLst/>
          </a:prstGeom>
          <a:noFill/>
          <a:ln w="0">
            <a:noFill/>
            <a:prstDash val="solid"/>
          </a:ln>
        </p:spPr>
        <p:txBody>
          <a:bodyPr wrap="square" lIns="0" tIns="0" rIns="0" bIns="0" anchor="ctr">
            <a:normAutofit/>
          </a:bodyPr>
          <a:lstStyle/>
          <a:p>
            <a:pPr algn="ctr">
              <a:defRPr sz="938" b="1">
                <a:solidFill>
                  <a:srgbClr val="64748B"/>
                </a:solidFill>
                <a:latin typeface="Noto Sans CJK JP"/>
                <a:ea typeface="Noto Sans CJK JP"/>
                <a:cs typeface="Noto Sans CJK JP"/>
              </a:defRPr>
            </a:pPr>
            <a:r>
              <a:rPr sz="938" b="1" dirty="0">
                <a:solidFill>
                  <a:srgbClr val="64748B"/>
                </a:solidFill>
                <a:latin typeface="Noto Sans CJK JP"/>
                <a:ea typeface="Noto Sans CJK JP"/>
                <a:cs typeface="Noto Sans CJK JP"/>
              </a:rPr>
              <a:t>max </a:t>
            </a:r>
            <a:r>
              <a:rPr sz="938" b="1" dirty="0" err="1">
                <a:solidFill>
                  <a:srgbClr val="64748B"/>
                </a:solidFill>
                <a:latin typeface="Noto Sans CJK JP"/>
                <a:ea typeface="Noto Sans CJK JP"/>
                <a:cs typeface="Noto Sans CJK JP"/>
              </a:rPr>
              <a:t>の定義</a:t>
            </a:r>
            <a:endParaRPr sz="938" b="1" dirty="0">
              <a:solidFill>
                <a:srgbClr val="64748B"/>
              </a:solidFill>
              <a:latin typeface="Noto Sans CJK JP"/>
              <a:ea typeface="Noto Sans CJK JP"/>
              <a:cs typeface="Noto Sans CJK JP"/>
            </a:endParaRPr>
          </a:p>
        </p:txBody>
      </p:sp>
      <p:sp>
        <p:nvSpPr>
          <p:cNvPr id="15" name="s4-branch">
            <a:extLst>
              <a:ext uri="{FF2B5EF4-FFF2-40B4-BE49-F238E27FC236}">
                <a16:creationId xmlns:a16="http://schemas.microsoft.com/office/drawing/2014/main" id="{ACE38268-7D84-4CDC-8803-B386E84E6382}"/>
              </a:ext>
            </a:extLst>
          </p:cNvPr>
          <p:cNvSpPr>
            <a:spLocks noGrp="1"/>
          </p:cNvSpPr>
          <p:nvPr/>
        </p:nvSpPr>
        <p:spPr>
          <a:xfrm>
            <a:off x="1238250" y="2876550"/>
            <a:ext cx="6667500" cy="11430"/>
          </a:xfrm>
          <a:prstGeom prst="rect">
            <a:avLst/>
          </a:prstGeom>
          <a:solidFill>
            <a:srgbClr val="94A3B8"/>
          </a:solidFill>
          <a:ln w="0">
            <a:noFill/>
            <a:prstDash val="solid"/>
          </a:ln>
        </p:spPr>
      </p:sp>
      <p:sp>
        <p:nvSpPr>
          <p:cNvPr id="16" name="s4-stem-0">
            <a:extLst>
              <a:ext uri="{FF2B5EF4-FFF2-40B4-BE49-F238E27FC236}">
                <a16:creationId xmlns:a16="http://schemas.microsoft.com/office/drawing/2014/main" id="{38D72356-A4EE-4A65-A8E6-34102765E757}"/>
              </a:ext>
            </a:extLst>
          </p:cNvPr>
          <p:cNvSpPr>
            <a:spLocks noGrp="1"/>
          </p:cNvSpPr>
          <p:nvPr/>
        </p:nvSpPr>
        <p:spPr>
          <a:xfrm>
            <a:off x="1247775" y="2876550"/>
            <a:ext cx="11430" cy="257175"/>
          </a:xfrm>
          <a:prstGeom prst="rect">
            <a:avLst/>
          </a:prstGeom>
          <a:solidFill>
            <a:srgbClr val="94A3B8"/>
          </a:solidFill>
          <a:ln w="0">
            <a:noFill/>
            <a:prstDash val="solid"/>
          </a:ln>
        </p:spPr>
      </p:sp>
      <p:sp>
        <p:nvSpPr>
          <p:cNvPr id="17" name="s4-dot-0">
            <a:extLst>
              <a:ext uri="{FF2B5EF4-FFF2-40B4-BE49-F238E27FC236}">
                <a16:creationId xmlns:a16="http://schemas.microsoft.com/office/drawing/2014/main" id="{EBC87AE7-4A99-40B2-BE26-6D45CE3BA198}"/>
              </a:ext>
            </a:extLst>
          </p:cNvPr>
          <p:cNvSpPr>
            <a:spLocks noGrp="1"/>
          </p:cNvSpPr>
          <p:nvPr/>
        </p:nvSpPr>
        <p:spPr>
          <a:xfrm>
            <a:off x="1200150" y="3086100"/>
            <a:ext cx="104775" cy="104775"/>
          </a:xfrm>
          <a:prstGeom prst="ellipse">
            <a:avLst/>
          </a:prstGeom>
          <a:solidFill>
            <a:srgbClr val="215FB4"/>
          </a:solidFill>
          <a:ln w="0">
            <a:noFill/>
            <a:prstDash val="solid"/>
          </a:ln>
        </p:spPr>
      </p:sp>
      <p:sp>
        <p:nvSpPr>
          <p:cNvPr id="18" name="s4-code-0">
            <a:extLst>
              <a:ext uri="{FF2B5EF4-FFF2-40B4-BE49-F238E27FC236}">
                <a16:creationId xmlns:a16="http://schemas.microsoft.com/office/drawing/2014/main" id="{FDE5E9A1-E34F-4E75-994D-52D8CF3C63E9}"/>
              </a:ext>
            </a:extLst>
          </p:cNvPr>
          <p:cNvSpPr>
            <a:spLocks noGrp="1"/>
          </p:cNvSpPr>
          <p:nvPr/>
        </p:nvSpPr>
        <p:spPr>
          <a:xfrm>
            <a:off x="619125" y="3238500"/>
            <a:ext cx="1333500" cy="266700"/>
          </a:xfrm>
          <a:prstGeom prst="rect">
            <a:avLst/>
          </a:prstGeom>
          <a:noFill/>
          <a:ln w="0">
            <a:noFill/>
            <a:prstDash val="solid"/>
          </a:ln>
        </p:spPr>
        <p:txBody>
          <a:bodyPr wrap="square" lIns="0" tIns="0" rIns="0" bIns="0" anchor="ctr">
            <a:normAutofit/>
          </a:bodyPr>
          <a:lstStyle/>
          <a:p>
            <a:pPr algn="ctr">
              <a:defRPr sz="1575" b="1">
                <a:solidFill>
                  <a:srgbClr val="215FB4"/>
                </a:solidFill>
                <a:latin typeface="Arial"/>
                <a:ea typeface="Arial"/>
                <a:cs typeface="Arial"/>
              </a:defRPr>
            </a:pPr>
            <a:r>
              <a:rPr sz="1575" b="1">
                <a:solidFill>
                  <a:srgbClr val="215FB4"/>
                </a:solidFill>
                <a:latin typeface="Arial"/>
                <a:ea typeface="Arial"/>
                <a:cs typeface="Arial"/>
              </a:rPr>
              <a:t>PCMV</a:t>
            </a:r>
          </a:p>
        </p:txBody>
      </p:sp>
      <p:sp>
        <p:nvSpPr>
          <p:cNvPr id="19" name="s4-def-0">
            <a:extLst>
              <a:ext uri="{FF2B5EF4-FFF2-40B4-BE49-F238E27FC236}">
                <a16:creationId xmlns:a16="http://schemas.microsoft.com/office/drawing/2014/main" id="{9389EE0B-5824-4C86-969E-87F7825BD850}"/>
              </a:ext>
            </a:extLst>
          </p:cNvPr>
          <p:cNvSpPr>
            <a:spLocks noGrp="1"/>
          </p:cNvSpPr>
          <p:nvPr/>
        </p:nvSpPr>
        <p:spPr>
          <a:xfrm>
            <a:off x="371475" y="3524250"/>
            <a:ext cx="1828800" cy="228600"/>
          </a:xfrm>
          <a:prstGeom prst="rect">
            <a:avLst/>
          </a:prstGeom>
          <a:noFill/>
          <a:ln w="0">
            <a:noFill/>
            <a:prstDash val="solid"/>
          </a:ln>
        </p:spPr>
        <p:txBody>
          <a:bodyPr wrap="square" lIns="0" tIns="0" rIns="0" bIns="0" anchor="ctr">
            <a:normAutofit/>
          </a:bodyPr>
          <a:lstStyle/>
          <a:p>
            <a:pPr algn="ctr">
              <a:defRPr sz="1065" b="1">
                <a:solidFill>
                  <a:srgbClr val="111827"/>
                </a:solidFill>
                <a:latin typeface="Noto Sans CJK JP"/>
                <a:ea typeface="Noto Sans CJK JP"/>
                <a:cs typeface="Noto Sans CJK JP"/>
              </a:defRPr>
            </a:pPr>
            <a:r>
              <a:rPr sz="1065" b="1" dirty="0" err="1">
                <a:solidFill>
                  <a:srgbClr val="111827"/>
                </a:solidFill>
                <a:latin typeface="Noto Sans CJK JP"/>
                <a:ea typeface="Noto Sans CJK JP"/>
                <a:cs typeface="Noto Sans CJK JP"/>
              </a:rPr>
              <a:t>時点</a:t>
            </a:r>
            <a:r>
              <a:rPr sz="1065" b="1" dirty="0">
                <a:solidFill>
                  <a:srgbClr val="111827"/>
                </a:solidFill>
                <a:latin typeface="Noto Sans CJK JP"/>
                <a:ea typeface="Noto Sans CJK JP"/>
                <a:cs typeface="Noto Sans CJK JP"/>
              </a:rPr>
              <a:t> 0 </a:t>
            </a:r>
            <a:r>
              <a:rPr lang="ja-JP" altLang="en-US" sz="1065" b="1" dirty="0">
                <a:solidFill>
                  <a:srgbClr val="111827"/>
                </a:solidFill>
                <a:latin typeface="Noto Sans CJK JP"/>
                <a:ea typeface="Noto Sans CJK JP"/>
                <a:cs typeface="Noto Sans CJK JP"/>
              </a:rPr>
              <a:t>のみ</a:t>
            </a:r>
            <a:r>
              <a:rPr sz="1065" b="1" dirty="0" err="1">
                <a:solidFill>
                  <a:srgbClr val="111827"/>
                </a:solidFill>
                <a:latin typeface="Noto Sans CJK JP"/>
                <a:ea typeface="Noto Sans CJK JP"/>
                <a:cs typeface="Noto Sans CJK JP"/>
              </a:rPr>
              <a:t>でコミット</a:t>
            </a:r>
            <a:endParaRPr sz="1065" b="1" dirty="0">
              <a:solidFill>
                <a:srgbClr val="111827"/>
              </a:solidFill>
              <a:latin typeface="Noto Sans CJK JP"/>
              <a:ea typeface="Noto Sans CJK JP"/>
              <a:cs typeface="Noto Sans CJK JP"/>
            </a:endParaRPr>
          </a:p>
        </p:txBody>
      </p:sp>
      <p:sp>
        <p:nvSpPr>
          <p:cNvPr id="20" name="s4-rule-0">
            <a:extLst>
              <a:ext uri="{FF2B5EF4-FFF2-40B4-BE49-F238E27FC236}">
                <a16:creationId xmlns:a16="http://schemas.microsoft.com/office/drawing/2014/main" id="{A8EDAC3D-6C77-48B0-89B9-B1AA50A3BC11}"/>
              </a:ext>
            </a:extLst>
          </p:cNvPr>
          <p:cNvSpPr>
            <a:spLocks noGrp="1"/>
          </p:cNvSpPr>
          <p:nvPr/>
        </p:nvSpPr>
        <p:spPr>
          <a:xfrm>
            <a:off x="619125" y="3790950"/>
            <a:ext cx="1333500" cy="14288"/>
          </a:xfrm>
          <a:prstGeom prst="rect">
            <a:avLst/>
          </a:prstGeom>
          <a:solidFill>
            <a:srgbClr val="215FB4"/>
          </a:solidFill>
          <a:ln w="0">
            <a:noFill/>
            <a:prstDash val="solid"/>
          </a:ln>
        </p:spPr>
      </p:sp>
      <p:sp>
        <p:nvSpPr>
          <p:cNvPr id="21" name="s4-role-0">
            <a:extLst>
              <a:ext uri="{FF2B5EF4-FFF2-40B4-BE49-F238E27FC236}">
                <a16:creationId xmlns:a16="http://schemas.microsoft.com/office/drawing/2014/main" id="{CBA4F56A-742F-429B-A625-6663806CA78B}"/>
              </a:ext>
            </a:extLst>
          </p:cNvPr>
          <p:cNvSpPr>
            <a:spLocks noGrp="1"/>
          </p:cNvSpPr>
          <p:nvPr/>
        </p:nvSpPr>
        <p:spPr>
          <a:xfrm>
            <a:off x="476250" y="3945731"/>
            <a:ext cx="1619250" cy="190500"/>
          </a:xfrm>
          <a:prstGeom prst="rect">
            <a:avLst/>
          </a:prstGeom>
          <a:noFill/>
          <a:ln w="0">
            <a:noFill/>
            <a:prstDash val="solid"/>
          </a:ln>
        </p:spPr>
        <p:txBody>
          <a:bodyPr wrap="square" lIns="0" tIns="0" rIns="0" bIns="0" anchor="ctr">
            <a:normAutofit/>
          </a:bodyPr>
          <a:lstStyle/>
          <a:p>
            <a:pPr algn="ctr">
              <a:defRPr sz="960" b="0">
                <a:solidFill>
                  <a:srgbClr val="64748B"/>
                </a:solidFill>
                <a:latin typeface="Noto Sans CJK JP"/>
                <a:ea typeface="Noto Sans CJK JP"/>
                <a:cs typeface="Noto Sans CJK JP"/>
              </a:defRPr>
            </a:pPr>
            <a:r>
              <a:rPr lang="en-US" altLang="ja-JP" sz="900" dirty="0">
                <a:solidFill>
                  <a:srgbClr val="64748B"/>
                </a:solidFill>
                <a:latin typeface="Noto Sans CJK JP"/>
                <a:ea typeface="Noto Sans CJK JP"/>
                <a:cs typeface="Noto Sans CJK JP"/>
              </a:rPr>
              <a:t>pre-commitment mean-variance</a:t>
            </a:r>
            <a:endParaRPr sz="900" b="0" dirty="0">
              <a:solidFill>
                <a:srgbClr val="64748B"/>
              </a:solidFill>
              <a:latin typeface="Noto Sans CJK JP"/>
              <a:ea typeface="Noto Sans CJK JP"/>
              <a:cs typeface="Noto Sans CJK JP"/>
            </a:endParaRPr>
          </a:p>
        </p:txBody>
      </p:sp>
      <p:sp>
        <p:nvSpPr>
          <p:cNvPr id="22" name="s4-stem-1">
            <a:extLst>
              <a:ext uri="{FF2B5EF4-FFF2-40B4-BE49-F238E27FC236}">
                <a16:creationId xmlns:a16="http://schemas.microsoft.com/office/drawing/2014/main" id="{9FEEC534-86E2-4E0C-85A2-BAD7BF6B101A}"/>
              </a:ext>
            </a:extLst>
          </p:cNvPr>
          <p:cNvSpPr>
            <a:spLocks noGrp="1"/>
          </p:cNvSpPr>
          <p:nvPr/>
        </p:nvSpPr>
        <p:spPr>
          <a:xfrm>
            <a:off x="3429000" y="2876550"/>
            <a:ext cx="11430" cy="257175"/>
          </a:xfrm>
          <a:prstGeom prst="rect">
            <a:avLst/>
          </a:prstGeom>
          <a:solidFill>
            <a:srgbClr val="94A3B8"/>
          </a:solidFill>
          <a:ln w="0">
            <a:noFill/>
            <a:prstDash val="solid"/>
          </a:ln>
        </p:spPr>
      </p:sp>
      <p:sp>
        <p:nvSpPr>
          <p:cNvPr id="23" name="s4-dot-1">
            <a:extLst>
              <a:ext uri="{FF2B5EF4-FFF2-40B4-BE49-F238E27FC236}">
                <a16:creationId xmlns:a16="http://schemas.microsoft.com/office/drawing/2014/main" id="{49631A76-5263-4257-8C97-7D2B0E89BBB5}"/>
              </a:ext>
            </a:extLst>
          </p:cNvPr>
          <p:cNvSpPr>
            <a:spLocks noGrp="1"/>
          </p:cNvSpPr>
          <p:nvPr/>
        </p:nvSpPr>
        <p:spPr>
          <a:xfrm>
            <a:off x="3381375" y="3086100"/>
            <a:ext cx="104775" cy="104775"/>
          </a:xfrm>
          <a:prstGeom prst="ellipse">
            <a:avLst/>
          </a:prstGeom>
          <a:solidFill>
            <a:schemeClr val="accent6"/>
          </a:solidFill>
          <a:ln w="0">
            <a:noFill/>
            <a:prstDash val="solid"/>
          </a:ln>
        </p:spPr>
      </p:sp>
      <p:sp>
        <p:nvSpPr>
          <p:cNvPr id="24" name="s4-code-1">
            <a:extLst>
              <a:ext uri="{FF2B5EF4-FFF2-40B4-BE49-F238E27FC236}">
                <a16:creationId xmlns:a16="http://schemas.microsoft.com/office/drawing/2014/main" id="{F80DEA47-F943-402D-A187-AC2371B5BA67}"/>
              </a:ext>
            </a:extLst>
          </p:cNvPr>
          <p:cNvSpPr>
            <a:spLocks noGrp="1"/>
          </p:cNvSpPr>
          <p:nvPr/>
        </p:nvSpPr>
        <p:spPr>
          <a:xfrm>
            <a:off x="2762250" y="3238500"/>
            <a:ext cx="1333500" cy="266700"/>
          </a:xfrm>
          <a:prstGeom prst="rect">
            <a:avLst/>
          </a:prstGeom>
          <a:noFill/>
          <a:ln w="0">
            <a:noFill/>
            <a:prstDash val="solid"/>
          </a:ln>
        </p:spPr>
        <p:txBody>
          <a:bodyPr wrap="square" lIns="0" tIns="0" rIns="0" bIns="0" anchor="ctr">
            <a:normAutofit/>
          </a:bodyPr>
          <a:lstStyle/>
          <a:p>
            <a:pPr algn="ctr">
              <a:defRPr sz="1575" b="1">
                <a:solidFill>
                  <a:srgbClr val="4B6073"/>
                </a:solidFill>
                <a:latin typeface="Arial"/>
                <a:ea typeface="Arial"/>
                <a:cs typeface="Arial"/>
              </a:defRPr>
            </a:pPr>
            <a:r>
              <a:rPr sz="1575" b="1">
                <a:solidFill>
                  <a:schemeClr val="accent6"/>
                </a:solidFill>
                <a:latin typeface="Arial"/>
                <a:ea typeface="Arial"/>
                <a:cs typeface="Arial"/>
              </a:rPr>
              <a:t>DOMV</a:t>
            </a:r>
          </a:p>
        </p:txBody>
      </p:sp>
      <p:sp>
        <p:nvSpPr>
          <p:cNvPr id="25" name="s4-def-1">
            <a:extLst>
              <a:ext uri="{FF2B5EF4-FFF2-40B4-BE49-F238E27FC236}">
                <a16:creationId xmlns:a16="http://schemas.microsoft.com/office/drawing/2014/main" id="{6CA46DFD-2DBE-4D91-A92F-99213CB9E084}"/>
              </a:ext>
            </a:extLst>
          </p:cNvPr>
          <p:cNvSpPr>
            <a:spLocks noGrp="1"/>
          </p:cNvSpPr>
          <p:nvPr/>
        </p:nvSpPr>
        <p:spPr>
          <a:xfrm>
            <a:off x="2514600" y="3524250"/>
            <a:ext cx="1828800" cy="228600"/>
          </a:xfrm>
          <a:prstGeom prst="rect">
            <a:avLst/>
          </a:prstGeom>
          <a:noFill/>
          <a:ln w="0">
            <a:noFill/>
            <a:prstDash val="solid"/>
          </a:ln>
        </p:spPr>
        <p:txBody>
          <a:bodyPr wrap="square" lIns="0" tIns="0" rIns="0" bIns="0" anchor="ctr">
            <a:normAutofit/>
          </a:bodyPr>
          <a:lstStyle/>
          <a:p>
            <a:pPr algn="ctr">
              <a:defRPr sz="1065" b="1">
                <a:solidFill>
                  <a:srgbClr val="111827"/>
                </a:solidFill>
                <a:latin typeface="Noto Sans CJK JP"/>
                <a:ea typeface="Noto Sans CJK JP"/>
                <a:cs typeface="Noto Sans CJK JP"/>
              </a:defRPr>
            </a:pPr>
            <a:r>
              <a:rPr sz="1065" b="1">
                <a:solidFill>
                  <a:srgbClr val="111827"/>
                </a:solidFill>
                <a:latin typeface="Noto Sans CJK JP"/>
                <a:ea typeface="Noto Sans CJK JP"/>
                <a:cs typeface="Noto Sans CJK JP"/>
              </a:rPr>
              <a:t>各 (t, x) で再最適化</a:t>
            </a:r>
          </a:p>
        </p:txBody>
      </p:sp>
      <p:sp>
        <p:nvSpPr>
          <p:cNvPr id="26" name="s4-rule-1">
            <a:extLst>
              <a:ext uri="{FF2B5EF4-FFF2-40B4-BE49-F238E27FC236}">
                <a16:creationId xmlns:a16="http://schemas.microsoft.com/office/drawing/2014/main" id="{639B54BB-FBF5-4844-9FE0-16F379C8850C}"/>
              </a:ext>
            </a:extLst>
          </p:cNvPr>
          <p:cNvSpPr>
            <a:spLocks noGrp="1"/>
          </p:cNvSpPr>
          <p:nvPr/>
        </p:nvSpPr>
        <p:spPr>
          <a:xfrm>
            <a:off x="2762250" y="3790950"/>
            <a:ext cx="1333500" cy="14288"/>
          </a:xfrm>
          <a:prstGeom prst="rect">
            <a:avLst/>
          </a:prstGeom>
          <a:solidFill>
            <a:srgbClr val="4B6073"/>
          </a:solidFill>
          <a:ln w="0">
            <a:noFill/>
            <a:prstDash val="solid"/>
          </a:ln>
        </p:spPr>
      </p:sp>
      <p:sp>
        <p:nvSpPr>
          <p:cNvPr id="27" name="s4-role-1">
            <a:extLst>
              <a:ext uri="{FF2B5EF4-FFF2-40B4-BE49-F238E27FC236}">
                <a16:creationId xmlns:a16="http://schemas.microsoft.com/office/drawing/2014/main" id="{946B4113-4A87-4D04-B1DE-8EC44A9E5CB3}"/>
              </a:ext>
            </a:extLst>
          </p:cNvPr>
          <p:cNvSpPr>
            <a:spLocks noGrp="1"/>
          </p:cNvSpPr>
          <p:nvPr/>
        </p:nvSpPr>
        <p:spPr>
          <a:xfrm>
            <a:off x="2514444" y="3857627"/>
            <a:ext cx="1781175" cy="357186"/>
          </a:xfrm>
          <a:prstGeom prst="rect">
            <a:avLst/>
          </a:prstGeom>
          <a:noFill/>
          <a:ln w="0">
            <a:noFill/>
            <a:prstDash val="solid"/>
          </a:ln>
        </p:spPr>
        <p:txBody>
          <a:bodyPr wrap="square" lIns="0" tIns="0" rIns="0" bIns="0" anchor="ctr">
            <a:normAutofit/>
          </a:bodyPr>
          <a:lstStyle/>
          <a:p>
            <a:pPr algn="ctr">
              <a:defRPr sz="960" b="0">
                <a:solidFill>
                  <a:srgbClr val="64748B"/>
                </a:solidFill>
                <a:latin typeface="Noto Sans CJK JP"/>
                <a:ea typeface="Noto Sans CJK JP"/>
                <a:cs typeface="Noto Sans CJK JP"/>
              </a:defRPr>
            </a:pPr>
            <a:r>
              <a:rPr lang="en-US" sz="900" b="0" dirty="0">
                <a:solidFill>
                  <a:srgbClr val="64748B"/>
                </a:solidFill>
                <a:latin typeface="Noto Sans CJK JP"/>
                <a:ea typeface="Noto Sans CJK JP"/>
                <a:cs typeface="Noto Sans CJK JP"/>
              </a:rPr>
              <a:t>dynamically optimal mean-variance</a:t>
            </a:r>
            <a:endParaRPr sz="900" b="0" dirty="0">
              <a:solidFill>
                <a:srgbClr val="64748B"/>
              </a:solidFill>
              <a:latin typeface="Noto Sans CJK JP"/>
              <a:ea typeface="Noto Sans CJK JP"/>
              <a:cs typeface="Noto Sans CJK JP"/>
            </a:endParaRPr>
          </a:p>
        </p:txBody>
      </p:sp>
      <p:sp>
        <p:nvSpPr>
          <p:cNvPr id="28" name="s4-stem-2">
            <a:extLst>
              <a:ext uri="{FF2B5EF4-FFF2-40B4-BE49-F238E27FC236}">
                <a16:creationId xmlns:a16="http://schemas.microsoft.com/office/drawing/2014/main" id="{FA1AEA48-63D6-45D7-9E90-4EC6A37561C3}"/>
              </a:ext>
            </a:extLst>
          </p:cNvPr>
          <p:cNvSpPr>
            <a:spLocks noGrp="1"/>
          </p:cNvSpPr>
          <p:nvPr/>
        </p:nvSpPr>
        <p:spPr>
          <a:xfrm>
            <a:off x="5572125" y="2876550"/>
            <a:ext cx="11430" cy="257175"/>
          </a:xfrm>
          <a:prstGeom prst="rect">
            <a:avLst/>
          </a:prstGeom>
          <a:solidFill>
            <a:srgbClr val="94A3B8"/>
          </a:solidFill>
          <a:ln w="0">
            <a:noFill/>
            <a:prstDash val="solid"/>
          </a:ln>
        </p:spPr>
      </p:sp>
      <p:sp>
        <p:nvSpPr>
          <p:cNvPr id="29" name="s4-dot-2">
            <a:extLst>
              <a:ext uri="{FF2B5EF4-FFF2-40B4-BE49-F238E27FC236}">
                <a16:creationId xmlns:a16="http://schemas.microsoft.com/office/drawing/2014/main" id="{10E2EF0E-BB5D-4541-9EFD-8420FC8C6799}"/>
              </a:ext>
            </a:extLst>
          </p:cNvPr>
          <p:cNvSpPr>
            <a:spLocks noGrp="1"/>
          </p:cNvSpPr>
          <p:nvPr/>
        </p:nvSpPr>
        <p:spPr>
          <a:xfrm>
            <a:off x="5524500" y="3086100"/>
            <a:ext cx="104775" cy="104775"/>
          </a:xfrm>
          <a:prstGeom prst="ellipse">
            <a:avLst/>
          </a:prstGeom>
          <a:solidFill>
            <a:srgbClr val="16875C"/>
          </a:solidFill>
          <a:ln w="0">
            <a:noFill/>
            <a:prstDash val="solid"/>
          </a:ln>
        </p:spPr>
      </p:sp>
      <p:sp>
        <p:nvSpPr>
          <p:cNvPr id="30" name="s4-code-2">
            <a:extLst>
              <a:ext uri="{FF2B5EF4-FFF2-40B4-BE49-F238E27FC236}">
                <a16:creationId xmlns:a16="http://schemas.microsoft.com/office/drawing/2014/main" id="{241E8CBD-6FBF-41B9-8BCB-F6E831CC4B11}"/>
              </a:ext>
            </a:extLst>
          </p:cNvPr>
          <p:cNvSpPr>
            <a:spLocks noGrp="1"/>
          </p:cNvSpPr>
          <p:nvPr/>
        </p:nvSpPr>
        <p:spPr>
          <a:xfrm>
            <a:off x="4905375" y="3238500"/>
            <a:ext cx="1333500" cy="266700"/>
          </a:xfrm>
          <a:prstGeom prst="rect">
            <a:avLst/>
          </a:prstGeom>
          <a:noFill/>
          <a:ln w="0">
            <a:noFill/>
            <a:prstDash val="solid"/>
          </a:ln>
        </p:spPr>
        <p:txBody>
          <a:bodyPr wrap="square" lIns="0" tIns="0" rIns="0" bIns="0" anchor="ctr">
            <a:normAutofit/>
          </a:bodyPr>
          <a:lstStyle/>
          <a:p>
            <a:pPr algn="ctr">
              <a:defRPr sz="1575" b="1">
                <a:solidFill>
                  <a:srgbClr val="16875C"/>
                </a:solidFill>
                <a:latin typeface="Arial"/>
                <a:ea typeface="Arial"/>
                <a:cs typeface="Arial"/>
              </a:defRPr>
            </a:pPr>
            <a:r>
              <a:rPr sz="1575" b="1">
                <a:solidFill>
                  <a:srgbClr val="16875C"/>
                </a:solidFill>
                <a:latin typeface="Arial"/>
                <a:ea typeface="Arial"/>
                <a:cs typeface="Arial"/>
              </a:rPr>
              <a:t>cTCMV</a:t>
            </a:r>
          </a:p>
        </p:txBody>
      </p:sp>
      <p:sp>
        <p:nvSpPr>
          <p:cNvPr id="31" name="s4-def-2">
            <a:extLst>
              <a:ext uri="{FF2B5EF4-FFF2-40B4-BE49-F238E27FC236}">
                <a16:creationId xmlns:a16="http://schemas.microsoft.com/office/drawing/2014/main" id="{3F5A3AF5-2A17-4472-BF70-70C873B46ECD}"/>
              </a:ext>
            </a:extLst>
          </p:cNvPr>
          <p:cNvSpPr>
            <a:spLocks noGrp="1"/>
          </p:cNvSpPr>
          <p:nvPr/>
        </p:nvSpPr>
        <p:spPr>
          <a:xfrm>
            <a:off x="4657725" y="3524250"/>
            <a:ext cx="1828800" cy="228600"/>
          </a:xfrm>
          <a:prstGeom prst="rect">
            <a:avLst/>
          </a:prstGeom>
          <a:noFill/>
          <a:ln w="0">
            <a:noFill/>
            <a:prstDash val="solid"/>
          </a:ln>
        </p:spPr>
        <p:txBody>
          <a:bodyPr wrap="square" lIns="0" tIns="0" rIns="0" bIns="0" anchor="ctr">
            <a:normAutofit/>
          </a:bodyPr>
          <a:lstStyle/>
          <a:p>
            <a:pPr algn="ctr">
              <a:defRPr sz="1065" b="1">
                <a:solidFill>
                  <a:srgbClr val="111827"/>
                </a:solidFill>
                <a:latin typeface="Noto Sans CJK JP"/>
                <a:ea typeface="Noto Sans CJK JP"/>
                <a:cs typeface="Noto Sans CJK JP"/>
              </a:defRPr>
            </a:pPr>
            <a:r>
              <a:rPr lang="ja-JP" altLang="en-US" sz="1065" b="1" dirty="0">
                <a:solidFill>
                  <a:srgbClr val="111827"/>
                </a:solidFill>
                <a:latin typeface="Noto Sans CJK JP"/>
                <a:ea typeface="Noto Sans CJK JP"/>
                <a:cs typeface="Noto Sans CJK JP"/>
              </a:rPr>
              <a:t>将来各時点の自分とゲーム</a:t>
            </a:r>
            <a:endParaRPr sz="1065" b="1" dirty="0">
              <a:solidFill>
                <a:srgbClr val="111827"/>
              </a:solidFill>
              <a:latin typeface="Noto Sans CJK JP"/>
              <a:ea typeface="Noto Sans CJK JP"/>
              <a:cs typeface="Noto Sans CJK JP"/>
            </a:endParaRPr>
          </a:p>
        </p:txBody>
      </p:sp>
      <p:sp>
        <p:nvSpPr>
          <p:cNvPr id="32" name="s4-rule-2">
            <a:extLst>
              <a:ext uri="{FF2B5EF4-FFF2-40B4-BE49-F238E27FC236}">
                <a16:creationId xmlns:a16="http://schemas.microsoft.com/office/drawing/2014/main" id="{72C3BD32-C84D-4A91-AD2C-E34FA228D5E3}"/>
              </a:ext>
            </a:extLst>
          </p:cNvPr>
          <p:cNvSpPr>
            <a:spLocks noGrp="1"/>
          </p:cNvSpPr>
          <p:nvPr/>
        </p:nvSpPr>
        <p:spPr>
          <a:xfrm>
            <a:off x="4905375" y="3790950"/>
            <a:ext cx="1333500" cy="14288"/>
          </a:xfrm>
          <a:prstGeom prst="rect">
            <a:avLst/>
          </a:prstGeom>
          <a:solidFill>
            <a:srgbClr val="16875C"/>
          </a:solidFill>
          <a:ln w="0">
            <a:noFill/>
            <a:prstDash val="solid"/>
          </a:ln>
        </p:spPr>
      </p:sp>
      <p:sp>
        <p:nvSpPr>
          <p:cNvPr id="33" name="s4-role-2">
            <a:extLst>
              <a:ext uri="{FF2B5EF4-FFF2-40B4-BE49-F238E27FC236}">
                <a16:creationId xmlns:a16="http://schemas.microsoft.com/office/drawing/2014/main" id="{2B77E1AA-E88F-4F2C-877C-90B4D42DA0F4}"/>
              </a:ext>
            </a:extLst>
          </p:cNvPr>
          <p:cNvSpPr>
            <a:spLocks noGrp="1"/>
          </p:cNvSpPr>
          <p:nvPr/>
        </p:nvSpPr>
        <p:spPr>
          <a:xfrm>
            <a:off x="4762500" y="3857627"/>
            <a:ext cx="1619250" cy="357187"/>
          </a:xfrm>
          <a:prstGeom prst="rect">
            <a:avLst/>
          </a:prstGeom>
          <a:noFill/>
          <a:ln w="0">
            <a:noFill/>
            <a:prstDash val="solid"/>
          </a:ln>
        </p:spPr>
        <p:txBody>
          <a:bodyPr wrap="square" lIns="0" tIns="0" rIns="0" bIns="0" anchor="ctr">
            <a:normAutofit/>
          </a:bodyPr>
          <a:lstStyle/>
          <a:p>
            <a:pPr algn="ctr">
              <a:defRPr sz="960" b="0">
                <a:solidFill>
                  <a:srgbClr val="64748B"/>
                </a:solidFill>
                <a:latin typeface="Noto Sans CJK JP"/>
                <a:ea typeface="Noto Sans CJK JP"/>
                <a:cs typeface="Noto Sans CJK JP"/>
              </a:defRPr>
            </a:pPr>
            <a:r>
              <a:rPr lang="en-US" altLang="ja-JP" sz="900" dirty="0">
                <a:solidFill>
                  <a:srgbClr val="64748B"/>
                </a:solidFill>
                <a:latin typeface="Noto Sans CJK JP"/>
                <a:ea typeface="Noto Sans CJK JP"/>
                <a:cs typeface="Noto Sans CJK JP"/>
              </a:rPr>
              <a:t>time-consistent mean-variance</a:t>
            </a:r>
          </a:p>
          <a:p>
            <a:pPr algn="ctr">
              <a:defRPr sz="960" b="0">
                <a:solidFill>
                  <a:srgbClr val="64748B"/>
                </a:solidFill>
                <a:latin typeface="Noto Sans CJK JP"/>
                <a:ea typeface="Noto Sans CJK JP"/>
                <a:cs typeface="Noto Sans CJK JP"/>
              </a:defRPr>
            </a:pPr>
            <a:r>
              <a:rPr lang="en-US" sz="900" b="0" dirty="0">
                <a:solidFill>
                  <a:srgbClr val="64748B"/>
                </a:solidFill>
                <a:latin typeface="Noto Sans CJK JP"/>
                <a:ea typeface="Noto Sans CJK JP"/>
                <a:cs typeface="Noto Sans CJK JP"/>
              </a:rPr>
              <a:t>with constant variance aversion</a:t>
            </a:r>
            <a:endParaRPr sz="900" b="0" dirty="0">
              <a:solidFill>
                <a:srgbClr val="64748B"/>
              </a:solidFill>
              <a:latin typeface="Noto Sans CJK JP"/>
              <a:ea typeface="Noto Sans CJK JP"/>
              <a:cs typeface="Noto Sans CJK JP"/>
            </a:endParaRPr>
          </a:p>
        </p:txBody>
      </p:sp>
      <p:sp>
        <p:nvSpPr>
          <p:cNvPr id="34" name="s4-stem-3">
            <a:extLst>
              <a:ext uri="{FF2B5EF4-FFF2-40B4-BE49-F238E27FC236}">
                <a16:creationId xmlns:a16="http://schemas.microsoft.com/office/drawing/2014/main" id="{AD1881C9-EB89-445A-851A-818993D890C6}"/>
              </a:ext>
            </a:extLst>
          </p:cNvPr>
          <p:cNvSpPr>
            <a:spLocks noGrp="1"/>
          </p:cNvSpPr>
          <p:nvPr/>
        </p:nvSpPr>
        <p:spPr>
          <a:xfrm>
            <a:off x="7882890" y="2876550"/>
            <a:ext cx="11430" cy="257175"/>
          </a:xfrm>
          <a:prstGeom prst="rect">
            <a:avLst/>
          </a:prstGeom>
          <a:solidFill>
            <a:srgbClr val="94A3B8"/>
          </a:solidFill>
          <a:ln w="0">
            <a:noFill/>
            <a:prstDash val="solid"/>
          </a:ln>
        </p:spPr>
      </p:sp>
      <p:sp>
        <p:nvSpPr>
          <p:cNvPr id="35" name="s4-dot-3">
            <a:extLst>
              <a:ext uri="{FF2B5EF4-FFF2-40B4-BE49-F238E27FC236}">
                <a16:creationId xmlns:a16="http://schemas.microsoft.com/office/drawing/2014/main" id="{1CC8C915-2B3A-430B-989B-AF357C7B38F4}"/>
              </a:ext>
            </a:extLst>
          </p:cNvPr>
          <p:cNvSpPr>
            <a:spLocks noGrp="1"/>
          </p:cNvSpPr>
          <p:nvPr/>
        </p:nvSpPr>
        <p:spPr>
          <a:xfrm>
            <a:off x="7835265" y="3086100"/>
            <a:ext cx="104775" cy="104775"/>
          </a:xfrm>
          <a:prstGeom prst="ellipse">
            <a:avLst/>
          </a:prstGeom>
          <a:solidFill>
            <a:srgbClr val="D94138"/>
          </a:solidFill>
          <a:ln w="0">
            <a:noFill/>
            <a:prstDash val="solid"/>
          </a:ln>
        </p:spPr>
      </p:sp>
      <p:sp>
        <p:nvSpPr>
          <p:cNvPr id="36" name="s4-code-3">
            <a:extLst>
              <a:ext uri="{FF2B5EF4-FFF2-40B4-BE49-F238E27FC236}">
                <a16:creationId xmlns:a16="http://schemas.microsoft.com/office/drawing/2014/main" id="{4978D2BA-3F87-492E-98FF-2F2FCAADE9C3}"/>
              </a:ext>
            </a:extLst>
          </p:cNvPr>
          <p:cNvSpPr>
            <a:spLocks noGrp="1"/>
          </p:cNvSpPr>
          <p:nvPr/>
        </p:nvSpPr>
        <p:spPr>
          <a:xfrm>
            <a:off x="7048500" y="3238500"/>
            <a:ext cx="1333500" cy="266700"/>
          </a:xfrm>
          <a:prstGeom prst="rect">
            <a:avLst/>
          </a:prstGeom>
          <a:noFill/>
          <a:ln w="0">
            <a:noFill/>
            <a:prstDash val="solid"/>
          </a:ln>
        </p:spPr>
        <p:txBody>
          <a:bodyPr wrap="square" lIns="0" tIns="0" rIns="0" bIns="0" anchor="ctr">
            <a:normAutofit/>
          </a:bodyPr>
          <a:lstStyle/>
          <a:p>
            <a:pPr algn="ctr">
              <a:defRPr sz="1575" b="1">
                <a:solidFill>
                  <a:srgbClr val="D94138"/>
                </a:solidFill>
                <a:latin typeface="Arial"/>
                <a:ea typeface="Arial"/>
                <a:cs typeface="Arial"/>
              </a:defRPr>
            </a:pPr>
            <a:r>
              <a:rPr sz="1575" b="1">
                <a:solidFill>
                  <a:srgbClr val="D94138"/>
                </a:solidFill>
                <a:latin typeface="Arial"/>
                <a:ea typeface="Arial"/>
                <a:cs typeface="Arial"/>
              </a:rPr>
              <a:t>dTCMV</a:t>
            </a:r>
          </a:p>
        </p:txBody>
      </p:sp>
      <p:sp>
        <p:nvSpPr>
          <p:cNvPr id="37" name="s4-def-3">
            <a:extLst>
              <a:ext uri="{FF2B5EF4-FFF2-40B4-BE49-F238E27FC236}">
                <a16:creationId xmlns:a16="http://schemas.microsoft.com/office/drawing/2014/main" id="{648F777F-1C8D-46EB-8EAA-F2ACF982BC2A}"/>
              </a:ext>
            </a:extLst>
          </p:cNvPr>
          <p:cNvSpPr>
            <a:spLocks noGrp="1"/>
          </p:cNvSpPr>
          <p:nvPr/>
        </p:nvSpPr>
        <p:spPr>
          <a:xfrm>
            <a:off x="6800850" y="3524250"/>
            <a:ext cx="1828800" cy="228600"/>
          </a:xfrm>
          <a:prstGeom prst="rect">
            <a:avLst/>
          </a:prstGeom>
          <a:noFill/>
          <a:ln w="0">
            <a:noFill/>
            <a:prstDash val="solid"/>
          </a:ln>
        </p:spPr>
        <p:txBody>
          <a:bodyPr wrap="square" lIns="0" tIns="0" rIns="0" bIns="0" anchor="ctr">
            <a:normAutofit/>
          </a:bodyPr>
          <a:lstStyle/>
          <a:p>
            <a:pPr algn="ctr">
              <a:defRPr sz="1065" b="1">
                <a:solidFill>
                  <a:srgbClr val="111827"/>
                </a:solidFill>
                <a:latin typeface="Noto Sans CJK JP"/>
                <a:ea typeface="Noto Sans CJK JP"/>
                <a:cs typeface="Noto Sans CJK JP"/>
              </a:defRPr>
            </a:pPr>
            <a:r>
              <a:rPr lang="ja-JP" altLang="en-US" sz="1065" b="1" dirty="0">
                <a:solidFill>
                  <a:srgbClr val="111827"/>
                </a:solidFill>
                <a:latin typeface="Noto Sans CJK JP"/>
                <a:ea typeface="Noto Sans CJK JP"/>
                <a:cs typeface="Noto Sans CJK JP"/>
              </a:rPr>
              <a:t>将来各時点の自分とゲーム</a:t>
            </a:r>
          </a:p>
        </p:txBody>
      </p:sp>
      <p:sp>
        <p:nvSpPr>
          <p:cNvPr id="38" name="s4-rule-3">
            <a:extLst>
              <a:ext uri="{FF2B5EF4-FFF2-40B4-BE49-F238E27FC236}">
                <a16:creationId xmlns:a16="http://schemas.microsoft.com/office/drawing/2014/main" id="{87F08AD7-261D-472F-8983-63C9653A5756}"/>
              </a:ext>
            </a:extLst>
          </p:cNvPr>
          <p:cNvSpPr>
            <a:spLocks noGrp="1"/>
          </p:cNvSpPr>
          <p:nvPr/>
        </p:nvSpPr>
        <p:spPr>
          <a:xfrm>
            <a:off x="7048500" y="3790950"/>
            <a:ext cx="1333500" cy="14288"/>
          </a:xfrm>
          <a:prstGeom prst="rect">
            <a:avLst/>
          </a:prstGeom>
          <a:solidFill>
            <a:srgbClr val="D94138"/>
          </a:solidFill>
          <a:ln w="0">
            <a:noFill/>
            <a:prstDash val="solid"/>
          </a:ln>
        </p:spPr>
      </p:sp>
      <p:sp>
        <p:nvSpPr>
          <p:cNvPr id="40" name="s4-takeaway-shape">
            <a:extLst>
              <a:ext uri="{FF2B5EF4-FFF2-40B4-BE49-F238E27FC236}">
                <a16:creationId xmlns:a16="http://schemas.microsoft.com/office/drawing/2014/main" id="{5D831286-108A-41B3-A8D3-24F601B54071}"/>
              </a:ext>
            </a:extLst>
          </p:cNvPr>
          <p:cNvSpPr>
            <a:spLocks noGrp="1"/>
          </p:cNvSpPr>
          <p:nvPr/>
        </p:nvSpPr>
        <p:spPr>
          <a:xfrm>
            <a:off x="533400" y="4276725"/>
            <a:ext cx="8077200" cy="371475"/>
          </a:xfrm>
          <a:prstGeom prst="roundRect">
            <a:avLst>
              <a:gd name="adj" fmla="val 15385"/>
            </a:avLst>
          </a:prstGeom>
          <a:solidFill>
            <a:srgbClr val="FFFFFF"/>
          </a:solidFill>
          <a:ln w="9525">
            <a:solidFill>
              <a:srgbClr val="215FB4"/>
            </a:solidFill>
            <a:prstDash val="solid"/>
          </a:ln>
        </p:spPr>
      </p:sp>
      <p:sp>
        <p:nvSpPr>
          <p:cNvPr id="41" name="s4-takeaway-text">
            <a:extLst>
              <a:ext uri="{FF2B5EF4-FFF2-40B4-BE49-F238E27FC236}">
                <a16:creationId xmlns:a16="http://schemas.microsoft.com/office/drawing/2014/main" id="{BA3E27D5-DC1E-4915-BA14-3357041970A2}"/>
              </a:ext>
            </a:extLst>
          </p:cNvPr>
          <p:cNvSpPr>
            <a:spLocks noGrp="1"/>
          </p:cNvSpPr>
          <p:nvPr/>
        </p:nvSpPr>
        <p:spPr>
          <a:xfrm>
            <a:off x="723900" y="4305300"/>
            <a:ext cx="7696200" cy="314325"/>
          </a:xfrm>
          <a:prstGeom prst="rect">
            <a:avLst/>
          </a:prstGeom>
          <a:noFill/>
          <a:ln w="0">
            <a:noFill/>
            <a:prstDash val="solid"/>
          </a:ln>
        </p:spPr>
        <p:txBody>
          <a:bodyPr wrap="square" lIns="0" tIns="0" rIns="0" bIns="0" anchor="ctr">
            <a:normAutofit/>
          </a:bodyPr>
          <a:lstStyle/>
          <a:p>
            <a:pPr algn="ctr">
              <a:defRPr sz="1290" b="1">
                <a:solidFill>
                  <a:srgbClr val="215FB4"/>
                </a:solidFill>
                <a:latin typeface="Noto Sans CJK JP"/>
                <a:ea typeface="Noto Sans CJK JP"/>
                <a:cs typeface="Noto Sans CJK JP"/>
              </a:defRPr>
            </a:pPr>
            <a:r>
              <a:rPr sz="1290" b="1">
                <a:solidFill>
                  <a:srgbClr val="215FB4"/>
                </a:solidFill>
                <a:latin typeface="Noto Sans CJK JP"/>
                <a:ea typeface="Noto Sans CJK JP"/>
                <a:cs typeface="Noto Sans CJK JP"/>
              </a:rPr>
              <a:t>本研究では、4つの最適性を同一モデル・同一制約の下でテストする</a:t>
            </a:r>
          </a:p>
        </p:txBody>
      </p:sp>
      <mc:AlternateContent xmlns:mc="http://schemas.openxmlformats.org/markup-compatibility/2006" xmlns:a14="http://schemas.microsoft.com/office/drawing/2010/main">
        <mc:Choice Requires="a14">
          <p:sp>
            <p:nvSpPr>
              <p:cNvPr id="43" name="s4-objective-label">
                <a:extLst>
                  <a:ext uri="{FF2B5EF4-FFF2-40B4-BE49-F238E27FC236}">
                    <a16:creationId xmlns:a16="http://schemas.microsoft.com/office/drawing/2014/main" id="{179BE394-86E9-E1F7-487C-D954E801FB14}"/>
                  </a:ext>
                </a:extLst>
              </p:cNvPr>
              <p:cNvSpPr>
                <a:spLocks noGrp="1"/>
              </p:cNvSpPr>
              <p:nvPr/>
            </p:nvSpPr>
            <p:spPr>
              <a:xfrm>
                <a:off x="1428750" y="1933574"/>
                <a:ext cx="6115050" cy="609601"/>
              </a:xfrm>
              <a:prstGeom prst="rect">
                <a:avLst/>
              </a:prstGeom>
              <a:noFill/>
              <a:ln w="0">
                <a:noFill/>
                <a:prstDash val="solid"/>
              </a:ln>
            </p:spPr>
            <p:txBody>
              <a:bodyPr wrap="square" lIns="0" tIns="0" rIns="0" bIns="0" anchor="ctr">
                <a:noAutofit/>
              </a:bodyPr>
              <a:lstStyle/>
              <a:p>
                <a:pPr algn="ctr">
                  <a:defRPr sz="938" b="1">
                    <a:solidFill>
                      <a:srgbClr val="215FB4"/>
                    </a:solidFill>
                    <a:latin typeface="Noto Sans CJK JP"/>
                    <a:ea typeface="Noto Sans CJK JP"/>
                    <a:cs typeface="Noto Sans CJK JP"/>
                  </a:defRPr>
                </a:pPr>
                <a14:m>
                  <m:oMathPara xmlns:m="http://schemas.openxmlformats.org/officeDocument/2006/math">
                    <m:oMath>
                      <m:func>
                        <m:funcPr>
                          <m:ctrlPr>
                            <a:rPr lang="en-US" sz="1600" b="0" i="1" smtClean="0">
                              <a:solidFill>
                                <a:schemeClr val="accent2"/>
                              </a:solidFill>
                              <a:latin typeface="Cambria Math" panose="02040503050406030204" pitchFamily="18" charset="0"/>
                              <a:ea typeface="Noto Sans CJK JP"/>
                              <a:cs typeface="Noto Sans CJK JP"/>
                            </a:rPr>
                          </m:ctrlPr>
                        </m:funcPr>
                        <m:fName>
                          <m:limLow>
                            <m:limLowPr>
                              <m:ctrlPr>
                                <a:rPr lang="en-US" sz="1600" b="0" i="0" smtClean="0">
                                  <a:solidFill>
                                    <a:schemeClr val="accent2"/>
                                  </a:solidFill>
                                  <a:latin typeface="Cambria Math" panose="02040503050406030204" pitchFamily="18" charset="0"/>
                                  <a:ea typeface="Noto Sans CJK JP"/>
                                  <a:cs typeface="Noto Sans CJK JP"/>
                                </a:rPr>
                              </m:ctrlPr>
                            </m:limLowPr>
                            <m:e>
                              <m:r>
                                <m:rPr>
                                  <m:sty m:val="p"/>
                                </m:rPr>
                                <a:rPr lang="en-US" sz="1600" b="0" i="0" smtClean="0">
                                  <a:solidFill>
                                    <a:schemeClr val="accent2"/>
                                  </a:solidFill>
                                  <a:latin typeface="Cambria Math" panose="02040503050406030204" pitchFamily="18" charset="0"/>
                                  <a:ea typeface="Noto Sans CJK JP"/>
                                  <a:cs typeface="Noto Sans CJK JP"/>
                                </a:rPr>
                                <m:t>max</m:t>
                              </m:r>
                            </m:e>
                            <m:lim>
                              <m:r>
                                <a:rPr lang="en-US" sz="1600" b="0" i="1">
                                  <a:solidFill>
                                    <a:schemeClr val="accent2"/>
                                  </a:solidFill>
                                  <a:latin typeface="Cambria Math" panose="02040503050406030204" pitchFamily="18" charset="0"/>
                                  <a:ea typeface="Noto Sans CJK JP"/>
                                  <a:cs typeface="Noto Sans CJK JP"/>
                                </a:rPr>
                                <m:t>𝜋</m:t>
                              </m:r>
                              <m:r>
                                <a:rPr lang="en-US" sz="1600" b="0" i="1">
                                  <a:solidFill>
                                    <a:schemeClr val="accent2"/>
                                  </a:solidFill>
                                  <a:latin typeface="Cambria Math" panose="02040503050406030204" pitchFamily="18" charset="0"/>
                                  <a:ea typeface="Noto Sans CJK JP"/>
                                  <a:cs typeface="Noto Sans CJK JP"/>
                                </a:rPr>
                                <m:t>∈[0,</m:t>
                              </m:r>
                              <m:r>
                                <a:rPr lang="en-US" sz="1600" b="0" i="1" smtClean="0">
                                  <a:solidFill>
                                    <a:schemeClr val="accent2"/>
                                  </a:solidFill>
                                  <a:latin typeface="Cambria Math" panose="02040503050406030204" pitchFamily="18" charset="0"/>
                                  <a:ea typeface="Noto Sans CJK JP"/>
                                  <a:cs typeface="Noto Sans CJK JP"/>
                                </a:rPr>
                                <m:t>𝑥</m:t>
                              </m:r>
                              <m:r>
                                <a:rPr lang="en-US" sz="1600" b="0" i="1" smtClean="0">
                                  <a:solidFill>
                                    <a:schemeClr val="accent2"/>
                                  </a:solidFill>
                                  <a:latin typeface="Cambria Math" panose="02040503050406030204" pitchFamily="18" charset="0"/>
                                  <a:ea typeface="Noto Sans CJK JP"/>
                                  <a:cs typeface="Noto Sans CJK JP"/>
                                </a:rPr>
                                <m:t>]</m:t>
                              </m:r>
                            </m:lim>
                          </m:limLow>
                        </m:fName>
                        <m:e>
                          <m:sSub>
                            <m:sSubPr>
                              <m:ctrlPr>
                                <a:rPr lang="ja-JP" altLang="ar-AE" sz="1600" b="0" i="1">
                                  <a:solidFill>
                                    <a:schemeClr val="tx1"/>
                                  </a:solidFill>
                                  <a:latin typeface="Cambria Math" panose="02040503050406030204" pitchFamily="18" charset="0"/>
                                  <a:ea typeface="Cambria Math" panose="02040503050406030204" pitchFamily="18" charset="0"/>
                                  <a:cs typeface="Noto Sans CJK JP"/>
                                </a:rPr>
                              </m:ctrlPr>
                            </m:sSubPr>
                            <m:e>
                              <m:r>
                                <a:rPr lang="ja-JP" altLang="ar-AE" sz="1600" b="0" i="1">
                                  <a:solidFill>
                                    <a:schemeClr val="tx1"/>
                                  </a:solidFill>
                                  <a:latin typeface="Cambria Math" panose="02040503050406030204" pitchFamily="18" charset="0"/>
                                  <a:ea typeface="Cambria Math" panose="02040503050406030204" pitchFamily="18" charset="0"/>
                                  <a:cs typeface="Noto Sans CJK JP"/>
                                </a:rPr>
                                <m:t>𝐸</m:t>
                              </m:r>
                            </m:e>
                            <m:sub>
                              <m:r>
                                <a:rPr lang="en-US" altLang="ja-JP" sz="1600" b="0" i="1" smtClean="0">
                                  <a:solidFill>
                                    <a:schemeClr val="tx1"/>
                                  </a:solidFill>
                                  <a:latin typeface="Cambria Math" panose="02040503050406030204" pitchFamily="18" charset="0"/>
                                  <a:ea typeface="Cambria Math" panose="02040503050406030204" pitchFamily="18" charset="0"/>
                                  <a:cs typeface="Noto Sans CJK JP"/>
                                </a:rPr>
                                <m:t>𝑡</m:t>
                              </m:r>
                            </m:sub>
                          </m:sSub>
                          <m:d>
                            <m:dPr>
                              <m:begChr m:val="["/>
                              <m:endChr m:val="]"/>
                              <m:ctrlPr>
                                <a:rPr lang="ja-JP" altLang="ar-AE" sz="1600" b="0" i="1">
                                  <a:solidFill>
                                    <a:schemeClr val="tx1"/>
                                  </a:solidFill>
                                  <a:latin typeface="Cambria Math" panose="02040503050406030204" pitchFamily="18" charset="0"/>
                                  <a:ea typeface="Cambria Math" panose="02040503050406030204" pitchFamily="18" charset="0"/>
                                  <a:cs typeface="Noto Sans CJK JP"/>
                                </a:rPr>
                              </m:ctrlPr>
                            </m:dPr>
                            <m:e>
                              <m:sSub>
                                <m:sSubPr>
                                  <m:ctrlPr>
                                    <a:rPr lang="ja-JP" altLang="ar-AE" sz="1600" b="0" i="1">
                                      <a:solidFill>
                                        <a:schemeClr val="tx1"/>
                                      </a:solidFill>
                                      <a:latin typeface="Cambria Math" panose="02040503050406030204" pitchFamily="18" charset="0"/>
                                      <a:ea typeface="Cambria Math" panose="02040503050406030204" pitchFamily="18" charset="0"/>
                                      <a:cs typeface="Noto Sans CJK JP"/>
                                    </a:rPr>
                                  </m:ctrlPr>
                                </m:sSubPr>
                                <m:e>
                                  <m:r>
                                    <a:rPr lang="ja-JP" altLang="ar-AE" sz="1600" b="0" i="1">
                                      <a:solidFill>
                                        <a:schemeClr val="tx1"/>
                                      </a:solidFill>
                                      <a:latin typeface="Cambria Math" panose="02040503050406030204" pitchFamily="18" charset="0"/>
                                      <a:ea typeface="Cambria Math" panose="02040503050406030204" pitchFamily="18" charset="0"/>
                                      <a:cs typeface="Noto Sans CJK JP"/>
                                    </a:rPr>
                                    <m:t>𝑋</m:t>
                                  </m:r>
                                </m:e>
                                <m:sub>
                                  <m:r>
                                    <a:rPr lang="en-US" altLang="ja-JP" sz="1600" b="0" i="1">
                                      <a:solidFill>
                                        <a:schemeClr val="tx1"/>
                                      </a:solidFill>
                                      <a:latin typeface="Cambria Math" panose="02040503050406030204" pitchFamily="18" charset="0"/>
                                      <a:ea typeface="Cambria Math" panose="02040503050406030204" pitchFamily="18" charset="0"/>
                                      <a:cs typeface="Noto Sans CJK JP"/>
                                    </a:rPr>
                                    <m:t>𝑇</m:t>
                                  </m:r>
                                </m:sub>
                              </m:sSub>
                              <m:r>
                                <a:rPr lang="en-US" altLang="ja-JP" sz="1600" b="0" i="1" smtClean="0">
                                  <a:solidFill>
                                    <a:schemeClr val="tx1"/>
                                  </a:solidFill>
                                  <a:latin typeface="Cambria Math" panose="02040503050406030204" pitchFamily="18" charset="0"/>
                                  <a:ea typeface="Cambria Math" panose="02040503050406030204" pitchFamily="18" charset="0"/>
                                  <a:cs typeface="Noto Sans CJK JP"/>
                                </a:rPr>
                                <m:t>|</m:t>
                              </m:r>
                              <m:sSub>
                                <m:sSubPr>
                                  <m:ctrlPr>
                                    <a:rPr lang="ja-JP" altLang="ar-AE" sz="1600" b="0" i="1">
                                      <a:solidFill>
                                        <a:schemeClr val="tx1"/>
                                      </a:solidFill>
                                      <a:latin typeface="Cambria Math" panose="02040503050406030204" pitchFamily="18" charset="0"/>
                                      <a:ea typeface="Cambria Math" panose="02040503050406030204" pitchFamily="18" charset="0"/>
                                      <a:cs typeface="Noto Sans CJK JP"/>
                                    </a:rPr>
                                  </m:ctrlPr>
                                </m:sSubPr>
                                <m:e>
                                  <m:r>
                                    <a:rPr lang="ja-JP" altLang="ar-AE" sz="1600" b="0" i="1">
                                      <a:solidFill>
                                        <a:schemeClr val="tx1"/>
                                      </a:solidFill>
                                      <a:latin typeface="Cambria Math" panose="02040503050406030204" pitchFamily="18" charset="0"/>
                                      <a:ea typeface="Cambria Math" panose="02040503050406030204" pitchFamily="18" charset="0"/>
                                      <a:cs typeface="Noto Sans CJK JP"/>
                                    </a:rPr>
                                    <m:t>𝑋</m:t>
                                  </m:r>
                                </m:e>
                                <m:sub>
                                  <m:r>
                                    <a:rPr lang="en-US" altLang="ja-JP" sz="1600" b="0" i="1">
                                      <a:solidFill>
                                        <a:schemeClr val="tx1"/>
                                      </a:solidFill>
                                      <a:latin typeface="Cambria Math" panose="02040503050406030204" pitchFamily="18" charset="0"/>
                                      <a:ea typeface="Cambria Math" panose="02040503050406030204" pitchFamily="18" charset="0"/>
                                      <a:cs typeface="Noto Sans CJK JP"/>
                                    </a:rPr>
                                    <m:t>𝑡</m:t>
                                  </m:r>
                                </m:sub>
                              </m:sSub>
                              <m:r>
                                <a:rPr lang="en-US" altLang="ja-JP" sz="1600" b="0" i="1" smtClean="0">
                                  <a:solidFill>
                                    <a:schemeClr val="tx1"/>
                                  </a:solidFill>
                                  <a:latin typeface="Cambria Math" panose="02040503050406030204" pitchFamily="18" charset="0"/>
                                  <a:ea typeface="Cambria Math" panose="02040503050406030204" pitchFamily="18" charset="0"/>
                                  <a:cs typeface="Noto Sans CJK JP"/>
                                </a:rPr>
                                <m:t>=</m:t>
                              </m:r>
                              <m:r>
                                <a:rPr lang="ja-JP" altLang="en-US" sz="1600" b="0" i="1" smtClean="0">
                                  <a:solidFill>
                                    <a:schemeClr val="tx1"/>
                                  </a:solidFill>
                                  <a:latin typeface="Cambria Math" panose="02040503050406030204" pitchFamily="18" charset="0"/>
                                  <a:ea typeface="Noto Sans CJK JP"/>
                                  <a:cs typeface="Noto Sans CJK JP"/>
                                </a:rPr>
                                <m:t>𝑥</m:t>
                              </m:r>
                            </m:e>
                          </m:d>
                          <m:r>
                            <a:rPr lang="ar-AE" altLang="ja-JP" sz="1600" b="0" i="1">
                              <a:solidFill>
                                <a:schemeClr val="tx1"/>
                              </a:solidFill>
                              <a:latin typeface="Cambria Math" panose="02040503050406030204" pitchFamily="18" charset="0"/>
                              <a:ea typeface="Cambria Math" panose="02040503050406030204" pitchFamily="18" charset="0"/>
                              <a:cs typeface="Noto Sans CJK JP"/>
                            </a:rPr>
                            <m:t>−</m:t>
                          </m:r>
                          <m:r>
                            <a:rPr lang="ja-JP" altLang="ar-AE" sz="1600" b="0" i="1">
                              <a:solidFill>
                                <a:schemeClr val="tx1"/>
                              </a:solidFill>
                              <a:latin typeface="Cambria Math" panose="02040503050406030204" pitchFamily="18" charset="0"/>
                              <a:ea typeface="Cambria Math" panose="02040503050406030204" pitchFamily="18" charset="0"/>
                              <a:cs typeface="Noto Sans CJK JP"/>
                            </a:rPr>
                            <m:t>𝜅</m:t>
                          </m:r>
                          <m:r>
                            <a:rPr lang="en-US" altLang="ja-JP" sz="1600" b="0" i="1" smtClean="0">
                              <a:solidFill>
                                <a:schemeClr val="tx1"/>
                              </a:solidFill>
                              <a:latin typeface="Cambria Math" panose="02040503050406030204" pitchFamily="18" charset="0"/>
                              <a:ea typeface="Cambria Math" panose="02040503050406030204" pitchFamily="18" charset="0"/>
                              <a:cs typeface="Noto Sans CJK JP"/>
                            </a:rPr>
                            <m:t>(</m:t>
                          </m:r>
                          <m:r>
                            <a:rPr lang="ja-JP" altLang="en-US" sz="1600" b="0" i="1">
                              <a:solidFill>
                                <a:schemeClr val="tx1"/>
                              </a:solidFill>
                              <a:latin typeface="Cambria Math" panose="02040503050406030204" pitchFamily="18" charset="0"/>
                              <a:ea typeface="Noto Sans CJK JP"/>
                              <a:cs typeface="Noto Sans CJK JP"/>
                            </a:rPr>
                            <m:t>𝑡</m:t>
                          </m:r>
                          <m:r>
                            <a:rPr lang="en-US" altLang="ja-JP" sz="1600" b="0" i="1">
                              <a:solidFill>
                                <a:schemeClr val="tx1"/>
                              </a:solidFill>
                              <a:latin typeface="Cambria Math" panose="02040503050406030204" pitchFamily="18" charset="0"/>
                              <a:ea typeface="Noto Sans CJK JP"/>
                              <a:cs typeface="Noto Sans CJK JP"/>
                            </a:rPr>
                            <m:t>,</m:t>
                          </m:r>
                          <m:r>
                            <a:rPr lang="ja-JP" altLang="en-US" sz="1600" b="0" i="1">
                              <a:solidFill>
                                <a:schemeClr val="tx1"/>
                              </a:solidFill>
                              <a:latin typeface="Cambria Math" panose="02040503050406030204" pitchFamily="18" charset="0"/>
                              <a:ea typeface="Noto Sans CJK JP"/>
                              <a:cs typeface="Noto Sans CJK JP"/>
                            </a:rPr>
                            <m:t>𝑥</m:t>
                          </m:r>
                          <m:r>
                            <a:rPr lang="en-US" altLang="ja-JP" sz="1600" b="0" i="1" smtClean="0">
                              <a:solidFill>
                                <a:schemeClr val="tx1"/>
                              </a:solidFill>
                              <a:latin typeface="Cambria Math" panose="02040503050406030204" pitchFamily="18" charset="0"/>
                              <a:ea typeface="Cambria Math" panose="02040503050406030204" pitchFamily="18" charset="0"/>
                              <a:cs typeface="Noto Sans CJK JP"/>
                            </a:rPr>
                            <m:t>)</m:t>
                          </m:r>
                          <m:r>
                            <a:rPr lang="ja-JP" altLang="ar-AE" sz="1600" b="0" i="1">
                              <a:solidFill>
                                <a:schemeClr val="tx1"/>
                              </a:solidFill>
                              <a:latin typeface="Cambria Math" panose="02040503050406030204" pitchFamily="18" charset="0"/>
                              <a:ea typeface="Cambria Math" panose="02040503050406030204" pitchFamily="18" charset="0"/>
                              <a:cs typeface="Noto Sans CJK JP"/>
                            </a:rPr>
                            <m:t>𝑉</m:t>
                          </m:r>
                          <m:r>
                            <a:rPr lang="en-US" altLang="ja-JP" sz="1600" b="0" i="1">
                              <a:solidFill>
                                <a:schemeClr val="tx1"/>
                              </a:solidFill>
                              <a:latin typeface="Cambria Math" panose="02040503050406030204" pitchFamily="18" charset="0"/>
                              <a:ea typeface="Cambria Math" panose="02040503050406030204" pitchFamily="18" charset="0"/>
                              <a:cs typeface="Noto Sans CJK JP"/>
                            </a:rPr>
                            <m:t>𝑎</m:t>
                          </m:r>
                          <m:sSub>
                            <m:sSubPr>
                              <m:ctrlPr>
                                <a:rPr lang="en-US" altLang="ja-JP" sz="1600" b="0" i="1" smtClean="0">
                                  <a:solidFill>
                                    <a:schemeClr val="tx1"/>
                                  </a:solidFill>
                                  <a:latin typeface="Cambria Math" panose="02040503050406030204" pitchFamily="18" charset="0"/>
                                  <a:ea typeface="Cambria Math" panose="02040503050406030204" pitchFamily="18" charset="0"/>
                                  <a:cs typeface="Noto Sans CJK JP"/>
                                </a:rPr>
                              </m:ctrlPr>
                            </m:sSubPr>
                            <m:e>
                              <m:r>
                                <a:rPr lang="en-US" altLang="ja-JP" sz="1600" b="0" i="1" smtClean="0">
                                  <a:solidFill>
                                    <a:schemeClr val="tx1"/>
                                  </a:solidFill>
                                  <a:latin typeface="Cambria Math" panose="02040503050406030204" pitchFamily="18" charset="0"/>
                                  <a:ea typeface="Cambria Math" panose="02040503050406030204" pitchFamily="18" charset="0"/>
                                  <a:cs typeface="Noto Sans CJK JP"/>
                                </a:rPr>
                                <m:t>𝑟</m:t>
                              </m:r>
                            </m:e>
                            <m:sub>
                              <m:r>
                                <a:rPr lang="en-US" altLang="ja-JP" sz="1600" b="0" i="1">
                                  <a:solidFill>
                                    <a:schemeClr val="tx1"/>
                                  </a:solidFill>
                                  <a:latin typeface="Cambria Math" panose="02040503050406030204" pitchFamily="18" charset="0"/>
                                  <a:ea typeface="Cambria Math" panose="02040503050406030204" pitchFamily="18" charset="0"/>
                                  <a:cs typeface="Noto Sans CJK JP"/>
                                </a:rPr>
                                <m:t>𝑡</m:t>
                              </m:r>
                            </m:sub>
                          </m:sSub>
                          <m:r>
                            <a:rPr lang="ar-AE" altLang="ja-JP" sz="1600" b="0" i="1">
                              <a:solidFill>
                                <a:schemeClr val="tx1"/>
                              </a:solidFill>
                              <a:latin typeface="Cambria Math" panose="02040503050406030204" pitchFamily="18" charset="0"/>
                              <a:ea typeface="Cambria Math" panose="02040503050406030204" pitchFamily="18" charset="0"/>
                              <a:cs typeface="Noto Sans CJK JP"/>
                            </a:rPr>
                            <m:t>[</m:t>
                          </m:r>
                          <m:sSub>
                            <m:sSubPr>
                              <m:ctrlPr>
                                <a:rPr lang="ja-JP" altLang="ar-AE" sz="1600" b="0" i="1">
                                  <a:solidFill>
                                    <a:schemeClr val="tx1"/>
                                  </a:solidFill>
                                  <a:latin typeface="Cambria Math" panose="02040503050406030204" pitchFamily="18" charset="0"/>
                                  <a:ea typeface="Cambria Math" panose="02040503050406030204" pitchFamily="18" charset="0"/>
                                  <a:cs typeface="Noto Sans CJK JP"/>
                                </a:rPr>
                              </m:ctrlPr>
                            </m:sSubPr>
                            <m:e>
                              <m:r>
                                <a:rPr lang="ja-JP" altLang="ar-AE" sz="1600" b="0" i="1">
                                  <a:solidFill>
                                    <a:schemeClr val="tx1"/>
                                  </a:solidFill>
                                  <a:latin typeface="Cambria Math" panose="02040503050406030204" pitchFamily="18" charset="0"/>
                                  <a:ea typeface="Cambria Math" panose="02040503050406030204" pitchFamily="18" charset="0"/>
                                  <a:cs typeface="Noto Sans CJK JP"/>
                                </a:rPr>
                                <m:t>𝑋</m:t>
                              </m:r>
                            </m:e>
                            <m:sub>
                              <m:r>
                                <a:rPr lang="en-US" altLang="ja-JP" sz="1600" b="0" i="1">
                                  <a:solidFill>
                                    <a:schemeClr val="tx1"/>
                                  </a:solidFill>
                                  <a:latin typeface="Cambria Math" panose="02040503050406030204" pitchFamily="18" charset="0"/>
                                  <a:ea typeface="Cambria Math" panose="02040503050406030204" pitchFamily="18" charset="0"/>
                                  <a:cs typeface="Noto Sans CJK JP"/>
                                </a:rPr>
                                <m:t>𝑇</m:t>
                              </m:r>
                            </m:sub>
                          </m:sSub>
                          <m:r>
                            <a:rPr lang="en-US" altLang="ja-JP" sz="1600" b="0" i="1">
                              <a:solidFill>
                                <a:schemeClr val="tx1"/>
                              </a:solidFill>
                              <a:latin typeface="Cambria Math" panose="02040503050406030204" pitchFamily="18" charset="0"/>
                              <a:ea typeface="Cambria Math" panose="02040503050406030204" pitchFamily="18" charset="0"/>
                              <a:cs typeface="Noto Sans CJK JP"/>
                            </a:rPr>
                            <m:t>|</m:t>
                          </m:r>
                          <m:sSub>
                            <m:sSubPr>
                              <m:ctrlPr>
                                <a:rPr lang="ja-JP" altLang="ar-AE" sz="1600" b="0" i="1">
                                  <a:solidFill>
                                    <a:schemeClr val="tx1"/>
                                  </a:solidFill>
                                  <a:latin typeface="Cambria Math" panose="02040503050406030204" pitchFamily="18" charset="0"/>
                                  <a:ea typeface="Cambria Math" panose="02040503050406030204" pitchFamily="18" charset="0"/>
                                  <a:cs typeface="Noto Sans CJK JP"/>
                                </a:rPr>
                              </m:ctrlPr>
                            </m:sSubPr>
                            <m:e>
                              <m:r>
                                <a:rPr lang="ja-JP" altLang="ar-AE" sz="1600" b="0" i="1">
                                  <a:solidFill>
                                    <a:schemeClr val="tx1"/>
                                  </a:solidFill>
                                  <a:latin typeface="Cambria Math" panose="02040503050406030204" pitchFamily="18" charset="0"/>
                                  <a:ea typeface="Cambria Math" panose="02040503050406030204" pitchFamily="18" charset="0"/>
                                  <a:cs typeface="Noto Sans CJK JP"/>
                                </a:rPr>
                                <m:t>𝑋</m:t>
                              </m:r>
                            </m:e>
                            <m:sub>
                              <m:r>
                                <a:rPr lang="en-US" altLang="ja-JP" sz="1600" b="0" i="1">
                                  <a:solidFill>
                                    <a:schemeClr val="tx1"/>
                                  </a:solidFill>
                                  <a:latin typeface="Cambria Math" panose="02040503050406030204" pitchFamily="18" charset="0"/>
                                  <a:ea typeface="Cambria Math" panose="02040503050406030204" pitchFamily="18" charset="0"/>
                                  <a:cs typeface="Noto Sans CJK JP"/>
                                </a:rPr>
                                <m:t>𝑡</m:t>
                              </m:r>
                            </m:sub>
                          </m:sSub>
                          <m:r>
                            <a:rPr lang="en-US" altLang="ja-JP" sz="1600" b="0" i="1">
                              <a:solidFill>
                                <a:schemeClr val="tx1"/>
                              </a:solidFill>
                              <a:latin typeface="Cambria Math" panose="02040503050406030204" pitchFamily="18" charset="0"/>
                              <a:ea typeface="Cambria Math" panose="02040503050406030204" pitchFamily="18" charset="0"/>
                              <a:cs typeface="Noto Sans CJK JP"/>
                            </a:rPr>
                            <m:t>=</m:t>
                          </m:r>
                          <m:r>
                            <a:rPr lang="ja-JP" altLang="en-US" sz="1600" b="0" i="1">
                              <a:solidFill>
                                <a:schemeClr val="tx1"/>
                              </a:solidFill>
                              <a:latin typeface="Cambria Math" panose="02040503050406030204" pitchFamily="18" charset="0"/>
                              <a:ea typeface="Noto Sans CJK JP"/>
                              <a:cs typeface="Noto Sans CJK JP"/>
                            </a:rPr>
                            <m:t>𝑥</m:t>
                          </m:r>
                          <m:r>
                            <a:rPr lang="ar-AE" altLang="ja-JP" sz="1600" b="0" i="1">
                              <a:solidFill>
                                <a:schemeClr val="tx1"/>
                              </a:solidFill>
                              <a:latin typeface="Cambria Math" panose="02040503050406030204" pitchFamily="18" charset="0"/>
                              <a:ea typeface="Cambria Math" panose="02040503050406030204" pitchFamily="18" charset="0"/>
                              <a:cs typeface="Noto Sans CJK JP"/>
                            </a:rPr>
                            <m:t>]</m:t>
                          </m:r>
                          <m:r>
                            <m:rPr>
                              <m:nor/>
                            </m:rPr>
                            <a:rPr lang="ar-AE" altLang="ja-JP" sz="1600" i="0" dirty="0">
                              <a:solidFill>
                                <a:schemeClr val="tx1"/>
                              </a:solidFill>
                              <a:latin typeface="Noto Sans CJK JP"/>
                              <a:ea typeface="Noto Sans CJK JP"/>
                              <a:cs typeface="Noto Sans CJK JP"/>
                            </a:rPr>
                            <m:t> </m:t>
                          </m:r>
                        </m:e>
                      </m:func>
                    </m:oMath>
                  </m:oMathPara>
                </a14:m>
                <a:endParaRPr lang="en-US" sz="1600" dirty="0">
                  <a:solidFill>
                    <a:schemeClr val="tx1"/>
                  </a:solidFill>
                  <a:latin typeface="Noto Sans CJK JP"/>
                  <a:ea typeface="Noto Sans CJK JP"/>
                  <a:cs typeface="Noto Sans CJK JP"/>
                </a:endParaRPr>
              </a:p>
            </p:txBody>
          </p:sp>
        </mc:Choice>
        <mc:Fallback xmlns="">
          <p:sp>
            <p:nvSpPr>
              <p:cNvPr id="43" name="s4-objective-label">
                <a:extLst>
                  <a:ext uri="{FF2B5EF4-FFF2-40B4-BE49-F238E27FC236}">
                    <a16:creationId xmlns:a16="http://schemas.microsoft.com/office/drawing/2014/main" id="{179BE394-86E9-E1F7-487C-D954E801FB14}"/>
                  </a:ext>
                </a:extLst>
              </p:cNvPr>
              <p:cNvSpPr>
                <a:spLocks noGrp="1" noRot="1" noChangeAspect="1" noMove="1" noResize="1" noEditPoints="1" noAdjustHandles="1" noChangeArrowheads="1" noChangeShapeType="1" noTextEdit="1"/>
              </p:cNvSpPr>
              <p:nvPr/>
            </p:nvSpPr>
            <p:spPr>
              <a:xfrm>
                <a:off x="1428750" y="1933574"/>
                <a:ext cx="6115050" cy="609601"/>
              </a:xfrm>
              <a:prstGeom prst="rect">
                <a:avLst/>
              </a:prstGeom>
              <a:blipFill>
                <a:blip r:embed="rId3"/>
                <a:stretch>
                  <a:fillRect/>
                </a:stretch>
              </a:blipFill>
              <a:ln w="0">
                <a:noFill/>
                <a:prstDash val="solid"/>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5" name="テキスト ボックス 44">
                <a:extLst>
                  <a:ext uri="{FF2B5EF4-FFF2-40B4-BE49-F238E27FC236}">
                    <a16:creationId xmlns:a16="http://schemas.microsoft.com/office/drawing/2014/main" id="{CE4A425F-097A-CA1D-EDB5-4C02ACFA0BF9}"/>
                  </a:ext>
                </a:extLst>
              </p:cNvPr>
              <p:cNvSpPr txBox="1"/>
              <p:nvPr/>
            </p:nvSpPr>
            <p:spPr>
              <a:xfrm>
                <a:off x="767405" y="2666752"/>
                <a:ext cx="995097" cy="246221"/>
              </a:xfrm>
              <a:prstGeom prst="rect">
                <a:avLst/>
              </a:prstGeom>
              <a:noFill/>
            </p:spPr>
            <p:txBody>
              <a:bodyPr wrap="square">
                <a:spAutoFit/>
              </a:bodyPr>
              <a:lstStyle/>
              <a:p>
                <a14:m>
                  <m:oMath xmlns:m="http://schemas.openxmlformats.org/officeDocument/2006/math">
                    <m:r>
                      <a:rPr lang="ja-JP" altLang="ar-AE" sz="1000" b="0" i="1" smtClean="0">
                        <a:solidFill>
                          <a:schemeClr val="tx1"/>
                        </a:solidFill>
                        <a:latin typeface="Cambria Math" panose="02040503050406030204" pitchFamily="18" charset="0"/>
                        <a:ea typeface="Cambria Math" panose="02040503050406030204" pitchFamily="18" charset="0"/>
                        <a:cs typeface="Noto Sans CJK JP"/>
                      </a:rPr>
                      <m:t>𝜅</m:t>
                    </m:r>
                    <m:r>
                      <a:rPr lang="en-US" altLang="ja-JP" sz="1000" b="0" i="1" smtClean="0">
                        <a:solidFill>
                          <a:schemeClr val="tx1"/>
                        </a:solidFill>
                        <a:latin typeface="Cambria Math" panose="02040503050406030204" pitchFamily="18" charset="0"/>
                        <a:ea typeface="Cambria Math" panose="02040503050406030204" pitchFamily="18" charset="0"/>
                        <a:cs typeface="Noto Sans CJK JP"/>
                      </a:rPr>
                      <m:t>(</m:t>
                    </m:r>
                    <m:r>
                      <a:rPr lang="ja-JP" altLang="en-US" sz="1000" b="0" i="1">
                        <a:solidFill>
                          <a:schemeClr val="tx1"/>
                        </a:solidFill>
                        <a:latin typeface="Cambria Math" panose="02040503050406030204" pitchFamily="18" charset="0"/>
                        <a:ea typeface="Noto Sans CJK JP"/>
                        <a:cs typeface="Noto Sans CJK JP"/>
                      </a:rPr>
                      <m:t>𝑡</m:t>
                    </m:r>
                    <m:r>
                      <a:rPr lang="en-US" altLang="ja-JP" sz="1000" b="0" i="1">
                        <a:solidFill>
                          <a:schemeClr val="tx1"/>
                        </a:solidFill>
                        <a:latin typeface="Cambria Math" panose="02040503050406030204" pitchFamily="18" charset="0"/>
                        <a:ea typeface="Noto Sans CJK JP"/>
                        <a:cs typeface="Noto Sans CJK JP"/>
                      </a:rPr>
                      <m:t>,</m:t>
                    </m:r>
                    <m:r>
                      <a:rPr lang="ja-JP" altLang="en-US" sz="1000" b="0" i="1">
                        <a:solidFill>
                          <a:schemeClr val="tx1"/>
                        </a:solidFill>
                        <a:latin typeface="Cambria Math" panose="02040503050406030204" pitchFamily="18" charset="0"/>
                        <a:ea typeface="Noto Sans CJK JP"/>
                        <a:cs typeface="Noto Sans CJK JP"/>
                      </a:rPr>
                      <m:t>𝑥</m:t>
                    </m:r>
                    <m:r>
                      <a:rPr lang="en-US" altLang="ja-JP" sz="1000" b="0" i="1" smtClean="0">
                        <a:solidFill>
                          <a:schemeClr val="tx1"/>
                        </a:solidFill>
                        <a:latin typeface="Cambria Math" panose="02040503050406030204" pitchFamily="18" charset="0"/>
                        <a:ea typeface="Cambria Math" panose="02040503050406030204" pitchFamily="18" charset="0"/>
                        <a:cs typeface="Noto Sans CJK JP"/>
                      </a:rPr>
                      <m:t>)=</m:t>
                    </m:r>
                    <m:r>
                      <a:rPr lang="en-US" altLang="ja-JP" sz="1000" b="0" i="0" smtClean="0">
                        <a:solidFill>
                          <a:schemeClr val="tx1"/>
                        </a:solidFill>
                        <a:latin typeface="Cambria Math" panose="02040503050406030204" pitchFamily="18" charset="0"/>
                        <a:ea typeface="Cambria Math" panose="02040503050406030204" pitchFamily="18" charset="0"/>
                        <a:cs typeface="Noto Sans CJK JP"/>
                      </a:rPr>
                      <m:t> </m:t>
                    </m:r>
                  </m:oMath>
                </a14:m>
                <a:r>
                  <a:rPr lang="ja-JP" altLang="en-US" sz="1000" dirty="0"/>
                  <a:t>定数</a:t>
                </a:r>
              </a:p>
            </p:txBody>
          </p:sp>
        </mc:Choice>
        <mc:Fallback xmlns="">
          <p:sp>
            <p:nvSpPr>
              <p:cNvPr id="45" name="テキスト ボックス 44">
                <a:extLst>
                  <a:ext uri="{FF2B5EF4-FFF2-40B4-BE49-F238E27FC236}">
                    <a16:creationId xmlns:a16="http://schemas.microsoft.com/office/drawing/2014/main" id="{CE4A425F-097A-CA1D-EDB5-4C02ACFA0BF9}"/>
                  </a:ext>
                </a:extLst>
              </p:cNvPr>
              <p:cNvSpPr txBox="1">
                <a:spLocks noRot="1" noChangeAspect="1" noMove="1" noResize="1" noEditPoints="1" noAdjustHandles="1" noChangeArrowheads="1" noChangeShapeType="1" noTextEdit="1"/>
              </p:cNvSpPr>
              <p:nvPr/>
            </p:nvSpPr>
            <p:spPr>
              <a:xfrm>
                <a:off x="767405" y="2666752"/>
                <a:ext cx="995097" cy="246221"/>
              </a:xfrm>
              <a:prstGeom prst="rect">
                <a:avLst/>
              </a:prstGeom>
              <a:blipFill>
                <a:blip r:embed="rId4"/>
                <a:stretch>
                  <a:fillRect b="-975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7" name="テキスト ボックス 46">
                <a:extLst>
                  <a:ext uri="{FF2B5EF4-FFF2-40B4-BE49-F238E27FC236}">
                    <a16:creationId xmlns:a16="http://schemas.microsoft.com/office/drawing/2014/main" id="{B5F54B41-CEC3-BF6C-6B6C-F85DF5132061}"/>
                  </a:ext>
                </a:extLst>
              </p:cNvPr>
              <p:cNvSpPr txBox="1"/>
              <p:nvPr/>
            </p:nvSpPr>
            <p:spPr>
              <a:xfrm>
                <a:off x="2942881" y="2664101"/>
                <a:ext cx="995097" cy="246221"/>
              </a:xfrm>
              <a:prstGeom prst="rect">
                <a:avLst/>
              </a:prstGeom>
              <a:noFill/>
            </p:spPr>
            <p:txBody>
              <a:bodyPr wrap="square">
                <a:spAutoFit/>
              </a:bodyPr>
              <a:lstStyle/>
              <a:p>
                <a14:m>
                  <m:oMath xmlns:m="http://schemas.openxmlformats.org/officeDocument/2006/math">
                    <m:r>
                      <a:rPr lang="ja-JP" altLang="ar-AE" sz="1000" b="0" i="1" smtClean="0">
                        <a:solidFill>
                          <a:schemeClr val="tx1"/>
                        </a:solidFill>
                        <a:latin typeface="Cambria Math" panose="02040503050406030204" pitchFamily="18" charset="0"/>
                        <a:ea typeface="Cambria Math" panose="02040503050406030204" pitchFamily="18" charset="0"/>
                        <a:cs typeface="Noto Sans CJK JP"/>
                      </a:rPr>
                      <m:t>𝜅</m:t>
                    </m:r>
                    <m:r>
                      <a:rPr lang="en-US" altLang="ja-JP" sz="1000" b="0" i="1" smtClean="0">
                        <a:solidFill>
                          <a:schemeClr val="tx1"/>
                        </a:solidFill>
                        <a:latin typeface="Cambria Math" panose="02040503050406030204" pitchFamily="18" charset="0"/>
                        <a:ea typeface="Cambria Math" panose="02040503050406030204" pitchFamily="18" charset="0"/>
                        <a:cs typeface="Noto Sans CJK JP"/>
                      </a:rPr>
                      <m:t>(</m:t>
                    </m:r>
                    <m:r>
                      <a:rPr lang="ja-JP" altLang="en-US" sz="1000" b="0" i="1">
                        <a:solidFill>
                          <a:schemeClr val="tx1"/>
                        </a:solidFill>
                        <a:latin typeface="Cambria Math" panose="02040503050406030204" pitchFamily="18" charset="0"/>
                        <a:ea typeface="Noto Sans CJK JP"/>
                        <a:cs typeface="Noto Sans CJK JP"/>
                      </a:rPr>
                      <m:t>𝑡</m:t>
                    </m:r>
                    <m:r>
                      <a:rPr lang="en-US" altLang="ja-JP" sz="1000" b="0" i="1">
                        <a:solidFill>
                          <a:schemeClr val="tx1"/>
                        </a:solidFill>
                        <a:latin typeface="Cambria Math" panose="02040503050406030204" pitchFamily="18" charset="0"/>
                        <a:ea typeface="Noto Sans CJK JP"/>
                        <a:cs typeface="Noto Sans CJK JP"/>
                      </a:rPr>
                      <m:t>,</m:t>
                    </m:r>
                    <m:r>
                      <a:rPr lang="ja-JP" altLang="en-US" sz="1000" b="0" i="1">
                        <a:solidFill>
                          <a:schemeClr val="tx1"/>
                        </a:solidFill>
                        <a:latin typeface="Cambria Math" panose="02040503050406030204" pitchFamily="18" charset="0"/>
                        <a:ea typeface="Noto Sans CJK JP"/>
                        <a:cs typeface="Noto Sans CJK JP"/>
                      </a:rPr>
                      <m:t>𝑥</m:t>
                    </m:r>
                    <m:r>
                      <a:rPr lang="en-US" altLang="ja-JP" sz="1000" b="0" i="1" smtClean="0">
                        <a:solidFill>
                          <a:schemeClr val="tx1"/>
                        </a:solidFill>
                        <a:latin typeface="Cambria Math" panose="02040503050406030204" pitchFamily="18" charset="0"/>
                        <a:ea typeface="Cambria Math" panose="02040503050406030204" pitchFamily="18" charset="0"/>
                        <a:cs typeface="Noto Sans CJK JP"/>
                      </a:rPr>
                      <m:t>)=</m:t>
                    </m:r>
                    <m:r>
                      <a:rPr lang="en-US" altLang="ja-JP" sz="1000" b="0" i="0" smtClean="0">
                        <a:solidFill>
                          <a:schemeClr val="tx1"/>
                        </a:solidFill>
                        <a:latin typeface="Cambria Math" panose="02040503050406030204" pitchFamily="18" charset="0"/>
                        <a:ea typeface="Cambria Math" panose="02040503050406030204" pitchFamily="18" charset="0"/>
                        <a:cs typeface="Noto Sans CJK JP"/>
                      </a:rPr>
                      <m:t> </m:t>
                    </m:r>
                  </m:oMath>
                </a14:m>
                <a:r>
                  <a:rPr lang="ja-JP" altLang="en-US" sz="1000" dirty="0"/>
                  <a:t>定数</a:t>
                </a:r>
              </a:p>
            </p:txBody>
          </p:sp>
        </mc:Choice>
        <mc:Fallback xmlns="">
          <p:sp>
            <p:nvSpPr>
              <p:cNvPr id="47" name="テキスト ボックス 46">
                <a:extLst>
                  <a:ext uri="{FF2B5EF4-FFF2-40B4-BE49-F238E27FC236}">
                    <a16:creationId xmlns:a16="http://schemas.microsoft.com/office/drawing/2014/main" id="{B5F54B41-CEC3-BF6C-6B6C-F85DF5132061}"/>
                  </a:ext>
                </a:extLst>
              </p:cNvPr>
              <p:cNvSpPr txBox="1">
                <a:spLocks noRot="1" noChangeAspect="1" noMove="1" noResize="1" noEditPoints="1" noAdjustHandles="1" noChangeArrowheads="1" noChangeShapeType="1" noTextEdit="1"/>
              </p:cNvSpPr>
              <p:nvPr/>
            </p:nvSpPr>
            <p:spPr>
              <a:xfrm>
                <a:off x="2942881" y="2664101"/>
                <a:ext cx="995097" cy="246221"/>
              </a:xfrm>
              <a:prstGeom prst="rect">
                <a:avLst/>
              </a:prstGeom>
              <a:blipFill>
                <a:blip r:embed="rId4"/>
                <a:stretch>
                  <a:fillRect b="-125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9" name="テキスト ボックス 48">
                <a:extLst>
                  <a:ext uri="{FF2B5EF4-FFF2-40B4-BE49-F238E27FC236}">
                    <a16:creationId xmlns:a16="http://schemas.microsoft.com/office/drawing/2014/main" id="{BB8605D4-6B4A-B02A-AFE0-4919771DF06A}"/>
                  </a:ext>
                </a:extLst>
              </p:cNvPr>
              <p:cNvSpPr txBox="1"/>
              <p:nvPr/>
            </p:nvSpPr>
            <p:spPr>
              <a:xfrm>
                <a:off x="4630479" y="2673191"/>
                <a:ext cx="1888952" cy="246221"/>
              </a:xfrm>
              <a:prstGeom prst="rect">
                <a:avLst/>
              </a:prstGeom>
              <a:noFill/>
            </p:spPr>
            <p:txBody>
              <a:bodyPr wrap="square">
                <a:spAutoFit/>
              </a:bodyPr>
              <a:lstStyle/>
              <a:p>
                <a14:m>
                  <m:oMath xmlns:m="http://schemas.openxmlformats.org/officeDocument/2006/math">
                    <m:r>
                      <a:rPr lang="ja-JP" altLang="ar-AE" sz="1000" b="0" i="1" smtClean="0">
                        <a:solidFill>
                          <a:schemeClr val="tx1"/>
                        </a:solidFill>
                        <a:latin typeface="Cambria Math" panose="02040503050406030204" pitchFamily="18" charset="0"/>
                        <a:ea typeface="Cambria Math" panose="02040503050406030204" pitchFamily="18" charset="0"/>
                        <a:cs typeface="Noto Sans CJK JP"/>
                      </a:rPr>
                      <m:t>𝜅</m:t>
                    </m:r>
                    <m:r>
                      <a:rPr lang="en-US" altLang="ja-JP" sz="1000" b="0" i="1" smtClean="0">
                        <a:solidFill>
                          <a:schemeClr val="tx1"/>
                        </a:solidFill>
                        <a:latin typeface="Cambria Math" panose="02040503050406030204" pitchFamily="18" charset="0"/>
                        <a:ea typeface="Cambria Math" panose="02040503050406030204" pitchFamily="18" charset="0"/>
                        <a:cs typeface="Noto Sans CJK JP"/>
                      </a:rPr>
                      <m:t>(</m:t>
                    </m:r>
                    <m:r>
                      <a:rPr lang="ja-JP" altLang="en-US" sz="1000" b="0" i="1">
                        <a:solidFill>
                          <a:schemeClr val="tx1"/>
                        </a:solidFill>
                        <a:latin typeface="Cambria Math" panose="02040503050406030204" pitchFamily="18" charset="0"/>
                        <a:ea typeface="Noto Sans CJK JP"/>
                        <a:cs typeface="Noto Sans CJK JP"/>
                      </a:rPr>
                      <m:t>𝑡</m:t>
                    </m:r>
                    <m:r>
                      <a:rPr lang="en-US" altLang="ja-JP" sz="1000" b="0" i="1">
                        <a:solidFill>
                          <a:schemeClr val="tx1"/>
                        </a:solidFill>
                        <a:latin typeface="Cambria Math" panose="02040503050406030204" pitchFamily="18" charset="0"/>
                        <a:ea typeface="Noto Sans CJK JP"/>
                        <a:cs typeface="Noto Sans CJK JP"/>
                      </a:rPr>
                      <m:t>,</m:t>
                    </m:r>
                    <m:r>
                      <a:rPr lang="ja-JP" altLang="en-US" sz="1000" b="0" i="1">
                        <a:solidFill>
                          <a:schemeClr val="tx1"/>
                        </a:solidFill>
                        <a:latin typeface="Cambria Math" panose="02040503050406030204" pitchFamily="18" charset="0"/>
                        <a:ea typeface="Noto Sans CJK JP"/>
                        <a:cs typeface="Noto Sans CJK JP"/>
                      </a:rPr>
                      <m:t>𝑥</m:t>
                    </m:r>
                    <m:r>
                      <a:rPr lang="en-US" altLang="ja-JP" sz="1000" b="0" i="1" smtClean="0">
                        <a:solidFill>
                          <a:schemeClr val="tx1"/>
                        </a:solidFill>
                        <a:latin typeface="Cambria Math" panose="02040503050406030204" pitchFamily="18" charset="0"/>
                        <a:ea typeface="Cambria Math" panose="02040503050406030204" pitchFamily="18" charset="0"/>
                        <a:cs typeface="Noto Sans CJK JP"/>
                      </a:rPr>
                      <m:t>)=</m:t>
                    </m:r>
                    <m:r>
                      <a:rPr lang="en-US" altLang="ja-JP" sz="1000" b="0" i="0" smtClean="0">
                        <a:solidFill>
                          <a:schemeClr val="tx1"/>
                        </a:solidFill>
                        <a:latin typeface="Cambria Math" panose="02040503050406030204" pitchFamily="18" charset="0"/>
                        <a:ea typeface="Cambria Math" panose="02040503050406030204" pitchFamily="18" charset="0"/>
                        <a:cs typeface="Noto Sans CJK JP"/>
                      </a:rPr>
                      <m:t> </m:t>
                    </m:r>
                  </m:oMath>
                </a14:m>
                <a:r>
                  <a:rPr lang="ja-JP" altLang="en-US" sz="1000" dirty="0"/>
                  <a:t>定数のナッシュ均衡</a:t>
                </a:r>
              </a:p>
            </p:txBody>
          </p:sp>
        </mc:Choice>
        <mc:Fallback xmlns="">
          <p:sp>
            <p:nvSpPr>
              <p:cNvPr id="49" name="テキスト ボックス 48">
                <a:extLst>
                  <a:ext uri="{FF2B5EF4-FFF2-40B4-BE49-F238E27FC236}">
                    <a16:creationId xmlns:a16="http://schemas.microsoft.com/office/drawing/2014/main" id="{BB8605D4-6B4A-B02A-AFE0-4919771DF06A}"/>
                  </a:ext>
                </a:extLst>
              </p:cNvPr>
              <p:cNvSpPr txBox="1">
                <a:spLocks noRot="1" noChangeAspect="1" noMove="1" noResize="1" noEditPoints="1" noAdjustHandles="1" noChangeArrowheads="1" noChangeShapeType="1" noTextEdit="1"/>
              </p:cNvSpPr>
              <p:nvPr/>
            </p:nvSpPr>
            <p:spPr>
              <a:xfrm>
                <a:off x="4630479" y="2673191"/>
                <a:ext cx="1888952" cy="246221"/>
              </a:xfrm>
              <a:prstGeom prst="rect">
                <a:avLst/>
              </a:prstGeom>
              <a:blipFill>
                <a:blip r:embed="rId5"/>
                <a:stretch>
                  <a:fillRect t="-2500" b="-10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2" name="テキスト ボックス 51">
                <a:extLst>
                  <a:ext uri="{FF2B5EF4-FFF2-40B4-BE49-F238E27FC236}">
                    <a16:creationId xmlns:a16="http://schemas.microsoft.com/office/drawing/2014/main" id="{A056B263-86A2-9736-4629-16F3AA9A96B3}"/>
                  </a:ext>
                </a:extLst>
              </p:cNvPr>
              <p:cNvSpPr txBox="1"/>
              <p:nvPr/>
            </p:nvSpPr>
            <p:spPr>
              <a:xfrm>
                <a:off x="6913821" y="2664100"/>
                <a:ext cx="1888952" cy="246221"/>
              </a:xfrm>
              <a:prstGeom prst="rect">
                <a:avLst/>
              </a:prstGeom>
              <a:noFill/>
            </p:spPr>
            <p:txBody>
              <a:bodyPr wrap="square">
                <a:spAutoFit/>
              </a:bodyPr>
              <a:lstStyle/>
              <a:p>
                <a14:m>
                  <m:oMath xmlns:m="http://schemas.openxmlformats.org/officeDocument/2006/math">
                    <m:r>
                      <a:rPr lang="ja-JP" altLang="ar-AE" sz="1000" b="0" i="1" smtClean="0">
                        <a:solidFill>
                          <a:schemeClr val="tx1"/>
                        </a:solidFill>
                        <a:latin typeface="Cambria Math" panose="02040503050406030204" pitchFamily="18" charset="0"/>
                        <a:ea typeface="Cambria Math" panose="02040503050406030204" pitchFamily="18" charset="0"/>
                        <a:cs typeface="Noto Sans CJK JP"/>
                      </a:rPr>
                      <m:t>𝜅</m:t>
                    </m:r>
                    <m:r>
                      <a:rPr lang="en-US" altLang="ja-JP" sz="1000" b="0" i="1" smtClean="0">
                        <a:solidFill>
                          <a:schemeClr val="tx1"/>
                        </a:solidFill>
                        <a:latin typeface="Cambria Math" panose="02040503050406030204" pitchFamily="18" charset="0"/>
                        <a:ea typeface="Cambria Math" panose="02040503050406030204" pitchFamily="18" charset="0"/>
                        <a:cs typeface="Noto Sans CJK JP"/>
                      </a:rPr>
                      <m:t>(</m:t>
                    </m:r>
                    <m:r>
                      <a:rPr lang="ja-JP" altLang="en-US" sz="1000" b="0" i="1">
                        <a:solidFill>
                          <a:schemeClr val="tx1"/>
                        </a:solidFill>
                        <a:latin typeface="Cambria Math" panose="02040503050406030204" pitchFamily="18" charset="0"/>
                        <a:ea typeface="Noto Sans CJK JP"/>
                        <a:cs typeface="Noto Sans CJK JP"/>
                      </a:rPr>
                      <m:t>𝑡</m:t>
                    </m:r>
                    <m:r>
                      <a:rPr lang="en-US" altLang="ja-JP" sz="1000" b="0" i="1">
                        <a:solidFill>
                          <a:schemeClr val="tx1"/>
                        </a:solidFill>
                        <a:latin typeface="Cambria Math" panose="02040503050406030204" pitchFamily="18" charset="0"/>
                        <a:ea typeface="Noto Sans CJK JP"/>
                        <a:cs typeface="Noto Sans CJK JP"/>
                      </a:rPr>
                      <m:t>,</m:t>
                    </m:r>
                    <m:r>
                      <a:rPr lang="ja-JP" altLang="en-US" sz="1000" b="0" i="1">
                        <a:solidFill>
                          <a:schemeClr val="tx1"/>
                        </a:solidFill>
                        <a:latin typeface="Cambria Math" panose="02040503050406030204" pitchFamily="18" charset="0"/>
                        <a:ea typeface="Noto Sans CJK JP"/>
                        <a:cs typeface="Noto Sans CJK JP"/>
                      </a:rPr>
                      <m:t>𝑥</m:t>
                    </m:r>
                    <m:r>
                      <a:rPr lang="en-US" altLang="ja-JP" sz="1000" b="0" i="1" smtClean="0">
                        <a:solidFill>
                          <a:schemeClr val="tx1"/>
                        </a:solidFill>
                        <a:latin typeface="Cambria Math" panose="02040503050406030204" pitchFamily="18" charset="0"/>
                        <a:ea typeface="Cambria Math" panose="02040503050406030204" pitchFamily="18" charset="0"/>
                        <a:cs typeface="Noto Sans CJK JP"/>
                      </a:rPr>
                      <m:t>)=</m:t>
                    </m:r>
                    <m:r>
                      <a:rPr lang="en-US" altLang="ja-JP" sz="1000" b="0" i="0" smtClean="0">
                        <a:solidFill>
                          <a:schemeClr val="tx1"/>
                        </a:solidFill>
                        <a:latin typeface="Cambria Math" panose="02040503050406030204" pitchFamily="18" charset="0"/>
                        <a:ea typeface="Cambria Math" panose="02040503050406030204" pitchFamily="18" charset="0"/>
                        <a:cs typeface="Noto Sans CJK JP"/>
                      </a:rPr>
                      <m:t> </m:t>
                    </m:r>
                  </m:oMath>
                </a14:m>
                <a:r>
                  <a:rPr lang="ja-JP" altLang="en-US" sz="1000" dirty="0"/>
                  <a:t>関数のナッシュ均衡</a:t>
                </a:r>
              </a:p>
            </p:txBody>
          </p:sp>
        </mc:Choice>
        <mc:Fallback xmlns="">
          <p:sp>
            <p:nvSpPr>
              <p:cNvPr id="52" name="テキスト ボックス 51">
                <a:extLst>
                  <a:ext uri="{FF2B5EF4-FFF2-40B4-BE49-F238E27FC236}">
                    <a16:creationId xmlns:a16="http://schemas.microsoft.com/office/drawing/2014/main" id="{A056B263-86A2-9736-4629-16F3AA9A96B3}"/>
                  </a:ext>
                </a:extLst>
              </p:cNvPr>
              <p:cNvSpPr txBox="1">
                <a:spLocks noRot="1" noChangeAspect="1" noMove="1" noResize="1" noEditPoints="1" noAdjustHandles="1" noChangeArrowheads="1" noChangeShapeType="1" noTextEdit="1"/>
              </p:cNvSpPr>
              <p:nvPr/>
            </p:nvSpPr>
            <p:spPr>
              <a:xfrm>
                <a:off x="6913821" y="2664100"/>
                <a:ext cx="1888952" cy="246221"/>
              </a:xfrm>
              <a:prstGeom prst="rect">
                <a:avLst/>
              </a:prstGeom>
              <a:blipFill>
                <a:blip r:embed="rId6"/>
                <a:stretch>
                  <a:fillRect b="-12500"/>
                </a:stretch>
              </a:blipFill>
            </p:spPr>
            <p:txBody>
              <a:bodyPr/>
              <a:lstStyle/>
              <a:p>
                <a:r>
                  <a:rPr lang="ja-JP" altLang="en-US">
                    <a:noFill/>
                  </a:rPr>
                  <a:t> </a:t>
                </a:r>
              </a:p>
            </p:txBody>
          </p:sp>
        </mc:Fallback>
      </mc:AlternateContent>
      <p:sp>
        <p:nvSpPr>
          <p:cNvPr id="6" name="s4-role-2">
            <a:extLst>
              <a:ext uri="{FF2B5EF4-FFF2-40B4-BE49-F238E27FC236}">
                <a16:creationId xmlns:a16="http://schemas.microsoft.com/office/drawing/2014/main" id="{84EF7D34-1A6F-7099-3492-3169983F0A88}"/>
              </a:ext>
            </a:extLst>
          </p:cNvPr>
          <p:cNvSpPr>
            <a:spLocks noGrp="1"/>
          </p:cNvSpPr>
          <p:nvPr/>
        </p:nvSpPr>
        <p:spPr>
          <a:xfrm>
            <a:off x="6667844" y="3857627"/>
            <a:ext cx="2134929" cy="357187"/>
          </a:xfrm>
          <a:prstGeom prst="rect">
            <a:avLst/>
          </a:prstGeom>
          <a:noFill/>
          <a:ln w="0">
            <a:noFill/>
            <a:prstDash val="solid"/>
          </a:ln>
        </p:spPr>
        <p:txBody>
          <a:bodyPr wrap="square" lIns="0" tIns="0" rIns="0" bIns="0" anchor="ctr">
            <a:normAutofit/>
          </a:bodyPr>
          <a:lstStyle/>
          <a:p>
            <a:pPr algn="ctr">
              <a:defRPr sz="960" b="0">
                <a:solidFill>
                  <a:srgbClr val="64748B"/>
                </a:solidFill>
                <a:latin typeface="Noto Sans CJK JP"/>
                <a:ea typeface="Noto Sans CJK JP"/>
                <a:cs typeface="Noto Sans CJK JP"/>
              </a:defRPr>
            </a:pPr>
            <a:r>
              <a:rPr lang="en-US" altLang="ja-JP" sz="900" dirty="0">
                <a:solidFill>
                  <a:srgbClr val="64748B"/>
                </a:solidFill>
                <a:latin typeface="Noto Sans CJK JP"/>
                <a:ea typeface="Noto Sans CJK JP"/>
                <a:cs typeface="Noto Sans CJK JP"/>
              </a:rPr>
              <a:t>time-consistent mean-variance</a:t>
            </a:r>
          </a:p>
          <a:p>
            <a:pPr algn="ctr">
              <a:defRPr sz="960" b="0">
                <a:solidFill>
                  <a:srgbClr val="64748B"/>
                </a:solidFill>
                <a:latin typeface="Noto Sans CJK JP"/>
                <a:ea typeface="Noto Sans CJK JP"/>
                <a:cs typeface="Noto Sans CJK JP"/>
              </a:defRPr>
            </a:pPr>
            <a:r>
              <a:rPr lang="en-US" sz="900" b="0" dirty="0">
                <a:solidFill>
                  <a:srgbClr val="64748B"/>
                </a:solidFill>
                <a:latin typeface="Noto Sans CJK JP"/>
                <a:ea typeface="Noto Sans CJK JP"/>
                <a:cs typeface="Noto Sans CJK JP"/>
              </a:rPr>
              <a:t>with wealth dependent variance aversion</a:t>
            </a:r>
            <a:endParaRPr sz="900" b="0" dirty="0">
              <a:solidFill>
                <a:srgbClr val="64748B"/>
              </a:solidFill>
              <a:latin typeface="Noto Sans CJK JP"/>
              <a:ea typeface="Noto Sans CJK JP"/>
              <a:cs typeface="Noto Sans CJK JP"/>
            </a:endParaRPr>
          </a:p>
        </p:txBody>
      </p:sp>
    </p:spTree>
    <p:extLst>
      <p:ext uri="{BB962C8B-B14F-4D97-AF65-F5344CB8AC3E}">
        <p14:creationId xmlns:p14="http://schemas.microsoft.com/office/powerpoint/2010/main" val="875397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AEF9-72A5-A272-198A-C303A66693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A01E56-07F9-1B4C-784C-5964BB3790EE}"/>
              </a:ext>
            </a:extLst>
          </p:cNvPr>
          <p:cNvSpPr>
            <a:spLocks noGrp="1"/>
          </p:cNvSpPr>
          <p:nvPr>
            <p:ph type="title"/>
          </p:nvPr>
        </p:nvSpPr>
        <p:spPr>
          <a:xfrm>
            <a:off x="457200" y="990600"/>
            <a:ext cx="8229600" cy="609600"/>
          </a:xfrm>
        </p:spPr>
        <p:txBody>
          <a:bodyPr wrap="none" lIns="0" tIns="0" rIns="0" bIns="0" anchor="ctr">
            <a:normAutofit/>
          </a:bodyPr>
          <a:lstStyle/>
          <a:p>
            <a:pPr algn="l">
              <a:buNone/>
              <a:defRPr sz="1988" b="1">
                <a:solidFill>
                  <a:srgbClr val="111827"/>
                </a:solidFill>
                <a:latin typeface="Noto Sans CJK JP"/>
                <a:ea typeface="Noto Sans CJK JP"/>
                <a:cs typeface="Noto Sans CJK JP"/>
              </a:defRPr>
            </a:pPr>
            <a:r>
              <a:rPr lang="ja-JP" altLang="en-US" sz="1988" b="1" dirty="0">
                <a:solidFill>
                  <a:srgbClr val="111827"/>
                </a:solidFill>
                <a:latin typeface="Noto Sans CJK JP"/>
                <a:ea typeface="Noto Sans CJK JP"/>
                <a:cs typeface="Noto Sans CJK JP"/>
              </a:rPr>
              <a:t>（参考）</a:t>
            </a:r>
            <a:r>
              <a:rPr sz="1988" b="1" dirty="0" err="1">
                <a:solidFill>
                  <a:srgbClr val="111827"/>
                </a:solidFill>
                <a:latin typeface="Noto Sans CJK JP"/>
                <a:ea typeface="Noto Sans CJK JP"/>
                <a:cs typeface="Noto Sans CJK JP"/>
              </a:rPr>
              <a:t>平均</a:t>
            </a:r>
            <a:r>
              <a:rPr lang="ja-JP" altLang="en-US" sz="1988" dirty="0">
                <a:solidFill>
                  <a:srgbClr val="111827"/>
                </a:solidFill>
                <a:latin typeface="Noto Sans CJK JP"/>
                <a:ea typeface="Noto Sans CJK JP"/>
                <a:cs typeface="Noto Sans CJK JP"/>
              </a:rPr>
              <a:t>・</a:t>
            </a:r>
            <a:r>
              <a:rPr sz="1988" b="1" dirty="0" err="1">
                <a:solidFill>
                  <a:srgbClr val="111827"/>
                </a:solidFill>
                <a:latin typeface="Noto Sans CJK JP"/>
                <a:ea typeface="Noto Sans CJK JP"/>
                <a:cs typeface="Noto Sans CJK JP"/>
              </a:rPr>
              <a:t>分散</a:t>
            </a:r>
            <a:r>
              <a:rPr lang="ja-JP" altLang="en-US" sz="1988" b="1" dirty="0">
                <a:solidFill>
                  <a:srgbClr val="111827"/>
                </a:solidFill>
                <a:latin typeface="Noto Sans CJK JP"/>
                <a:ea typeface="Noto Sans CJK JP"/>
                <a:cs typeface="Noto Sans CJK JP"/>
              </a:rPr>
              <a:t>最適化の定式化</a:t>
            </a:r>
            <a:endParaRPr sz="1988" b="1" dirty="0">
              <a:solidFill>
                <a:srgbClr val="111827"/>
              </a:solidFill>
              <a:latin typeface="Noto Sans CJK JP"/>
              <a:ea typeface="Noto Sans CJK JP"/>
              <a:cs typeface="Noto Sans CJK JP"/>
            </a:endParaRPr>
          </a:p>
        </p:txBody>
      </p:sp>
      <p:sp>
        <p:nvSpPr>
          <p:cNvPr id="3" name="title-divider">
            <a:extLst>
              <a:ext uri="{FF2B5EF4-FFF2-40B4-BE49-F238E27FC236}">
                <a16:creationId xmlns:a16="http://schemas.microsoft.com/office/drawing/2014/main" id="{B873138F-0DA1-AD56-4D1F-8021051E61D9}"/>
              </a:ext>
            </a:extLst>
          </p:cNvPr>
          <p:cNvSpPr>
            <a:spLocks noGrp="1"/>
          </p:cNvSpPr>
          <p:nvPr/>
        </p:nvSpPr>
        <p:spPr>
          <a:xfrm>
            <a:off x="457200" y="1676400"/>
            <a:ext cx="8229600" cy="9525"/>
          </a:xfrm>
          <a:prstGeom prst="rect">
            <a:avLst/>
          </a:prstGeom>
          <a:solidFill>
            <a:srgbClr val="E5EAF0"/>
          </a:solidFill>
          <a:ln w="0">
            <a:noFill/>
            <a:prstDash val="solid"/>
          </a:ln>
        </p:spPr>
      </p:sp>
      <p:sp>
        <p:nvSpPr>
          <p:cNvPr id="4" name="title-accent">
            <a:extLst>
              <a:ext uri="{FF2B5EF4-FFF2-40B4-BE49-F238E27FC236}">
                <a16:creationId xmlns:a16="http://schemas.microsoft.com/office/drawing/2014/main" id="{1000684D-D3CF-B9A5-8055-A6EB4AD3248C}"/>
              </a:ext>
            </a:extLst>
          </p:cNvPr>
          <p:cNvSpPr>
            <a:spLocks noGrp="1"/>
          </p:cNvSpPr>
          <p:nvPr/>
        </p:nvSpPr>
        <p:spPr>
          <a:xfrm>
            <a:off x="457200" y="1666875"/>
            <a:ext cx="552450" cy="38100"/>
          </a:xfrm>
          <a:prstGeom prst="rect">
            <a:avLst/>
          </a:prstGeom>
          <a:solidFill>
            <a:srgbClr val="4A90E2"/>
          </a:solidFill>
          <a:ln w="0">
            <a:noFill/>
            <a:prstDash val="solid"/>
          </a:ln>
        </p:spPr>
      </p:sp>
      <p:sp>
        <p:nvSpPr>
          <p:cNvPr id="8" name="chapter-tab-1">
            <a:extLst>
              <a:ext uri="{FF2B5EF4-FFF2-40B4-BE49-F238E27FC236}">
                <a16:creationId xmlns:a16="http://schemas.microsoft.com/office/drawing/2014/main" id="{297E93F0-46EA-C126-1832-008BF9F8C222}"/>
              </a:ext>
            </a:extLst>
          </p:cNvPr>
          <p:cNvSpPr>
            <a:spLocks noGrp="1"/>
          </p:cNvSpPr>
          <p:nvPr/>
        </p:nvSpPr>
        <p:spPr>
          <a:xfrm>
            <a:off x="457200" y="4857750"/>
            <a:ext cx="2057400" cy="238125"/>
          </a:xfrm>
          <a:prstGeom prst="parallelogram">
            <a:avLst/>
          </a:prstGeom>
          <a:solidFill>
            <a:srgbClr val="4A90E2"/>
          </a:solidFill>
          <a:ln w="11430">
            <a:solidFill>
              <a:srgbClr val="4A90E2"/>
            </a:solidFill>
            <a:prstDash val="solid"/>
          </a:ln>
        </p:spPr>
        <p:txBody>
          <a:bodyPr wrap="none" lIns="76200" tIns="0" rIns="76200" bIns="0" anchor="ctr">
            <a:normAutofit/>
          </a:bodyPr>
          <a:lstStyle/>
          <a:p>
            <a:pPr algn="ctr">
              <a:buNone/>
              <a:defRPr sz="998" b="1">
                <a:solidFill>
                  <a:srgbClr val="FFFFFF"/>
                </a:solidFill>
                <a:latin typeface="Noto Sans CJK JP"/>
                <a:ea typeface="Noto Sans CJK JP"/>
                <a:cs typeface="Noto Sans CJK JP"/>
              </a:defRPr>
            </a:pPr>
            <a:r>
              <a:rPr sz="998" b="1">
                <a:solidFill>
                  <a:srgbClr val="FFFFFF"/>
                </a:solidFill>
                <a:latin typeface="Noto Sans CJK JP"/>
                <a:ea typeface="Noto Sans CJK JP"/>
                <a:cs typeface="Noto Sans CJK JP"/>
              </a:rPr>
              <a:t>1 前提</a:t>
            </a:r>
          </a:p>
        </p:txBody>
      </p:sp>
      <p:sp>
        <p:nvSpPr>
          <p:cNvPr id="9" name="chapter-tab-2">
            <a:extLst>
              <a:ext uri="{FF2B5EF4-FFF2-40B4-BE49-F238E27FC236}">
                <a16:creationId xmlns:a16="http://schemas.microsoft.com/office/drawing/2014/main" id="{EAAFA0B2-9F5B-A05A-352B-2A53B4E15F25}"/>
              </a:ext>
            </a:extLst>
          </p:cNvPr>
          <p:cNvSpPr>
            <a:spLocks noGrp="1"/>
          </p:cNvSpPr>
          <p:nvPr/>
        </p:nvSpPr>
        <p:spPr>
          <a:xfrm>
            <a:off x="2428875" y="4857750"/>
            <a:ext cx="2057400" cy="238125"/>
          </a:xfrm>
          <a:prstGeom prst="parallelogram">
            <a:avLst/>
          </a:prstGeom>
          <a:solidFill>
            <a:srgbClr val="FFFFFF"/>
          </a:solidFill>
          <a:ln w="10001">
            <a:solidFill>
              <a:srgbClr val="2F73B7"/>
            </a:solidFill>
            <a:prstDash val="solid"/>
          </a:ln>
        </p:spPr>
        <p:txBody>
          <a:bodyPr wrap="none" lIns="76200" tIns="0" rIns="76200" bIns="0" anchor="ctr">
            <a:normAutofit/>
          </a:bodyPr>
          <a:lstStyle/>
          <a:p>
            <a:pPr algn="ctr">
              <a:buNone/>
              <a:defRPr sz="998" b="1">
                <a:solidFill>
                  <a:srgbClr val="2F73B7"/>
                </a:solidFill>
                <a:latin typeface="Noto Sans CJK JP"/>
                <a:ea typeface="Noto Sans CJK JP"/>
                <a:cs typeface="Noto Sans CJK JP"/>
              </a:defRPr>
            </a:pPr>
            <a:r>
              <a:rPr sz="998" b="1">
                <a:solidFill>
                  <a:srgbClr val="2F73B7"/>
                </a:solidFill>
                <a:latin typeface="Noto Sans CJK JP"/>
                <a:ea typeface="Noto Sans CJK JP"/>
                <a:cs typeface="Noto Sans CJK JP"/>
              </a:rPr>
              <a:t>2 数理理論</a:t>
            </a:r>
          </a:p>
        </p:txBody>
      </p:sp>
      <p:sp>
        <p:nvSpPr>
          <p:cNvPr id="10" name="chapter-tab-3">
            <a:extLst>
              <a:ext uri="{FF2B5EF4-FFF2-40B4-BE49-F238E27FC236}">
                <a16:creationId xmlns:a16="http://schemas.microsoft.com/office/drawing/2014/main" id="{7ABE6589-E54F-0A93-6511-B163BF0356D4}"/>
              </a:ext>
            </a:extLst>
          </p:cNvPr>
          <p:cNvSpPr>
            <a:spLocks noGrp="1"/>
          </p:cNvSpPr>
          <p:nvPr/>
        </p:nvSpPr>
        <p:spPr>
          <a:xfrm>
            <a:off x="4400550" y="4857750"/>
            <a:ext cx="2057400" cy="238125"/>
          </a:xfrm>
          <a:prstGeom prst="parallelogram">
            <a:avLst/>
          </a:prstGeom>
          <a:solidFill>
            <a:srgbClr val="FFFFFF"/>
          </a:solidFill>
          <a:ln w="10001">
            <a:solidFill>
              <a:srgbClr val="2A8F6A"/>
            </a:solidFill>
            <a:prstDash val="solid"/>
          </a:ln>
        </p:spPr>
        <p:txBody>
          <a:bodyPr wrap="none" lIns="76200" tIns="0" rIns="76200" bIns="0" anchor="ctr">
            <a:normAutofit/>
          </a:bodyPr>
          <a:lstStyle/>
          <a:p>
            <a:pPr algn="ctr">
              <a:buNone/>
              <a:defRPr sz="998" b="1">
                <a:solidFill>
                  <a:srgbClr val="2A8F6A"/>
                </a:solidFill>
                <a:latin typeface="Noto Sans CJK JP"/>
                <a:ea typeface="Noto Sans CJK JP"/>
                <a:cs typeface="Noto Sans CJK JP"/>
              </a:defRPr>
            </a:pPr>
            <a:r>
              <a:rPr sz="998" b="1">
                <a:solidFill>
                  <a:srgbClr val="2A8F6A"/>
                </a:solidFill>
                <a:latin typeface="Noto Sans CJK JP"/>
                <a:ea typeface="Noto Sans CJK JP"/>
                <a:cs typeface="Noto Sans CJK JP"/>
              </a:rPr>
              <a:t>3 シミュレーション</a:t>
            </a:r>
          </a:p>
        </p:txBody>
      </p:sp>
      <p:sp>
        <p:nvSpPr>
          <p:cNvPr id="11" name="chapter-tab-4">
            <a:extLst>
              <a:ext uri="{FF2B5EF4-FFF2-40B4-BE49-F238E27FC236}">
                <a16:creationId xmlns:a16="http://schemas.microsoft.com/office/drawing/2014/main" id="{B7009ADC-8DDA-06B3-88A6-F48B03227D69}"/>
              </a:ext>
            </a:extLst>
          </p:cNvPr>
          <p:cNvSpPr>
            <a:spLocks noGrp="1"/>
          </p:cNvSpPr>
          <p:nvPr/>
        </p:nvSpPr>
        <p:spPr>
          <a:xfrm>
            <a:off x="6372225" y="4857750"/>
            <a:ext cx="2057400" cy="238125"/>
          </a:xfrm>
          <a:prstGeom prst="parallelogram">
            <a:avLst/>
          </a:prstGeom>
          <a:solidFill>
            <a:srgbClr val="FFFFFF"/>
          </a:solidFill>
          <a:ln w="10001">
            <a:solidFill>
              <a:srgbClr val="C9534B"/>
            </a:solidFill>
            <a:prstDash val="solid"/>
          </a:ln>
        </p:spPr>
        <p:txBody>
          <a:bodyPr wrap="none" lIns="76200" tIns="0" rIns="76200" bIns="0" anchor="ctr">
            <a:normAutofit/>
          </a:bodyPr>
          <a:lstStyle/>
          <a:p>
            <a:pPr algn="ctr">
              <a:buNone/>
              <a:defRPr sz="998" b="1">
                <a:solidFill>
                  <a:srgbClr val="C9534B"/>
                </a:solidFill>
                <a:latin typeface="Noto Sans CJK JP"/>
                <a:ea typeface="Noto Sans CJK JP"/>
                <a:cs typeface="Noto Sans CJK JP"/>
              </a:defRPr>
            </a:pPr>
            <a:r>
              <a:rPr sz="998" b="1">
                <a:solidFill>
                  <a:srgbClr val="C9534B"/>
                </a:solidFill>
                <a:latin typeface="Noto Sans CJK JP"/>
                <a:ea typeface="Noto Sans CJK JP"/>
                <a:cs typeface="Noto Sans CJK JP"/>
              </a:rPr>
              <a:t>4 結論</a:t>
            </a:r>
          </a:p>
        </p:txBody>
      </p:sp>
      <mc:AlternateContent xmlns:mc="http://schemas.openxmlformats.org/markup-compatibility/2006" xmlns:a14="http://schemas.microsoft.com/office/drawing/2010/main">
        <mc:Choice Requires="a14">
          <p:graphicFrame>
            <p:nvGraphicFramePr>
              <p:cNvPr id="57" name="表 56">
                <a:extLst>
                  <a:ext uri="{FF2B5EF4-FFF2-40B4-BE49-F238E27FC236}">
                    <a16:creationId xmlns:a16="http://schemas.microsoft.com/office/drawing/2014/main" id="{F99C11E0-DF0C-FCA4-E8DD-8F3EB46E4240}"/>
                  </a:ext>
                </a:extLst>
              </p:cNvPr>
              <p:cNvGraphicFramePr/>
              <p:nvPr>
                <p:extLst>
                  <p:ext uri="{D42A27DB-BD31-4B8C-83A1-F6EECF244321}">
                    <p14:modId xmlns:p14="http://schemas.microsoft.com/office/powerpoint/2010/main" val="2039764534"/>
                  </p:ext>
                </p:extLst>
              </p:nvPr>
            </p:nvGraphicFramePr>
            <p:xfrm>
              <a:off x="457200" y="1886944"/>
              <a:ext cx="8280400" cy="2789166"/>
            </p:xfrm>
            <a:graphic>
              <a:graphicData uri="http://schemas.openxmlformats.org/drawingml/2006/table">
                <a:tbl>
                  <a:tblPr/>
                  <a:tblGrid>
                    <a:gridCol w="724141">
                      <a:extLst>
                        <a:ext uri="{9D8B030D-6E8A-4147-A177-3AD203B41FA5}">
                          <a16:colId xmlns:a16="http://schemas.microsoft.com/office/drawing/2014/main" val="20000"/>
                        </a:ext>
                      </a:extLst>
                    </a:gridCol>
                    <a:gridCol w="1491740">
                      <a:extLst>
                        <a:ext uri="{9D8B030D-6E8A-4147-A177-3AD203B41FA5}">
                          <a16:colId xmlns:a16="http://schemas.microsoft.com/office/drawing/2014/main" val="20001"/>
                        </a:ext>
                      </a:extLst>
                    </a:gridCol>
                    <a:gridCol w="2916077">
                      <a:extLst>
                        <a:ext uri="{9D8B030D-6E8A-4147-A177-3AD203B41FA5}">
                          <a16:colId xmlns:a16="http://schemas.microsoft.com/office/drawing/2014/main" val="20002"/>
                        </a:ext>
                      </a:extLst>
                    </a:gridCol>
                    <a:gridCol w="1370442">
                      <a:extLst>
                        <a:ext uri="{9D8B030D-6E8A-4147-A177-3AD203B41FA5}">
                          <a16:colId xmlns:a16="http://schemas.microsoft.com/office/drawing/2014/main" val="20003"/>
                        </a:ext>
                      </a:extLst>
                    </a:gridCol>
                    <a:gridCol w="1778000">
                      <a:extLst>
                        <a:ext uri="{9D8B030D-6E8A-4147-A177-3AD203B41FA5}">
                          <a16:colId xmlns:a16="http://schemas.microsoft.com/office/drawing/2014/main" val="4135616146"/>
                        </a:ext>
                      </a:extLst>
                    </a:gridCol>
                  </a:tblGrid>
                  <a:tr h="319395">
                    <a:tc>
                      <a:txBody>
                        <a:bodyPr/>
                        <a:lstStyle/>
                        <a:p>
                          <a:pPr algn="ctr">
                            <a:buNone/>
                          </a:pPr>
                          <a:r>
                            <a:rPr sz="1163" b="1" dirty="0" err="1">
                              <a:solidFill>
                                <a:srgbClr val="2F73B7"/>
                              </a:solidFill>
                              <a:latin typeface="Noto Sans CJK JP"/>
                              <a:ea typeface="Noto Sans CJK JP"/>
                              <a:cs typeface="Noto Sans CJK JP"/>
                            </a:rPr>
                            <a:t>解概念</a:t>
                          </a:r>
                          <a:endParaRPr sz="1163" b="1" dirty="0">
                            <a:solidFill>
                              <a:srgbClr val="2F73B7"/>
                            </a:solidFill>
                            <a:latin typeface="Noto Sans CJK JP"/>
                            <a:ea typeface="Noto Sans CJK JP"/>
                            <a:cs typeface="Noto Sans CJK JP"/>
                          </a:endParaRPr>
                        </a:p>
                      </a:txBody>
                      <a:tcPr anchor="ctr">
                        <a:solidFill>
                          <a:srgbClr val="EAF3FB"/>
                        </a:solidFill>
                      </a:tcPr>
                    </a:tc>
                    <a:tc>
                      <a:txBody>
                        <a:bodyPr/>
                        <a:lstStyle/>
                        <a:p>
                          <a:pPr algn="ctr">
                            <a:buNone/>
                          </a:pPr>
                          <a:r>
                            <a:rPr sz="1163" b="1" dirty="0" err="1">
                              <a:solidFill>
                                <a:srgbClr val="2F73B7"/>
                              </a:solidFill>
                              <a:latin typeface="Noto Sans CJK JP"/>
                              <a:ea typeface="Noto Sans CJK JP"/>
                              <a:cs typeface="Noto Sans CJK JP"/>
                            </a:rPr>
                            <a:t>決定原理</a:t>
                          </a:r>
                          <a:endParaRPr sz="1163" b="1" dirty="0">
                            <a:solidFill>
                              <a:srgbClr val="2F73B7"/>
                            </a:solidFill>
                            <a:latin typeface="Noto Sans CJK JP"/>
                            <a:ea typeface="Noto Sans CJK JP"/>
                            <a:cs typeface="Noto Sans CJK JP"/>
                          </a:endParaRPr>
                        </a:p>
                      </a:txBody>
                      <a:tcPr anchor="ctr">
                        <a:solidFill>
                          <a:srgbClr val="EAF3FB"/>
                        </a:solidFill>
                      </a:tcPr>
                    </a:tc>
                    <a:tc>
                      <a:txBody>
                        <a:bodyPr/>
                        <a:lstStyle/>
                        <a:p>
                          <a:pPr algn="ctr">
                            <a:buNone/>
                          </a:pPr>
                          <a:r>
                            <a:rPr sz="1163" b="1" dirty="0" err="1">
                              <a:solidFill>
                                <a:srgbClr val="2F73B7"/>
                              </a:solidFill>
                              <a:latin typeface="Noto Sans CJK JP"/>
                              <a:ea typeface="Noto Sans CJK JP"/>
                              <a:cs typeface="Noto Sans CJK JP"/>
                            </a:rPr>
                            <a:t>中心となる基準</a:t>
                          </a:r>
                          <a:endParaRPr sz="1163" b="1" dirty="0">
                            <a:solidFill>
                              <a:srgbClr val="2F73B7"/>
                            </a:solidFill>
                            <a:latin typeface="Noto Sans CJK JP"/>
                            <a:ea typeface="Noto Sans CJK JP"/>
                            <a:cs typeface="Noto Sans CJK JP"/>
                          </a:endParaRPr>
                        </a:p>
                      </a:txBody>
                      <a:tcPr anchor="ctr">
                        <a:solidFill>
                          <a:srgbClr val="EAF3FB"/>
                        </a:solidFill>
                      </a:tcPr>
                    </a:tc>
                    <a:tc>
                      <a:txBody>
                        <a:bodyPr/>
                        <a:lstStyle/>
                        <a:p>
                          <a:pPr algn="ctr">
                            <a:buNone/>
                          </a:pPr>
                          <a:r>
                            <a:rPr lang="ja-JP" altLang="en-US" sz="1163" b="1" dirty="0">
                              <a:solidFill>
                                <a:srgbClr val="2F73B7"/>
                              </a:solidFill>
                              <a:latin typeface="Noto Sans CJK JP"/>
                              <a:ea typeface="Noto Sans CJK JP"/>
                              <a:cs typeface="Noto Sans CJK JP"/>
                            </a:rPr>
                            <a:t>最適化手法</a:t>
                          </a:r>
                          <a:endParaRPr sz="1163" b="1" dirty="0">
                            <a:solidFill>
                              <a:srgbClr val="2F73B7"/>
                            </a:solidFill>
                            <a:latin typeface="Noto Sans CJK JP"/>
                            <a:ea typeface="Noto Sans CJK JP"/>
                            <a:cs typeface="Noto Sans CJK JP"/>
                          </a:endParaRPr>
                        </a:p>
                      </a:txBody>
                      <a:tcPr anchor="ctr">
                        <a:solidFill>
                          <a:srgbClr val="EAF3FB"/>
                        </a:solidFill>
                      </a:tcPr>
                    </a:tc>
                    <a:tc>
                      <a:txBody>
                        <a:bodyPr/>
                        <a:lstStyle/>
                        <a:p>
                          <a:pPr algn="ctr">
                            <a:buNone/>
                          </a:pPr>
                          <a:r>
                            <a:rPr lang="ja-JP" altLang="en-US" sz="1163" b="1" dirty="0">
                              <a:solidFill>
                                <a:srgbClr val="2F73B7"/>
                              </a:solidFill>
                              <a:latin typeface="Noto Sans CJK JP"/>
                              <a:ea typeface="Noto Sans CJK JP"/>
                              <a:cs typeface="Noto Sans CJK JP"/>
                            </a:rPr>
                            <a:t>無制約解（</a:t>
                          </a:r>
                          <a14:m>
                            <m:oMath xmlns:m="http://schemas.openxmlformats.org/officeDocument/2006/math">
                              <m:r>
                                <m:rPr>
                                  <m:sty m:val="p"/>
                                </m:rPr>
                                <a:rPr lang="en-US" altLang="ja-JP" sz="1100" i="0" smtClean="0">
                                  <a:solidFill>
                                    <a:srgbClr val="2F73B7"/>
                                  </a:solidFill>
                                  <a:latin typeface="Cambria Math" panose="02040503050406030204" pitchFamily="18" charset="0"/>
                                  <a:ea typeface="Cambria Math" panose="02040503050406030204" pitchFamily="18" charset="0"/>
                                  <a:cs typeface="Noto Sans CJK JP"/>
                                </a:rPr>
                                <m:t>y</m:t>
                              </m:r>
                              <m:r>
                                <a:rPr lang="en-US" altLang="ja-JP" sz="1100" i="1">
                                  <a:solidFill>
                                    <a:srgbClr val="2F73B7"/>
                                  </a:solidFill>
                                  <a:latin typeface="Cambria Math" panose="02040503050406030204" pitchFamily="18" charset="0"/>
                                  <a:ea typeface="Cambria Math" panose="02040503050406030204" pitchFamily="18" charset="0"/>
                                  <a:cs typeface="Noto Sans CJK JP"/>
                                </a:rPr>
                                <m:t>=</m:t>
                              </m:r>
                              <m:r>
                                <a:rPr lang="ja-JP" altLang="en-US" sz="1100" i="1">
                                  <a:solidFill>
                                    <a:srgbClr val="2F73B7"/>
                                  </a:solidFill>
                                  <a:latin typeface="Cambria Math" panose="02040503050406030204" pitchFamily="18" charset="0"/>
                                  <a:ea typeface="Noto Sans CJK JP"/>
                                  <a:cs typeface="Noto Sans CJK JP"/>
                                </a:rPr>
                                <m:t>𝑥</m:t>
                              </m:r>
                              <m:r>
                                <a:rPr lang="en-US" altLang="ja-JP" sz="1100" b="0" i="1" smtClean="0">
                                  <a:solidFill>
                                    <a:srgbClr val="2F73B7"/>
                                  </a:solidFill>
                                  <a:latin typeface="Cambria Math" panose="02040503050406030204" pitchFamily="18" charset="0"/>
                                  <a:ea typeface="Noto Sans CJK JP"/>
                                  <a:cs typeface="Noto Sans CJK JP"/>
                                </a:rPr>
                                <m:t>+</m:t>
                              </m:r>
                              <m:r>
                                <m:rPr>
                                  <m:sty m:val="p"/>
                                </m:rPr>
                                <a:rPr lang="en-US" altLang="ja-JP" sz="1100" b="0" i="1" smtClean="0">
                                  <a:solidFill>
                                    <a:srgbClr val="2F73B7"/>
                                  </a:solidFill>
                                  <a:latin typeface="Cambria Math" panose="02040503050406030204" pitchFamily="18" charset="0"/>
                                  <a:ea typeface="Noto Sans CJK JP"/>
                                  <a:cs typeface="Noto Sans CJK JP"/>
                                </a:rPr>
                                <m:t>H</m:t>
                              </m:r>
                            </m:oMath>
                          </a14:m>
                          <a:r>
                            <a:rPr lang="ja-JP" altLang="en-US" sz="1163" b="1" dirty="0">
                              <a:solidFill>
                                <a:srgbClr val="2F73B7"/>
                              </a:solidFill>
                              <a:latin typeface="Noto Sans CJK JP"/>
                              <a:ea typeface="Noto Sans CJK JP"/>
                              <a:cs typeface="Noto Sans CJK JP"/>
                            </a:rPr>
                            <a:t>）</a:t>
                          </a:r>
                          <a:endParaRPr sz="1163" b="1" dirty="0">
                            <a:solidFill>
                              <a:srgbClr val="2F73B7"/>
                            </a:solidFill>
                            <a:latin typeface="Noto Sans CJK JP"/>
                            <a:ea typeface="Noto Sans CJK JP"/>
                            <a:cs typeface="Noto Sans CJK JP"/>
                          </a:endParaRPr>
                        </a:p>
                      </a:txBody>
                      <a:tcPr anchor="ctr">
                        <a:solidFill>
                          <a:srgbClr val="EAF3FB"/>
                        </a:solidFill>
                      </a:tcPr>
                    </a:tc>
                    <a:extLst>
                      <a:ext uri="{0D108BD9-81ED-4DB2-BD59-A6C34878D82A}">
                        <a16:rowId xmlns:a16="http://schemas.microsoft.com/office/drawing/2014/main" val="10000"/>
                      </a:ext>
                    </a:extLst>
                  </a:tr>
                  <a:tr h="613707">
                    <a:tc>
                      <a:txBody>
                        <a:bodyPr/>
                        <a:lstStyle/>
                        <a:p>
                          <a:pPr algn="ctr">
                            <a:buNone/>
                          </a:pPr>
                          <a:r>
                            <a:rPr sz="1200" b="1" dirty="0">
                              <a:solidFill>
                                <a:srgbClr val="2F73B7"/>
                              </a:solidFill>
                              <a:latin typeface="Century Gothic"/>
                              <a:ea typeface="Century Gothic"/>
                              <a:cs typeface="Century Gothic"/>
                            </a:rPr>
                            <a:t>PCMV</a:t>
                          </a:r>
                        </a:p>
                      </a:txBody>
                      <a:tcPr anchor="ctr">
                        <a:solidFill>
                          <a:schemeClr val="bg1"/>
                        </a:solidFill>
                      </a:tcPr>
                    </a:tc>
                    <a:tc>
                      <a:txBody>
                        <a:bodyPr/>
                        <a:lstStyle/>
                        <a:p>
                          <a:pPr algn="l">
                            <a:buNone/>
                          </a:pPr>
                          <a:r>
                            <a:rPr sz="1125" b="0" dirty="0">
                              <a:solidFill>
                                <a:srgbClr val="111827"/>
                              </a:solidFill>
                              <a:latin typeface="Noto Sans CJK JP"/>
                              <a:ea typeface="Noto Sans CJK JP"/>
                              <a:cs typeface="Noto Sans CJK JP"/>
                            </a:rPr>
                            <a:t>時点0でコミット</a:t>
                          </a:r>
                        </a:p>
                      </a:txBody>
                      <a:tcPr anchor="ctr">
                        <a:solidFill>
                          <a:schemeClr val="bg1"/>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lang="en-US" altLang="ja-JP" sz="1200" i="1" dirty="0">
                            <a:latin typeface="Cambria Math" panose="02040503050406030204" pitchFamily="18" charset="0"/>
                            <a:ea typeface="Cambria Math" panose="02040503050406030204" pitchFamily="18" charset="0"/>
                            <a:cs typeface="Noto Sans CJK JP"/>
                          </a:endParaRPr>
                        </a:p>
                        <a:p>
                          <a:pPr marL="0" marR="0" lvl="0" indent="0" algn="l"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ja-JP" altLang="ar-AE" sz="1200" i="1">
                                        <a:latin typeface="Cambria Math" panose="02040503050406030204" pitchFamily="18" charset="0"/>
                                        <a:ea typeface="Cambria Math" panose="02040503050406030204" pitchFamily="18" charset="0"/>
                                        <a:cs typeface="Noto Sans CJK JP"/>
                                      </a:rPr>
                                    </m:ctrlPr>
                                  </m:sSubPr>
                                  <m:e>
                                    <m:r>
                                      <a:rPr lang="ja-JP" altLang="ar-AE" sz="1200" i="1">
                                        <a:latin typeface="Cambria Math" panose="02040503050406030204" pitchFamily="18" charset="0"/>
                                        <a:ea typeface="Cambria Math" panose="02040503050406030204" pitchFamily="18" charset="0"/>
                                        <a:cs typeface="Noto Sans CJK JP"/>
                                      </a:rPr>
                                      <m:t>𝐸</m:t>
                                    </m:r>
                                  </m:e>
                                  <m:sub>
                                    <m:r>
                                      <a:rPr lang="en-US" altLang="ja-JP" sz="1200" b="0" i="1" smtClean="0">
                                        <a:latin typeface="Cambria Math" panose="02040503050406030204" pitchFamily="18" charset="0"/>
                                        <a:ea typeface="Cambria Math" panose="02040503050406030204" pitchFamily="18" charset="0"/>
                                        <a:cs typeface="Noto Sans CJK JP"/>
                                      </a:rPr>
                                      <m:t>0</m:t>
                                    </m:r>
                                  </m:sub>
                                </m:sSub>
                                <m:d>
                                  <m:dPr>
                                    <m:begChr m:val="["/>
                                    <m:endChr m:val="]"/>
                                    <m:ctrlPr>
                                      <a:rPr lang="ja-JP" altLang="ar-AE" sz="1200" i="1">
                                        <a:latin typeface="Cambria Math" panose="02040503050406030204" pitchFamily="18" charset="0"/>
                                        <a:ea typeface="Cambria Math" panose="02040503050406030204" pitchFamily="18" charset="0"/>
                                        <a:cs typeface="Noto Sans CJK JP"/>
                                      </a:rPr>
                                    </m:ctrlPr>
                                  </m:dPr>
                                  <m:e>
                                    <m:sSub>
                                      <m:sSubPr>
                                        <m:ctrlPr>
                                          <a:rPr lang="ja-JP" altLang="ar-AE" sz="1200" i="1">
                                            <a:latin typeface="Cambria Math" panose="02040503050406030204" pitchFamily="18" charset="0"/>
                                            <a:ea typeface="Cambria Math" panose="02040503050406030204" pitchFamily="18" charset="0"/>
                                            <a:cs typeface="Noto Sans CJK JP"/>
                                          </a:rPr>
                                        </m:ctrlPr>
                                      </m:sSubPr>
                                      <m:e>
                                        <m:r>
                                          <a:rPr lang="ja-JP" altLang="ar-AE" sz="1200" i="1">
                                            <a:latin typeface="Cambria Math" panose="02040503050406030204" pitchFamily="18" charset="0"/>
                                            <a:ea typeface="Cambria Math" panose="02040503050406030204" pitchFamily="18" charset="0"/>
                                            <a:cs typeface="Noto Sans CJK JP"/>
                                          </a:rPr>
                                          <m:t>𝑋</m:t>
                                        </m:r>
                                      </m:e>
                                      <m:sub>
                                        <m:r>
                                          <a:rPr lang="en-US" altLang="ja-JP" sz="1200" i="1">
                                            <a:latin typeface="Cambria Math" panose="02040503050406030204" pitchFamily="18" charset="0"/>
                                            <a:ea typeface="Cambria Math" panose="02040503050406030204" pitchFamily="18" charset="0"/>
                                            <a:cs typeface="Noto Sans CJK JP"/>
                                          </a:rPr>
                                          <m:t>𝑇</m:t>
                                        </m:r>
                                      </m:sub>
                                    </m:sSub>
                                    <m:r>
                                      <a:rPr lang="en-US" altLang="ja-JP" sz="1200" i="1">
                                        <a:latin typeface="Cambria Math" panose="02040503050406030204" pitchFamily="18" charset="0"/>
                                        <a:ea typeface="Cambria Math" panose="02040503050406030204" pitchFamily="18" charset="0"/>
                                        <a:cs typeface="Noto Sans CJK JP"/>
                                      </a:rPr>
                                      <m:t>|</m:t>
                                    </m:r>
                                    <m:sSub>
                                      <m:sSubPr>
                                        <m:ctrlPr>
                                          <a:rPr lang="ja-JP" altLang="ar-AE" sz="1200" i="1">
                                            <a:latin typeface="Cambria Math" panose="02040503050406030204" pitchFamily="18" charset="0"/>
                                            <a:ea typeface="Cambria Math" panose="02040503050406030204" pitchFamily="18" charset="0"/>
                                            <a:cs typeface="Noto Sans CJK JP"/>
                                          </a:rPr>
                                        </m:ctrlPr>
                                      </m:sSubPr>
                                      <m:e>
                                        <m:r>
                                          <a:rPr lang="ja-JP" altLang="ar-AE" sz="1200" i="1">
                                            <a:latin typeface="Cambria Math" panose="02040503050406030204" pitchFamily="18" charset="0"/>
                                            <a:ea typeface="Cambria Math" panose="02040503050406030204" pitchFamily="18" charset="0"/>
                                            <a:cs typeface="Noto Sans CJK JP"/>
                                          </a:rPr>
                                          <m:t>𝑋</m:t>
                                        </m:r>
                                      </m:e>
                                      <m:sub>
                                        <m:r>
                                          <a:rPr lang="en-US" altLang="ja-JP" sz="1200" b="0" i="1" smtClean="0">
                                            <a:latin typeface="Cambria Math" panose="02040503050406030204" pitchFamily="18" charset="0"/>
                                            <a:ea typeface="Cambria Math" panose="02040503050406030204" pitchFamily="18" charset="0"/>
                                            <a:cs typeface="Noto Sans CJK JP"/>
                                          </a:rPr>
                                          <m:t>0</m:t>
                                        </m:r>
                                      </m:sub>
                                    </m:sSub>
                                    <m:r>
                                      <a:rPr lang="en-US" altLang="ja-JP" sz="1200" i="1">
                                        <a:latin typeface="Cambria Math" panose="02040503050406030204" pitchFamily="18" charset="0"/>
                                        <a:ea typeface="Cambria Math" panose="02040503050406030204" pitchFamily="18" charset="0"/>
                                        <a:cs typeface="Noto Sans CJK JP"/>
                                      </a:rPr>
                                      <m:t>=</m:t>
                                    </m:r>
                                    <m:r>
                                      <a:rPr lang="ja-JP" altLang="en-US" sz="1200" i="1">
                                        <a:latin typeface="Cambria Math" panose="02040503050406030204" pitchFamily="18" charset="0"/>
                                        <a:ea typeface="Noto Sans CJK JP"/>
                                        <a:cs typeface="Noto Sans CJK JP"/>
                                      </a:rPr>
                                      <m:t>𝑥</m:t>
                                    </m:r>
                                  </m:e>
                                </m:d>
                                <m:r>
                                  <a:rPr lang="ar-AE" altLang="ja-JP" sz="1200" i="1">
                                    <a:latin typeface="Cambria Math" panose="02040503050406030204" pitchFamily="18" charset="0"/>
                                    <a:ea typeface="Cambria Math" panose="02040503050406030204" pitchFamily="18" charset="0"/>
                                    <a:cs typeface="Noto Sans CJK JP"/>
                                  </a:rPr>
                                  <m:t>−</m:t>
                                </m:r>
                                <m:sSub>
                                  <m:sSubPr>
                                    <m:ctrlPr>
                                      <a:rPr lang="ja-JP" altLang="ar-AE" sz="1200" i="1" smtClean="0">
                                        <a:latin typeface="Cambria Math" panose="02040503050406030204" pitchFamily="18" charset="0"/>
                                        <a:ea typeface="Cambria Math" panose="02040503050406030204" pitchFamily="18" charset="0"/>
                                        <a:cs typeface="Noto Sans CJK JP"/>
                                      </a:rPr>
                                    </m:ctrlPr>
                                  </m:sSubPr>
                                  <m:e>
                                    <m:r>
                                      <a:rPr lang="ja-JP" altLang="ar-AE" sz="1200" i="1" smtClean="0">
                                        <a:latin typeface="Cambria Math" panose="02040503050406030204" pitchFamily="18" charset="0"/>
                                        <a:ea typeface="Cambria Math" panose="02040503050406030204" pitchFamily="18" charset="0"/>
                                        <a:cs typeface="Noto Sans CJK JP"/>
                                      </a:rPr>
                                      <m:t>𝜅</m:t>
                                    </m:r>
                                  </m:e>
                                  <m:sub>
                                    <m:r>
                                      <m:rPr>
                                        <m:sty m:val="p"/>
                                      </m:rPr>
                                      <a:rPr lang="en-US" altLang="ja-JP" sz="1200" b="0" i="1" smtClean="0">
                                        <a:latin typeface="Cambria Math" panose="02040503050406030204" pitchFamily="18" charset="0"/>
                                        <a:ea typeface="Cambria Math" panose="02040503050406030204" pitchFamily="18" charset="0"/>
                                        <a:cs typeface="Noto Sans CJK JP"/>
                                      </a:rPr>
                                      <m:t>P</m:t>
                                    </m:r>
                                  </m:sub>
                                </m:sSub>
                                <m:r>
                                  <a:rPr lang="en-US" altLang="ja-JP" sz="1200" b="0" i="1" smtClean="0">
                                    <a:latin typeface="Cambria Math" panose="02040503050406030204" pitchFamily="18" charset="0"/>
                                    <a:ea typeface="Cambria Math" panose="02040503050406030204" pitchFamily="18" charset="0"/>
                                    <a:cs typeface="Noto Sans CJK JP"/>
                                  </a:rPr>
                                  <m:t>∗</m:t>
                                </m:r>
                                <m:r>
                                  <a:rPr lang="ja-JP" altLang="ar-AE" sz="1200" i="1">
                                    <a:latin typeface="Cambria Math" panose="02040503050406030204" pitchFamily="18" charset="0"/>
                                    <a:ea typeface="Cambria Math" panose="02040503050406030204" pitchFamily="18" charset="0"/>
                                    <a:cs typeface="Noto Sans CJK JP"/>
                                  </a:rPr>
                                  <m:t>𝑉</m:t>
                                </m:r>
                                <m:r>
                                  <a:rPr lang="en-US" altLang="ja-JP" sz="1200" i="1">
                                    <a:latin typeface="Cambria Math" panose="02040503050406030204" pitchFamily="18" charset="0"/>
                                    <a:ea typeface="Cambria Math" panose="02040503050406030204" pitchFamily="18" charset="0"/>
                                    <a:cs typeface="Noto Sans CJK JP"/>
                                  </a:rPr>
                                  <m:t>𝑎</m:t>
                                </m:r>
                                <m:sSub>
                                  <m:sSubPr>
                                    <m:ctrlPr>
                                      <a:rPr lang="en-US" altLang="ja-JP" sz="1200" b="0" i="1" smtClean="0">
                                        <a:solidFill>
                                          <a:schemeClr val="tx1"/>
                                        </a:solidFill>
                                        <a:latin typeface="Cambria Math" panose="02040503050406030204" pitchFamily="18" charset="0"/>
                                        <a:ea typeface="Cambria Math" panose="02040503050406030204" pitchFamily="18" charset="0"/>
                                        <a:cs typeface="Noto Sans CJK JP"/>
                                      </a:rPr>
                                    </m:ctrlPr>
                                  </m:sSubPr>
                                  <m:e>
                                    <m:r>
                                      <a:rPr lang="en-US" altLang="ja-JP" sz="1200" b="0" i="1" smtClean="0">
                                        <a:solidFill>
                                          <a:schemeClr val="tx1"/>
                                        </a:solidFill>
                                        <a:latin typeface="Cambria Math" panose="02040503050406030204" pitchFamily="18" charset="0"/>
                                        <a:ea typeface="Cambria Math" panose="02040503050406030204" pitchFamily="18" charset="0"/>
                                        <a:cs typeface="Noto Sans CJK JP"/>
                                      </a:rPr>
                                      <m:t>𝑟</m:t>
                                    </m:r>
                                  </m:e>
                                  <m:sub>
                                    <m:r>
                                      <a:rPr lang="en-US" altLang="ja-JP" sz="1200" b="0" i="1" smtClean="0">
                                        <a:solidFill>
                                          <a:schemeClr val="tx1"/>
                                        </a:solidFill>
                                        <a:latin typeface="Cambria Math" panose="02040503050406030204" pitchFamily="18" charset="0"/>
                                        <a:ea typeface="Cambria Math" panose="02040503050406030204" pitchFamily="18" charset="0"/>
                                        <a:cs typeface="Noto Sans CJK JP"/>
                                      </a:rPr>
                                      <m:t>0</m:t>
                                    </m:r>
                                  </m:sub>
                                </m:sSub>
                                <m:r>
                                  <a:rPr lang="ar-AE" altLang="ja-JP" sz="1200" i="1">
                                    <a:latin typeface="Cambria Math" panose="02040503050406030204" pitchFamily="18" charset="0"/>
                                    <a:ea typeface="Cambria Math" panose="02040503050406030204" pitchFamily="18" charset="0"/>
                                    <a:cs typeface="Noto Sans CJK JP"/>
                                  </a:rPr>
                                  <m:t>[</m:t>
                                </m:r>
                                <m:sSub>
                                  <m:sSubPr>
                                    <m:ctrlPr>
                                      <a:rPr lang="ja-JP" altLang="ar-AE" sz="1200" i="1">
                                        <a:latin typeface="Cambria Math" panose="02040503050406030204" pitchFamily="18" charset="0"/>
                                        <a:ea typeface="Cambria Math" panose="02040503050406030204" pitchFamily="18" charset="0"/>
                                        <a:cs typeface="Noto Sans CJK JP"/>
                                      </a:rPr>
                                    </m:ctrlPr>
                                  </m:sSubPr>
                                  <m:e>
                                    <m:r>
                                      <a:rPr lang="ja-JP" altLang="ar-AE" sz="1200" i="1">
                                        <a:latin typeface="Cambria Math" panose="02040503050406030204" pitchFamily="18" charset="0"/>
                                        <a:ea typeface="Cambria Math" panose="02040503050406030204" pitchFamily="18" charset="0"/>
                                        <a:cs typeface="Noto Sans CJK JP"/>
                                      </a:rPr>
                                      <m:t>𝑋</m:t>
                                    </m:r>
                                  </m:e>
                                  <m:sub>
                                    <m:r>
                                      <a:rPr lang="en-US" altLang="ja-JP" sz="1200" i="1">
                                        <a:latin typeface="Cambria Math" panose="02040503050406030204" pitchFamily="18" charset="0"/>
                                        <a:ea typeface="Cambria Math" panose="02040503050406030204" pitchFamily="18" charset="0"/>
                                        <a:cs typeface="Noto Sans CJK JP"/>
                                      </a:rPr>
                                      <m:t>𝑇</m:t>
                                    </m:r>
                                  </m:sub>
                                </m:sSub>
                                <m:r>
                                  <a:rPr lang="en-US" altLang="ja-JP" sz="1200" i="1">
                                    <a:latin typeface="Cambria Math" panose="02040503050406030204" pitchFamily="18" charset="0"/>
                                    <a:ea typeface="Cambria Math" panose="02040503050406030204" pitchFamily="18" charset="0"/>
                                    <a:cs typeface="Noto Sans CJK JP"/>
                                  </a:rPr>
                                  <m:t>|</m:t>
                                </m:r>
                                <m:sSub>
                                  <m:sSubPr>
                                    <m:ctrlPr>
                                      <a:rPr lang="ja-JP" altLang="ar-AE" sz="1200" i="1">
                                        <a:latin typeface="Cambria Math" panose="02040503050406030204" pitchFamily="18" charset="0"/>
                                        <a:ea typeface="Cambria Math" panose="02040503050406030204" pitchFamily="18" charset="0"/>
                                        <a:cs typeface="Noto Sans CJK JP"/>
                                      </a:rPr>
                                    </m:ctrlPr>
                                  </m:sSubPr>
                                  <m:e>
                                    <m:r>
                                      <a:rPr lang="ja-JP" altLang="ar-AE" sz="1200" i="1">
                                        <a:latin typeface="Cambria Math" panose="02040503050406030204" pitchFamily="18" charset="0"/>
                                        <a:ea typeface="Cambria Math" panose="02040503050406030204" pitchFamily="18" charset="0"/>
                                        <a:cs typeface="Noto Sans CJK JP"/>
                                      </a:rPr>
                                      <m:t>𝑋</m:t>
                                    </m:r>
                                  </m:e>
                                  <m:sub>
                                    <m:r>
                                      <a:rPr lang="en-US" altLang="ja-JP" sz="1200" b="0" i="1" smtClean="0">
                                        <a:latin typeface="Cambria Math" panose="02040503050406030204" pitchFamily="18" charset="0"/>
                                        <a:ea typeface="Cambria Math" panose="02040503050406030204" pitchFamily="18" charset="0"/>
                                        <a:cs typeface="Noto Sans CJK JP"/>
                                      </a:rPr>
                                      <m:t>0</m:t>
                                    </m:r>
                                  </m:sub>
                                </m:sSub>
                                <m:r>
                                  <a:rPr lang="en-US" altLang="ja-JP" sz="1200" i="1">
                                    <a:latin typeface="Cambria Math" panose="02040503050406030204" pitchFamily="18" charset="0"/>
                                    <a:ea typeface="Cambria Math" panose="02040503050406030204" pitchFamily="18" charset="0"/>
                                    <a:cs typeface="Noto Sans CJK JP"/>
                                  </a:rPr>
                                  <m:t>=</m:t>
                                </m:r>
                                <m:r>
                                  <a:rPr lang="ja-JP" altLang="en-US" sz="1200" i="1">
                                    <a:latin typeface="Cambria Math" panose="02040503050406030204" pitchFamily="18" charset="0"/>
                                    <a:ea typeface="Noto Sans CJK JP"/>
                                    <a:cs typeface="Noto Sans CJK JP"/>
                                  </a:rPr>
                                  <m:t>𝑥</m:t>
                                </m:r>
                                <m:r>
                                  <a:rPr lang="ar-AE" altLang="ja-JP" sz="1200" i="1">
                                    <a:latin typeface="Cambria Math" panose="02040503050406030204" pitchFamily="18" charset="0"/>
                                    <a:ea typeface="Cambria Math" panose="02040503050406030204" pitchFamily="18" charset="0"/>
                                    <a:cs typeface="Noto Sans CJK JP"/>
                                  </a:rPr>
                                  <m:t>]</m:t>
                                </m:r>
                              </m:oMath>
                            </m:oMathPara>
                          </a14:m>
                          <a:endParaRPr lang="en-US" altLang="ja-JP" sz="1200" dirty="0">
                            <a:solidFill>
                              <a:schemeClr val="tx1"/>
                            </a:solidFill>
                            <a:latin typeface="Noto Sans CJK JP"/>
                            <a:ea typeface="Noto Sans CJK JP"/>
                            <a:cs typeface="Noto Sans CJK JP"/>
                          </a:endParaRPr>
                        </a:p>
                        <a:p>
                          <a:pPr algn="l">
                            <a:buNone/>
                          </a:pPr>
                          <a:endParaRPr sz="1125" b="0" dirty="0">
                            <a:solidFill>
                              <a:srgbClr val="111827"/>
                            </a:solidFill>
                            <a:latin typeface="Century Gothic"/>
                            <a:ea typeface="Century Gothic"/>
                            <a:cs typeface="Century Gothic"/>
                          </a:endParaRPr>
                        </a:p>
                      </a:txBody>
                      <a:tcPr anchor="ctr">
                        <a:solidFill>
                          <a:schemeClr val="bg1"/>
                        </a:solidFill>
                      </a:tcPr>
                    </a:tc>
                    <a:tc>
                      <a:txBody>
                        <a:bodyPr/>
                        <a:lstStyle/>
                        <a:p>
                          <a:pPr algn="l">
                            <a:buNone/>
                          </a:pPr>
                          <a:r>
                            <a:rPr lang="en-US" altLang="ja-JP" sz="1125" b="0" dirty="0">
                              <a:solidFill>
                                <a:srgbClr val="111827"/>
                              </a:solidFill>
                              <a:latin typeface="Noto Sans CJK JP"/>
                              <a:ea typeface="Noto Sans CJK JP"/>
                              <a:cs typeface="Noto Sans CJK JP"/>
                            </a:rPr>
                            <a:t>HJB</a:t>
                          </a:r>
                          <a:r>
                            <a:rPr lang="ja-JP" altLang="en-US" sz="1125" b="0" dirty="0">
                              <a:solidFill>
                                <a:srgbClr val="111827"/>
                              </a:solidFill>
                              <a:latin typeface="Noto Sans CJK JP"/>
                              <a:ea typeface="Noto Sans CJK JP"/>
                              <a:cs typeface="Noto Sans CJK JP"/>
                            </a:rPr>
                            <a:t>方程式</a:t>
                          </a:r>
                          <a:endParaRPr sz="1125" b="0" dirty="0">
                            <a:solidFill>
                              <a:srgbClr val="111827"/>
                            </a:solidFill>
                            <a:latin typeface="Noto Sans CJK JP"/>
                            <a:ea typeface="Noto Sans CJK JP"/>
                            <a:cs typeface="Noto Sans CJK JP"/>
                          </a:endParaRPr>
                        </a:p>
                      </a:txBody>
                      <a:tcPr anchor="ctr">
                        <a:solidFill>
                          <a:schemeClr val="bg1"/>
                        </a:solidFill>
                      </a:tcPr>
                    </a:tc>
                    <a:tc>
                      <a:txBody>
                        <a:bodyPr/>
                        <a:lstStyle/>
                        <a:p>
                          <a:pPr algn="l">
                            <a:buNone/>
                          </a:pPr>
                          <a:endParaRPr sz="1125" b="0" dirty="0">
                            <a:solidFill>
                              <a:srgbClr val="111827"/>
                            </a:solidFill>
                            <a:latin typeface="Noto Sans CJK JP"/>
                            <a:ea typeface="Noto Sans CJK JP"/>
                            <a:cs typeface="Noto Sans CJK JP"/>
                          </a:endParaRPr>
                        </a:p>
                      </a:txBody>
                      <a:tcPr anchor="ctr">
                        <a:solidFill>
                          <a:schemeClr val="bg1"/>
                        </a:solidFill>
                      </a:tcPr>
                    </a:tc>
                    <a:extLst>
                      <a:ext uri="{0D108BD9-81ED-4DB2-BD59-A6C34878D82A}">
                        <a16:rowId xmlns:a16="http://schemas.microsoft.com/office/drawing/2014/main" val="10001"/>
                      </a:ext>
                    </a:extLst>
                  </a:tr>
                  <a:tr h="613707">
                    <a:tc>
                      <a:txBody>
                        <a:bodyPr/>
                        <a:lstStyle/>
                        <a:p>
                          <a:pPr algn="ctr">
                            <a:buNone/>
                          </a:pPr>
                          <a:r>
                            <a:rPr sz="1200" b="1" dirty="0">
                              <a:solidFill>
                                <a:schemeClr val="accent6"/>
                              </a:solidFill>
                              <a:latin typeface="Century Gothic"/>
                              <a:ea typeface="Century Gothic"/>
                              <a:cs typeface="Century Gothic"/>
                            </a:rPr>
                            <a:t>DOMV</a:t>
                          </a:r>
                        </a:p>
                      </a:txBody>
                      <a:tcPr anchor="ctr">
                        <a:solidFill>
                          <a:schemeClr val="bg1"/>
                        </a:solidFill>
                      </a:tcPr>
                    </a:tc>
                    <a:tc>
                      <a:txBody>
                        <a:bodyPr/>
                        <a:lstStyle/>
                        <a:p>
                          <a:pPr algn="l">
                            <a:buNone/>
                          </a:pPr>
                          <a:r>
                            <a:rPr sz="1125" b="0" dirty="0">
                              <a:solidFill>
                                <a:srgbClr val="111827"/>
                              </a:solidFill>
                              <a:latin typeface="Noto Sans CJK JP"/>
                              <a:ea typeface="Noto Sans CJK JP"/>
                              <a:cs typeface="Noto Sans CJK JP"/>
                            </a:rPr>
                            <a:t>各(</a:t>
                          </a:r>
                          <a:r>
                            <a:rPr sz="1125" b="0" dirty="0" err="1">
                              <a:solidFill>
                                <a:srgbClr val="111827"/>
                              </a:solidFill>
                              <a:latin typeface="Noto Sans CJK JP"/>
                              <a:ea typeface="Noto Sans CJK JP"/>
                              <a:cs typeface="Noto Sans CJK JP"/>
                            </a:rPr>
                            <a:t>t,x</a:t>
                          </a:r>
                          <a:r>
                            <a:rPr sz="1125" b="0" dirty="0">
                              <a:solidFill>
                                <a:srgbClr val="111827"/>
                              </a:solidFill>
                              <a:latin typeface="Noto Sans CJK JP"/>
                              <a:ea typeface="Noto Sans CJK JP"/>
                              <a:cs typeface="Noto Sans CJK JP"/>
                            </a:rPr>
                            <a:t>)</a:t>
                          </a:r>
                          <a:r>
                            <a:rPr sz="1125" b="0" dirty="0" err="1">
                              <a:solidFill>
                                <a:srgbClr val="111827"/>
                              </a:solidFill>
                              <a:latin typeface="Noto Sans CJK JP"/>
                              <a:ea typeface="Noto Sans CJK JP"/>
                              <a:cs typeface="Noto Sans CJK JP"/>
                            </a:rPr>
                            <a:t>で再最適化</a:t>
                          </a:r>
                          <a:endParaRPr sz="1125" b="0" dirty="0">
                            <a:solidFill>
                              <a:srgbClr val="111827"/>
                            </a:solidFill>
                            <a:latin typeface="Noto Sans CJK JP"/>
                            <a:ea typeface="Noto Sans CJK JP"/>
                            <a:cs typeface="Noto Sans CJK JP"/>
                          </a:endParaRPr>
                        </a:p>
                      </a:txBody>
                      <a:tcPr anchor="ctr">
                        <a:solidFill>
                          <a:schemeClr val="bg1"/>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ja-JP" altLang="ar-AE" sz="1200" i="1">
                                        <a:latin typeface="Cambria Math" panose="02040503050406030204" pitchFamily="18" charset="0"/>
                                        <a:ea typeface="Cambria Math" panose="02040503050406030204" pitchFamily="18" charset="0"/>
                                        <a:cs typeface="Noto Sans CJK JP"/>
                                      </a:rPr>
                                    </m:ctrlPr>
                                  </m:sSubPr>
                                  <m:e>
                                    <m:r>
                                      <a:rPr lang="ja-JP" altLang="ar-AE" sz="1200" i="1">
                                        <a:latin typeface="Cambria Math" panose="02040503050406030204" pitchFamily="18" charset="0"/>
                                        <a:ea typeface="Cambria Math" panose="02040503050406030204" pitchFamily="18" charset="0"/>
                                        <a:cs typeface="Noto Sans CJK JP"/>
                                      </a:rPr>
                                      <m:t>𝐸</m:t>
                                    </m:r>
                                  </m:e>
                                  <m:sub>
                                    <m:r>
                                      <a:rPr lang="en-US" altLang="ja-JP" sz="1200" i="1">
                                        <a:latin typeface="Cambria Math" panose="02040503050406030204" pitchFamily="18" charset="0"/>
                                        <a:ea typeface="Cambria Math" panose="02040503050406030204" pitchFamily="18" charset="0"/>
                                        <a:cs typeface="Noto Sans CJK JP"/>
                                      </a:rPr>
                                      <m:t>𝑡</m:t>
                                    </m:r>
                                  </m:sub>
                                </m:sSub>
                                <m:d>
                                  <m:dPr>
                                    <m:begChr m:val="["/>
                                    <m:endChr m:val="]"/>
                                    <m:ctrlPr>
                                      <a:rPr lang="ja-JP" altLang="ar-AE" sz="1200" i="1">
                                        <a:latin typeface="Cambria Math" panose="02040503050406030204" pitchFamily="18" charset="0"/>
                                        <a:ea typeface="Cambria Math" panose="02040503050406030204" pitchFamily="18" charset="0"/>
                                        <a:cs typeface="Noto Sans CJK JP"/>
                                      </a:rPr>
                                    </m:ctrlPr>
                                  </m:dPr>
                                  <m:e>
                                    <m:sSub>
                                      <m:sSubPr>
                                        <m:ctrlPr>
                                          <a:rPr lang="ja-JP" altLang="ar-AE" sz="1200" i="1">
                                            <a:latin typeface="Cambria Math" panose="02040503050406030204" pitchFamily="18" charset="0"/>
                                            <a:ea typeface="Cambria Math" panose="02040503050406030204" pitchFamily="18" charset="0"/>
                                            <a:cs typeface="Noto Sans CJK JP"/>
                                          </a:rPr>
                                        </m:ctrlPr>
                                      </m:sSubPr>
                                      <m:e>
                                        <m:r>
                                          <a:rPr lang="ja-JP" altLang="ar-AE" sz="1200" i="1">
                                            <a:latin typeface="Cambria Math" panose="02040503050406030204" pitchFamily="18" charset="0"/>
                                            <a:ea typeface="Cambria Math" panose="02040503050406030204" pitchFamily="18" charset="0"/>
                                            <a:cs typeface="Noto Sans CJK JP"/>
                                          </a:rPr>
                                          <m:t>𝑋</m:t>
                                        </m:r>
                                      </m:e>
                                      <m:sub>
                                        <m:r>
                                          <a:rPr lang="en-US" altLang="ja-JP" sz="1200" i="1">
                                            <a:latin typeface="Cambria Math" panose="02040503050406030204" pitchFamily="18" charset="0"/>
                                            <a:ea typeface="Cambria Math" panose="02040503050406030204" pitchFamily="18" charset="0"/>
                                            <a:cs typeface="Noto Sans CJK JP"/>
                                          </a:rPr>
                                          <m:t>𝑇</m:t>
                                        </m:r>
                                      </m:sub>
                                    </m:sSub>
                                    <m:r>
                                      <a:rPr lang="en-US" altLang="ja-JP" sz="1200" i="1">
                                        <a:latin typeface="Cambria Math" panose="02040503050406030204" pitchFamily="18" charset="0"/>
                                        <a:ea typeface="Cambria Math" panose="02040503050406030204" pitchFamily="18" charset="0"/>
                                        <a:cs typeface="Noto Sans CJK JP"/>
                                      </a:rPr>
                                      <m:t>|</m:t>
                                    </m:r>
                                    <m:sSub>
                                      <m:sSubPr>
                                        <m:ctrlPr>
                                          <a:rPr lang="ja-JP" altLang="ar-AE" sz="1200" i="1">
                                            <a:latin typeface="Cambria Math" panose="02040503050406030204" pitchFamily="18" charset="0"/>
                                            <a:ea typeface="Cambria Math" panose="02040503050406030204" pitchFamily="18" charset="0"/>
                                            <a:cs typeface="Noto Sans CJK JP"/>
                                          </a:rPr>
                                        </m:ctrlPr>
                                      </m:sSubPr>
                                      <m:e>
                                        <m:r>
                                          <a:rPr lang="ja-JP" altLang="ar-AE" sz="1200" i="1">
                                            <a:latin typeface="Cambria Math" panose="02040503050406030204" pitchFamily="18" charset="0"/>
                                            <a:ea typeface="Cambria Math" panose="02040503050406030204" pitchFamily="18" charset="0"/>
                                            <a:cs typeface="Noto Sans CJK JP"/>
                                          </a:rPr>
                                          <m:t>𝑋</m:t>
                                        </m:r>
                                      </m:e>
                                      <m:sub>
                                        <m:r>
                                          <a:rPr lang="en-US" altLang="ja-JP" sz="1200" i="1">
                                            <a:latin typeface="Cambria Math" panose="02040503050406030204" pitchFamily="18" charset="0"/>
                                            <a:ea typeface="Cambria Math" panose="02040503050406030204" pitchFamily="18" charset="0"/>
                                            <a:cs typeface="Noto Sans CJK JP"/>
                                          </a:rPr>
                                          <m:t>𝑡</m:t>
                                        </m:r>
                                      </m:sub>
                                    </m:sSub>
                                    <m:r>
                                      <a:rPr lang="en-US" altLang="ja-JP" sz="1200" i="1">
                                        <a:latin typeface="Cambria Math" panose="02040503050406030204" pitchFamily="18" charset="0"/>
                                        <a:ea typeface="Cambria Math" panose="02040503050406030204" pitchFamily="18" charset="0"/>
                                        <a:cs typeface="Noto Sans CJK JP"/>
                                      </a:rPr>
                                      <m:t>=</m:t>
                                    </m:r>
                                    <m:r>
                                      <a:rPr lang="ja-JP" altLang="en-US" sz="1200" i="1">
                                        <a:latin typeface="Cambria Math" panose="02040503050406030204" pitchFamily="18" charset="0"/>
                                        <a:ea typeface="Noto Sans CJK JP"/>
                                        <a:cs typeface="Noto Sans CJK JP"/>
                                      </a:rPr>
                                      <m:t>𝑥</m:t>
                                    </m:r>
                                  </m:e>
                                </m:d>
                                <m:r>
                                  <a:rPr lang="ar-AE" altLang="ja-JP" sz="1200" i="1">
                                    <a:latin typeface="Cambria Math" panose="02040503050406030204" pitchFamily="18" charset="0"/>
                                    <a:ea typeface="Cambria Math" panose="02040503050406030204" pitchFamily="18" charset="0"/>
                                    <a:cs typeface="Noto Sans CJK JP"/>
                                  </a:rPr>
                                  <m:t>−</m:t>
                                </m:r>
                                <m:sSub>
                                  <m:sSubPr>
                                    <m:ctrlPr>
                                      <a:rPr lang="ja-JP" altLang="en-US" sz="1200" i="1" smtClean="0">
                                        <a:latin typeface="Cambria Math" panose="02040503050406030204" pitchFamily="18" charset="0"/>
                                        <a:ea typeface="Cambria Math" panose="02040503050406030204" pitchFamily="18" charset="0"/>
                                        <a:cs typeface="Noto Sans CJK JP"/>
                                      </a:rPr>
                                    </m:ctrlPr>
                                  </m:sSubPr>
                                  <m:e>
                                    <m:r>
                                      <a:rPr lang="ja-JP" altLang="en-US" sz="1200" i="1" smtClean="0">
                                        <a:latin typeface="Cambria Math" panose="02040503050406030204" pitchFamily="18" charset="0"/>
                                        <a:ea typeface="Cambria Math" panose="02040503050406030204" pitchFamily="18" charset="0"/>
                                        <a:cs typeface="Noto Sans CJK JP"/>
                                      </a:rPr>
                                      <m:t>𝜆</m:t>
                                    </m:r>
                                  </m:e>
                                  <m:sub>
                                    <m:r>
                                      <m:rPr>
                                        <m:sty m:val="p"/>
                                      </m:rPr>
                                      <a:rPr lang="en-US" altLang="ja-JP" sz="1200" b="0" i="1" smtClean="0">
                                        <a:latin typeface="Cambria Math" panose="02040503050406030204" pitchFamily="18" charset="0"/>
                                        <a:ea typeface="Cambria Math" panose="02040503050406030204" pitchFamily="18" charset="0"/>
                                        <a:cs typeface="Noto Sans CJK JP"/>
                                      </a:rPr>
                                      <m:t>D</m:t>
                                    </m:r>
                                  </m:sub>
                                </m:sSub>
                                <m:r>
                                  <a:rPr lang="en-US" altLang="ja-JP" sz="1200" b="0" i="1" smtClean="0">
                                    <a:latin typeface="Cambria Math" panose="02040503050406030204" pitchFamily="18" charset="0"/>
                                    <a:ea typeface="Cambria Math" panose="02040503050406030204" pitchFamily="18" charset="0"/>
                                    <a:cs typeface="Noto Sans CJK JP"/>
                                  </a:rPr>
                                  <m:t>∗</m:t>
                                </m:r>
                                <m:r>
                                  <a:rPr lang="ja-JP" altLang="ar-AE" sz="1200" i="1">
                                    <a:latin typeface="Cambria Math" panose="02040503050406030204" pitchFamily="18" charset="0"/>
                                    <a:ea typeface="Cambria Math" panose="02040503050406030204" pitchFamily="18" charset="0"/>
                                    <a:cs typeface="Noto Sans CJK JP"/>
                                  </a:rPr>
                                  <m:t>𝑉</m:t>
                                </m:r>
                                <m:r>
                                  <a:rPr lang="en-US" altLang="ja-JP" sz="1200" i="1">
                                    <a:latin typeface="Cambria Math" panose="02040503050406030204" pitchFamily="18" charset="0"/>
                                    <a:ea typeface="Cambria Math" panose="02040503050406030204" pitchFamily="18" charset="0"/>
                                    <a:cs typeface="Noto Sans CJK JP"/>
                                  </a:rPr>
                                  <m:t>𝑎</m:t>
                                </m:r>
                                <m:sSub>
                                  <m:sSubPr>
                                    <m:ctrlPr>
                                      <a:rPr lang="en-US" altLang="ja-JP" sz="1200" b="0" i="1" smtClean="0">
                                        <a:solidFill>
                                          <a:schemeClr val="tx1"/>
                                        </a:solidFill>
                                        <a:latin typeface="Cambria Math" panose="02040503050406030204" pitchFamily="18" charset="0"/>
                                        <a:ea typeface="Cambria Math" panose="02040503050406030204" pitchFamily="18" charset="0"/>
                                        <a:cs typeface="Noto Sans CJK JP"/>
                                      </a:rPr>
                                    </m:ctrlPr>
                                  </m:sSubPr>
                                  <m:e>
                                    <m:r>
                                      <a:rPr lang="en-US" altLang="ja-JP" sz="1200" b="0" i="1" smtClean="0">
                                        <a:solidFill>
                                          <a:schemeClr val="tx1"/>
                                        </a:solidFill>
                                        <a:latin typeface="Cambria Math" panose="02040503050406030204" pitchFamily="18" charset="0"/>
                                        <a:ea typeface="Cambria Math" panose="02040503050406030204" pitchFamily="18" charset="0"/>
                                        <a:cs typeface="Noto Sans CJK JP"/>
                                      </a:rPr>
                                      <m:t>𝑟</m:t>
                                    </m:r>
                                  </m:e>
                                  <m:sub>
                                    <m:r>
                                      <a:rPr lang="en-US" altLang="ja-JP" sz="1200" b="0" i="1">
                                        <a:solidFill>
                                          <a:schemeClr val="tx1"/>
                                        </a:solidFill>
                                        <a:latin typeface="Cambria Math" panose="02040503050406030204" pitchFamily="18" charset="0"/>
                                        <a:ea typeface="Cambria Math" panose="02040503050406030204" pitchFamily="18" charset="0"/>
                                        <a:cs typeface="Noto Sans CJK JP"/>
                                      </a:rPr>
                                      <m:t>𝑡</m:t>
                                    </m:r>
                                  </m:sub>
                                </m:sSub>
                                <m:r>
                                  <a:rPr lang="ar-AE" altLang="ja-JP" sz="1200" i="1">
                                    <a:latin typeface="Cambria Math" panose="02040503050406030204" pitchFamily="18" charset="0"/>
                                    <a:ea typeface="Cambria Math" panose="02040503050406030204" pitchFamily="18" charset="0"/>
                                    <a:cs typeface="Noto Sans CJK JP"/>
                                  </a:rPr>
                                  <m:t>[</m:t>
                                </m:r>
                                <m:sSub>
                                  <m:sSubPr>
                                    <m:ctrlPr>
                                      <a:rPr lang="ja-JP" altLang="ar-AE" sz="1200" i="1">
                                        <a:latin typeface="Cambria Math" panose="02040503050406030204" pitchFamily="18" charset="0"/>
                                        <a:ea typeface="Cambria Math" panose="02040503050406030204" pitchFamily="18" charset="0"/>
                                        <a:cs typeface="Noto Sans CJK JP"/>
                                      </a:rPr>
                                    </m:ctrlPr>
                                  </m:sSubPr>
                                  <m:e>
                                    <m:r>
                                      <a:rPr lang="ja-JP" altLang="ar-AE" sz="1200" i="1">
                                        <a:latin typeface="Cambria Math" panose="02040503050406030204" pitchFamily="18" charset="0"/>
                                        <a:ea typeface="Cambria Math" panose="02040503050406030204" pitchFamily="18" charset="0"/>
                                        <a:cs typeface="Noto Sans CJK JP"/>
                                      </a:rPr>
                                      <m:t>𝑋</m:t>
                                    </m:r>
                                  </m:e>
                                  <m:sub>
                                    <m:r>
                                      <a:rPr lang="en-US" altLang="ja-JP" sz="1200" i="1">
                                        <a:latin typeface="Cambria Math" panose="02040503050406030204" pitchFamily="18" charset="0"/>
                                        <a:ea typeface="Cambria Math" panose="02040503050406030204" pitchFamily="18" charset="0"/>
                                        <a:cs typeface="Noto Sans CJK JP"/>
                                      </a:rPr>
                                      <m:t>𝑇</m:t>
                                    </m:r>
                                  </m:sub>
                                </m:sSub>
                                <m:r>
                                  <a:rPr lang="en-US" altLang="ja-JP" sz="1200" i="1">
                                    <a:latin typeface="Cambria Math" panose="02040503050406030204" pitchFamily="18" charset="0"/>
                                    <a:ea typeface="Cambria Math" panose="02040503050406030204" pitchFamily="18" charset="0"/>
                                    <a:cs typeface="Noto Sans CJK JP"/>
                                  </a:rPr>
                                  <m:t>|</m:t>
                                </m:r>
                                <m:sSub>
                                  <m:sSubPr>
                                    <m:ctrlPr>
                                      <a:rPr lang="ja-JP" altLang="ar-AE" sz="1200" i="1">
                                        <a:latin typeface="Cambria Math" panose="02040503050406030204" pitchFamily="18" charset="0"/>
                                        <a:ea typeface="Cambria Math" panose="02040503050406030204" pitchFamily="18" charset="0"/>
                                        <a:cs typeface="Noto Sans CJK JP"/>
                                      </a:rPr>
                                    </m:ctrlPr>
                                  </m:sSubPr>
                                  <m:e>
                                    <m:r>
                                      <a:rPr lang="ja-JP" altLang="ar-AE" sz="1200" i="1">
                                        <a:latin typeface="Cambria Math" panose="02040503050406030204" pitchFamily="18" charset="0"/>
                                        <a:ea typeface="Cambria Math" panose="02040503050406030204" pitchFamily="18" charset="0"/>
                                        <a:cs typeface="Noto Sans CJK JP"/>
                                      </a:rPr>
                                      <m:t>𝑋</m:t>
                                    </m:r>
                                  </m:e>
                                  <m:sub>
                                    <m:r>
                                      <a:rPr lang="en-US" altLang="ja-JP" sz="1200" i="1">
                                        <a:latin typeface="Cambria Math" panose="02040503050406030204" pitchFamily="18" charset="0"/>
                                        <a:ea typeface="Cambria Math" panose="02040503050406030204" pitchFamily="18" charset="0"/>
                                        <a:cs typeface="Noto Sans CJK JP"/>
                                      </a:rPr>
                                      <m:t>𝑡</m:t>
                                    </m:r>
                                  </m:sub>
                                </m:sSub>
                                <m:r>
                                  <a:rPr lang="en-US" altLang="ja-JP" sz="1200" i="1">
                                    <a:latin typeface="Cambria Math" panose="02040503050406030204" pitchFamily="18" charset="0"/>
                                    <a:ea typeface="Cambria Math" panose="02040503050406030204" pitchFamily="18" charset="0"/>
                                    <a:cs typeface="Noto Sans CJK JP"/>
                                  </a:rPr>
                                  <m:t>=</m:t>
                                </m:r>
                                <m:r>
                                  <a:rPr lang="ja-JP" altLang="en-US" sz="1200" i="1">
                                    <a:latin typeface="Cambria Math" panose="02040503050406030204" pitchFamily="18" charset="0"/>
                                    <a:ea typeface="Noto Sans CJK JP"/>
                                    <a:cs typeface="Noto Sans CJK JP"/>
                                  </a:rPr>
                                  <m:t>𝑥</m:t>
                                </m:r>
                                <m:r>
                                  <a:rPr lang="ar-AE" altLang="ja-JP" sz="1200" i="1">
                                    <a:latin typeface="Cambria Math" panose="02040503050406030204" pitchFamily="18" charset="0"/>
                                    <a:ea typeface="Cambria Math" panose="02040503050406030204" pitchFamily="18" charset="0"/>
                                    <a:cs typeface="Noto Sans CJK JP"/>
                                  </a:rPr>
                                  <m:t>]</m:t>
                                </m:r>
                              </m:oMath>
                            </m:oMathPara>
                          </a14:m>
                          <a:endParaRPr lang="en-US" altLang="ja-JP" sz="1200" dirty="0">
                            <a:solidFill>
                              <a:schemeClr val="tx1"/>
                            </a:solidFill>
                            <a:latin typeface="Noto Sans CJK JP"/>
                            <a:ea typeface="Noto Sans CJK JP"/>
                            <a:cs typeface="Noto Sans CJK JP"/>
                          </a:endParaRPr>
                        </a:p>
                      </a:txBody>
                      <a:tcPr anchor="ctr">
                        <a:solidFill>
                          <a:schemeClr val="bg1"/>
                        </a:solidFill>
                      </a:tcPr>
                    </a:tc>
                    <a:tc>
                      <a:txBody>
                        <a:bodyPr/>
                        <a:lstStyle/>
                        <a:p>
                          <a:pPr algn="l">
                            <a:buNone/>
                          </a:pPr>
                          <a:r>
                            <a:rPr lang="en-US" altLang="ja-JP" sz="1125" b="0" dirty="0">
                              <a:solidFill>
                                <a:srgbClr val="111827"/>
                              </a:solidFill>
                              <a:latin typeface="Noto Sans CJK JP"/>
                              <a:ea typeface="Noto Sans CJK JP"/>
                              <a:cs typeface="Noto Sans CJK JP"/>
                            </a:rPr>
                            <a:t>HJB</a:t>
                          </a:r>
                          <a:r>
                            <a:rPr lang="ja-JP" altLang="en-US" sz="1125" b="0" dirty="0">
                              <a:solidFill>
                                <a:srgbClr val="111827"/>
                              </a:solidFill>
                              <a:latin typeface="Noto Sans CJK JP"/>
                              <a:ea typeface="Noto Sans CJK JP"/>
                              <a:cs typeface="Noto Sans CJK JP"/>
                            </a:rPr>
                            <a:t>方程式</a:t>
                          </a:r>
                          <a:endParaRPr sz="1125" b="0" dirty="0">
                            <a:solidFill>
                              <a:srgbClr val="111827"/>
                            </a:solidFill>
                            <a:latin typeface="Noto Sans CJK JP"/>
                            <a:ea typeface="Noto Sans CJK JP"/>
                            <a:cs typeface="Noto Sans CJK JP"/>
                          </a:endParaRPr>
                        </a:p>
                      </a:txBody>
                      <a:tcPr anchor="ctr">
                        <a:solidFill>
                          <a:schemeClr val="bg1"/>
                        </a:solidFill>
                      </a:tcPr>
                    </a:tc>
                    <a:tc>
                      <a:txBody>
                        <a:bodyPr/>
                        <a:lstStyle/>
                        <a:p>
                          <a:pPr algn="l">
                            <a:buNone/>
                          </a:pPr>
                          <a:endParaRPr sz="1125" b="0" dirty="0">
                            <a:solidFill>
                              <a:srgbClr val="111827"/>
                            </a:solidFill>
                            <a:latin typeface="Noto Sans CJK JP"/>
                            <a:ea typeface="Noto Sans CJK JP"/>
                            <a:cs typeface="Noto Sans CJK JP"/>
                          </a:endParaRPr>
                        </a:p>
                      </a:txBody>
                      <a:tcPr anchor="ctr">
                        <a:solidFill>
                          <a:schemeClr val="bg1"/>
                        </a:solidFill>
                      </a:tcPr>
                    </a:tc>
                    <a:extLst>
                      <a:ext uri="{0D108BD9-81ED-4DB2-BD59-A6C34878D82A}">
                        <a16:rowId xmlns:a16="http://schemas.microsoft.com/office/drawing/2014/main" val="10002"/>
                      </a:ext>
                    </a:extLst>
                  </a:tr>
                  <a:tr h="613707">
                    <a:tc>
                      <a:txBody>
                        <a:bodyPr/>
                        <a:lstStyle/>
                        <a:p>
                          <a:pPr algn="ctr">
                            <a:buNone/>
                          </a:pPr>
                          <a:r>
                            <a:rPr sz="1200" b="1" dirty="0" err="1">
                              <a:solidFill>
                                <a:srgbClr val="2F8F73"/>
                              </a:solidFill>
                              <a:latin typeface="Century Gothic"/>
                              <a:ea typeface="Century Gothic"/>
                              <a:cs typeface="Century Gothic"/>
                            </a:rPr>
                            <a:t>cTCMV</a:t>
                          </a:r>
                          <a:endParaRPr sz="1200" b="1" dirty="0">
                            <a:solidFill>
                              <a:srgbClr val="2F8F73"/>
                            </a:solidFill>
                            <a:latin typeface="Century Gothic"/>
                            <a:ea typeface="Century Gothic"/>
                            <a:cs typeface="Century Gothic"/>
                          </a:endParaRPr>
                        </a:p>
                      </a:txBody>
                      <a:tcPr anchor="ctr">
                        <a:solidFill>
                          <a:schemeClr val="bg1"/>
                        </a:solidFill>
                      </a:tcPr>
                    </a:tc>
                    <a:tc>
                      <a:txBody>
                        <a:bodyPr/>
                        <a:lstStyle/>
                        <a:p>
                          <a:pPr algn="l">
                            <a:buNone/>
                          </a:pPr>
                          <a:r>
                            <a:rPr lang="ja-JP" altLang="en-US" sz="1125" b="0" dirty="0">
                              <a:solidFill>
                                <a:srgbClr val="111827"/>
                              </a:solidFill>
                              <a:latin typeface="Noto Sans CJK JP"/>
                              <a:ea typeface="Noto Sans CJK JP"/>
                              <a:cs typeface="Noto Sans CJK JP"/>
                            </a:rPr>
                            <a:t>将来各時点の自分とゲーム（リスク回避度が</a:t>
                          </a:r>
                          <a:r>
                            <a:rPr lang="ja-JP" altLang="en-US" sz="1125" b="1" dirty="0">
                              <a:solidFill>
                                <a:srgbClr val="111827"/>
                              </a:solidFill>
                              <a:latin typeface="Noto Sans CJK JP"/>
                              <a:ea typeface="Noto Sans CJK JP"/>
                              <a:cs typeface="Noto Sans CJK JP"/>
                            </a:rPr>
                            <a:t>固定</a:t>
                          </a:r>
                          <a:r>
                            <a:rPr lang="ja-JP" altLang="en-US" sz="1125" b="0" dirty="0">
                              <a:solidFill>
                                <a:srgbClr val="111827"/>
                              </a:solidFill>
                              <a:latin typeface="Noto Sans CJK JP"/>
                              <a:ea typeface="Noto Sans CJK JP"/>
                              <a:cs typeface="Noto Sans CJK JP"/>
                            </a:rPr>
                            <a:t>）</a:t>
                          </a:r>
                        </a:p>
                      </a:txBody>
                      <a:tcPr anchor="ctr">
                        <a:solidFill>
                          <a:schemeClr val="bg1"/>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ja-JP" altLang="ar-AE" sz="1100" i="1">
                                        <a:latin typeface="Cambria Math" panose="02040503050406030204" pitchFamily="18" charset="0"/>
                                        <a:ea typeface="Cambria Math" panose="02040503050406030204" pitchFamily="18" charset="0"/>
                                        <a:cs typeface="Noto Sans CJK JP"/>
                                      </a:rPr>
                                    </m:ctrlPr>
                                  </m:sSubPr>
                                  <m:e>
                                    <m:r>
                                      <a:rPr lang="ja-JP" altLang="ar-AE" sz="1100" i="1">
                                        <a:latin typeface="Cambria Math" panose="02040503050406030204" pitchFamily="18" charset="0"/>
                                        <a:ea typeface="Cambria Math" panose="02040503050406030204" pitchFamily="18" charset="0"/>
                                        <a:cs typeface="Noto Sans CJK JP"/>
                                      </a:rPr>
                                      <m:t>𝐸</m:t>
                                    </m:r>
                                  </m:e>
                                  <m:sub>
                                    <m:r>
                                      <a:rPr lang="en-US" altLang="ja-JP" sz="1100" i="1">
                                        <a:latin typeface="Cambria Math" panose="02040503050406030204" pitchFamily="18" charset="0"/>
                                        <a:ea typeface="Cambria Math" panose="02040503050406030204" pitchFamily="18" charset="0"/>
                                        <a:cs typeface="Noto Sans CJK JP"/>
                                      </a:rPr>
                                      <m:t>𝑡</m:t>
                                    </m:r>
                                  </m:sub>
                                </m:sSub>
                                <m:d>
                                  <m:dPr>
                                    <m:begChr m:val="["/>
                                    <m:endChr m:val="]"/>
                                    <m:ctrlPr>
                                      <a:rPr lang="ja-JP" altLang="ar-AE" sz="1100" i="1">
                                        <a:latin typeface="Cambria Math" panose="02040503050406030204" pitchFamily="18" charset="0"/>
                                        <a:ea typeface="Cambria Math" panose="02040503050406030204" pitchFamily="18" charset="0"/>
                                        <a:cs typeface="Noto Sans CJK JP"/>
                                      </a:rPr>
                                    </m:ctrlPr>
                                  </m:dPr>
                                  <m:e>
                                    <m:sSub>
                                      <m:sSubPr>
                                        <m:ctrlPr>
                                          <a:rPr lang="ja-JP" altLang="ar-AE" sz="1100" i="1">
                                            <a:latin typeface="Cambria Math" panose="02040503050406030204" pitchFamily="18" charset="0"/>
                                            <a:ea typeface="Cambria Math" panose="02040503050406030204" pitchFamily="18" charset="0"/>
                                            <a:cs typeface="Noto Sans CJK JP"/>
                                          </a:rPr>
                                        </m:ctrlPr>
                                      </m:sSubPr>
                                      <m:e>
                                        <m:r>
                                          <a:rPr lang="ja-JP" altLang="ar-AE" sz="1100" i="1">
                                            <a:latin typeface="Cambria Math" panose="02040503050406030204" pitchFamily="18" charset="0"/>
                                            <a:ea typeface="Cambria Math" panose="02040503050406030204" pitchFamily="18" charset="0"/>
                                            <a:cs typeface="Noto Sans CJK JP"/>
                                          </a:rPr>
                                          <m:t>𝑋</m:t>
                                        </m:r>
                                      </m:e>
                                      <m:sub>
                                        <m:r>
                                          <a:rPr lang="en-US" altLang="ja-JP" sz="1100" i="1">
                                            <a:latin typeface="Cambria Math" panose="02040503050406030204" pitchFamily="18" charset="0"/>
                                            <a:ea typeface="Cambria Math" panose="02040503050406030204" pitchFamily="18" charset="0"/>
                                            <a:cs typeface="Noto Sans CJK JP"/>
                                          </a:rPr>
                                          <m:t>𝑇</m:t>
                                        </m:r>
                                      </m:sub>
                                    </m:sSub>
                                    <m:r>
                                      <a:rPr lang="en-US" altLang="ja-JP" sz="1100" i="1">
                                        <a:latin typeface="Cambria Math" panose="02040503050406030204" pitchFamily="18" charset="0"/>
                                        <a:ea typeface="Cambria Math" panose="02040503050406030204" pitchFamily="18" charset="0"/>
                                        <a:cs typeface="Noto Sans CJK JP"/>
                                      </a:rPr>
                                      <m:t>|</m:t>
                                    </m:r>
                                    <m:sSub>
                                      <m:sSubPr>
                                        <m:ctrlPr>
                                          <a:rPr lang="ja-JP" altLang="ar-AE" sz="1100" i="1">
                                            <a:latin typeface="Cambria Math" panose="02040503050406030204" pitchFamily="18" charset="0"/>
                                            <a:ea typeface="Cambria Math" panose="02040503050406030204" pitchFamily="18" charset="0"/>
                                            <a:cs typeface="Noto Sans CJK JP"/>
                                          </a:rPr>
                                        </m:ctrlPr>
                                      </m:sSubPr>
                                      <m:e>
                                        <m:r>
                                          <a:rPr lang="ja-JP" altLang="ar-AE" sz="1100" i="1">
                                            <a:latin typeface="Cambria Math" panose="02040503050406030204" pitchFamily="18" charset="0"/>
                                            <a:ea typeface="Cambria Math" panose="02040503050406030204" pitchFamily="18" charset="0"/>
                                            <a:cs typeface="Noto Sans CJK JP"/>
                                          </a:rPr>
                                          <m:t>𝑋</m:t>
                                        </m:r>
                                      </m:e>
                                      <m:sub>
                                        <m:r>
                                          <a:rPr lang="en-US" altLang="ja-JP" sz="1100" i="1">
                                            <a:latin typeface="Cambria Math" panose="02040503050406030204" pitchFamily="18" charset="0"/>
                                            <a:ea typeface="Cambria Math" panose="02040503050406030204" pitchFamily="18" charset="0"/>
                                            <a:cs typeface="Noto Sans CJK JP"/>
                                          </a:rPr>
                                          <m:t>𝑡</m:t>
                                        </m:r>
                                      </m:sub>
                                    </m:sSub>
                                    <m:r>
                                      <a:rPr lang="en-US" altLang="ja-JP" sz="1100" i="1">
                                        <a:latin typeface="Cambria Math" panose="02040503050406030204" pitchFamily="18" charset="0"/>
                                        <a:ea typeface="Cambria Math" panose="02040503050406030204" pitchFamily="18" charset="0"/>
                                        <a:cs typeface="Noto Sans CJK JP"/>
                                      </a:rPr>
                                      <m:t>=</m:t>
                                    </m:r>
                                    <m:r>
                                      <a:rPr lang="ja-JP" altLang="en-US" sz="1100" i="1">
                                        <a:latin typeface="Cambria Math" panose="02040503050406030204" pitchFamily="18" charset="0"/>
                                        <a:ea typeface="Noto Sans CJK JP"/>
                                        <a:cs typeface="Noto Sans CJK JP"/>
                                      </a:rPr>
                                      <m:t>𝑥</m:t>
                                    </m:r>
                                  </m:e>
                                </m:d>
                                <m:r>
                                  <a:rPr lang="ar-AE" altLang="ja-JP" sz="1100" i="1">
                                    <a:latin typeface="Cambria Math" panose="02040503050406030204" pitchFamily="18" charset="0"/>
                                    <a:ea typeface="Cambria Math" panose="02040503050406030204" pitchFamily="18" charset="0"/>
                                    <a:cs typeface="Noto Sans CJK JP"/>
                                  </a:rPr>
                                  <m:t>−</m:t>
                                </m:r>
                                <m:sSub>
                                  <m:sSubPr>
                                    <m:ctrlPr>
                                      <a:rPr lang="ja-JP" altLang="en-US" sz="1100" i="1" smtClean="0">
                                        <a:latin typeface="Cambria Math" panose="02040503050406030204" pitchFamily="18" charset="0"/>
                                        <a:ea typeface="Cambria Math" panose="02040503050406030204" pitchFamily="18" charset="0"/>
                                        <a:cs typeface="Noto Sans CJK JP"/>
                                      </a:rPr>
                                    </m:ctrlPr>
                                  </m:sSubPr>
                                  <m:e>
                                    <m:r>
                                      <a:rPr lang="ja-JP" altLang="en-US" sz="1100" i="1" smtClean="0">
                                        <a:latin typeface="Cambria Math" panose="02040503050406030204" pitchFamily="18" charset="0"/>
                                        <a:ea typeface="Cambria Math" panose="02040503050406030204" pitchFamily="18" charset="0"/>
                                        <a:cs typeface="Noto Sans CJK JP"/>
                                      </a:rPr>
                                      <m:t>𝛾</m:t>
                                    </m:r>
                                  </m:e>
                                  <m:sub>
                                    <m:r>
                                      <m:rPr>
                                        <m:sty m:val="p"/>
                                      </m:rPr>
                                      <a:rPr lang="en-US" altLang="ja-JP" sz="1100" b="0" i="1" smtClean="0">
                                        <a:latin typeface="Cambria Math" panose="02040503050406030204" pitchFamily="18" charset="0"/>
                                        <a:ea typeface="Cambria Math" panose="02040503050406030204" pitchFamily="18" charset="0"/>
                                        <a:cs typeface="Noto Sans CJK JP"/>
                                      </a:rPr>
                                      <m:t>c</m:t>
                                    </m:r>
                                  </m:sub>
                                </m:sSub>
                                <m:r>
                                  <a:rPr lang="en-US" altLang="ja-JP" sz="1100" b="0" i="1" smtClean="0">
                                    <a:latin typeface="Cambria Math" panose="02040503050406030204" pitchFamily="18" charset="0"/>
                                    <a:ea typeface="Cambria Math" panose="02040503050406030204" pitchFamily="18" charset="0"/>
                                    <a:cs typeface="Noto Sans CJK JP"/>
                                  </a:rPr>
                                  <m:t>∗</m:t>
                                </m:r>
                                <m:r>
                                  <a:rPr lang="ja-JP" altLang="ar-AE" sz="1100" i="1">
                                    <a:latin typeface="Cambria Math" panose="02040503050406030204" pitchFamily="18" charset="0"/>
                                    <a:ea typeface="Cambria Math" panose="02040503050406030204" pitchFamily="18" charset="0"/>
                                    <a:cs typeface="Noto Sans CJK JP"/>
                                  </a:rPr>
                                  <m:t>𝑉</m:t>
                                </m:r>
                                <m:r>
                                  <a:rPr lang="en-US" altLang="ja-JP" sz="1100" i="1">
                                    <a:latin typeface="Cambria Math" panose="02040503050406030204" pitchFamily="18" charset="0"/>
                                    <a:ea typeface="Cambria Math" panose="02040503050406030204" pitchFamily="18" charset="0"/>
                                    <a:cs typeface="Noto Sans CJK JP"/>
                                  </a:rPr>
                                  <m:t>𝑎</m:t>
                                </m:r>
                                <m:sSub>
                                  <m:sSubPr>
                                    <m:ctrlPr>
                                      <a:rPr lang="en-US" altLang="ja-JP" sz="1100" b="0" i="1" smtClean="0">
                                        <a:solidFill>
                                          <a:schemeClr val="tx1"/>
                                        </a:solidFill>
                                        <a:latin typeface="Cambria Math" panose="02040503050406030204" pitchFamily="18" charset="0"/>
                                        <a:ea typeface="Cambria Math" panose="02040503050406030204" pitchFamily="18" charset="0"/>
                                        <a:cs typeface="Noto Sans CJK JP"/>
                                      </a:rPr>
                                    </m:ctrlPr>
                                  </m:sSubPr>
                                  <m:e>
                                    <m:r>
                                      <a:rPr lang="en-US" altLang="ja-JP" sz="1100" b="0" i="1" smtClean="0">
                                        <a:solidFill>
                                          <a:schemeClr val="tx1"/>
                                        </a:solidFill>
                                        <a:latin typeface="Cambria Math" panose="02040503050406030204" pitchFamily="18" charset="0"/>
                                        <a:ea typeface="Cambria Math" panose="02040503050406030204" pitchFamily="18" charset="0"/>
                                        <a:cs typeface="Noto Sans CJK JP"/>
                                      </a:rPr>
                                      <m:t>𝑟</m:t>
                                    </m:r>
                                  </m:e>
                                  <m:sub>
                                    <m:r>
                                      <a:rPr lang="en-US" altLang="ja-JP" sz="1100" b="0" i="1">
                                        <a:solidFill>
                                          <a:schemeClr val="tx1"/>
                                        </a:solidFill>
                                        <a:latin typeface="Cambria Math" panose="02040503050406030204" pitchFamily="18" charset="0"/>
                                        <a:ea typeface="Cambria Math" panose="02040503050406030204" pitchFamily="18" charset="0"/>
                                        <a:cs typeface="Noto Sans CJK JP"/>
                                      </a:rPr>
                                      <m:t>𝑡</m:t>
                                    </m:r>
                                  </m:sub>
                                </m:sSub>
                                <m:r>
                                  <a:rPr lang="ar-AE" altLang="ja-JP" sz="1100" i="1">
                                    <a:latin typeface="Cambria Math" panose="02040503050406030204" pitchFamily="18" charset="0"/>
                                    <a:ea typeface="Cambria Math" panose="02040503050406030204" pitchFamily="18" charset="0"/>
                                    <a:cs typeface="Noto Sans CJK JP"/>
                                  </a:rPr>
                                  <m:t>[</m:t>
                                </m:r>
                                <m:sSub>
                                  <m:sSubPr>
                                    <m:ctrlPr>
                                      <a:rPr lang="ja-JP" altLang="ar-AE" sz="1100" i="1">
                                        <a:latin typeface="Cambria Math" panose="02040503050406030204" pitchFamily="18" charset="0"/>
                                        <a:ea typeface="Cambria Math" panose="02040503050406030204" pitchFamily="18" charset="0"/>
                                        <a:cs typeface="Noto Sans CJK JP"/>
                                      </a:rPr>
                                    </m:ctrlPr>
                                  </m:sSubPr>
                                  <m:e>
                                    <m:r>
                                      <a:rPr lang="ja-JP" altLang="ar-AE" sz="1100" i="1">
                                        <a:latin typeface="Cambria Math" panose="02040503050406030204" pitchFamily="18" charset="0"/>
                                        <a:ea typeface="Cambria Math" panose="02040503050406030204" pitchFamily="18" charset="0"/>
                                        <a:cs typeface="Noto Sans CJK JP"/>
                                      </a:rPr>
                                      <m:t>𝑋</m:t>
                                    </m:r>
                                  </m:e>
                                  <m:sub>
                                    <m:r>
                                      <a:rPr lang="en-US" altLang="ja-JP" sz="1100" i="1">
                                        <a:latin typeface="Cambria Math" panose="02040503050406030204" pitchFamily="18" charset="0"/>
                                        <a:ea typeface="Cambria Math" panose="02040503050406030204" pitchFamily="18" charset="0"/>
                                        <a:cs typeface="Noto Sans CJK JP"/>
                                      </a:rPr>
                                      <m:t>𝑇</m:t>
                                    </m:r>
                                  </m:sub>
                                </m:sSub>
                                <m:r>
                                  <a:rPr lang="en-US" altLang="ja-JP" sz="1100" i="1">
                                    <a:latin typeface="Cambria Math" panose="02040503050406030204" pitchFamily="18" charset="0"/>
                                    <a:ea typeface="Cambria Math" panose="02040503050406030204" pitchFamily="18" charset="0"/>
                                    <a:cs typeface="Noto Sans CJK JP"/>
                                  </a:rPr>
                                  <m:t>|</m:t>
                                </m:r>
                                <m:sSub>
                                  <m:sSubPr>
                                    <m:ctrlPr>
                                      <a:rPr lang="ja-JP" altLang="ar-AE" sz="1100" i="1">
                                        <a:latin typeface="Cambria Math" panose="02040503050406030204" pitchFamily="18" charset="0"/>
                                        <a:ea typeface="Cambria Math" panose="02040503050406030204" pitchFamily="18" charset="0"/>
                                        <a:cs typeface="Noto Sans CJK JP"/>
                                      </a:rPr>
                                    </m:ctrlPr>
                                  </m:sSubPr>
                                  <m:e>
                                    <m:r>
                                      <a:rPr lang="ja-JP" altLang="ar-AE" sz="1100" i="1">
                                        <a:latin typeface="Cambria Math" panose="02040503050406030204" pitchFamily="18" charset="0"/>
                                        <a:ea typeface="Cambria Math" panose="02040503050406030204" pitchFamily="18" charset="0"/>
                                        <a:cs typeface="Noto Sans CJK JP"/>
                                      </a:rPr>
                                      <m:t>𝑋</m:t>
                                    </m:r>
                                  </m:e>
                                  <m:sub>
                                    <m:r>
                                      <a:rPr lang="en-US" altLang="ja-JP" sz="1100" i="1">
                                        <a:latin typeface="Cambria Math" panose="02040503050406030204" pitchFamily="18" charset="0"/>
                                        <a:ea typeface="Cambria Math" panose="02040503050406030204" pitchFamily="18" charset="0"/>
                                        <a:cs typeface="Noto Sans CJK JP"/>
                                      </a:rPr>
                                      <m:t>𝑡</m:t>
                                    </m:r>
                                  </m:sub>
                                </m:sSub>
                                <m:r>
                                  <a:rPr lang="en-US" altLang="ja-JP" sz="1100" i="1">
                                    <a:latin typeface="Cambria Math" panose="02040503050406030204" pitchFamily="18" charset="0"/>
                                    <a:ea typeface="Cambria Math" panose="02040503050406030204" pitchFamily="18" charset="0"/>
                                    <a:cs typeface="Noto Sans CJK JP"/>
                                  </a:rPr>
                                  <m:t>=</m:t>
                                </m:r>
                                <m:r>
                                  <a:rPr lang="ja-JP" altLang="en-US" sz="1100" i="1">
                                    <a:latin typeface="Cambria Math" panose="02040503050406030204" pitchFamily="18" charset="0"/>
                                    <a:ea typeface="Noto Sans CJK JP"/>
                                    <a:cs typeface="Noto Sans CJK JP"/>
                                  </a:rPr>
                                  <m:t>𝑥</m:t>
                                </m:r>
                                <m:r>
                                  <a:rPr lang="ar-AE" altLang="ja-JP" sz="1100" i="1">
                                    <a:latin typeface="Cambria Math" panose="02040503050406030204" pitchFamily="18" charset="0"/>
                                    <a:ea typeface="Cambria Math" panose="02040503050406030204" pitchFamily="18" charset="0"/>
                                    <a:cs typeface="Noto Sans CJK JP"/>
                                  </a:rPr>
                                  <m:t>]</m:t>
                                </m:r>
                              </m:oMath>
                            </m:oMathPara>
                          </a14:m>
                          <a:endParaRPr lang="en-US" altLang="ja-JP" sz="1100" dirty="0">
                            <a:solidFill>
                              <a:schemeClr val="tx1"/>
                            </a:solidFill>
                            <a:latin typeface="Noto Sans CJK JP"/>
                            <a:ea typeface="Noto Sans CJK JP"/>
                            <a:cs typeface="Noto Sans CJK JP"/>
                          </a:endParaRPr>
                        </a:p>
                      </a:txBody>
                      <a:tcPr anchor="ctr">
                        <a:solidFill>
                          <a:schemeClr val="bg1"/>
                        </a:solidFill>
                      </a:tcPr>
                    </a:tc>
                    <a:tc>
                      <a:txBody>
                        <a:bodyPr/>
                        <a:lstStyle/>
                        <a:p>
                          <a:pPr algn="l">
                            <a:buNone/>
                          </a:pPr>
                          <a:r>
                            <a:rPr lang="ja-JP" altLang="en-US" sz="1125" b="0" dirty="0">
                              <a:solidFill>
                                <a:srgbClr val="111827"/>
                              </a:solidFill>
                              <a:latin typeface="Noto Sans CJK JP"/>
                              <a:ea typeface="Noto Sans CJK JP"/>
                              <a:cs typeface="Noto Sans CJK JP"/>
                            </a:rPr>
                            <a:t>拡張</a:t>
                          </a:r>
                          <a:r>
                            <a:rPr lang="en-US" altLang="ja-JP" sz="1125" b="0" dirty="0">
                              <a:solidFill>
                                <a:srgbClr val="111827"/>
                              </a:solidFill>
                              <a:latin typeface="Noto Sans CJK JP"/>
                              <a:ea typeface="Noto Sans CJK JP"/>
                              <a:cs typeface="Noto Sans CJK JP"/>
                            </a:rPr>
                            <a:t>HJB</a:t>
                          </a:r>
                          <a:r>
                            <a:rPr lang="ja-JP" altLang="en-US" sz="1125" b="0" dirty="0">
                              <a:solidFill>
                                <a:srgbClr val="111827"/>
                              </a:solidFill>
                              <a:latin typeface="Noto Sans CJK JP"/>
                              <a:ea typeface="Noto Sans CJK JP"/>
                              <a:cs typeface="Noto Sans CJK JP"/>
                            </a:rPr>
                            <a:t>方程式系</a:t>
                          </a:r>
                          <a:endParaRPr lang="en-US" altLang="ja-JP" sz="1125" b="0" dirty="0">
                            <a:solidFill>
                              <a:srgbClr val="111827"/>
                            </a:solidFill>
                            <a:latin typeface="Noto Sans CJK JP"/>
                            <a:ea typeface="Noto Sans CJK JP"/>
                            <a:cs typeface="Noto Sans CJK JP"/>
                          </a:endParaRPr>
                        </a:p>
                        <a:p>
                          <a:pPr algn="l">
                            <a:buNone/>
                          </a:pPr>
                          <a:r>
                            <a:rPr lang="ja-JP" altLang="en-US" sz="1125" b="0" dirty="0">
                              <a:solidFill>
                                <a:srgbClr val="111827"/>
                              </a:solidFill>
                              <a:latin typeface="Noto Sans CJK JP"/>
                              <a:ea typeface="Noto Sans CJK JP"/>
                              <a:cs typeface="Noto Sans CJK JP"/>
                            </a:rPr>
                            <a:t>（ナッシュ均衡）</a:t>
                          </a:r>
                          <a:endParaRPr sz="1125" b="0" dirty="0">
                            <a:solidFill>
                              <a:srgbClr val="111827"/>
                            </a:solidFill>
                            <a:latin typeface="Noto Sans CJK JP"/>
                            <a:ea typeface="Noto Sans CJK JP"/>
                            <a:cs typeface="Noto Sans CJK JP"/>
                          </a:endParaRPr>
                        </a:p>
                      </a:txBody>
                      <a:tcPr anchor="ctr">
                        <a:solidFill>
                          <a:schemeClr val="bg1"/>
                        </a:solidFill>
                      </a:tcPr>
                    </a:tc>
                    <a:tc>
                      <a:txBody>
                        <a:bodyPr/>
                        <a:lstStyle/>
                        <a:p>
                          <a:pPr algn="l">
                            <a:buNone/>
                          </a:pPr>
                          <a:endParaRPr sz="1125" b="0" dirty="0">
                            <a:solidFill>
                              <a:srgbClr val="111827"/>
                            </a:solidFill>
                            <a:latin typeface="Noto Sans CJK JP"/>
                            <a:ea typeface="Noto Sans CJK JP"/>
                            <a:cs typeface="Noto Sans CJK JP"/>
                          </a:endParaRPr>
                        </a:p>
                      </a:txBody>
                      <a:tcPr anchor="ctr">
                        <a:solidFill>
                          <a:schemeClr val="bg1"/>
                        </a:solidFill>
                      </a:tcPr>
                    </a:tc>
                    <a:extLst>
                      <a:ext uri="{0D108BD9-81ED-4DB2-BD59-A6C34878D82A}">
                        <a16:rowId xmlns:a16="http://schemas.microsoft.com/office/drawing/2014/main" val="10003"/>
                      </a:ext>
                    </a:extLst>
                  </a:tr>
                  <a:tr h="613707">
                    <a:tc>
                      <a:txBody>
                        <a:bodyPr/>
                        <a:lstStyle/>
                        <a:p>
                          <a:pPr algn="ctr">
                            <a:buNone/>
                          </a:pPr>
                          <a:r>
                            <a:rPr sz="1200" b="1">
                              <a:solidFill>
                                <a:srgbClr val="C9534B"/>
                              </a:solidFill>
                              <a:latin typeface="Century Gothic"/>
                              <a:ea typeface="Century Gothic"/>
                              <a:cs typeface="Century Gothic"/>
                            </a:rPr>
                            <a:t>dTCMV</a:t>
                          </a:r>
                        </a:p>
                      </a:txBody>
                      <a:tcPr anchor="ctr">
                        <a:solidFill>
                          <a:schemeClr val="bg1"/>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ja-JP" altLang="en-US" sz="1125" b="0" dirty="0">
                              <a:solidFill>
                                <a:srgbClr val="111827"/>
                              </a:solidFill>
                              <a:latin typeface="Noto Sans CJK JP"/>
                              <a:ea typeface="Noto Sans CJK JP"/>
                              <a:cs typeface="Noto Sans CJK JP"/>
                            </a:rPr>
                            <a:t>将来各時点の自分とゲーム（リスク回避度が</a:t>
                          </a:r>
                          <a:r>
                            <a:rPr lang="ja-JP" altLang="en-US" sz="1125" b="1" dirty="0">
                              <a:solidFill>
                                <a:srgbClr val="111827"/>
                              </a:solidFill>
                              <a:latin typeface="Noto Sans CJK JP"/>
                              <a:ea typeface="Noto Sans CJK JP"/>
                              <a:cs typeface="Noto Sans CJK JP"/>
                            </a:rPr>
                            <a:t>変動</a:t>
                          </a:r>
                          <a:r>
                            <a:rPr lang="ja-JP" altLang="en-US" sz="1125" b="0" dirty="0">
                              <a:solidFill>
                                <a:srgbClr val="111827"/>
                              </a:solidFill>
                              <a:latin typeface="Noto Sans CJK JP"/>
                              <a:ea typeface="Noto Sans CJK JP"/>
                              <a:cs typeface="Noto Sans CJK JP"/>
                            </a:rPr>
                            <a:t>）</a:t>
                          </a:r>
                        </a:p>
                      </a:txBody>
                      <a:tcPr anchor="ctr">
                        <a:solidFill>
                          <a:schemeClr val="bg1"/>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ja-JP" altLang="ar-AE" sz="1100" i="1">
                                        <a:latin typeface="Cambria Math" panose="02040503050406030204" pitchFamily="18" charset="0"/>
                                        <a:ea typeface="Cambria Math" panose="02040503050406030204" pitchFamily="18" charset="0"/>
                                        <a:cs typeface="Noto Sans CJK JP"/>
                                      </a:rPr>
                                    </m:ctrlPr>
                                  </m:sSubPr>
                                  <m:e>
                                    <m:r>
                                      <a:rPr lang="ja-JP" altLang="ar-AE" sz="1100" i="1">
                                        <a:latin typeface="Cambria Math" panose="02040503050406030204" pitchFamily="18" charset="0"/>
                                        <a:ea typeface="Cambria Math" panose="02040503050406030204" pitchFamily="18" charset="0"/>
                                        <a:cs typeface="Noto Sans CJK JP"/>
                                      </a:rPr>
                                      <m:t>𝐸</m:t>
                                    </m:r>
                                  </m:e>
                                  <m:sub>
                                    <m:r>
                                      <a:rPr lang="en-US" altLang="ja-JP" sz="1100" i="1">
                                        <a:latin typeface="Cambria Math" panose="02040503050406030204" pitchFamily="18" charset="0"/>
                                        <a:ea typeface="Cambria Math" panose="02040503050406030204" pitchFamily="18" charset="0"/>
                                        <a:cs typeface="Noto Sans CJK JP"/>
                                      </a:rPr>
                                      <m:t>𝑡</m:t>
                                    </m:r>
                                  </m:sub>
                                </m:sSub>
                                <m:d>
                                  <m:dPr>
                                    <m:begChr m:val="["/>
                                    <m:endChr m:val="]"/>
                                    <m:ctrlPr>
                                      <a:rPr lang="ja-JP" altLang="ar-AE" sz="1100" i="1">
                                        <a:latin typeface="Cambria Math" panose="02040503050406030204" pitchFamily="18" charset="0"/>
                                        <a:ea typeface="Cambria Math" panose="02040503050406030204" pitchFamily="18" charset="0"/>
                                        <a:cs typeface="Noto Sans CJK JP"/>
                                      </a:rPr>
                                    </m:ctrlPr>
                                  </m:dPr>
                                  <m:e>
                                    <m:sSub>
                                      <m:sSubPr>
                                        <m:ctrlPr>
                                          <a:rPr lang="ja-JP" altLang="ar-AE" sz="1100" i="1">
                                            <a:latin typeface="Cambria Math" panose="02040503050406030204" pitchFamily="18" charset="0"/>
                                            <a:ea typeface="Cambria Math" panose="02040503050406030204" pitchFamily="18" charset="0"/>
                                            <a:cs typeface="Noto Sans CJK JP"/>
                                          </a:rPr>
                                        </m:ctrlPr>
                                      </m:sSubPr>
                                      <m:e>
                                        <m:r>
                                          <a:rPr lang="ja-JP" altLang="ar-AE" sz="1100" i="1">
                                            <a:latin typeface="Cambria Math" panose="02040503050406030204" pitchFamily="18" charset="0"/>
                                            <a:ea typeface="Cambria Math" panose="02040503050406030204" pitchFamily="18" charset="0"/>
                                            <a:cs typeface="Noto Sans CJK JP"/>
                                          </a:rPr>
                                          <m:t>𝑋</m:t>
                                        </m:r>
                                      </m:e>
                                      <m:sub>
                                        <m:r>
                                          <a:rPr lang="en-US" altLang="ja-JP" sz="1100" i="1">
                                            <a:latin typeface="Cambria Math" panose="02040503050406030204" pitchFamily="18" charset="0"/>
                                            <a:ea typeface="Cambria Math" panose="02040503050406030204" pitchFamily="18" charset="0"/>
                                            <a:cs typeface="Noto Sans CJK JP"/>
                                          </a:rPr>
                                          <m:t>𝑇</m:t>
                                        </m:r>
                                      </m:sub>
                                    </m:sSub>
                                    <m:r>
                                      <a:rPr lang="en-US" altLang="ja-JP" sz="1100" i="1">
                                        <a:latin typeface="Cambria Math" panose="02040503050406030204" pitchFamily="18" charset="0"/>
                                        <a:ea typeface="Cambria Math" panose="02040503050406030204" pitchFamily="18" charset="0"/>
                                        <a:cs typeface="Noto Sans CJK JP"/>
                                      </a:rPr>
                                      <m:t>|</m:t>
                                    </m:r>
                                    <m:sSub>
                                      <m:sSubPr>
                                        <m:ctrlPr>
                                          <a:rPr lang="ja-JP" altLang="ar-AE" sz="1100" i="1">
                                            <a:latin typeface="Cambria Math" panose="02040503050406030204" pitchFamily="18" charset="0"/>
                                            <a:ea typeface="Cambria Math" panose="02040503050406030204" pitchFamily="18" charset="0"/>
                                            <a:cs typeface="Noto Sans CJK JP"/>
                                          </a:rPr>
                                        </m:ctrlPr>
                                      </m:sSubPr>
                                      <m:e>
                                        <m:r>
                                          <a:rPr lang="ja-JP" altLang="ar-AE" sz="1100" i="1">
                                            <a:latin typeface="Cambria Math" panose="02040503050406030204" pitchFamily="18" charset="0"/>
                                            <a:ea typeface="Cambria Math" panose="02040503050406030204" pitchFamily="18" charset="0"/>
                                            <a:cs typeface="Noto Sans CJK JP"/>
                                          </a:rPr>
                                          <m:t>𝑋</m:t>
                                        </m:r>
                                      </m:e>
                                      <m:sub>
                                        <m:r>
                                          <a:rPr lang="en-US" altLang="ja-JP" sz="1100" i="1">
                                            <a:latin typeface="Cambria Math" panose="02040503050406030204" pitchFamily="18" charset="0"/>
                                            <a:ea typeface="Cambria Math" panose="02040503050406030204" pitchFamily="18" charset="0"/>
                                            <a:cs typeface="Noto Sans CJK JP"/>
                                          </a:rPr>
                                          <m:t>𝑡</m:t>
                                        </m:r>
                                      </m:sub>
                                    </m:sSub>
                                    <m:r>
                                      <a:rPr lang="en-US" altLang="ja-JP" sz="1100" i="1">
                                        <a:latin typeface="Cambria Math" panose="02040503050406030204" pitchFamily="18" charset="0"/>
                                        <a:ea typeface="Cambria Math" panose="02040503050406030204" pitchFamily="18" charset="0"/>
                                        <a:cs typeface="Noto Sans CJK JP"/>
                                      </a:rPr>
                                      <m:t>=</m:t>
                                    </m:r>
                                    <m:r>
                                      <a:rPr lang="ja-JP" altLang="en-US" sz="1100" i="1">
                                        <a:latin typeface="Cambria Math" panose="02040503050406030204" pitchFamily="18" charset="0"/>
                                        <a:ea typeface="Noto Sans CJK JP"/>
                                        <a:cs typeface="Noto Sans CJK JP"/>
                                      </a:rPr>
                                      <m:t>𝑥</m:t>
                                    </m:r>
                                  </m:e>
                                </m:d>
                                <m:r>
                                  <a:rPr lang="ar-AE" altLang="ja-JP" sz="1100" i="1">
                                    <a:latin typeface="Cambria Math" panose="02040503050406030204" pitchFamily="18" charset="0"/>
                                    <a:ea typeface="Cambria Math" panose="02040503050406030204" pitchFamily="18" charset="0"/>
                                    <a:cs typeface="Noto Sans CJK JP"/>
                                  </a:rPr>
                                  <m:t>−</m:t>
                                </m:r>
                                <m:f>
                                  <m:fPr>
                                    <m:ctrlPr>
                                      <a:rPr lang="ja-JP" altLang="en-US" sz="1100" i="1" smtClean="0">
                                        <a:latin typeface="Cambria Math" panose="02040503050406030204" pitchFamily="18" charset="0"/>
                                        <a:ea typeface="Cambria Math" panose="02040503050406030204" pitchFamily="18" charset="0"/>
                                        <a:cs typeface="Noto Sans CJK JP"/>
                                      </a:rPr>
                                    </m:ctrlPr>
                                  </m:fPr>
                                  <m:num>
                                    <m:sSub>
                                      <m:sSubPr>
                                        <m:ctrlPr>
                                          <a:rPr lang="ja-JP" altLang="en-US" sz="1100" i="1" smtClean="0">
                                            <a:latin typeface="Cambria Math" panose="02040503050406030204" pitchFamily="18" charset="0"/>
                                            <a:ea typeface="Cambria Math" panose="02040503050406030204" pitchFamily="18" charset="0"/>
                                            <a:cs typeface="Noto Sans CJK JP"/>
                                          </a:rPr>
                                        </m:ctrlPr>
                                      </m:sSubPr>
                                      <m:e>
                                        <m:r>
                                          <a:rPr lang="ja-JP" altLang="en-US" sz="1100" i="1" smtClean="0">
                                            <a:latin typeface="Cambria Math" panose="02040503050406030204" pitchFamily="18" charset="0"/>
                                            <a:ea typeface="Cambria Math" panose="02040503050406030204" pitchFamily="18" charset="0"/>
                                            <a:cs typeface="Noto Sans CJK JP"/>
                                          </a:rPr>
                                          <m:t>𝜌</m:t>
                                        </m:r>
                                      </m:e>
                                      <m:sub>
                                        <m:r>
                                          <m:rPr>
                                            <m:sty m:val="p"/>
                                          </m:rPr>
                                          <a:rPr lang="en-US" altLang="ja-JP" sz="1100" b="0" i="1" smtClean="0">
                                            <a:latin typeface="Cambria Math" panose="02040503050406030204" pitchFamily="18" charset="0"/>
                                            <a:ea typeface="Cambria Math" panose="02040503050406030204" pitchFamily="18" charset="0"/>
                                            <a:cs typeface="Noto Sans CJK JP"/>
                                          </a:rPr>
                                          <m:t>d</m:t>
                                        </m:r>
                                      </m:sub>
                                    </m:sSub>
                                  </m:num>
                                  <m:den>
                                    <m:r>
                                      <a:rPr lang="ja-JP" altLang="en-US" sz="1100" i="1" smtClean="0">
                                        <a:latin typeface="Cambria Math" panose="02040503050406030204" pitchFamily="18" charset="0"/>
                                        <a:ea typeface="Noto Sans CJK JP"/>
                                        <a:cs typeface="Noto Sans CJK JP"/>
                                      </a:rPr>
                                      <m:t>𝑥</m:t>
                                    </m:r>
                                    <m:r>
                                      <a:rPr lang="en-US" altLang="ja-JP" sz="1100" b="0" i="1" smtClean="0">
                                        <a:latin typeface="Cambria Math" panose="02040503050406030204" pitchFamily="18" charset="0"/>
                                        <a:ea typeface="Noto Sans CJK JP"/>
                                        <a:cs typeface="Noto Sans CJK JP"/>
                                      </a:rPr>
                                      <m:t>+</m:t>
                                    </m:r>
                                    <m:sSub>
                                      <m:sSubPr>
                                        <m:ctrlPr>
                                          <a:rPr lang="en-US" altLang="ja-JP" sz="1100" b="0" i="1" smtClean="0">
                                            <a:latin typeface="Cambria Math" panose="02040503050406030204" pitchFamily="18" charset="0"/>
                                            <a:ea typeface="Cambria Math" panose="02040503050406030204" pitchFamily="18" charset="0"/>
                                            <a:cs typeface="Noto Sans CJK JP"/>
                                          </a:rPr>
                                        </m:ctrlPr>
                                      </m:sSubPr>
                                      <m:e>
                                        <m:r>
                                          <m:rPr>
                                            <m:sty m:val="p"/>
                                          </m:rPr>
                                          <a:rPr lang="en-US" altLang="ja-JP" sz="1100" b="0" i="1" smtClean="0">
                                            <a:latin typeface="Cambria Math" panose="02040503050406030204" pitchFamily="18" charset="0"/>
                                            <a:ea typeface="Cambria Math" panose="02040503050406030204" pitchFamily="18" charset="0"/>
                                            <a:cs typeface="Noto Sans CJK JP"/>
                                          </a:rPr>
                                          <m:t>H</m:t>
                                        </m:r>
                                      </m:e>
                                      <m:sub>
                                        <m:r>
                                          <a:rPr lang="en-US" altLang="ja-JP" sz="1100" i="1">
                                            <a:latin typeface="Cambria Math" panose="02040503050406030204" pitchFamily="18" charset="0"/>
                                            <a:ea typeface="Cambria Math" panose="02040503050406030204" pitchFamily="18" charset="0"/>
                                            <a:cs typeface="Noto Sans CJK JP"/>
                                          </a:rPr>
                                          <m:t>𝑡</m:t>
                                        </m:r>
                                      </m:sub>
                                    </m:sSub>
                                  </m:den>
                                </m:f>
                                <m:r>
                                  <a:rPr lang="en-US" altLang="ja-JP" sz="1100" b="0" i="1" smtClean="0">
                                    <a:latin typeface="Cambria Math" panose="02040503050406030204" pitchFamily="18" charset="0"/>
                                    <a:ea typeface="Cambria Math" panose="02040503050406030204" pitchFamily="18" charset="0"/>
                                    <a:cs typeface="Noto Sans CJK JP"/>
                                  </a:rPr>
                                  <m:t>∗</m:t>
                                </m:r>
                                <m:r>
                                  <a:rPr lang="ja-JP" altLang="ar-AE" sz="1100" i="1">
                                    <a:latin typeface="Cambria Math" panose="02040503050406030204" pitchFamily="18" charset="0"/>
                                    <a:ea typeface="Cambria Math" panose="02040503050406030204" pitchFamily="18" charset="0"/>
                                    <a:cs typeface="Noto Sans CJK JP"/>
                                  </a:rPr>
                                  <m:t>𝑉</m:t>
                                </m:r>
                                <m:r>
                                  <a:rPr lang="en-US" altLang="ja-JP" sz="1100" i="1">
                                    <a:latin typeface="Cambria Math" panose="02040503050406030204" pitchFamily="18" charset="0"/>
                                    <a:ea typeface="Cambria Math" panose="02040503050406030204" pitchFamily="18" charset="0"/>
                                    <a:cs typeface="Noto Sans CJK JP"/>
                                  </a:rPr>
                                  <m:t>𝑎</m:t>
                                </m:r>
                                <m:sSub>
                                  <m:sSubPr>
                                    <m:ctrlPr>
                                      <a:rPr lang="en-US" altLang="ja-JP" sz="1100" b="0" i="1" smtClean="0">
                                        <a:solidFill>
                                          <a:schemeClr val="tx1"/>
                                        </a:solidFill>
                                        <a:latin typeface="Cambria Math" panose="02040503050406030204" pitchFamily="18" charset="0"/>
                                        <a:ea typeface="Cambria Math" panose="02040503050406030204" pitchFamily="18" charset="0"/>
                                        <a:cs typeface="Noto Sans CJK JP"/>
                                      </a:rPr>
                                    </m:ctrlPr>
                                  </m:sSubPr>
                                  <m:e>
                                    <m:r>
                                      <a:rPr lang="en-US" altLang="ja-JP" sz="1100" b="0" i="1" smtClean="0">
                                        <a:solidFill>
                                          <a:schemeClr val="tx1"/>
                                        </a:solidFill>
                                        <a:latin typeface="Cambria Math" panose="02040503050406030204" pitchFamily="18" charset="0"/>
                                        <a:ea typeface="Cambria Math" panose="02040503050406030204" pitchFamily="18" charset="0"/>
                                        <a:cs typeface="Noto Sans CJK JP"/>
                                      </a:rPr>
                                      <m:t>𝑟</m:t>
                                    </m:r>
                                  </m:e>
                                  <m:sub>
                                    <m:r>
                                      <a:rPr lang="en-US" altLang="ja-JP" sz="1100" b="0" i="1">
                                        <a:solidFill>
                                          <a:schemeClr val="tx1"/>
                                        </a:solidFill>
                                        <a:latin typeface="Cambria Math" panose="02040503050406030204" pitchFamily="18" charset="0"/>
                                        <a:ea typeface="Cambria Math" panose="02040503050406030204" pitchFamily="18" charset="0"/>
                                        <a:cs typeface="Noto Sans CJK JP"/>
                                      </a:rPr>
                                      <m:t>𝑡</m:t>
                                    </m:r>
                                  </m:sub>
                                </m:sSub>
                                <m:r>
                                  <a:rPr lang="ar-AE" altLang="ja-JP" sz="1100" i="1">
                                    <a:latin typeface="Cambria Math" panose="02040503050406030204" pitchFamily="18" charset="0"/>
                                    <a:ea typeface="Cambria Math" panose="02040503050406030204" pitchFamily="18" charset="0"/>
                                    <a:cs typeface="Noto Sans CJK JP"/>
                                  </a:rPr>
                                  <m:t>[</m:t>
                                </m:r>
                                <m:sSub>
                                  <m:sSubPr>
                                    <m:ctrlPr>
                                      <a:rPr lang="ja-JP" altLang="ar-AE" sz="1100" i="1">
                                        <a:latin typeface="Cambria Math" panose="02040503050406030204" pitchFamily="18" charset="0"/>
                                        <a:ea typeface="Cambria Math" panose="02040503050406030204" pitchFamily="18" charset="0"/>
                                        <a:cs typeface="Noto Sans CJK JP"/>
                                      </a:rPr>
                                    </m:ctrlPr>
                                  </m:sSubPr>
                                  <m:e>
                                    <m:r>
                                      <a:rPr lang="ja-JP" altLang="ar-AE" sz="1100" i="1">
                                        <a:latin typeface="Cambria Math" panose="02040503050406030204" pitchFamily="18" charset="0"/>
                                        <a:ea typeface="Cambria Math" panose="02040503050406030204" pitchFamily="18" charset="0"/>
                                        <a:cs typeface="Noto Sans CJK JP"/>
                                      </a:rPr>
                                      <m:t>𝑋</m:t>
                                    </m:r>
                                  </m:e>
                                  <m:sub>
                                    <m:r>
                                      <a:rPr lang="en-US" altLang="ja-JP" sz="1100" i="1">
                                        <a:latin typeface="Cambria Math" panose="02040503050406030204" pitchFamily="18" charset="0"/>
                                        <a:ea typeface="Cambria Math" panose="02040503050406030204" pitchFamily="18" charset="0"/>
                                        <a:cs typeface="Noto Sans CJK JP"/>
                                      </a:rPr>
                                      <m:t>𝑇</m:t>
                                    </m:r>
                                  </m:sub>
                                </m:sSub>
                                <m:r>
                                  <a:rPr lang="en-US" altLang="ja-JP" sz="1100" i="1">
                                    <a:latin typeface="Cambria Math" panose="02040503050406030204" pitchFamily="18" charset="0"/>
                                    <a:ea typeface="Cambria Math" panose="02040503050406030204" pitchFamily="18" charset="0"/>
                                    <a:cs typeface="Noto Sans CJK JP"/>
                                  </a:rPr>
                                  <m:t>|</m:t>
                                </m:r>
                                <m:sSub>
                                  <m:sSubPr>
                                    <m:ctrlPr>
                                      <a:rPr lang="ja-JP" altLang="ar-AE" sz="1100" i="1">
                                        <a:latin typeface="Cambria Math" panose="02040503050406030204" pitchFamily="18" charset="0"/>
                                        <a:ea typeface="Cambria Math" panose="02040503050406030204" pitchFamily="18" charset="0"/>
                                        <a:cs typeface="Noto Sans CJK JP"/>
                                      </a:rPr>
                                    </m:ctrlPr>
                                  </m:sSubPr>
                                  <m:e>
                                    <m:r>
                                      <a:rPr lang="ja-JP" altLang="ar-AE" sz="1100" i="1">
                                        <a:latin typeface="Cambria Math" panose="02040503050406030204" pitchFamily="18" charset="0"/>
                                        <a:ea typeface="Cambria Math" panose="02040503050406030204" pitchFamily="18" charset="0"/>
                                        <a:cs typeface="Noto Sans CJK JP"/>
                                      </a:rPr>
                                      <m:t>𝑋</m:t>
                                    </m:r>
                                  </m:e>
                                  <m:sub>
                                    <m:r>
                                      <a:rPr lang="en-US" altLang="ja-JP" sz="1100" i="1">
                                        <a:latin typeface="Cambria Math" panose="02040503050406030204" pitchFamily="18" charset="0"/>
                                        <a:ea typeface="Cambria Math" panose="02040503050406030204" pitchFamily="18" charset="0"/>
                                        <a:cs typeface="Noto Sans CJK JP"/>
                                      </a:rPr>
                                      <m:t>𝑡</m:t>
                                    </m:r>
                                  </m:sub>
                                </m:sSub>
                                <m:r>
                                  <a:rPr lang="en-US" altLang="ja-JP" sz="1100" i="1">
                                    <a:latin typeface="Cambria Math" panose="02040503050406030204" pitchFamily="18" charset="0"/>
                                    <a:ea typeface="Cambria Math" panose="02040503050406030204" pitchFamily="18" charset="0"/>
                                    <a:cs typeface="Noto Sans CJK JP"/>
                                  </a:rPr>
                                  <m:t>=</m:t>
                                </m:r>
                                <m:r>
                                  <a:rPr lang="ja-JP" altLang="en-US" sz="1100" i="1">
                                    <a:latin typeface="Cambria Math" panose="02040503050406030204" pitchFamily="18" charset="0"/>
                                    <a:ea typeface="Noto Sans CJK JP"/>
                                    <a:cs typeface="Noto Sans CJK JP"/>
                                  </a:rPr>
                                  <m:t>𝑥</m:t>
                                </m:r>
                                <m:r>
                                  <a:rPr lang="ar-AE" altLang="ja-JP" sz="1100" i="1">
                                    <a:latin typeface="Cambria Math" panose="02040503050406030204" pitchFamily="18" charset="0"/>
                                    <a:ea typeface="Cambria Math" panose="02040503050406030204" pitchFamily="18" charset="0"/>
                                    <a:cs typeface="Noto Sans CJK JP"/>
                                  </a:rPr>
                                  <m:t>]</m:t>
                                </m:r>
                              </m:oMath>
                            </m:oMathPara>
                          </a14:m>
                          <a:endParaRPr lang="en-US" altLang="ja-JP" sz="1100" dirty="0">
                            <a:solidFill>
                              <a:schemeClr val="tx1"/>
                            </a:solidFill>
                            <a:latin typeface="Noto Sans CJK JP"/>
                            <a:ea typeface="Noto Sans CJK JP"/>
                            <a:cs typeface="Noto Sans CJK JP"/>
                          </a:endParaRPr>
                        </a:p>
                      </a:txBody>
                      <a:tcPr anchor="ctr">
                        <a:solidFill>
                          <a:schemeClr val="bg1"/>
                        </a:solidFill>
                      </a:tcPr>
                    </a:tc>
                    <a:tc>
                      <a:txBody>
                        <a:bodyPr/>
                        <a:lstStyle/>
                        <a:p>
                          <a:pPr algn="l">
                            <a:buNone/>
                          </a:pPr>
                          <a:r>
                            <a:rPr lang="ja-JP" altLang="en-US" sz="1125" b="0" dirty="0">
                              <a:solidFill>
                                <a:srgbClr val="111827"/>
                              </a:solidFill>
                              <a:latin typeface="Noto Sans CJK JP"/>
                              <a:ea typeface="Noto Sans CJK JP"/>
                              <a:cs typeface="Noto Sans CJK JP"/>
                            </a:rPr>
                            <a:t>拡張</a:t>
                          </a:r>
                          <a:r>
                            <a:rPr lang="en-US" altLang="ja-JP" sz="1125" b="0" dirty="0">
                              <a:solidFill>
                                <a:srgbClr val="111827"/>
                              </a:solidFill>
                              <a:latin typeface="Noto Sans CJK JP"/>
                              <a:ea typeface="Noto Sans CJK JP"/>
                              <a:cs typeface="Noto Sans CJK JP"/>
                            </a:rPr>
                            <a:t>HJB</a:t>
                          </a:r>
                          <a:r>
                            <a:rPr lang="ja-JP" altLang="en-US" sz="1125" b="0" dirty="0">
                              <a:solidFill>
                                <a:srgbClr val="111827"/>
                              </a:solidFill>
                              <a:latin typeface="Noto Sans CJK JP"/>
                              <a:ea typeface="Noto Sans CJK JP"/>
                              <a:cs typeface="Noto Sans CJK JP"/>
                            </a:rPr>
                            <a:t>方程式系</a:t>
                          </a:r>
                          <a:endParaRPr lang="en-US" altLang="ja-JP" sz="1125" b="0" dirty="0">
                            <a:solidFill>
                              <a:srgbClr val="111827"/>
                            </a:solidFill>
                            <a:latin typeface="Noto Sans CJK JP"/>
                            <a:ea typeface="Noto Sans CJK JP"/>
                            <a:cs typeface="Noto Sans CJK JP"/>
                          </a:endParaRPr>
                        </a:p>
                        <a:p>
                          <a:pPr algn="l">
                            <a:buNone/>
                          </a:pPr>
                          <a:r>
                            <a:rPr lang="ja-JP" altLang="en-US" sz="1125" b="0" dirty="0">
                              <a:solidFill>
                                <a:srgbClr val="111827"/>
                              </a:solidFill>
                              <a:latin typeface="Noto Sans CJK JP"/>
                              <a:ea typeface="Noto Sans CJK JP"/>
                              <a:cs typeface="Noto Sans CJK JP"/>
                            </a:rPr>
                            <a:t>（ナッシュ均衡）</a:t>
                          </a:r>
                          <a:endParaRPr sz="1125" b="0" dirty="0">
                            <a:solidFill>
                              <a:srgbClr val="111827"/>
                            </a:solidFill>
                            <a:latin typeface="Noto Sans CJK JP"/>
                            <a:ea typeface="Noto Sans CJK JP"/>
                            <a:cs typeface="Noto Sans CJK JP"/>
                          </a:endParaRPr>
                        </a:p>
                      </a:txBody>
                      <a:tcPr anchor="ctr">
                        <a:solidFill>
                          <a:schemeClr val="bg1"/>
                        </a:solidFill>
                      </a:tcPr>
                    </a:tc>
                    <a:tc>
                      <a:txBody>
                        <a:bodyPr/>
                        <a:lstStyle/>
                        <a:p>
                          <a:pPr algn="l">
                            <a:buNone/>
                          </a:pPr>
                          <a:endParaRPr sz="1125" b="0" dirty="0">
                            <a:solidFill>
                              <a:srgbClr val="111827"/>
                            </a:solidFill>
                            <a:latin typeface="Noto Sans CJK JP"/>
                            <a:ea typeface="Noto Sans CJK JP"/>
                            <a:cs typeface="Noto Sans CJK JP"/>
                          </a:endParaRPr>
                        </a:p>
                      </a:txBody>
                      <a:tcPr anchor="ctr">
                        <a:solidFill>
                          <a:schemeClr val="bg1"/>
                        </a:solidFill>
                      </a:tcPr>
                    </a:tc>
                    <a:extLst>
                      <a:ext uri="{0D108BD9-81ED-4DB2-BD59-A6C34878D82A}">
                        <a16:rowId xmlns:a16="http://schemas.microsoft.com/office/drawing/2014/main" val="10004"/>
                      </a:ext>
                    </a:extLst>
                  </a:tr>
                </a:tbl>
              </a:graphicData>
            </a:graphic>
          </p:graphicFrame>
        </mc:Choice>
        <mc:Fallback xmlns="">
          <p:graphicFrame>
            <p:nvGraphicFramePr>
              <p:cNvPr id="57" name="表 56">
                <a:extLst>
                  <a:ext uri="{FF2B5EF4-FFF2-40B4-BE49-F238E27FC236}">
                    <a16:creationId xmlns:a16="http://schemas.microsoft.com/office/drawing/2014/main" id="{F99C11E0-DF0C-FCA4-E8DD-8F3EB46E4240}"/>
                  </a:ext>
                </a:extLst>
              </p:cNvPr>
              <p:cNvGraphicFramePr/>
              <p:nvPr>
                <p:extLst>
                  <p:ext uri="{D42A27DB-BD31-4B8C-83A1-F6EECF244321}">
                    <p14:modId xmlns:p14="http://schemas.microsoft.com/office/powerpoint/2010/main" val="2039764534"/>
                  </p:ext>
                </p:extLst>
              </p:nvPr>
            </p:nvGraphicFramePr>
            <p:xfrm>
              <a:off x="457200" y="1886944"/>
              <a:ext cx="8280400" cy="2789166"/>
            </p:xfrm>
            <a:graphic>
              <a:graphicData uri="http://schemas.openxmlformats.org/drawingml/2006/table">
                <a:tbl>
                  <a:tblPr/>
                  <a:tblGrid>
                    <a:gridCol w="724141">
                      <a:extLst>
                        <a:ext uri="{9D8B030D-6E8A-4147-A177-3AD203B41FA5}">
                          <a16:colId xmlns:a16="http://schemas.microsoft.com/office/drawing/2014/main" val="20000"/>
                        </a:ext>
                      </a:extLst>
                    </a:gridCol>
                    <a:gridCol w="1491740">
                      <a:extLst>
                        <a:ext uri="{9D8B030D-6E8A-4147-A177-3AD203B41FA5}">
                          <a16:colId xmlns:a16="http://schemas.microsoft.com/office/drawing/2014/main" val="20001"/>
                        </a:ext>
                      </a:extLst>
                    </a:gridCol>
                    <a:gridCol w="2916077">
                      <a:extLst>
                        <a:ext uri="{9D8B030D-6E8A-4147-A177-3AD203B41FA5}">
                          <a16:colId xmlns:a16="http://schemas.microsoft.com/office/drawing/2014/main" val="20002"/>
                        </a:ext>
                      </a:extLst>
                    </a:gridCol>
                    <a:gridCol w="1370442">
                      <a:extLst>
                        <a:ext uri="{9D8B030D-6E8A-4147-A177-3AD203B41FA5}">
                          <a16:colId xmlns:a16="http://schemas.microsoft.com/office/drawing/2014/main" val="20003"/>
                        </a:ext>
                      </a:extLst>
                    </a:gridCol>
                    <a:gridCol w="1778000">
                      <a:extLst>
                        <a:ext uri="{9D8B030D-6E8A-4147-A177-3AD203B41FA5}">
                          <a16:colId xmlns:a16="http://schemas.microsoft.com/office/drawing/2014/main" val="4135616146"/>
                        </a:ext>
                      </a:extLst>
                    </a:gridCol>
                  </a:tblGrid>
                  <a:tr h="319395">
                    <a:tc>
                      <a:txBody>
                        <a:bodyPr/>
                        <a:lstStyle/>
                        <a:p>
                          <a:pPr algn="ctr">
                            <a:buNone/>
                          </a:pPr>
                          <a:r>
                            <a:rPr sz="1163" b="1" dirty="0" err="1">
                              <a:solidFill>
                                <a:srgbClr val="2F73B7"/>
                              </a:solidFill>
                              <a:latin typeface="Noto Sans CJK JP"/>
                              <a:ea typeface="Noto Sans CJK JP"/>
                              <a:cs typeface="Noto Sans CJK JP"/>
                            </a:rPr>
                            <a:t>解概念</a:t>
                          </a:r>
                          <a:endParaRPr sz="1163" b="1" dirty="0">
                            <a:solidFill>
                              <a:srgbClr val="2F73B7"/>
                            </a:solidFill>
                            <a:latin typeface="Noto Sans CJK JP"/>
                            <a:ea typeface="Noto Sans CJK JP"/>
                            <a:cs typeface="Noto Sans CJK JP"/>
                          </a:endParaRPr>
                        </a:p>
                      </a:txBody>
                      <a:tcPr anchor="ctr">
                        <a:solidFill>
                          <a:srgbClr val="EAF3FB"/>
                        </a:solidFill>
                      </a:tcPr>
                    </a:tc>
                    <a:tc>
                      <a:txBody>
                        <a:bodyPr/>
                        <a:lstStyle/>
                        <a:p>
                          <a:pPr algn="ctr">
                            <a:buNone/>
                          </a:pPr>
                          <a:r>
                            <a:rPr sz="1163" b="1" dirty="0" err="1">
                              <a:solidFill>
                                <a:srgbClr val="2F73B7"/>
                              </a:solidFill>
                              <a:latin typeface="Noto Sans CJK JP"/>
                              <a:ea typeface="Noto Sans CJK JP"/>
                              <a:cs typeface="Noto Sans CJK JP"/>
                            </a:rPr>
                            <a:t>決定原理</a:t>
                          </a:r>
                          <a:endParaRPr sz="1163" b="1" dirty="0">
                            <a:solidFill>
                              <a:srgbClr val="2F73B7"/>
                            </a:solidFill>
                            <a:latin typeface="Noto Sans CJK JP"/>
                            <a:ea typeface="Noto Sans CJK JP"/>
                            <a:cs typeface="Noto Sans CJK JP"/>
                          </a:endParaRPr>
                        </a:p>
                      </a:txBody>
                      <a:tcPr anchor="ctr">
                        <a:solidFill>
                          <a:srgbClr val="EAF3FB"/>
                        </a:solidFill>
                      </a:tcPr>
                    </a:tc>
                    <a:tc>
                      <a:txBody>
                        <a:bodyPr/>
                        <a:lstStyle/>
                        <a:p>
                          <a:pPr algn="ctr">
                            <a:buNone/>
                          </a:pPr>
                          <a:r>
                            <a:rPr sz="1163" b="1" dirty="0" err="1">
                              <a:solidFill>
                                <a:srgbClr val="2F73B7"/>
                              </a:solidFill>
                              <a:latin typeface="Noto Sans CJK JP"/>
                              <a:ea typeface="Noto Sans CJK JP"/>
                              <a:cs typeface="Noto Sans CJK JP"/>
                            </a:rPr>
                            <a:t>中心となる基準</a:t>
                          </a:r>
                          <a:endParaRPr sz="1163" b="1" dirty="0">
                            <a:solidFill>
                              <a:srgbClr val="2F73B7"/>
                            </a:solidFill>
                            <a:latin typeface="Noto Sans CJK JP"/>
                            <a:ea typeface="Noto Sans CJK JP"/>
                            <a:cs typeface="Noto Sans CJK JP"/>
                          </a:endParaRPr>
                        </a:p>
                      </a:txBody>
                      <a:tcPr anchor="ctr">
                        <a:solidFill>
                          <a:srgbClr val="EAF3FB"/>
                        </a:solidFill>
                      </a:tcPr>
                    </a:tc>
                    <a:tc>
                      <a:txBody>
                        <a:bodyPr/>
                        <a:lstStyle/>
                        <a:p>
                          <a:pPr algn="ctr">
                            <a:buNone/>
                          </a:pPr>
                          <a:r>
                            <a:rPr lang="ja-JP" altLang="en-US" sz="1163" b="1" dirty="0">
                              <a:solidFill>
                                <a:srgbClr val="2F73B7"/>
                              </a:solidFill>
                              <a:latin typeface="Noto Sans CJK JP"/>
                              <a:ea typeface="Noto Sans CJK JP"/>
                              <a:cs typeface="Noto Sans CJK JP"/>
                            </a:rPr>
                            <a:t>最適化手法</a:t>
                          </a:r>
                          <a:endParaRPr sz="1163" b="1" dirty="0">
                            <a:solidFill>
                              <a:srgbClr val="2F73B7"/>
                            </a:solidFill>
                            <a:latin typeface="Noto Sans CJK JP"/>
                            <a:ea typeface="Noto Sans CJK JP"/>
                            <a:cs typeface="Noto Sans CJK JP"/>
                          </a:endParaRPr>
                        </a:p>
                      </a:txBody>
                      <a:tcPr anchor="ctr">
                        <a:solidFill>
                          <a:srgbClr val="EAF3FB"/>
                        </a:solidFill>
                      </a:tcPr>
                    </a:tc>
                    <a:tc>
                      <a:txBody>
                        <a:bodyPr/>
                        <a:lstStyle/>
                        <a:p>
                          <a:endParaRPr lang="ja-JP"/>
                        </a:p>
                      </a:txBody>
                      <a:tcPr anchor="ctr">
                        <a:blipFill>
                          <a:blip r:embed="rId3"/>
                          <a:stretch>
                            <a:fillRect l="-366096" t="-1887" r="-685" b="-773585"/>
                          </a:stretch>
                        </a:blipFill>
                      </a:tcPr>
                    </a:tc>
                    <a:extLst>
                      <a:ext uri="{0D108BD9-81ED-4DB2-BD59-A6C34878D82A}">
                        <a16:rowId xmlns:a16="http://schemas.microsoft.com/office/drawing/2014/main" val="10000"/>
                      </a:ext>
                    </a:extLst>
                  </a:tr>
                  <a:tr h="628650">
                    <a:tc>
                      <a:txBody>
                        <a:bodyPr/>
                        <a:lstStyle/>
                        <a:p>
                          <a:pPr algn="ctr">
                            <a:buNone/>
                          </a:pPr>
                          <a:r>
                            <a:rPr sz="1200" b="1" dirty="0">
                              <a:solidFill>
                                <a:srgbClr val="2F73B7"/>
                              </a:solidFill>
                              <a:latin typeface="Century Gothic"/>
                              <a:ea typeface="Century Gothic"/>
                              <a:cs typeface="Century Gothic"/>
                            </a:rPr>
                            <a:t>PCMV</a:t>
                          </a:r>
                        </a:p>
                      </a:txBody>
                      <a:tcPr anchor="ctr">
                        <a:solidFill>
                          <a:schemeClr val="bg1"/>
                        </a:solidFill>
                      </a:tcPr>
                    </a:tc>
                    <a:tc>
                      <a:txBody>
                        <a:bodyPr/>
                        <a:lstStyle/>
                        <a:p>
                          <a:pPr algn="l">
                            <a:buNone/>
                          </a:pPr>
                          <a:r>
                            <a:rPr sz="1125" b="0" dirty="0">
                              <a:solidFill>
                                <a:srgbClr val="111827"/>
                              </a:solidFill>
                              <a:latin typeface="Noto Sans CJK JP"/>
                              <a:ea typeface="Noto Sans CJK JP"/>
                              <a:cs typeface="Noto Sans CJK JP"/>
                            </a:rPr>
                            <a:t>時点0でコミット</a:t>
                          </a:r>
                        </a:p>
                      </a:txBody>
                      <a:tcPr anchor="ctr">
                        <a:solidFill>
                          <a:schemeClr val="bg1"/>
                        </a:solidFill>
                      </a:tcPr>
                    </a:tc>
                    <a:tc>
                      <a:txBody>
                        <a:bodyPr/>
                        <a:lstStyle/>
                        <a:p>
                          <a:endParaRPr lang="ja-JP"/>
                        </a:p>
                      </a:txBody>
                      <a:tcPr anchor="ctr">
                        <a:blipFill>
                          <a:blip r:embed="rId3"/>
                          <a:stretch>
                            <a:fillRect l="-76569" t="-52427" r="-108577" b="-298058"/>
                          </a:stretch>
                        </a:blipFill>
                      </a:tcPr>
                    </a:tc>
                    <a:tc>
                      <a:txBody>
                        <a:bodyPr/>
                        <a:lstStyle/>
                        <a:p>
                          <a:pPr algn="l">
                            <a:buNone/>
                          </a:pPr>
                          <a:r>
                            <a:rPr lang="en-US" altLang="ja-JP" sz="1125" b="0" dirty="0">
                              <a:solidFill>
                                <a:srgbClr val="111827"/>
                              </a:solidFill>
                              <a:latin typeface="Noto Sans CJK JP"/>
                              <a:ea typeface="Noto Sans CJK JP"/>
                              <a:cs typeface="Noto Sans CJK JP"/>
                            </a:rPr>
                            <a:t>HJB</a:t>
                          </a:r>
                          <a:r>
                            <a:rPr lang="ja-JP" altLang="en-US" sz="1125" b="0" dirty="0">
                              <a:solidFill>
                                <a:srgbClr val="111827"/>
                              </a:solidFill>
                              <a:latin typeface="Noto Sans CJK JP"/>
                              <a:ea typeface="Noto Sans CJK JP"/>
                              <a:cs typeface="Noto Sans CJK JP"/>
                            </a:rPr>
                            <a:t>方程式</a:t>
                          </a:r>
                          <a:endParaRPr sz="1125" b="0" dirty="0">
                            <a:solidFill>
                              <a:srgbClr val="111827"/>
                            </a:solidFill>
                            <a:latin typeface="Noto Sans CJK JP"/>
                            <a:ea typeface="Noto Sans CJK JP"/>
                            <a:cs typeface="Noto Sans CJK JP"/>
                          </a:endParaRPr>
                        </a:p>
                      </a:txBody>
                      <a:tcPr anchor="ctr">
                        <a:solidFill>
                          <a:schemeClr val="bg1"/>
                        </a:solidFill>
                      </a:tcPr>
                    </a:tc>
                    <a:tc>
                      <a:txBody>
                        <a:bodyPr/>
                        <a:lstStyle/>
                        <a:p>
                          <a:pPr algn="l">
                            <a:buNone/>
                          </a:pPr>
                          <a:endParaRPr sz="1125" b="0" dirty="0">
                            <a:solidFill>
                              <a:srgbClr val="111827"/>
                            </a:solidFill>
                            <a:latin typeface="Noto Sans CJK JP"/>
                            <a:ea typeface="Noto Sans CJK JP"/>
                            <a:cs typeface="Noto Sans CJK JP"/>
                          </a:endParaRPr>
                        </a:p>
                      </a:txBody>
                      <a:tcPr anchor="ctr">
                        <a:solidFill>
                          <a:schemeClr val="bg1"/>
                        </a:solidFill>
                      </a:tcPr>
                    </a:tc>
                    <a:extLst>
                      <a:ext uri="{0D108BD9-81ED-4DB2-BD59-A6C34878D82A}">
                        <a16:rowId xmlns:a16="http://schemas.microsoft.com/office/drawing/2014/main" val="10001"/>
                      </a:ext>
                    </a:extLst>
                  </a:tr>
                  <a:tr h="613707">
                    <a:tc>
                      <a:txBody>
                        <a:bodyPr/>
                        <a:lstStyle/>
                        <a:p>
                          <a:pPr algn="ctr">
                            <a:buNone/>
                          </a:pPr>
                          <a:r>
                            <a:rPr sz="1200" b="1" dirty="0">
                              <a:solidFill>
                                <a:schemeClr val="accent6"/>
                              </a:solidFill>
                              <a:latin typeface="Century Gothic"/>
                              <a:ea typeface="Century Gothic"/>
                              <a:cs typeface="Century Gothic"/>
                            </a:rPr>
                            <a:t>DOMV</a:t>
                          </a:r>
                        </a:p>
                      </a:txBody>
                      <a:tcPr anchor="ctr">
                        <a:solidFill>
                          <a:schemeClr val="bg1"/>
                        </a:solidFill>
                      </a:tcPr>
                    </a:tc>
                    <a:tc>
                      <a:txBody>
                        <a:bodyPr/>
                        <a:lstStyle/>
                        <a:p>
                          <a:pPr algn="l">
                            <a:buNone/>
                          </a:pPr>
                          <a:r>
                            <a:rPr sz="1125" b="0" dirty="0">
                              <a:solidFill>
                                <a:srgbClr val="111827"/>
                              </a:solidFill>
                              <a:latin typeface="Noto Sans CJK JP"/>
                              <a:ea typeface="Noto Sans CJK JP"/>
                              <a:cs typeface="Noto Sans CJK JP"/>
                            </a:rPr>
                            <a:t>各(</a:t>
                          </a:r>
                          <a:r>
                            <a:rPr sz="1125" b="0" dirty="0" err="1">
                              <a:solidFill>
                                <a:srgbClr val="111827"/>
                              </a:solidFill>
                              <a:latin typeface="Noto Sans CJK JP"/>
                              <a:ea typeface="Noto Sans CJK JP"/>
                              <a:cs typeface="Noto Sans CJK JP"/>
                            </a:rPr>
                            <a:t>t,x</a:t>
                          </a:r>
                          <a:r>
                            <a:rPr sz="1125" b="0" dirty="0">
                              <a:solidFill>
                                <a:srgbClr val="111827"/>
                              </a:solidFill>
                              <a:latin typeface="Noto Sans CJK JP"/>
                              <a:ea typeface="Noto Sans CJK JP"/>
                              <a:cs typeface="Noto Sans CJK JP"/>
                            </a:rPr>
                            <a:t>)</a:t>
                          </a:r>
                          <a:r>
                            <a:rPr sz="1125" b="0" dirty="0" err="1">
                              <a:solidFill>
                                <a:srgbClr val="111827"/>
                              </a:solidFill>
                              <a:latin typeface="Noto Sans CJK JP"/>
                              <a:ea typeface="Noto Sans CJK JP"/>
                              <a:cs typeface="Noto Sans CJK JP"/>
                            </a:rPr>
                            <a:t>で再最適化</a:t>
                          </a:r>
                          <a:endParaRPr sz="1125" b="0" dirty="0">
                            <a:solidFill>
                              <a:srgbClr val="111827"/>
                            </a:solidFill>
                            <a:latin typeface="Noto Sans CJK JP"/>
                            <a:ea typeface="Noto Sans CJK JP"/>
                            <a:cs typeface="Noto Sans CJK JP"/>
                          </a:endParaRPr>
                        </a:p>
                      </a:txBody>
                      <a:tcPr anchor="ctr">
                        <a:solidFill>
                          <a:schemeClr val="bg1"/>
                        </a:solidFill>
                      </a:tcPr>
                    </a:tc>
                    <a:tc>
                      <a:txBody>
                        <a:bodyPr/>
                        <a:lstStyle/>
                        <a:p>
                          <a:endParaRPr lang="ja-JP"/>
                        </a:p>
                      </a:txBody>
                      <a:tcPr anchor="ctr">
                        <a:blipFill>
                          <a:blip r:embed="rId3"/>
                          <a:stretch>
                            <a:fillRect l="-76569" t="-155446" r="-108577" b="-203960"/>
                          </a:stretch>
                        </a:blipFill>
                      </a:tcPr>
                    </a:tc>
                    <a:tc>
                      <a:txBody>
                        <a:bodyPr/>
                        <a:lstStyle/>
                        <a:p>
                          <a:pPr algn="l">
                            <a:buNone/>
                          </a:pPr>
                          <a:r>
                            <a:rPr lang="en-US" altLang="ja-JP" sz="1125" b="0" dirty="0">
                              <a:solidFill>
                                <a:srgbClr val="111827"/>
                              </a:solidFill>
                              <a:latin typeface="Noto Sans CJK JP"/>
                              <a:ea typeface="Noto Sans CJK JP"/>
                              <a:cs typeface="Noto Sans CJK JP"/>
                            </a:rPr>
                            <a:t>HJB</a:t>
                          </a:r>
                          <a:r>
                            <a:rPr lang="ja-JP" altLang="en-US" sz="1125" b="0" dirty="0">
                              <a:solidFill>
                                <a:srgbClr val="111827"/>
                              </a:solidFill>
                              <a:latin typeface="Noto Sans CJK JP"/>
                              <a:ea typeface="Noto Sans CJK JP"/>
                              <a:cs typeface="Noto Sans CJK JP"/>
                            </a:rPr>
                            <a:t>方程式</a:t>
                          </a:r>
                          <a:endParaRPr sz="1125" b="0" dirty="0">
                            <a:solidFill>
                              <a:srgbClr val="111827"/>
                            </a:solidFill>
                            <a:latin typeface="Noto Sans CJK JP"/>
                            <a:ea typeface="Noto Sans CJK JP"/>
                            <a:cs typeface="Noto Sans CJK JP"/>
                          </a:endParaRPr>
                        </a:p>
                      </a:txBody>
                      <a:tcPr anchor="ctr">
                        <a:solidFill>
                          <a:schemeClr val="bg1"/>
                        </a:solidFill>
                      </a:tcPr>
                    </a:tc>
                    <a:tc>
                      <a:txBody>
                        <a:bodyPr/>
                        <a:lstStyle/>
                        <a:p>
                          <a:pPr algn="l">
                            <a:buNone/>
                          </a:pPr>
                          <a:endParaRPr sz="1125" b="0" dirty="0">
                            <a:solidFill>
                              <a:srgbClr val="111827"/>
                            </a:solidFill>
                            <a:latin typeface="Noto Sans CJK JP"/>
                            <a:ea typeface="Noto Sans CJK JP"/>
                            <a:cs typeface="Noto Sans CJK JP"/>
                          </a:endParaRPr>
                        </a:p>
                      </a:txBody>
                      <a:tcPr anchor="ctr">
                        <a:solidFill>
                          <a:schemeClr val="bg1"/>
                        </a:solidFill>
                      </a:tcPr>
                    </a:tc>
                    <a:extLst>
                      <a:ext uri="{0D108BD9-81ED-4DB2-BD59-A6C34878D82A}">
                        <a16:rowId xmlns:a16="http://schemas.microsoft.com/office/drawing/2014/main" val="10002"/>
                      </a:ext>
                    </a:extLst>
                  </a:tr>
                  <a:tr h="613707">
                    <a:tc>
                      <a:txBody>
                        <a:bodyPr/>
                        <a:lstStyle/>
                        <a:p>
                          <a:pPr algn="ctr">
                            <a:buNone/>
                          </a:pPr>
                          <a:r>
                            <a:rPr sz="1200" b="1" dirty="0" err="1">
                              <a:solidFill>
                                <a:srgbClr val="2F8F73"/>
                              </a:solidFill>
                              <a:latin typeface="Century Gothic"/>
                              <a:ea typeface="Century Gothic"/>
                              <a:cs typeface="Century Gothic"/>
                            </a:rPr>
                            <a:t>cTCMV</a:t>
                          </a:r>
                          <a:endParaRPr sz="1200" b="1" dirty="0">
                            <a:solidFill>
                              <a:srgbClr val="2F8F73"/>
                            </a:solidFill>
                            <a:latin typeface="Century Gothic"/>
                            <a:ea typeface="Century Gothic"/>
                            <a:cs typeface="Century Gothic"/>
                          </a:endParaRPr>
                        </a:p>
                      </a:txBody>
                      <a:tcPr anchor="ctr">
                        <a:solidFill>
                          <a:schemeClr val="bg1"/>
                        </a:solidFill>
                      </a:tcPr>
                    </a:tc>
                    <a:tc>
                      <a:txBody>
                        <a:bodyPr/>
                        <a:lstStyle/>
                        <a:p>
                          <a:pPr algn="l">
                            <a:buNone/>
                          </a:pPr>
                          <a:r>
                            <a:rPr lang="ja-JP" altLang="en-US" sz="1125" b="0" dirty="0">
                              <a:solidFill>
                                <a:srgbClr val="111827"/>
                              </a:solidFill>
                              <a:latin typeface="Noto Sans CJK JP"/>
                              <a:ea typeface="Noto Sans CJK JP"/>
                              <a:cs typeface="Noto Sans CJK JP"/>
                            </a:rPr>
                            <a:t>将来各時点の自分とゲーム（リスク回避度が</a:t>
                          </a:r>
                          <a:r>
                            <a:rPr lang="ja-JP" altLang="en-US" sz="1125" b="1" dirty="0">
                              <a:solidFill>
                                <a:srgbClr val="111827"/>
                              </a:solidFill>
                              <a:latin typeface="Noto Sans CJK JP"/>
                              <a:ea typeface="Noto Sans CJK JP"/>
                              <a:cs typeface="Noto Sans CJK JP"/>
                            </a:rPr>
                            <a:t>固定</a:t>
                          </a:r>
                          <a:r>
                            <a:rPr lang="ja-JP" altLang="en-US" sz="1125" b="0" dirty="0">
                              <a:solidFill>
                                <a:srgbClr val="111827"/>
                              </a:solidFill>
                              <a:latin typeface="Noto Sans CJK JP"/>
                              <a:ea typeface="Noto Sans CJK JP"/>
                              <a:cs typeface="Noto Sans CJK JP"/>
                            </a:rPr>
                            <a:t>）</a:t>
                          </a:r>
                        </a:p>
                      </a:txBody>
                      <a:tcPr anchor="ctr">
                        <a:solidFill>
                          <a:schemeClr val="bg1"/>
                        </a:solidFill>
                      </a:tcPr>
                    </a:tc>
                    <a:tc>
                      <a:txBody>
                        <a:bodyPr/>
                        <a:lstStyle/>
                        <a:p>
                          <a:endParaRPr lang="ja-JP"/>
                        </a:p>
                      </a:txBody>
                      <a:tcPr anchor="ctr">
                        <a:blipFill>
                          <a:blip r:embed="rId3"/>
                          <a:stretch>
                            <a:fillRect l="-76569" t="-255446" r="-108577" b="-103960"/>
                          </a:stretch>
                        </a:blipFill>
                      </a:tcPr>
                    </a:tc>
                    <a:tc>
                      <a:txBody>
                        <a:bodyPr/>
                        <a:lstStyle/>
                        <a:p>
                          <a:pPr algn="l">
                            <a:buNone/>
                          </a:pPr>
                          <a:r>
                            <a:rPr lang="ja-JP" altLang="en-US" sz="1125" b="0" dirty="0">
                              <a:solidFill>
                                <a:srgbClr val="111827"/>
                              </a:solidFill>
                              <a:latin typeface="Noto Sans CJK JP"/>
                              <a:ea typeface="Noto Sans CJK JP"/>
                              <a:cs typeface="Noto Sans CJK JP"/>
                            </a:rPr>
                            <a:t>拡張</a:t>
                          </a:r>
                          <a:r>
                            <a:rPr lang="en-US" altLang="ja-JP" sz="1125" b="0" dirty="0">
                              <a:solidFill>
                                <a:srgbClr val="111827"/>
                              </a:solidFill>
                              <a:latin typeface="Noto Sans CJK JP"/>
                              <a:ea typeface="Noto Sans CJK JP"/>
                              <a:cs typeface="Noto Sans CJK JP"/>
                            </a:rPr>
                            <a:t>HJB</a:t>
                          </a:r>
                          <a:r>
                            <a:rPr lang="ja-JP" altLang="en-US" sz="1125" b="0" dirty="0">
                              <a:solidFill>
                                <a:srgbClr val="111827"/>
                              </a:solidFill>
                              <a:latin typeface="Noto Sans CJK JP"/>
                              <a:ea typeface="Noto Sans CJK JP"/>
                              <a:cs typeface="Noto Sans CJK JP"/>
                            </a:rPr>
                            <a:t>方程式系</a:t>
                          </a:r>
                          <a:endParaRPr lang="en-US" altLang="ja-JP" sz="1125" b="0" dirty="0">
                            <a:solidFill>
                              <a:srgbClr val="111827"/>
                            </a:solidFill>
                            <a:latin typeface="Noto Sans CJK JP"/>
                            <a:ea typeface="Noto Sans CJK JP"/>
                            <a:cs typeface="Noto Sans CJK JP"/>
                          </a:endParaRPr>
                        </a:p>
                        <a:p>
                          <a:pPr algn="l">
                            <a:buNone/>
                          </a:pPr>
                          <a:r>
                            <a:rPr lang="ja-JP" altLang="en-US" sz="1125" b="0" dirty="0">
                              <a:solidFill>
                                <a:srgbClr val="111827"/>
                              </a:solidFill>
                              <a:latin typeface="Noto Sans CJK JP"/>
                              <a:ea typeface="Noto Sans CJK JP"/>
                              <a:cs typeface="Noto Sans CJK JP"/>
                            </a:rPr>
                            <a:t>（ナッシュ均衡）</a:t>
                          </a:r>
                          <a:endParaRPr sz="1125" b="0" dirty="0">
                            <a:solidFill>
                              <a:srgbClr val="111827"/>
                            </a:solidFill>
                            <a:latin typeface="Noto Sans CJK JP"/>
                            <a:ea typeface="Noto Sans CJK JP"/>
                            <a:cs typeface="Noto Sans CJK JP"/>
                          </a:endParaRPr>
                        </a:p>
                      </a:txBody>
                      <a:tcPr anchor="ctr">
                        <a:solidFill>
                          <a:schemeClr val="bg1"/>
                        </a:solidFill>
                      </a:tcPr>
                    </a:tc>
                    <a:tc>
                      <a:txBody>
                        <a:bodyPr/>
                        <a:lstStyle/>
                        <a:p>
                          <a:pPr algn="l">
                            <a:buNone/>
                          </a:pPr>
                          <a:endParaRPr sz="1125" b="0" dirty="0">
                            <a:solidFill>
                              <a:srgbClr val="111827"/>
                            </a:solidFill>
                            <a:latin typeface="Noto Sans CJK JP"/>
                            <a:ea typeface="Noto Sans CJK JP"/>
                            <a:cs typeface="Noto Sans CJK JP"/>
                          </a:endParaRPr>
                        </a:p>
                      </a:txBody>
                      <a:tcPr anchor="ctr">
                        <a:solidFill>
                          <a:schemeClr val="bg1"/>
                        </a:solidFill>
                      </a:tcPr>
                    </a:tc>
                    <a:extLst>
                      <a:ext uri="{0D108BD9-81ED-4DB2-BD59-A6C34878D82A}">
                        <a16:rowId xmlns:a16="http://schemas.microsoft.com/office/drawing/2014/main" val="10003"/>
                      </a:ext>
                    </a:extLst>
                  </a:tr>
                  <a:tr h="613707">
                    <a:tc>
                      <a:txBody>
                        <a:bodyPr/>
                        <a:lstStyle/>
                        <a:p>
                          <a:pPr algn="ctr">
                            <a:buNone/>
                          </a:pPr>
                          <a:r>
                            <a:rPr sz="1200" b="1">
                              <a:solidFill>
                                <a:srgbClr val="C9534B"/>
                              </a:solidFill>
                              <a:latin typeface="Century Gothic"/>
                              <a:ea typeface="Century Gothic"/>
                              <a:cs typeface="Century Gothic"/>
                            </a:rPr>
                            <a:t>dTCMV</a:t>
                          </a:r>
                        </a:p>
                      </a:txBody>
                      <a:tcPr anchor="ctr">
                        <a:solidFill>
                          <a:schemeClr val="bg1"/>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ja-JP" altLang="en-US" sz="1125" b="0" dirty="0">
                              <a:solidFill>
                                <a:srgbClr val="111827"/>
                              </a:solidFill>
                              <a:latin typeface="Noto Sans CJK JP"/>
                              <a:ea typeface="Noto Sans CJK JP"/>
                              <a:cs typeface="Noto Sans CJK JP"/>
                            </a:rPr>
                            <a:t>将来各時点の自分とゲーム（リスク回避度が</a:t>
                          </a:r>
                          <a:r>
                            <a:rPr lang="ja-JP" altLang="en-US" sz="1125" b="1" dirty="0">
                              <a:solidFill>
                                <a:srgbClr val="111827"/>
                              </a:solidFill>
                              <a:latin typeface="Noto Sans CJK JP"/>
                              <a:ea typeface="Noto Sans CJK JP"/>
                              <a:cs typeface="Noto Sans CJK JP"/>
                            </a:rPr>
                            <a:t>変動</a:t>
                          </a:r>
                          <a:r>
                            <a:rPr lang="ja-JP" altLang="en-US" sz="1125" b="0" dirty="0">
                              <a:solidFill>
                                <a:srgbClr val="111827"/>
                              </a:solidFill>
                              <a:latin typeface="Noto Sans CJK JP"/>
                              <a:ea typeface="Noto Sans CJK JP"/>
                              <a:cs typeface="Noto Sans CJK JP"/>
                            </a:rPr>
                            <a:t>）</a:t>
                          </a:r>
                        </a:p>
                      </a:txBody>
                      <a:tcPr anchor="ctr">
                        <a:solidFill>
                          <a:schemeClr val="bg1"/>
                        </a:solidFill>
                      </a:tcPr>
                    </a:tc>
                    <a:tc>
                      <a:txBody>
                        <a:bodyPr/>
                        <a:lstStyle/>
                        <a:p>
                          <a:endParaRPr lang="ja-JP"/>
                        </a:p>
                      </a:txBody>
                      <a:tcPr anchor="ctr">
                        <a:blipFill>
                          <a:blip r:embed="rId3"/>
                          <a:stretch>
                            <a:fillRect l="-76569" t="-355446" r="-108577" b="-3960"/>
                          </a:stretch>
                        </a:blipFill>
                      </a:tcPr>
                    </a:tc>
                    <a:tc>
                      <a:txBody>
                        <a:bodyPr/>
                        <a:lstStyle/>
                        <a:p>
                          <a:pPr algn="l">
                            <a:buNone/>
                          </a:pPr>
                          <a:r>
                            <a:rPr lang="ja-JP" altLang="en-US" sz="1125" b="0" dirty="0">
                              <a:solidFill>
                                <a:srgbClr val="111827"/>
                              </a:solidFill>
                              <a:latin typeface="Noto Sans CJK JP"/>
                              <a:ea typeface="Noto Sans CJK JP"/>
                              <a:cs typeface="Noto Sans CJK JP"/>
                            </a:rPr>
                            <a:t>拡張</a:t>
                          </a:r>
                          <a:r>
                            <a:rPr lang="en-US" altLang="ja-JP" sz="1125" b="0" dirty="0">
                              <a:solidFill>
                                <a:srgbClr val="111827"/>
                              </a:solidFill>
                              <a:latin typeface="Noto Sans CJK JP"/>
                              <a:ea typeface="Noto Sans CJK JP"/>
                              <a:cs typeface="Noto Sans CJK JP"/>
                            </a:rPr>
                            <a:t>HJB</a:t>
                          </a:r>
                          <a:r>
                            <a:rPr lang="ja-JP" altLang="en-US" sz="1125" b="0" dirty="0">
                              <a:solidFill>
                                <a:srgbClr val="111827"/>
                              </a:solidFill>
                              <a:latin typeface="Noto Sans CJK JP"/>
                              <a:ea typeface="Noto Sans CJK JP"/>
                              <a:cs typeface="Noto Sans CJK JP"/>
                            </a:rPr>
                            <a:t>方程式系</a:t>
                          </a:r>
                          <a:endParaRPr lang="en-US" altLang="ja-JP" sz="1125" b="0" dirty="0">
                            <a:solidFill>
                              <a:srgbClr val="111827"/>
                            </a:solidFill>
                            <a:latin typeface="Noto Sans CJK JP"/>
                            <a:ea typeface="Noto Sans CJK JP"/>
                            <a:cs typeface="Noto Sans CJK JP"/>
                          </a:endParaRPr>
                        </a:p>
                        <a:p>
                          <a:pPr algn="l">
                            <a:buNone/>
                          </a:pPr>
                          <a:r>
                            <a:rPr lang="ja-JP" altLang="en-US" sz="1125" b="0" dirty="0">
                              <a:solidFill>
                                <a:srgbClr val="111827"/>
                              </a:solidFill>
                              <a:latin typeface="Noto Sans CJK JP"/>
                              <a:ea typeface="Noto Sans CJK JP"/>
                              <a:cs typeface="Noto Sans CJK JP"/>
                            </a:rPr>
                            <a:t>（ナッシュ均衡）</a:t>
                          </a:r>
                          <a:endParaRPr sz="1125" b="0" dirty="0">
                            <a:solidFill>
                              <a:srgbClr val="111827"/>
                            </a:solidFill>
                            <a:latin typeface="Noto Sans CJK JP"/>
                            <a:ea typeface="Noto Sans CJK JP"/>
                            <a:cs typeface="Noto Sans CJK JP"/>
                          </a:endParaRPr>
                        </a:p>
                      </a:txBody>
                      <a:tcPr anchor="ctr">
                        <a:solidFill>
                          <a:schemeClr val="bg1"/>
                        </a:solidFill>
                      </a:tcPr>
                    </a:tc>
                    <a:tc>
                      <a:txBody>
                        <a:bodyPr/>
                        <a:lstStyle/>
                        <a:p>
                          <a:pPr algn="l">
                            <a:buNone/>
                          </a:pPr>
                          <a:endParaRPr sz="1125" b="0" dirty="0">
                            <a:solidFill>
                              <a:srgbClr val="111827"/>
                            </a:solidFill>
                            <a:latin typeface="Noto Sans CJK JP"/>
                            <a:ea typeface="Noto Sans CJK JP"/>
                            <a:cs typeface="Noto Sans CJK JP"/>
                          </a:endParaRPr>
                        </a:p>
                      </a:txBody>
                      <a:tcPr anchor="ctr">
                        <a:solidFill>
                          <a:schemeClr val="bg1"/>
                        </a:solidFill>
                      </a:tcPr>
                    </a:tc>
                    <a:extLst>
                      <a:ext uri="{0D108BD9-81ED-4DB2-BD59-A6C34878D82A}">
                        <a16:rowId xmlns:a16="http://schemas.microsoft.com/office/drawing/2014/main" val="10004"/>
                      </a:ext>
                    </a:extLst>
                  </a:tr>
                </a:tbl>
              </a:graphicData>
            </a:graphic>
          </p:graphicFrame>
        </mc:Fallback>
      </mc:AlternateContent>
      <p:pic>
        <p:nvPicPr>
          <p:cNvPr id="61" name="図 60">
            <a:extLst>
              <a:ext uri="{FF2B5EF4-FFF2-40B4-BE49-F238E27FC236}">
                <a16:creationId xmlns:a16="http://schemas.microsoft.com/office/drawing/2014/main" id="{95320B42-273F-E3B5-DBD3-FAE7E59FDB99}"/>
              </a:ext>
            </a:extLst>
          </p:cNvPr>
          <p:cNvPicPr>
            <a:picLocks noChangeAspect="1"/>
          </p:cNvPicPr>
          <p:nvPr/>
        </p:nvPicPr>
        <p:blipFill>
          <a:blip r:embed="rId4"/>
          <a:stretch>
            <a:fillRect/>
          </a:stretch>
        </p:blipFill>
        <p:spPr>
          <a:xfrm>
            <a:off x="7096025" y="2320897"/>
            <a:ext cx="1428949" cy="400106"/>
          </a:xfrm>
          <a:prstGeom prst="rect">
            <a:avLst/>
          </a:prstGeom>
        </p:spPr>
      </p:pic>
      <p:pic>
        <p:nvPicPr>
          <p:cNvPr id="63" name="図 62">
            <a:extLst>
              <a:ext uri="{FF2B5EF4-FFF2-40B4-BE49-F238E27FC236}">
                <a16:creationId xmlns:a16="http://schemas.microsoft.com/office/drawing/2014/main" id="{332631E7-5780-65A4-76D6-822B5323CB3F}"/>
              </a:ext>
            </a:extLst>
          </p:cNvPr>
          <p:cNvPicPr>
            <a:picLocks noChangeAspect="1"/>
          </p:cNvPicPr>
          <p:nvPr/>
        </p:nvPicPr>
        <p:blipFill>
          <a:blip r:embed="rId5"/>
          <a:stretch>
            <a:fillRect/>
          </a:stretch>
        </p:blipFill>
        <p:spPr>
          <a:xfrm>
            <a:off x="7096025" y="2959666"/>
            <a:ext cx="1247949" cy="390580"/>
          </a:xfrm>
          <a:prstGeom prst="rect">
            <a:avLst/>
          </a:prstGeom>
        </p:spPr>
      </p:pic>
      <p:pic>
        <p:nvPicPr>
          <p:cNvPr id="65" name="図 64">
            <a:extLst>
              <a:ext uri="{FF2B5EF4-FFF2-40B4-BE49-F238E27FC236}">
                <a16:creationId xmlns:a16="http://schemas.microsoft.com/office/drawing/2014/main" id="{1557A006-6EE2-E7C7-BCF2-FF946DE12CF4}"/>
              </a:ext>
            </a:extLst>
          </p:cNvPr>
          <p:cNvPicPr>
            <a:picLocks noChangeAspect="1"/>
          </p:cNvPicPr>
          <p:nvPr/>
        </p:nvPicPr>
        <p:blipFill>
          <a:blip r:embed="rId6"/>
          <a:stretch>
            <a:fillRect/>
          </a:stretch>
        </p:blipFill>
        <p:spPr>
          <a:xfrm>
            <a:off x="7096025" y="3551265"/>
            <a:ext cx="924054" cy="428685"/>
          </a:xfrm>
          <a:prstGeom prst="rect">
            <a:avLst/>
          </a:prstGeom>
        </p:spPr>
      </p:pic>
      <p:pic>
        <p:nvPicPr>
          <p:cNvPr id="67" name="図 66">
            <a:extLst>
              <a:ext uri="{FF2B5EF4-FFF2-40B4-BE49-F238E27FC236}">
                <a16:creationId xmlns:a16="http://schemas.microsoft.com/office/drawing/2014/main" id="{9781D5E6-A5EC-550C-01AA-9B1B2E529942}"/>
              </a:ext>
            </a:extLst>
          </p:cNvPr>
          <p:cNvPicPr>
            <a:picLocks noChangeAspect="1"/>
          </p:cNvPicPr>
          <p:nvPr/>
        </p:nvPicPr>
        <p:blipFill>
          <a:blip r:embed="rId7"/>
          <a:stretch>
            <a:fillRect/>
          </a:stretch>
        </p:blipFill>
        <p:spPr>
          <a:xfrm>
            <a:off x="7096025" y="4241778"/>
            <a:ext cx="562053" cy="304843"/>
          </a:xfrm>
          <a:prstGeom prst="rect">
            <a:avLst/>
          </a:prstGeom>
        </p:spPr>
      </p:pic>
    </p:spTree>
    <p:extLst>
      <p:ext uri="{BB962C8B-B14F-4D97-AF65-F5344CB8AC3E}">
        <p14:creationId xmlns:p14="http://schemas.microsoft.com/office/powerpoint/2010/main" val="3394726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B5FB2-DE08-01C4-4B0F-3D45E31A046E}"/>
              </a:ext>
            </a:extLst>
          </p:cNvPr>
          <p:cNvSpPr>
            <a:spLocks noGrp="1"/>
          </p:cNvSpPr>
          <p:nvPr>
            <p:ph type="title"/>
          </p:nvPr>
        </p:nvSpPr>
        <p:spPr>
          <a:xfrm>
            <a:off x="457200" y="990600"/>
            <a:ext cx="8229600" cy="609600"/>
          </a:xfrm>
        </p:spPr>
        <p:txBody>
          <a:bodyPr wrap="none" lIns="0" tIns="0" rIns="0" bIns="0" anchor="ctr">
            <a:normAutofit/>
          </a:bodyPr>
          <a:lstStyle/>
          <a:p>
            <a:pPr algn="l">
              <a:buNone/>
              <a:defRPr sz="1913" b="1">
                <a:solidFill>
                  <a:srgbClr val="111827"/>
                </a:solidFill>
                <a:latin typeface="Noto Sans CJK JP"/>
                <a:ea typeface="Noto Sans CJK JP"/>
                <a:cs typeface="Noto Sans CJK JP"/>
              </a:defRPr>
            </a:pPr>
            <a:r>
              <a:rPr sz="1913" b="1" dirty="0" err="1">
                <a:solidFill>
                  <a:srgbClr val="111827"/>
                </a:solidFill>
                <a:latin typeface="Noto Sans CJK JP"/>
                <a:ea typeface="Noto Sans CJK JP"/>
                <a:cs typeface="Noto Sans CJK JP"/>
              </a:rPr>
              <a:t>既存研究の比較にDC固有の条件を加え、clipとstrictの差</a:t>
            </a:r>
            <a:r>
              <a:rPr lang="ja-JP" altLang="en-US" sz="1913" b="1" dirty="0">
                <a:solidFill>
                  <a:srgbClr val="111827"/>
                </a:solidFill>
                <a:latin typeface="Noto Sans CJK JP"/>
                <a:ea typeface="Noto Sans CJK JP"/>
                <a:cs typeface="Noto Sans CJK JP"/>
              </a:rPr>
              <a:t>を数値検証</a:t>
            </a:r>
            <a:endParaRPr sz="1913" b="1" dirty="0">
              <a:solidFill>
                <a:srgbClr val="111827"/>
              </a:solidFill>
              <a:latin typeface="Noto Sans CJK JP"/>
              <a:ea typeface="Noto Sans CJK JP"/>
              <a:cs typeface="Noto Sans CJK JP"/>
            </a:endParaRPr>
          </a:p>
        </p:txBody>
      </p:sp>
      <p:sp>
        <p:nvSpPr>
          <p:cNvPr id="3" name="title-divider">
            <a:extLst>
              <a:ext uri="{FF2B5EF4-FFF2-40B4-BE49-F238E27FC236}">
                <a16:creationId xmlns:a16="http://schemas.microsoft.com/office/drawing/2014/main" id="{BB973289-6237-4093-B265-E883E467E80D}"/>
              </a:ext>
            </a:extLst>
          </p:cNvPr>
          <p:cNvSpPr>
            <a:spLocks noGrp="1"/>
          </p:cNvSpPr>
          <p:nvPr/>
        </p:nvSpPr>
        <p:spPr>
          <a:xfrm>
            <a:off x="457200" y="1676400"/>
            <a:ext cx="8229600" cy="9525"/>
          </a:xfrm>
          <a:prstGeom prst="rect">
            <a:avLst/>
          </a:prstGeom>
          <a:solidFill>
            <a:srgbClr val="E5EAF0"/>
          </a:solidFill>
          <a:ln w="0">
            <a:noFill/>
            <a:prstDash val="solid"/>
          </a:ln>
        </p:spPr>
      </p:sp>
      <p:sp>
        <p:nvSpPr>
          <p:cNvPr id="4" name="title-accent">
            <a:extLst>
              <a:ext uri="{FF2B5EF4-FFF2-40B4-BE49-F238E27FC236}">
                <a16:creationId xmlns:a16="http://schemas.microsoft.com/office/drawing/2014/main" id="{A94EAA9A-108B-4E97-BFA6-FDFB224B3709}"/>
              </a:ext>
            </a:extLst>
          </p:cNvPr>
          <p:cNvSpPr>
            <a:spLocks noGrp="1"/>
          </p:cNvSpPr>
          <p:nvPr/>
        </p:nvSpPr>
        <p:spPr>
          <a:xfrm>
            <a:off x="457200" y="1666875"/>
            <a:ext cx="552450" cy="38100"/>
          </a:xfrm>
          <a:prstGeom prst="rect">
            <a:avLst/>
          </a:prstGeom>
          <a:solidFill>
            <a:srgbClr val="4A90E2"/>
          </a:solidFill>
          <a:ln w="0">
            <a:noFill/>
            <a:prstDash val="solid"/>
          </a:ln>
        </p:spPr>
      </p:sp>
      <p:sp>
        <p:nvSpPr>
          <p:cNvPr id="16" name="chapter-tab-1">
            <a:extLst>
              <a:ext uri="{FF2B5EF4-FFF2-40B4-BE49-F238E27FC236}">
                <a16:creationId xmlns:a16="http://schemas.microsoft.com/office/drawing/2014/main" id="{EB805B67-C755-430B-A951-9EB66871C9AF}"/>
              </a:ext>
            </a:extLst>
          </p:cNvPr>
          <p:cNvSpPr>
            <a:spLocks noGrp="1"/>
          </p:cNvSpPr>
          <p:nvPr/>
        </p:nvSpPr>
        <p:spPr>
          <a:xfrm>
            <a:off x="457200" y="4857750"/>
            <a:ext cx="2057400" cy="238125"/>
          </a:xfrm>
          <a:prstGeom prst="parallelogram">
            <a:avLst/>
          </a:prstGeom>
          <a:solidFill>
            <a:srgbClr val="4A90E2"/>
          </a:solidFill>
          <a:ln w="11430">
            <a:solidFill>
              <a:srgbClr val="4A90E2"/>
            </a:solidFill>
            <a:prstDash val="solid"/>
          </a:ln>
        </p:spPr>
        <p:txBody>
          <a:bodyPr wrap="none" lIns="76200" tIns="0" rIns="76200" bIns="0" anchor="ctr">
            <a:normAutofit/>
          </a:bodyPr>
          <a:lstStyle/>
          <a:p>
            <a:pPr algn="ctr">
              <a:buNone/>
              <a:defRPr sz="998" b="1">
                <a:solidFill>
                  <a:srgbClr val="FFFFFF"/>
                </a:solidFill>
                <a:latin typeface="Noto Sans CJK JP"/>
                <a:ea typeface="Noto Sans CJK JP"/>
                <a:cs typeface="Noto Sans CJK JP"/>
              </a:defRPr>
            </a:pPr>
            <a:r>
              <a:rPr sz="998" b="1">
                <a:solidFill>
                  <a:srgbClr val="FFFFFF"/>
                </a:solidFill>
                <a:latin typeface="Noto Sans CJK JP"/>
                <a:ea typeface="Noto Sans CJK JP"/>
                <a:cs typeface="Noto Sans CJK JP"/>
              </a:rPr>
              <a:t>1 前提</a:t>
            </a:r>
          </a:p>
        </p:txBody>
      </p:sp>
      <p:sp>
        <p:nvSpPr>
          <p:cNvPr id="17" name="chapter-tab-2">
            <a:extLst>
              <a:ext uri="{FF2B5EF4-FFF2-40B4-BE49-F238E27FC236}">
                <a16:creationId xmlns:a16="http://schemas.microsoft.com/office/drawing/2014/main" id="{52BEB39B-74E3-43DC-B054-1C3318D6961A}"/>
              </a:ext>
            </a:extLst>
          </p:cNvPr>
          <p:cNvSpPr>
            <a:spLocks noGrp="1"/>
          </p:cNvSpPr>
          <p:nvPr/>
        </p:nvSpPr>
        <p:spPr>
          <a:xfrm>
            <a:off x="2428875" y="4857750"/>
            <a:ext cx="2057400" cy="238125"/>
          </a:xfrm>
          <a:prstGeom prst="parallelogram">
            <a:avLst/>
          </a:prstGeom>
          <a:solidFill>
            <a:srgbClr val="FFFFFF"/>
          </a:solidFill>
          <a:ln w="10001">
            <a:solidFill>
              <a:srgbClr val="2F73B7"/>
            </a:solidFill>
            <a:prstDash val="solid"/>
          </a:ln>
        </p:spPr>
        <p:txBody>
          <a:bodyPr wrap="none" lIns="76200" tIns="0" rIns="76200" bIns="0" anchor="ctr">
            <a:normAutofit/>
          </a:bodyPr>
          <a:lstStyle/>
          <a:p>
            <a:pPr algn="ctr">
              <a:buNone/>
              <a:defRPr sz="998" b="1">
                <a:solidFill>
                  <a:srgbClr val="2F73B7"/>
                </a:solidFill>
                <a:latin typeface="Noto Sans CJK JP"/>
                <a:ea typeface="Noto Sans CJK JP"/>
                <a:cs typeface="Noto Sans CJK JP"/>
              </a:defRPr>
            </a:pPr>
            <a:r>
              <a:rPr sz="998" b="1">
                <a:solidFill>
                  <a:srgbClr val="2F73B7"/>
                </a:solidFill>
                <a:latin typeface="Noto Sans CJK JP"/>
                <a:ea typeface="Noto Sans CJK JP"/>
                <a:cs typeface="Noto Sans CJK JP"/>
              </a:rPr>
              <a:t>2 数理理論</a:t>
            </a:r>
          </a:p>
        </p:txBody>
      </p:sp>
      <p:sp>
        <p:nvSpPr>
          <p:cNvPr id="18" name="chapter-tab-3">
            <a:extLst>
              <a:ext uri="{FF2B5EF4-FFF2-40B4-BE49-F238E27FC236}">
                <a16:creationId xmlns:a16="http://schemas.microsoft.com/office/drawing/2014/main" id="{BA461DA1-DA92-40DD-954C-40367F6DC979}"/>
              </a:ext>
            </a:extLst>
          </p:cNvPr>
          <p:cNvSpPr>
            <a:spLocks noGrp="1"/>
          </p:cNvSpPr>
          <p:nvPr/>
        </p:nvSpPr>
        <p:spPr>
          <a:xfrm>
            <a:off x="4400550" y="4857750"/>
            <a:ext cx="2057400" cy="238125"/>
          </a:xfrm>
          <a:prstGeom prst="parallelogram">
            <a:avLst/>
          </a:prstGeom>
          <a:solidFill>
            <a:srgbClr val="FFFFFF"/>
          </a:solidFill>
          <a:ln w="10001">
            <a:solidFill>
              <a:srgbClr val="2A8F6A"/>
            </a:solidFill>
            <a:prstDash val="solid"/>
          </a:ln>
        </p:spPr>
        <p:txBody>
          <a:bodyPr wrap="none" lIns="76200" tIns="0" rIns="76200" bIns="0" anchor="ctr">
            <a:normAutofit/>
          </a:bodyPr>
          <a:lstStyle/>
          <a:p>
            <a:pPr algn="ctr">
              <a:buNone/>
              <a:defRPr sz="998" b="1">
                <a:solidFill>
                  <a:srgbClr val="2A8F6A"/>
                </a:solidFill>
                <a:latin typeface="Noto Sans CJK JP"/>
                <a:ea typeface="Noto Sans CJK JP"/>
                <a:cs typeface="Noto Sans CJK JP"/>
              </a:defRPr>
            </a:pPr>
            <a:r>
              <a:rPr sz="998" b="1">
                <a:solidFill>
                  <a:srgbClr val="2A8F6A"/>
                </a:solidFill>
                <a:latin typeface="Noto Sans CJK JP"/>
                <a:ea typeface="Noto Sans CJK JP"/>
                <a:cs typeface="Noto Sans CJK JP"/>
              </a:rPr>
              <a:t>3 シミュレーション</a:t>
            </a:r>
          </a:p>
        </p:txBody>
      </p:sp>
      <p:sp>
        <p:nvSpPr>
          <p:cNvPr id="19" name="chapter-tab-4">
            <a:extLst>
              <a:ext uri="{FF2B5EF4-FFF2-40B4-BE49-F238E27FC236}">
                <a16:creationId xmlns:a16="http://schemas.microsoft.com/office/drawing/2014/main" id="{DF22A5F1-6683-4D64-A075-E98F1E05B11A}"/>
              </a:ext>
            </a:extLst>
          </p:cNvPr>
          <p:cNvSpPr>
            <a:spLocks noGrp="1"/>
          </p:cNvSpPr>
          <p:nvPr/>
        </p:nvSpPr>
        <p:spPr>
          <a:xfrm>
            <a:off x="6372225" y="4857750"/>
            <a:ext cx="2057400" cy="238125"/>
          </a:xfrm>
          <a:prstGeom prst="parallelogram">
            <a:avLst/>
          </a:prstGeom>
          <a:solidFill>
            <a:srgbClr val="FFFFFF"/>
          </a:solidFill>
          <a:ln w="10001">
            <a:solidFill>
              <a:srgbClr val="C9534B"/>
            </a:solidFill>
            <a:prstDash val="solid"/>
          </a:ln>
        </p:spPr>
        <p:txBody>
          <a:bodyPr wrap="none" lIns="76200" tIns="0" rIns="76200" bIns="0" anchor="ctr">
            <a:normAutofit/>
          </a:bodyPr>
          <a:lstStyle/>
          <a:p>
            <a:pPr algn="ctr">
              <a:buNone/>
              <a:defRPr sz="998" b="1">
                <a:solidFill>
                  <a:srgbClr val="C9534B"/>
                </a:solidFill>
                <a:latin typeface="Noto Sans CJK JP"/>
                <a:ea typeface="Noto Sans CJK JP"/>
                <a:cs typeface="Noto Sans CJK JP"/>
              </a:defRPr>
            </a:pPr>
            <a:r>
              <a:rPr sz="998" b="1">
                <a:solidFill>
                  <a:srgbClr val="C9534B"/>
                </a:solidFill>
                <a:latin typeface="Noto Sans CJK JP"/>
                <a:ea typeface="Noto Sans CJK JP"/>
                <a:cs typeface="Noto Sans CJK JP"/>
              </a:rPr>
              <a:t>4 結論</a:t>
            </a:r>
          </a:p>
        </p:txBody>
      </p:sp>
      <p:sp>
        <p:nvSpPr>
          <p:cNvPr id="20" name="s5-left-head">
            <a:extLst>
              <a:ext uri="{FF2B5EF4-FFF2-40B4-BE49-F238E27FC236}">
                <a16:creationId xmlns:a16="http://schemas.microsoft.com/office/drawing/2014/main" id="{5CCF452F-0315-4717-AAE2-573018CC21C4}"/>
              </a:ext>
            </a:extLst>
          </p:cNvPr>
          <p:cNvSpPr>
            <a:spLocks noGrp="1"/>
          </p:cNvSpPr>
          <p:nvPr/>
        </p:nvSpPr>
        <p:spPr>
          <a:xfrm>
            <a:off x="523875" y="1891570"/>
            <a:ext cx="1809750" cy="228600"/>
          </a:xfrm>
          <a:prstGeom prst="rect">
            <a:avLst/>
          </a:prstGeom>
          <a:noFill/>
          <a:ln w="0">
            <a:noFill/>
            <a:prstDash val="solid"/>
          </a:ln>
        </p:spPr>
        <p:txBody>
          <a:bodyPr wrap="square" lIns="0" tIns="0" rIns="0" bIns="0" anchor="ctr">
            <a:normAutofit/>
          </a:bodyPr>
          <a:lstStyle/>
          <a:p>
            <a:pPr algn="l">
              <a:defRPr sz="1313" b="1">
                <a:solidFill>
                  <a:srgbClr val="215FB4"/>
                </a:solidFill>
                <a:latin typeface="Noto Sans CJK JP"/>
                <a:ea typeface="Noto Sans CJK JP"/>
                <a:cs typeface="Noto Sans CJK JP"/>
              </a:defRPr>
            </a:pPr>
            <a:r>
              <a:rPr sz="1313" b="1" dirty="0" err="1">
                <a:solidFill>
                  <a:srgbClr val="215FB4"/>
                </a:solidFill>
                <a:latin typeface="Noto Sans CJK JP"/>
                <a:ea typeface="Noto Sans CJK JP"/>
                <a:cs typeface="Noto Sans CJK JP"/>
              </a:rPr>
              <a:t>既存研究</a:t>
            </a:r>
            <a:endParaRPr sz="1313" b="1" dirty="0">
              <a:solidFill>
                <a:srgbClr val="215FB4"/>
              </a:solidFill>
              <a:latin typeface="Noto Sans CJK JP"/>
              <a:ea typeface="Noto Sans CJK JP"/>
              <a:cs typeface="Noto Sans CJK JP"/>
            </a:endParaRPr>
          </a:p>
        </p:txBody>
      </p:sp>
      <p:sp>
        <p:nvSpPr>
          <p:cNvPr id="21" name="s5-left-rule">
            <a:extLst>
              <a:ext uri="{FF2B5EF4-FFF2-40B4-BE49-F238E27FC236}">
                <a16:creationId xmlns:a16="http://schemas.microsoft.com/office/drawing/2014/main" id="{3154A88C-9060-4D9C-A2BC-7547B97D726E}"/>
              </a:ext>
            </a:extLst>
          </p:cNvPr>
          <p:cNvSpPr>
            <a:spLocks noGrp="1"/>
          </p:cNvSpPr>
          <p:nvPr/>
        </p:nvSpPr>
        <p:spPr>
          <a:xfrm>
            <a:off x="523875" y="2158270"/>
            <a:ext cx="1809750" cy="11430"/>
          </a:xfrm>
          <a:prstGeom prst="rect">
            <a:avLst/>
          </a:prstGeom>
          <a:solidFill>
            <a:srgbClr val="BFD5EC"/>
          </a:solidFill>
          <a:ln w="0">
            <a:noFill/>
            <a:prstDash val="solid"/>
          </a:ln>
        </p:spPr>
      </p:sp>
      <p:sp>
        <p:nvSpPr>
          <p:cNvPr id="22" name="s5-citation">
            <a:extLst>
              <a:ext uri="{FF2B5EF4-FFF2-40B4-BE49-F238E27FC236}">
                <a16:creationId xmlns:a16="http://schemas.microsoft.com/office/drawing/2014/main" id="{14F2BD94-3F61-4D98-826F-D7A76E257760}"/>
              </a:ext>
            </a:extLst>
          </p:cNvPr>
          <p:cNvSpPr>
            <a:spLocks noGrp="1"/>
          </p:cNvSpPr>
          <p:nvPr/>
        </p:nvSpPr>
        <p:spPr>
          <a:xfrm>
            <a:off x="523875" y="2263045"/>
            <a:ext cx="1857375" cy="171450"/>
          </a:xfrm>
          <a:prstGeom prst="rect">
            <a:avLst/>
          </a:prstGeom>
          <a:noFill/>
          <a:ln w="0">
            <a:noFill/>
            <a:prstDash val="solid"/>
          </a:ln>
        </p:spPr>
        <p:txBody>
          <a:bodyPr wrap="square" lIns="0" tIns="0" rIns="0" bIns="0" anchor="ctr">
            <a:normAutofit/>
          </a:bodyPr>
          <a:lstStyle/>
          <a:p>
            <a:pPr algn="l">
              <a:defRPr sz="900" b="1">
                <a:solidFill>
                  <a:srgbClr val="64748B"/>
                </a:solidFill>
                <a:latin typeface="Noto Sans CJK JP"/>
                <a:ea typeface="Noto Sans CJK JP"/>
                <a:cs typeface="Noto Sans CJK JP"/>
              </a:defRPr>
            </a:pPr>
            <a:r>
              <a:rPr sz="900" b="1">
                <a:solidFill>
                  <a:srgbClr val="64748B"/>
                </a:solidFill>
                <a:latin typeface="Noto Sans CJK JP"/>
                <a:ea typeface="Noto Sans CJK JP"/>
                <a:cs typeface="Noto Sans CJK JP"/>
              </a:rPr>
              <a:t>van Staden et al. (2021)</a:t>
            </a:r>
          </a:p>
        </p:txBody>
      </p:sp>
      <p:sp>
        <p:nvSpPr>
          <p:cNvPr id="23" name="s5-literature">
            <a:extLst>
              <a:ext uri="{FF2B5EF4-FFF2-40B4-BE49-F238E27FC236}">
                <a16:creationId xmlns:a16="http://schemas.microsoft.com/office/drawing/2014/main" id="{52A4D874-730E-4B70-87AF-052C281E520C}"/>
              </a:ext>
            </a:extLst>
          </p:cNvPr>
          <p:cNvSpPr>
            <a:spLocks noGrp="1"/>
          </p:cNvSpPr>
          <p:nvPr/>
        </p:nvSpPr>
        <p:spPr>
          <a:xfrm>
            <a:off x="523875" y="2491645"/>
            <a:ext cx="1885950" cy="361950"/>
          </a:xfrm>
          <a:prstGeom prst="rect">
            <a:avLst/>
          </a:prstGeom>
          <a:noFill/>
          <a:ln w="0">
            <a:noFill/>
            <a:prstDash val="solid"/>
          </a:ln>
        </p:spPr>
        <p:txBody>
          <a:bodyPr wrap="square" lIns="0" tIns="0" rIns="0" bIns="0" anchor="ctr">
            <a:normAutofit/>
          </a:bodyPr>
          <a:lstStyle/>
          <a:p>
            <a:pPr algn="l">
              <a:defRPr sz="990" b="0">
                <a:solidFill>
                  <a:srgbClr val="111827"/>
                </a:solidFill>
                <a:latin typeface="Noto Sans CJK JP"/>
                <a:ea typeface="Noto Sans CJK JP"/>
                <a:cs typeface="Noto Sans CJK JP"/>
              </a:defRPr>
            </a:pPr>
            <a:r>
              <a:rPr sz="990" b="0">
                <a:solidFill>
                  <a:srgbClr val="111827"/>
                </a:solidFill>
                <a:latin typeface="Noto Sans CJK JP"/>
                <a:ea typeface="Noto Sans CJK JP"/>
                <a:cs typeface="Noto Sans CJK JP"/>
              </a:rPr>
              <a:t>終端平均で4解概念の厳密な形を比較</a:t>
            </a:r>
          </a:p>
        </p:txBody>
      </p:sp>
      <p:sp>
        <p:nvSpPr>
          <p:cNvPr id="24" name="s5-strategy-0">
            <a:extLst>
              <a:ext uri="{FF2B5EF4-FFF2-40B4-BE49-F238E27FC236}">
                <a16:creationId xmlns:a16="http://schemas.microsoft.com/office/drawing/2014/main" id="{6FFF102D-2EA2-476B-A2FB-F2696489EAFA}"/>
              </a:ext>
            </a:extLst>
          </p:cNvPr>
          <p:cNvSpPr>
            <a:spLocks noGrp="1"/>
          </p:cNvSpPr>
          <p:nvPr/>
        </p:nvSpPr>
        <p:spPr>
          <a:xfrm>
            <a:off x="523875" y="2920270"/>
            <a:ext cx="428625" cy="180975"/>
          </a:xfrm>
          <a:prstGeom prst="rect">
            <a:avLst/>
          </a:prstGeom>
          <a:noFill/>
          <a:ln w="0">
            <a:noFill/>
            <a:prstDash val="solid"/>
          </a:ln>
        </p:spPr>
        <p:txBody>
          <a:bodyPr wrap="square" lIns="0" tIns="0" rIns="0" bIns="0" anchor="ctr">
            <a:normAutofit/>
          </a:bodyPr>
          <a:lstStyle/>
          <a:p>
            <a:pPr algn="ctr">
              <a:defRPr sz="765" b="1">
                <a:solidFill>
                  <a:srgbClr val="215FB4"/>
                </a:solidFill>
                <a:latin typeface="Arial"/>
                <a:ea typeface="Arial"/>
                <a:cs typeface="Arial"/>
              </a:defRPr>
            </a:pPr>
            <a:r>
              <a:rPr sz="765" b="1">
                <a:solidFill>
                  <a:srgbClr val="215FB4"/>
                </a:solidFill>
                <a:latin typeface="Arial"/>
                <a:ea typeface="Arial"/>
                <a:cs typeface="Arial"/>
              </a:rPr>
              <a:t>PCMV</a:t>
            </a:r>
          </a:p>
        </p:txBody>
      </p:sp>
      <p:sp>
        <p:nvSpPr>
          <p:cNvPr id="25" name="s5-strategy-1">
            <a:extLst>
              <a:ext uri="{FF2B5EF4-FFF2-40B4-BE49-F238E27FC236}">
                <a16:creationId xmlns:a16="http://schemas.microsoft.com/office/drawing/2014/main" id="{49338DBA-95B4-46C5-87AF-F004B329E90D}"/>
              </a:ext>
            </a:extLst>
          </p:cNvPr>
          <p:cNvSpPr>
            <a:spLocks noGrp="1"/>
          </p:cNvSpPr>
          <p:nvPr/>
        </p:nvSpPr>
        <p:spPr>
          <a:xfrm>
            <a:off x="990600" y="2920270"/>
            <a:ext cx="428625" cy="180975"/>
          </a:xfrm>
          <a:prstGeom prst="rect">
            <a:avLst/>
          </a:prstGeom>
          <a:noFill/>
          <a:ln w="0">
            <a:noFill/>
            <a:prstDash val="solid"/>
          </a:ln>
        </p:spPr>
        <p:txBody>
          <a:bodyPr wrap="square" lIns="0" tIns="0" rIns="0" bIns="0" anchor="ctr">
            <a:normAutofit/>
          </a:bodyPr>
          <a:lstStyle/>
          <a:p>
            <a:pPr algn="ctr">
              <a:defRPr sz="765" b="1">
                <a:solidFill>
                  <a:srgbClr val="4B6073"/>
                </a:solidFill>
                <a:latin typeface="Arial"/>
                <a:ea typeface="Arial"/>
                <a:cs typeface="Arial"/>
              </a:defRPr>
            </a:pPr>
            <a:r>
              <a:rPr sz="765" b="1" dirty="0">
                <a:solidFill>
                  <a:schemeClr val="accent6"/>
                </a:solidFill>
                <a:latin typeface="Arial"/>
                <a:ea typeface="Arial"/>
                <a:cs typeface="Arial"/>
              </a:rPr>
              <a:t>DOMV</a:t>
            </a:r>
          </a:p>
        </p:txBody>
      </p:sp>
      <p:sp>
        <p:nvSpPr>
          <p:cNvPr id="26" name="s5-strategy-2">
            <a:extLst>
              <a:ext uri="{FF2B5EF4-FFF2-40B4-BE49-F238E27FC236}">
                <a16:creationId xmlns:a16="http://schemas.microsoft.com/office/drawing/2014/main" id="{96EB2E2E-7016-48FC-AC89-A5C8BFCC6045}"/>
              </a:ext>
            </a:extLst>
          </p:cNvPr>
          <p:cNvSpPr>
            <a:spLocks noGrp="1"/>
          </p:cNvSpPr>
          <p:nvPr/>
        </p:nvSpPr>
        <p:spPr>
          <a:xfrm>
            <a:off x="1457325" y="2920270"/>
            <a:ext cx="428625" cy="180975"/>
          </a:xfrm>
          <a:prstGeom prst="rect">
            <a:avLst/>
          </a:prstGeom>
          <a:noFill/>
          <a:ln w="0">
            <a:noFill/>
            <a:prstDash val="solid"/>
          </a:ln>
        </p:spPr>
        <p:txBody>
          <a:bodyPr wrap="square" lIns="0" tIns="0" rIns="0" bIns="0" anchor="ctr">
            <a:normAutofit/>
          </a:bodyPr>
          <a:lstStyle/>
          <a:p>
            <a:pPr algn="ctr">
              <a:defRPr sz="765" b="1">
                <a:solidFill>
                  <a:srgbClr val="16875C"/>
                </a:solidFill>
                <a:latin typeface="Arial"/>
                <a:ea typeface="Arial"/>
                <a:cs typeface="Arial"/>
              </a:defRPr>
            </a:pPr>
            <a:r>
              <a:rPr sz="765" b="1">
                <a:solidFill>
                  <a:srgbClr val="16875C"/>
                </a:solidFill>
                <a:latin typeface="Arial"/>
                <a:ea typeface="Arial"/>
                <a:cs typeface="Arial"/>
              </a:rPr>
              <a:t>cTCMV</a:t>
            </a:r>
          </a:p>
        </p:txBody>
      </p:sp>
      <p:sp>
        <p:nvSpPr>
          <p:cNvPr id="27" name="s5-strategy-3">
            <a:extLst>
              <a:ext uri="{FF2B5EF4-FFF2-40B4-BE49-F238E27FC236}">
                <a16:creationId xmlns:a16="http://schemas.microsoft.com/office/drawing/2014/main" id="{0E349B2E-9760-4824-B2A7-6F7335CC6233}"/>
              </a:ext>
            </a:extLst>
          </p:cNvPr>
          <p:cNvSpPr>
            <a:spLocks noGrp="1"/>
          </p:cNvSpPr>
          <p:nvPr/>
        </p:nvSpPr>
        <p:spPr>
          <a:xfrm>
            <a:off x="1924050" y="2920270"/>
            <a:ext cx="428625" cy="180975"/>
          </a:xfrm>
          <a:prstGeom prst="rect">
            <a:avLst/>
          </a:prstGeom>
          <a:noFill/>
          <a:ln w="0">
            <a:noFill/>
            <a:prstDash val="solid"/>
          </a:ln>
        </p:spPr>
        <p:txBody>
          <a:bodyPr wrap="square" lIns="0" tIns="0" rIns="0" bIns="0" anchor="ctr">
            <a:normAutofit/>
          </a:bodyPr>
          <a:lstStyle/>
          <a:p>
            <a:pPr algn="ctr">
              <a:defRPr sz="765" b="1">
                <a:solidFill>
                  <a:srgbClr val="D94138"/>
                </a:solidFill>
                <a:latin typeface="Arial"/>
                <a:ea typeface="Arial"/>
                <a:cs typeface="Arial"/>
              </a:defRPr>
            </a:pPr>
            <a:r>
              <a:rPr sz="765" b="1">
                <a:solidFill>
                  <a:srgbClr val="D94138"/>
                </a:solidFill>
                <a:latin typeface="Arial"/>
                <a:ea typeface="Arial"/>
                <a:cs typeface="Arial"/>
              </a:rPr>
              <a:t>dTCMV</a:t>
            </a:r>
          </a:p>
        </p:txBody>
      </p:sp>
      <p:sp>
        <p:nvSpPr>
          <p:cNvPr id="28" name="s5-terminal">
            <a:extLst>
              <a:ext uri="{FF2B5EF4-FFF2-40B4-BE49-F238E27FC236}">
                <a16:creationId xmlns:a16="http://schemas.microsoft.com/office/drawing/2014/main" id="{54090F7A-7227-4633-9138-94DD92509659}"/>
              </a:ext>
            </a:extLst>
          </p:cNvPr>
          <p:cNvSpPr>
            <a:spLocks noGrp="1"/>
          </p:cNvSpPr>
          <p:nvPr/>
        </p:nvSpPr>
        <p:spPr>
          <a:xfrm>
            <a:off x="523875" y="3225070"/>
            <a:ext cx="1885950" cy="190500"/>
          </a:xfrm>
          <a:prstGeom prst="rect">
            <a:avLst/>
          </a:prstGeom>
          <a:noFill/>
          <a:ln w="0">
            <a:noFill/>
            <a:prstDash val="solid"/>
          </a:ln>
        </p:spPr>
        <p:txBody>
          <a:bodyPr wrap="square" lIns="0" tIns="0" rIns="0" bIns="0" anchor="ctr">
            <a:normAutofit/>
          </a:bodyPr>
          <a:lstStyle/>
          <a:p>
            <a:pPr algn="ctr">
              <a:defRPr sz="863" b="0">
                <a:solidFill>
                  <a:srgbClr val="64748B"/>
                </a:solidFill>
                <a:latin typeface="Noto Sans CJK JP"/>
                <a:ea typeface="Noto Sans CJK JP"/>
                <a:cs typeface="Noto Sans CJK JP"/>
              </a:defRPr>
            </a:pPr>
            <a:r>
              <a:rPr sz="863" b="0" dirty="0">
                <a:solidFill>
                  <a:srgbClr val="64748B"/>
                </a:solidFill>
                <a:latin typeface="Noto Sans CJK JP"/>
                <a:ea typeface="Noto Sans CJK JP"/>
                <a:cs typeface="Noto Sans CJK JP"/>
              </a:rPr>
              <a:t>terminal distribution</a:t>
            </a:r>
            <a:r>
              <a:rPr lang="en-US" sz="863" b="0" dirty="0">
                <a:solidFill>
                  <a:srgbClr val="64748B"/>
                </a:solidFill>
                <a:latin typeface="Noto Sans CJK JP"/>
                <a:ea typeface="Noto Sans CJK JP"/>
                <a:cs typeface="Noto Sans CJK JP"/>
              </a:rPr>
              <a:t> comparison</a:t>
            </a:r>
            <a:endParaRPr sz="863" b="0" dirty="0">
              <a:solidFill>
                <a:srgbClr val="64748B"/>
              </a:solidFill>
              <a:latin typeface="Noto Sans CJK JP"/>
              <a:ea typeface="Noto Sans CJK JP"/>
              <a:cs typeface="Noto Sans CJK JP"/>
            </a:endParaRPr>
          </a:p>
        </p:txBody>
      </p:sp>
      <p:sp>
        <p:nvSpPr>
          <p:cNvPr id="29" name="s5-arrow-left">
            <a:extLst>
              <a:ext uri="{FF2B5EF4-FFF2-40B4-BE49-F238E27FC236}">
                <a16:creationId xmlns:a16="http://schemas.microsoft.com/office/drawing/2014/main" id="{85E99046-E16B-44D8-9D1F-534E58D52CF8}"/>
              </a:ext>
            </a:extLst>
          </p:cNvPr>
          <p:cNvSpPr>
            <a:spLocks noGrp="1"/>
          </p:cNvSpPr>
          <p:nvPr/>
        </p:nvSpPr>
        <p:spPr>
          <a:xfrm>
            <a:off x="2552700" y="2663095"/>
            <a:ext cx="438150" cy="323850"/>
          </a:xfrm>
          <a:prstGeom prst="rightArrow">
            <a:avLst/>
          </a:prstGeom>
          <a:solidFill>
            <a:srgbClr val="215FB4"/>
          </a:solidFill>
          <a:ln w="0">
            <a:noFill/>
            <a:prstDash val="solid"/>
          </a:ln>
        </p:spPr>
      </p:sp>
      <p:sp>
        <p:nvSpPr>
          <p:cNvPr id="30" name="s5-plus">
            <a:extLst>
              <a:ext uri="{FF2B5EF4-FFF2-40B4-BE49-F238E27FC236}">
                <a16:creationId xmlns:a16="http://schemas.microsoft.com/office/drawing/2014/main" id="{0B8208AA-A442-4E7D-A74E-B782E7DF7329}"/>
              </a:ext>
            </a:extLst>
          </p:cNvPr>
          <p:cNvSpPr>
            <a:spLocks noGrp="1"/>
          </p:cNvSpPr>
          <p:nvPr/>
        </p:nvSpPr>
        <p:spPr>
          <a:xfrm>
            <a:off x="2990850" y="2586895"/>
            <a:ext cx="361950" cy="457200"/>
          </a:xfrm>
          <a:prstGeom prst="rect">
            <a:avLst/>
          </a:prstGeom>
          <a:noFill/>
          <a:ln w="0">
            <a:noFill/>
            <a:prstDash val="solid"/>
          </a:ln>
        </p:spPr>
        <p:txBody>
          <a:bodyPr wrap="square" lIns="0" tIns="0" rIns="0" bIns="0" anchor="ctr">
            <a:normAutofit/>
          </a:bodyPr>
          <a:lstStyle/>
          <a:p>
            <a:pPr algn="ctr">
              <a:defRPr sz="2400" b="1">
                <a:solidFill>
                  <a:srgbClr val="215FB4"/>
                </a:solidFill>
                <a:latin typeface="Noto Sans CJK JP"/>
                <a:ea typeface="Noto Sans CJK JP"/>
                <a:cs typeface="Noto Sans CJK JP"/>
              </a:defRPr>
            </a:pPr>
            <a:r>
              <a:rPr sz="2400" b="1">
                <a:solidFill>
                  <a:srgbClr val="215FB4"/>
                </a:solidFill>
                <a:latin typeface="Noto Sans CJK JP"/>
                <a:ea typeface="Noto Sans CJK JP"/>
                <a:cs typeface="Noto Sans CJK JP"/>
              </a:rPr>
              <a:t>+</a:t>
            </a:r>
          </a:p>
        </p:txBody>
      </p:sp>
      <p:sp>
        <p:nvSpPr>
          <p:cNvPr id="33" name="s5-addbar-0">
            <a:extLst>
              <a:ext uri="{FF2B5EF4-FFF2-40B4-BE49-F238E27FC236}">
                <a16:creationId xmlns:a16="http://schemas.microsoft.com/office/drawing/2014/main" id="{AEA81FF8-4A7A-4D19-BA34-EBAA600958A0}"/>
              </a:ext>
            </a:extLst>
          </p:cNvPr>
          <p:cNvSpPr>
            <a:spLocks noGrp="1"/>
          </p:cNvSpPr>
          <p:nvPr/>
        </p:nvSpPr>
        <p:spPr>
          <a:xfrm>
            <a:off x="3400425" y="2320195"/>
            <a:ext cx="38100" cy="266700"/>
          </a:xfrm>
          <a:prstGeom prst="rect">
            <a:avLst/>
          </a:prstGeom>
          <a:solidFill>
            <a:schemeClr val="tx2">
              <a:lumMod val="20000"/>
              <a:lumOff val="80000"/>
            </a:schemeClr>
          </a:solidFill>
          <a:ln w="0">
            <a:noFill/>
            <a:prstDash val="solid"/>
          </a:ln>
        </p:spPr>
      </p:sp>
      <p:sp>
        <p:nvSpPr>
          <p:cNvPr id="34" name="s5-add-0">
            <a:extLst>
              <a:ext uri="{FF2B5EF4-FFF2-40B4-BE49-F238E27FC236}">
                <a16:creationId xmlns:a16="http://schemas.microsoft.com/office/drawing/2014/main" id="{BBDE2180-6089-4198-8F9C-FF556340EFE5}"/>
              </a:ext>
            </a:extLst>
          </p:cNvPr>
          <p:cNvSpPr>
            <a:spLocks noGrp="1"/>
          </p:cNvSpPr>
          <p:nvPr/>
        </p:nvSpPr>
        <p:spPr>
          <a:xfrm>
            <a:off x="3543300" y="2291620"/>
            <a:ext cx="2571750" cy="304800"/>
          </a:xfrm>
          <a:prstGeom prst="rect">
            <a:avLst/>
          </a:prstGeom>
          <a:noFill/>
          <a:ln w="0">
            <a:noFill/>
            <a:prstDash val="solid"/>
          </a:ln>
        </p:spPr>
        <p:txBody>
          <a:bodyPr wrap="square" lIns="0" tIns="0" rIns="0" bIns="0" anchor="ctr">
            <a:normAutofit/>
          </a:bodyPr>
          <a:lstStyle/>
          <a:p>
            <a:pPr algn="l">
              <a:defRPr sz="1035" b="1">
                <a:solidFill>
                  <a:srgbClr val="111827"/>
                </a:solidFill>
                <a:latin typeface="Noto Sans CJK JP"/>
                <a:ea typeface="Noto Sans CJK JP"/>
                <a:cs typeface="Noto Sans CJK JP"/>
              </a:defRPr>
            </a:pPr>
            <a:r>
              <a:rPr lang="ja-JP" altLang="en-US" sz="1035" b="1" dirty="0">
                <a:solidFill>
                  <a:srgbClr val="111827"/>
                </a:solidFill>
                <a:latin typeface="Noto Sans CJK JP"/>
                <a:ea typeface="Noto Sans CJK JP"/>
                <a:cs typeface="Noto Sans CJK JP"/>
              </a:rPr>
              <a:t>見えない</a:t>
            </a:r>
            <a:r>
              <a:rPr sz="1035" b="1" dirty="0">
                <a:solidFill>
                  <a:srgbClr val="111827"/>
                </a:solidFill>
                <a:latin typeface="Noto Sans CJK JP"/>
                <a:ea typeface="Noto Sans CJK JP"/>
                <a:cs typeface="Noto Sans CJK JP"/>
              </a:rPr>
              <a:t>富  H</a:t>
            </a:r>
            <a:r>
              <a:rPr lang="en-US" sz="1035" b="1" dirty="0">
                <a:solidFill>
                  <a:srgbClr val="111827"/>
                </a:solidFill>
                <a:latin typeface="Noto Sans CJK JP"/>
                <a:ea typeface="Noto Sans CJK JP"/>
                <a:cs typeface="Noto Sans CJK JP"/>
              </a:rPr>
              <a:t> = </a:t>
            </a:r>
            <a:r>
              <a:rPr lang="ja-JP" altLang="en-US" sz="1035" b="1" dirty="0">
                <a:solidFill>
                  <a:srgbClr val="111827"/>
                </a:solidFill>
                <a:latin typeface="Noto Sans CJK JP"/>
                <a:ea typeface="Noto Sans CJK JP"/>
                <a:cs typeface="Noto Sans CJK JP"/>
              </a:rPr>
              <a:t>将来掛金現価のリスク負担</a:t>
            </a:r>
            <a:endParaRPr sz="1035" b="1" dirty="0">
              <a:solidFill>
                <a:srgbClr val="111827"/>
              </a:solidFill>
              <a:latin typeface="Noto Sans CJK JP"/>
              <a:ea typeface="Noto Sans CJK JP"/>
              <a:cs typeface="Noto Sans CJK JP"/>
            </a:endParaRPr>
          </a:p>
        </p:txBody>
      </p:sp>
      <p:sp>
        <p:nvSpPr>
          <p:cNvPr id="35" name="s5-addbar-1">
            <a:extLst>
              <a:ext uri="{FF2B5EF4-FFF2-40B4-BE49-F238E27FC236}">
                <a16:creationId xmlns:a16="http://schemas.microsoft.com/office/drawing/2014/main" id="{16A12406-D49A-4EF4-94E2-8BCD9B10B721}"/>
              </a:ext>
            </a:extLst>
          </p:cNvPr>
          <p:cNvSpPr>
            <a:spLocks noGrp="1"/>
          </p:cNvSpPr>
          <p:nvPr/>
        </p:nvSpPr>
        <p:spPr>
          <a:xfrm>
            <a:off x="3400425" y="2682145"/>
            <a:ext cx="38100" cy="266700"/>
          </a:xfrm>
          <a:prstGeom prst="rect">
            <a:avLst/>
          </a:prstGeom>
          <a:solidFill>
            <a:schemeClr val="tx2">
              <a:lumMod val="20000"/>
              <a:lumOff val="80000"/>
            </a:schemeClr>
          </a:solidFill>
          <a:ln w="0">
            <a:noFill/>
            <a:prstDash val="solid"/>
          </a:ln>
        </p:spPr>
      </p:sp>
      <p:sp>
        <p:nvSpPr>
          <p:cNvPr id="36" name="s5-add-1">
            <a:extLst>
              <a:ext uri="{FF2B5EF4-FFF2-40B4-BE49-F238E27FC236}">
                <a16:creationId xmlns:a16="http://schemas.microsoft.com/office/drawing/2014/main" id="{050CD6EC-79A0-4B5D-B144-BD58C73FD0C4}"/>
              </a:ext>
            </a:extLst>
          </p:cNvPr>
          <p:cNvSpPr>
            <a:spLocks noGrp="1"/>
          </p:cNvSpPr>
          <p:nvPr/>
        </p:nvSpPr>
        <p:spPr>
          <a:xfrm>
            <a:off x="3543300" y="2653570"/>
            <a:ext cx="1952625" cy="304800"/>
          </a:xfrm>
          <a:prstGeom prst="rect">
            <a:avLst/>
          </a:prstGeom>
          <a:noFill/>
          <a:ln w="0">
            <a:noFill/>
            <a:prstDash val="solid"/>
          </a:ln>
        </p:spPr>
        <p:txBody>
          <a:bodyPr wrap="square" lIns="0" tIns="0" rIns="0" bIns="0" anchor="ctr">
            <a:normAutofit/>
          </a:bodyPr>
          <a:lstStyle/>
          <a:p>
            <a:pPr algn="l">
              <a:defRPr sz="1035" b="1">
                <a:solidFill>
                  <a:srgbClr val="111827"/>
                </a:solidFill>
                <a:latin typeface="Noto Sans CJK JP"/>
                <a:ea typeface="Noto Sans CJK JP"/>
                <a:cs typeface="Noto Sans CJK JP"/>
              </a:defRPr>
            </a:pPr>
            <a:r>
              <a:rPr lang="ja-JP" altLang="en-US" sz="1035" b="1" dirty="0">
                <a:solidFill>
                  <a:srgbClr val="111827"/>
                </a:solidFill>
                <a:latin typeface="Noto Sans CJK JP"/>
                <a:ea typeface="Noto Sans CJK JP"/>
                <a:cs typeface="Noto Sans CJK JP"/>
              </a:rPr>
              <a:t>投資制約 </a:t>
            </a:r>
            <a:r>
              <a:rPr sz="1035" b="1" dirty="0">
                <a:solidFill>
                  <a:srgbClr val="111827"/>
                </a:solidFill>
                <a:latin typeface="Noto Sans CJK JP"/>
                <a:ea typeface="Noto Sans CJK JP"/>
                <a:cs typeface="Noto Sans CJK JP"/>
              </a:rPr>
              <a:t>0 ≤ π ≤ X</a:t>
            </a:r>
          </a:p>
        </p:txBody>
      </p:sp>
      <p:sp>
        <p:nvSpPr>
          <p:cNvPr id="37" name="s5-addbar-2">
            <a:extLst>
              <a:ext uri="{FF2B5EF4-FFF2-40B4-BE49-F238E27FC236}">
                <a16:creationId xmlns:a16="http://schemas.microsoft.com/office/drawing/2014/main" id="{DB9113D3-9BEA-4278-BB0D-F9BED9D5E26E}"/>
              </a:ext>
            </a:extLst>
          </p:cNvPr>
          <p:cNvSpPr>
            <a:spLocks noGrp="1"/>
          </p:cNvSpPr>
          <p:nvPr/>
        </p:nvSpPr>
        <p:spPr>
          <a:xfrm>
            <a:off x="3400425" y="3044095"/>
            <a:ext cx="38100" cy="266700"/>
          </a:xfrm>
          <a:prstGeom prst="rect">
            <a:avLst/>
          </a:prstGeom>
          <a:solidFill>
            <a:schemeClr val="tx2">
              <a:lumMod val="20000"/>
              <a:lumOff val="80000"/>
            </a:schemeClr>
          </a:solidFill>
          <a:ln w="0">
            <a:noFill/>
            <a:prstDash val="solid"/>
          </a:ln>
        </p:spPr>
      </p:sp>
      <p:sp>
        <p:nvSpPr>
          <p:cNvPr id="38" name="s5-add-2">
            <a:extLst>
              <a:ext uri="{FF2B5EF4-FFF2-40B4-BE49-F238E27FC236}">
                <a16:creationId xmlns:a16="http://schemas.microsoft.com/office/drawing/2014/main" id="{15FEFA7C-8348-4E13-A38A-F88B6FEC1E56}"/>
              </a:ext>
            </a:extLst>
          </p:cNvPr>
          <p:cNvSpPr>
            <a:spLocks noGrp="1"/>
          </p:cNvSpPr>
          <p:nvPr/>
        </p:nvSpPr>
        <p:spPr>
          <a:xfrm>
            <a:off x="3543300" y="3015520"/>
            <a:ext cx="1952625" cy="304800"/>
          </a:xfrm>
          <a:prstGeom prst="rect">
            <a:avLst/>
          </a:prstGeom>
          <a:noFill/>
          <a:ln w="0">
            <a:noFill/>
            <a:prstDash val="solid"/>
          </a:ln>
        </p:spPr>
        <p:txBody>
          <a:bodyPr wrap="square" lIns="0" tIns="0" rIns="0" bIns="0" anchor="ctr">
            <a:normAutofit/>
          </a:bodyPr>
          <a:lstStyle/>
          <a:p>
            <a:pPr algn="l">
              <a:defRPr sz="1035" b="0">
                <a:solidFill>
                  <a:srgbClr val="111827"/>
                </a:solidFill>
                <a:latin typeface="Noto Sans CJK JP"/>
                <a:ea typeface="Noto Sans CJK JP"/>
                <a:cs typeface="Noto Sans CJK JP"/>
              </a:defRPr>
            </a:pPr>
            <a:r>
              <a:rPr sz="1035" b="0" dirty="0">
                <a:solidFill>
                  <a:srgbClr val="111827"/>
                </a:solidFill>
                <a:latin typeface="Noto Sans CJK JP"/>
                <a:ea typeface="Noto Sans CJK JP"/>
                <a:cs typeface="Noto Sans CJK JP"/>
              </a:rPr>
              <a:t>strict と clip </a:t>
            </a:r>
            <a:r>
              <a:rPr sz="1035" b="0" dirty="0" err="1">
                <a:solidFill>
                  <a:srgbClr val="111827"/>
                </a:solidFill>
                <a:latin typeface="Noto Sans CJK JP"/>
                <a:ea typeface="Noto Sans CJK JP"/>
                <a:cs typeface="Noto Sans CJK JP"/>
              </a:rPr>
              <a:t>の誤差</a:t>
            </a:r>
            <a:endParaRPr sz="1035" b="0" dirty="0">
              <a:solidFill>
                <a:srgbClr val="111827"/>
              </a:solidFill>
              <a:latin typeface="Noto Sans CJK JP"/>
              <a:ea typeface="Noto Sans CJK JP"/>
              <a:cs typeface="Noto Sans CJK JP"/>
            </a:endParaRPr>
          </a:p>
        </p:txBody>
      </p:sp>
      <p:sp>
        <p:nvSpPr>
          <p:cNvPr id="39" name="s5-addbar-3">
            <a:extLst>
              <a:ext uri="{FF2B5EF4-FFF2-40B4-BE49-F238E27FC236}">
                <a16:creationId xmlns:a16="http://schemas.microsoft.com/office/drawing/2014/main" id="{E7226DE8-57A4-4BC2-98B8-56347AF0C0BE}"/>
              </a:ext>
            </a:extLst>
          </p:cNvPr>
          <p:cNvSpPr>
            <a:spLocks noGrp="1"/>
          </p:cNvSpPr>
          <p:nvPr/>
        </p:nvSpPr>
        <p:spPr>
          <a:xfrm>
            <a:off x="3400425" y="3406045"/>
            <a:ext cx="38100" cy="266700"/>
          </a:xfrm>
          <a:prstGeom prst="rect">
            <a:avLst/>
          </a:prstGeom>
          <a:solidFill>
            <a:schemeClr val="tx2">
              <a:lumMod val="20000"/>
              <a:lumOff val="80000"/>
            </a:schemeClr>
          </a:solidFill>
          <a:ln w="0">
            <a:noFill/>
            <a:prstDash val="solid"/>
          </a:ln>
        </p:spPr>
      </p:sp>
      <p:sp>
        <p:nvSpPr>
          <p:cNvPr id="40" name="s5-add-3">
            <a:extLst>
              <a:ext uri="{FF2B5EF4-FFF2-40B4-BE49-F238E27FC236}">
                <a16:creationId xmlns:a16="http://schemas.microsoft.com/office/drawing/2014/main" id="{F392B91F-419F-4BFD-8B8B-3AB6EC2A5A63}"/>
              </a:ext>
            </a:extLst>
          </p:cNvPr>
          <p:cNvSpPr>
            <a:spLocks noGrp="1"/>
          </p:cNvSpPr>
          <p:nvPr/>
        </p:nvSpPr>
        <p:spPr>
          <a:xfrm>
            <a:off x="3543300" y="3377470"/>
            <a:ext cx="1952625" cy="304800"/>
          </a:xfrm>
          <a:prstGeom prst="rect">
            <a:avLst/>
          </a:prstGeom>
          <a:noFill/>
          <a:ln w="0">
            <a:noFill/>
            <a:prstDash val="solid"/>
          </a:ln>
        </p:spPr>
        <p:txBody>
          <a:bodyPr wrap="square" lIns="0" tIns="0" rIns="0" bIns="0" anchor="ctr">
            <a:normAutofit lnSpcReduction="10000"/>
          </a:bodyPr>
          <a:lstStyle/>
          <a:p>
            <a:pPr algn="l">
              <a:defRPr sz="1035" b="0">
                <a:solidFill>
                  <a:srgbClr val="111827"/>
                </a:solidFill>
                <a:latin typeface="Noto Sans CJK JP"/>
                <a:ea typeface="Noto Sans CJK JP"/>
                <a:cs typeface="Noto Sans CJK JP"/>
              </a:defRPr>
            </a:pPr>
            <a:r>
              <a:rPr sz="1035" b="0" dirty="0">
                <a:solidFill>
                  <a:srgbClr val="111827"/>
                </a:solidFill>
                <a:latin typeface="Noto Sans CJK JP"/>
                <a:ea typeface="Noto Sans CJK JP"/>
                <a:cs typeface="Noto Sans CJK JP"/>
              </a:rPr>
              <a:t>rolling </a:t>
            </a:r>
            <a:r>
              <a:rPr sz="1035" b="0" dirty="0" err="1">
                <a:solidFill>
                  <a:srgbClr val="111827"/>
                </a:solidFill>
                <a:latin typeface="Noto Sans CJK JP"/>
                <a:ea typeface="Noto Sans CJK JP"/>
                <a:cs typeface="Noto Sans CJK JP"/>
              </a:rPr>
              <a:t>評価</a:t>
            </a:r>
            <a:r>
              <a:rPr lang="ja-JP" altLang="en-US" sz="1035" b="0" dirty="0">
                <a:solidFill>
                  <a:srgbClr val="111827"/>
                </a:solidFill>
                <a:latin typeface="Noto Sans CJK JP"/>
                <a:ea typeface="Noto Sans CJK JP"/>
                <a:cs typeface="Noto Sans CJK JP"/>
              </a:rPr>
              <a:t>による時点</a:t>
            </a:r>
            <a:r>
              <a:rPr lang="en-US" altLang="ja-JP" sz="1035" b="0" dirty="0">
                <a:solidFill>
                  <a:srgbClr val="111827"/>
                </a:solidFill>
                <a:latin typeface="Noto Sans CJK JP"/>
                <a:ea typeface="Noto Sans CJK JP"/>
                <a:cs typeface="Noto Sans CJK JP"/>
              </a:rPr>
              <a:t>0</a:t>
            </a:r>
            <a:r>
              <a:rPr lang="ja-JP" altLang="en-US" sz="1035" b="0" dirty="0">
                <a:solidFill>
                  <a:srgbClr val="111827"/>
                </a:solidFill>
                <a:latin typeface="Noto Sans CJK JP"/>
                <a:ea typeface="Noto Sans CJK JP"/>
                <a:cs typeface="Noto Sans CJK JP"/>
              </a:rPr>
              <a:t>以外での確率的評価</a:t>
            </a:r>
            <a:endParaRPr sz="1035" b="0" dirty="0">
              <a:solidFill>
                <a:srgbClr val="111827"/>
              </a:solidFill>
              <a:latin typeface="Noto Sans CJK JP"/>
              <a:ea typeface="Noto Sans CJK JP"/>
              <a:cs typeface="Noto Sans CJK JP"/>
            </a:endParaRPr>
          </a:p>
        </p:txBody>
      </p:sp>
      <p:sp>
        <p:nvSpPr>
          <p:cNvPr id="41" name="s5-arrow-right">
            <a:extLst>
              <a:ext uri="{FF2B5EF4-FFF2-40B4-BE49-F238E27FC236}">
                <a16:creationId xmlns:a16="http://schemas.microsoft.com/office/drawing/2014/main" id="{63AAD086-2B8E-48F8-B19F-F317AFDC701D}"/>
              </a:ext>
            </a:extLst>
          </p:cNvPr>
          <p:cNvSpPr>
            <a:spLocks noGrp="1"/>
          </p:cNvSpPr>
          <p:nvPr/>
        </p:nvSpPr>
        <p:spPr>
          <a:xfrm>
            <a:off x="5657850" y="2663095"/>
            <a:ext cx="457200" cy="323850"/>
          </a:xfrm>
          <a:prstGeom prst="rightArrow">
            <a:avLst/>
          </a:prstGeom>
          <a:solidFill>
            <a:srgbClr val="215FB4"/>
          </a:solidFill>
          <a:ln w="0">
            <a:noFill/>
            <a:prstDash val="solid"/>
          </a:ln>
        </p:spPr>
      </p:sp>
      <p:sp>
        <p:nvSpPr>
          <p:cNvPr id="42" name="s5-question-label">
            <a:extLst>
              <a:ext uri="{FF2B5EF4-FFF2-40B4-BE49-F238E27FC236}">
                <a16:creationId xmlns:a16="http://schemas.microsoft.com/office/drawing/2014/main" id="{15077DAA-FE24-40C9-A1E1-82CE9D5F0625}"/>
              </a:ext>
            </a:extLst>
          </p:cNvPr>
          <p:cNvSpPr>
            <a:spLocks noGrp="1"/>
          </p:cNvSpPr>
          <p:nvPr/>
        </p:nvSpPr>
        <p:spPr>
          <a:xfrm>
            <a:off x="6334125" y="1901095"/>
            <a:ext cx="2381250" cy="180975"/>
          </a:xfrm>
          <a:prstGeom prst="rect">
            <a:avLst/>
          </a:prstGeom>
          <a:noFill/>
          <a:ln w="0">
            <a:noFill/>
            <a:prstDash val="solid"/>
          </a:ln>
        </p:spPr>
        <p:txBody>
          <a:bodyPr wrap="square" lIns="0" tIns="0" rIns="0" bIns="0" anchor="ctr">
            <a:normAutofit/>
          </a:bodyPr>
          <a:lstStyle/>
          <a:p>
            <a:pPr algn="ctr">
              <a:defRPr sz="735" b="1">
                <a:solidFill>
                  <a:srgbClr val="64748B"/>
                </a:solidFill>
                <a:latin typeface="Noto Sans CJK JP"/>
                <a:ea typeface="Noto Sans CJK JP"/>
                <a:cs typeface="Noto Sans CJK JP"/>
              </a:defRPr>
            </a:pPr>
            <a:r>
              <a:rPr sz="1100" b="1" dirty="0">
                <a:solidFill>
                  <a:srgbClr val="64748B"/>
                </a:solidFill>
                <a:latin typeface="Noto Sans CJK JP"/>
                <a:ea typeface="Noto Sans CJK JP"/>
                <a:cs typeface="Noto Sans CJK JP"/>
              </a:rPr>
              <a:t>CENTRAL RESEARCH QUESTION</a:t>
            </a:r>
          </a:p>
        </p:txBody>
      </p:sp>
      <p:sp>
        <p:nvSpPr>
          <p:cNvPr id="43" name="s5-question-card">
            <a:extLst>
              <a:ext uri="{FF2B5EF4-FFF2-40B4-BE49-F238E27FC236}">
                <a16:creationId xmlns:a16="http://schemas.microsoft.com/office/drawing/2014/main" id="{A8FC7E2C-16B3-4974-B71A-4EF807083CDB}"/>
              </a:ext>
            </a:extLst>
          </p:cNvPr>
          <p:cNvSpPr>
            <a:spLocks noGrp="1"/>
          </p:cNvSpPr>
          <p:nvPr/>
        </p:nvSpPr>
        <p:spPr>
          <a:xfrm>
            <a:off x="6238875" y="2158270"/>
            <a:ext cx="2571750" cy="1790700"/>
          </a:xfrm>
          <a:prstGeom prst="roundRect">
            <a:avLst>
              <a:gd name="adj" fmla="val 4255"/>
            </a:avLst>
          </a:prstGeom>
          <a:solidFill>
            <a:srgbClr val="FFFFFF"/>
          </a:solidFill>
          <a:ln w="20955">
            <a:solidFill>
              <a:srgbClr val="215FB4"/>
            </a:solidFill>
            <a:prstDash val="solid"/>
          </a:ln>
        </p:spPr>
      </p:sp>
      <p:sp>
        <p:nvSpPr>
          <p:cNvPr id="44" name="s5-question">
            <a:extLst>
              <a:ext uri="{FF2B5EF4-FFF2-40B4-BE49-F238E27FC236}">
                <a16:creationId xmlns:a16="http://schemas.microsoft.com/office/drawing/2014/main" id="{75D38B2A-3222-4FCD-BD3C-E180D16A93E0}"/>
              </a:ext>
            </a:extLst>
          </p:cNvPr>
          <p:cNvSpPr>
            <a:spLocks noGrp="1"/>
          </p:cNvSpPr>
          <p:nvPr/>
        </p:nvSpPr>
        <p:spPr>
          <a:xfrm>
            <a:off x="6276975" y="2351368"/>
            <a:ext cx="2505075" cy="1409700"/>
          </a:xfrm>
          <a:prstGeom prst="rect">
            <a:avLst/>
          </a:prstGeom>
          <a:noFill/>
          <a:ln w="0">
            <a:noFill/>
            <a:prstDash val="solid"/>
          </a:ln>
        </p:spPr>
        <p:txBody>
          <a:bodyPr wrap="square" lIns="0" tIns="0" rIns="0" bIns="0" anchor="ctr">
            <a:normAutofit/>
          </a:bodyPr>
          <a:lstStyle/>
          <a:p>
            <a:pPr algn="ctr">
              <a:defRPr sz="1538" b="1">
                <a:solidFill>
                  <a:srgbClr val="111827"/>
                </a:solidFill>
                <a:latin typeface="Noto Sans CJK JP"/>
                <a:ea typeface="Noto Sans CJK JP"/>
                <a:cs typeface="Noto Sans CJK JP"/>
              </a:defRPr>
            </a:pPr>
            <a:r>
              <a:rPr lang="en-US" altLang="ja-JP" sz="1538" b="1" dirty="0">
                <a:solidFill>
                  <a:srgbClr val="111827"/>
                </a:solidFill>
                <a:latin typeface="Noto Sans CJK JP"/>
                <a:ea typeface="Noto Sans CJK JP"/>
                <a:cs typeface="Noto Sans CJK JP"/>
              </a:rPr>
              <a:t>DC</a:t>
            </a:r>
            <a:r>
              <a:rPr lang="ja-JP" altLang="en-US" sz="1538" b="1" dirty="0">
                <a:solidFill>
                  <a:srgbClr val="111827"/>
                </a:solidFill>
                <a:latin typeface="Noto Sans CJK JP"/>
                <a:ea typeface="Noto Sans CJK JP"/>
                <a:cs typeface="Noto Sans CJK JP"/>
              </a:rPr>
              <a:t>の最適運用とは？</a:t>
            </a:r>
            <a:endParaRPr lang="en-US" altLang="ja-JP" sz="1538" b="1" dirty="0">
              <a:solidFill>
                <a:srgbClr val="111827"/>
              </a:solidFill>
              <a:latin typeface="Noto Sans CJK JP"/>
              <a:ea typeface="Noto Sans CJK JP"/>
              <a:cs typeface="Noto Sans CJK JP"/>
            </a:endParaRPr>
          </a:p>
          <a:p>
            <a:pPr algn="ctr">
              <a:defRPr sz="1538" b="1">
                <a:solidFill>
                  <a:srgbClr val="111827"/>
                </a:solidFill>
                <a:latin typeface="Noto Sans CJK JP"/>
                <a:ea typeface="Noto Sans CJK JP"/>
                <a:cs typeface="Noto Sans CJK JP"/>
              </a:defRPr>
            </a:pPr>
            <a:endParaRPr lang="en-US" altLang="ja-JP" sz="1538" b="1" dirty="0">
              <a:solidFill>
                <a:srgbClr val="111827"/>
              </a:solidFill>
              <a:latin typeface="Noto Sans CJK JP"/>
              <a:ea typeface="Noto Sans CJK JP"/>
              <a:cs typeface="Noto Sans CJK JP"/>
            </a:endParaRPr>
          </a:p>
          <a:p>
            <a:pPr algn="ctr">
              <a:defRPr sz="1538" b="1">
                <a:solidFill>
                  <a:srgbClr val="111827"/>
                </a:solidFill>
                <a:latin typeface="Noto Sans CJK JP"/>
                <a:ea typeface="Noto Sans CJK JP"/>
                <a:cs typeface="Noto Sans CJK JP"/>
              </a:defRPr>
            </a:pPr>
            <a:r>
              <a:rPr lang="ja-JP" altLang="en-US" sz="1538" b="1" dirty="0">
                <a:solidFill>
                  <a:srgbClr val="111827"/>
                </a:solidFill>
                <a:latin typeface="Noto Sans CJK JP"/>
                <a:ea typeface="Noto Sans CJK JP"/>
                <a:cs typeface="Noto Sans CJK JP"/>
              </a:rPr>
              <a:t>容易に生成できる</a:t>
            </a:r>
            <a:r>
              <a:rPr sz="1538" b="1" dirty="0">
                <a:solidFill>
                  <a:srgbClr val="111827"/>
                </a:solidFill>
                <a:latin typeface="Noto Sans CJK JP"/>
                <a:ea typeface="Noto Sans CJK JP"/>
                <a:cs typeface="Noto Sans CJK JP"/>
              </a:rPr>
              <a:t> clip</a:t>
            </a:r>
            <a:r>
              <a:rPr lang="ja-JP" altLang="en-US" sz="1538" b="1" dirty="0">
                <a:solidFill>
                  <a:srgbClr val="111827"/>
                </a:solidFill>
                <a:latin typeface="Noto Sans CJK JP"/>
                <a:ea typeface="Noto Sans CJK JP"/>
                <a:cs typeface="Noto Sans CJK JP"/>
              </a:rPr>
              <a:t>解で</a:t>
            </a:r>
            <a:endParaRPr sz="1538" b="1" dirty="0">
              <a:solidFill>
                <a:srgbClr val="111827"/>
              </a:solidFill>
              <a:latin typeface="Noto Sans CJK JP"/>
              <a:ea typeface="Noto Sans CJK JP"/>
              <a:cs typeface="Noto Sans CJK JP"/>
            </a:endParaRPr>
          </a:p>
          <a:p>
            <a:pPr algn="ctr">
              <a:defRPr sz="1538" b="1">
                <a:solidFill>
                  <a:srgbClr val="111827"/>
                </a:solidFill>
                <a:latin typeface="Noto Sans CJK JP"/>
                <a:ea typeface="Noto Sans CJK JP"/>
                <a:cs typeface="Noto Sans CJK JP"/>
              </a:defRPr>
            </a:pPr>
            <a:r>
              <a:rPr lang="ja-JP" altLang="en-US" sz="1538" b="1" dirty="0">
                <a:solidFill>
                  <a:srgbClr val="111827"/>
                </a:solidFill>
                <a:latin typeface="Noto Sans CJK JP"/>
                <a:ea typeface="Noto Sans CJK JP"/>
                <a:cs typeface="Noto Sans CJK JP"/>
              </a:rPr>
              <a:t>計算負荷の高い</a:t>
            </a:r>
            <a:r>
              <a:rPr sz="1538" b="1" dirty="0">
                <a:solidFill>
                  <a:srgbClr val="111827"/>
                </a:solidFill>
                <a:latin typeface="Noto Sans CJK JP"/>
                <a:ea typeface="Noto Sans CJK JP"/>
                <a:cs typeface="Noto Sans CJK JP"/>
              </a:rPr>
              <a:t>strict </a:t>
            </a:r>
            <a:r>
              <a:rPr sz="1538" b="1" dirty="0" err="1">
                <a:solidFill>
                  <a:srgbClr val="111827"/>
                </a:solidFill>
                <a:latin typeface="Noto Sans CJK JP"/>
                <a:ea typeface="Noto Sans CJK JP"/>
                <a:cs typeface="Noto Sans CJK JP"/>
              </a:rPr>
              <a:t>解を</a:t>
            </a:r>
            <a:endParaRPr sz="1538" b="1" dirty="0">
              <a:solidFill>
                <a:srgbClr val="111827"/>
              </a:solidFill>
              <a:latin typeface="Noto Sans CJK JP"/>
              <a:ea typeface="Noto Sans CJK JP"/>
              <a:cs typeface="Noto Sans CJK JP"/>
            </a:endParaRPr>
          </a:p>
          <a:p>
            <a:pPr algn="ctr">
              <a:defRPr sz="1538" b="1">
                <a:solidFill>
                  <a:srgbClr val="111827"/>
                </a:solidFill>
                <a:latin typeface="Noto Sans CJK JP"/>
                <a:ea typeface="Noto Sans CJK JP"/>
                <a:cs typeface="Noto Sans CJK JP"/>
              </a:defRPr>
            </a:pPr>
            <a:r>
              <a:rPr sz="1538" b="1" dirty="0" err="1">
                <a:solidFill>
                  <a:srgbClr val="111827"/>
                </a:solidFill>
                <a:latin typeface="Noto Sans CJK JP"/>
                <a:ea typeface="Noto Sans CJK JP"/>
                <a:cs typeface="Noto Sans CJK JP"/>
              </a:rPr>
              <a:t>代替できる</a:t>
            </a:r>
            <a:r>
              <a:rPr lang="ja-JP" altLang="en-US" sz="1538" b="1" dirty="0">
                <a:solidFill>
                  <a:srgbClr val="111827"/>
                </a:solidFill>
                <a:latin typeface="Noto Sans CJK JP"/>
                <a:ea typeface="Noto Sans CJK JP"/>
                <a:cs typeface="Noto Sans CJK JP"/>
              </a:rPr>
              <a:t>の</a:t>
            </a:r>
            <a:r>
              <a:rPr sz="1538" b="1" dirty="0">
                <a:solidFill>
                  <a:srgbClr val="111827"/>
                </a:solidFill>
                <a:latin typeface="Noto Sans CJK JP"/>
                <a:ea typeface="Noto Sans CJK JP"/>
                <a:cs typeface="Noto Sans CJK JP"/>
              </a:rPr>
              <a:t>か？</a:t>
            </a:r>
          </a:p>
        </p:txBody>
      </p:sp>
      <p:sp>
        <p:nvSpPr>
          <p:cNvPr id="45" name="s5-bottom">
            <a:extLst>
              <a:ext uri="{FF2B5EF4-FFF2-40B4-BE49-F238E27FC236}">
                <a16:creationId xmlns:a16="http://schemas.microsoft.com/office/drawing/2014/main" id="{C7C9BA85-42D9-4E18-A05F-47DD061565A3}"/>
              </a:ext>
            </a:extLst>
          </p:cNvPr>
          <p:cNvSpPr>
            <a:spLocks noGrp="1"/>
          </p:cNvSpPr>
          <p:nvPr/>
        </p:nvSpPr>
        <p:spPr>
          <a:xfrm>
            <a:off x="1143000" y="4295775"/>
            <a:ext cx="6858000" cy="304800"/>
          </a:xfrm>
          <a:prstGeom prst="rect">
            <a:avLst/>
          </a:prstGeom>
          <a:noFill/>
          <a:ln w="0">
            <a:noFill/>
            <a:prstDash val="solid"/>
          </a:ln>
        </p:spPr>
        <p:txBody>
          <a:bodyPr wrap="square" lIns="0" tIns="0" rIns="0" bIns="0" anchor="ctr">
            <a:normAutofit/>
          </a:bodyPr>
          <a:lstStyle/>
          <a:p>
            <a:pPr algn="ctr">
              <a:defRPr sz="1313" b="1">
                <a:solidFill>
                  <a:srgbClr val="D94138"/>
                </a:solidFill>
                <a:latin typeface="Noto Sans CJK JP"/>
                <a:ea typeface="Noto Sans CJK JP"/>
                <a:cs typeface="Noto Sans CJK JP"/>
              </a:defRPr>
            </a:pPr>
            <a:r>
              <a:rPr sz="1313" b="1" dirty="0">
                <a:solidFill>
                  <a:srgbClr val="D94138"/>
                </a:solidFill>
                <a:latin typeface="Noto Sans CJK JP"/>
                <a:ea typeface="Noto Sans CJK JP"/>
                <a:cs typeface="Noto Sans CJK JP"/>
              </a:rPr>
              <a:t>『</a:t>
            </a:r>
            <a:r>
              <a:rPr sz="1313" b="1" dirty="0" err="1">
                <a:solidFill>
                  <a:srgbClr val="D94138"/>
                </a:solidFill>
                <a:latin typeface="Noto Sans CJK JP"/>
                <a:ea typeface="Noto Sans CJK JP"/>
                <a:cs typeface="Noto Sans CJK JP"/>
              </a:rPr>
              <a:t>最適性</a:t>
            </a:r>
            <a:r>
              <a:rPr sz="1313" b="1" dirty="0">
                <a:solidFill>
                  <a:srgbClr val="D94138"/>
                </a:solidFill>
                <a:latin typeface="Noto Sans CJK JP"/>
                <a:ea typeface="Noto Sans CJK JP"/>
                <a:cs typeface="Noto Sans CJK JP"/>
              </a:rPr>
              <a:t>』</a:t>
            </a:r>
            <a:r>
              <a:rPr lang="ja-JP" altLang="en-US" sz="1313" b="1" dirty="0">
                <a:solidFill>
                  <a:srgbClr val="D94138"/>
                </a:solidFill>
                <a:latin typeface="Noto Sans CJK JP"/>
                <a:ea typeface="Noto Sans CJK JP"/>
                <a:cs typeface="Noto Sans CJK JP"/>
              </a:rPr>
              <a:t>と</a:t>
            </a:r>
            <a:r>
              <a:rPr lang="en-US" altLang="ja-JP" sz="1313" b="1" dirty="0">
                <a:solidFill>
                  <a:srgbClr val="D94138"/>
                </a:solidFill>
                <a:latin typeface="Noto Sans CJK JP"/>
                <a:ea typeface="Noto Sans CJK JP"/>
                <a:cs typeface="Noto Sans CJK JP"/>
              </a:rPr>
              <a:t>『</a:t>
            </a:r>
            <a:r>
              <a:rPr lang="ja-JP" altLang="en-US" sz="1313" b="1" dirty="0">
                <a:solidFill>
                  <a:srgbClr val="D94138"/>
                </a:solidFill>
                <a:latin typeface="Noto Sans CJK JP"/>
                <a:ea typeface="Noto Sans CJK JP"/>
                <a:cs typeface="Noto Sans CJK JP"/>
              </a:rPr>
              <a:t>実務可能性</a:t>
            </a:r>
            <a:r>
              <a:rPr lang="en-US" altLang="ja-JP" sz="1313" b="1" dirty="0">
                <a:solidFill>
                  <a:srgbClr val="D94138"/>
                </a:solidFill>
                <a:latin typeface="Noto Sans CJK JP"/>
                <a:ea typeface="Noto Sans CJK JP"/>
                <a:cs typeface="Noto Sans CJK JP"/>
              </a:rPr>
              <a:t>』</a:t>
            </a:r>
            <a:r>
              <a:rPr lang="ja-JP" altLang="en-US" sz="1313" b="1" dirty="0">
                <a:solidFill>
                  <a:srgbClr val="D94138"/>
                </a:solidFill>
                <a:latin typeface="Noto Sans CJK JP"/>
                <a:ea typeface="Noto Sans CJK JP"/>
                <a:cs typeface="Noto Sans CJK JP"/>
              </a:rPr>
              <a:t>のバランスを満たす方策は何か、本研究で調査する</a:t>
            </a:r>
            <a:endParaRPr sz="1313" b="1" dirty="0">
              <a:solidFill>
                <a:srgbClr val="D94138"/>
              </a:solidFill>
              <a:latin typeface="Noto Sans CJK JP"/>
              <a:ea typeface="Noto Sans CJK JP"/>
              <a:cs typeface="Noto Sans CJK JP"/>
            </a:endParaRPr>
          </a:p>
        </p:txBody>
      </p:sp>
      <p:sp>
        <p:nvSpPr>
          <p:cNvPr id="6" name="s5-left-head">
            <a:extLst>
              <a:ext uri="{FF2B5EF4-FFF2-40B4-BE49-F238E27FC236}">
                <a16:creationId xmlns:a16="http://schemas.microsoft.com/office/drawing/2014/main" id="{0745E9E9-8E1C-409F-CAF9-221951EFBA1A}"/>
              </a:ext>
            </a:extLst>
          </p:cNvPr>
          <p:cNvSpPr>
            <a:spLocks noGrp="1"/>
          </p:cNvSpPr>
          <p:nvPr/>
        </p:nvSpPr>
        <p:spPr>
          <a:xfrm>
            <a:off x="3400424" y="1891570"/>
            <a:ext cx="2381249" cy="228600"/>
          </a:xfrm>
          <a:prstGeom prst="rect">
            <a:avLst/>
          </a:prstGeom>
          <a:noFill/>
          <a:ln w="0">
            <a:noFill/>
            <a:prstDash val="solid"/>
          </a:ln>
        </p:spPr>
        <p:txBody>
          <a:bodyPr wrap="square" lIns="0" tIns="0" rIns="0" bIns="0" anchor="ctr">
            <a:normAutofit/>
          </a:bodyPr>
          <a:lstStyle/>
          <a:p>
            <a:pPr algn="l">
              <a:defRPr sz="1313" b="1">
                <a:solidFill>
                  <a:srgbClr val="215FB4"/>
                </a:solidFill>
                <a:latin typeface="Noto Sans CJK JP"/>
                <a:ea typeface="Noto Sans CJK JP"/>
                <a:cs typeface="Noto Sans CJK JP"/>
              </a:defRPr>
            </a:pPr>
            <a:r>
              <a:rPr lang="ja-JP" altLang="en-US" sz="1313" b="1" dirty="0">
                <a:solidFill>
                  <a:srgbClr val="215FB4"/>
                </a:solidFill>
                <a:latin typeface="Noto Sans CJK JP"/>
                <a:ea typeface="Noto Sans CJK JP"/>
                <a:cs typeface="Noto Sans CJK JP"/>
              </a:rPr>
              <a:t>本研究が注目する追加条件４点</a:t>
            </a:r>
            <a:endParaRPr sz="1313" b="1" dirty="0">
              <a:solidFill>
                <a:srgbClr val="215FB4"/>
              </a:solidFill>
              <a:latin typeface="Noto Sans CJK JP"/>
              <a:ea typeface="Noto Sans CJK JP"/>
              <a:cs typeface="Noto Sans CJK JP"/>
            </a:endParaRPr>
          </a:p>
        </p:txBody>
      </p:sp>
      <p:sp>
        <p:nvSpPr>
          <p:cNvPr id="8" name="s5-left-rule">
            <a:extLst>
              <a:ext uri="{FF2B5EF4-FFF2-40B4-BE49-F238E27FC236}">
                <a16:creationId xmlns:a16="http://schemas.microsoft.com/office/drawing/2014/main" id="{6CA28EA4-D85B-3863-5330-C52EC18451E9}"/>
              </a:ext>
            </a:extLst>
          </p:cNvPr>
          <p:cNvSpPr>
            <a:spLocks noGrp="1"/>
          </p:cNvSpPr>
          <p:nvPr/>
        </p:nvSpPr>
        <p:spPr>
          <a:xfrm>
            <a:off x="3449455" y="2168265"/>
            <a:ext cx="1809750" cy="11430"/>
          </a:xfrm>
          <a:prstGeom prst="rect">
            <a:avLst/>
          </a:prstGeom>
          <a:solidFill>
            <a:srgbClr val="BFD5EC"/>
          </a:solidFill>
          <a:ln w="0">
            <a:noFill/>
            <a:prstDash val="solid"/>
          </a:ln>
        </p:spPr>
      </p:sp>
    </p:spTree>
    <p:extLst>
      <p:ext uri="{BB962C8B-B14F-4D97-AF65-F5344CB8AC3E}">
        <p14:creationId xmlns:p14="http://schemas.microsoft.com/office/powerpoint/2010/main" val="875397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B5FB2-DE08-01C4-4B0F-3D45E31A046E}"/>
              </a:ext>
            </a:extLst>
          </p:cNvPr>
          <p:cNvSpPr>
            <a:spLocks noGrp="1"/>
          </p:cNvSpPr>
          <p:nvPr>
            <p:ph type="title"/>
          </p:nvPr>
        </p:nvSpPr>
        <p:spPr>
          <a:xfrm>
            <a:off x="457200" y="990600"/>
            <a:ext cx="8229600" cy="609600"/>
          </a:xfrm>
        </p:spPr>
        <p:txBody>
          <a:bodyPr wrap="none" lIns="0" tIns="0" rIns="0" bIns="0" anchor="ctr">
            <a:normAutofit/>
          </a:bodyPr>
          <a:lstStyle/>
          <a:p>
            <a:pPr algn="l">
              <a:buNone/>
              <a:defRPr sz="2138" b="1">
                <a:solidFill>
                  <a:srgbClr val="111827"/>
                </a:solidFill>
                <a:latin typeface="Noto Sans CJK JP"/>
                <a:ea typeface="Noto Sans CJK JP"/>
                <a:cs typeface="Noto Sans CJK JP"/>
              </a:defRPr>
            </a:pPr>
            <a:r>
              <a:rPr sz="2138" b="1">
                <a:solidFill>
                  <a:srgbClr val="111827"/>
                </a:solidFill>
                <a:latin typeface="Noto Sans CJK JP"/>
                <a:ea typeface="Noto Sans CJK JP"/>
                <a:cs typeface="Noto Sans CJK JP"/>
              </a:rPr>
              <a:t>clipは「解いてから切る」、strictは「制約の中で解く」</a:t>
            </a:r>
          </a:p>
        </p:txBody>
      </p:sp>
      <p:sp>
        <p:nvSpPr>
          <p:cNvPr id="3" name="title-divider">
            <a:extLst>
              <a:ext uri="{FF2B5EF4-FFF2-40B4-BE49-F238E27FC236}">
                <a16:creationId xmlns:a16="http://schemas.microsoft.com/office/drawing/2014/main" id="{886E13B1-7A73-4D37-A872-8C6F234E8DD6}"/>
              </a:ext>
            </a:extLst>
          </p:cNvPr>
          <p:cNvSpPr>
            <a:spLocks noGrp="1"/>
          </p:cNvSpPr>
          <p:nvPr/>
        </p:nvSpPr>
        <p:spPr>
          <a:xfrm>
            <a:off x="457200" y="1676400"/>
            <a:ext cx="8229600" cy="9525"/>
          </a:xfrm>
          <a:prstGeom prst="rect">
            <a:avLst/>
          </a:prstGeom>
          <a:solidFill>
            <a:srgbClr val="E5EAF0"/>
          </a:solidFill>
          <a:ln w="0">
            <a:noFill/>
            <a:prstDash val="solid"/>
          </a:ln>
        </p:spPr>
      </p:sp>
      <p:sp>
        <p:nvSpPr>
          <p:cNvPr id="4" name="title-accent">
            <a:extLst>
              <a:ext uri="{FF2B5EF4-FFF2-40B4-BE49-F238E27FC236}">
                <a16:creationId xmlns:a16="http://schemas.microsoft.com/office/drawing/2014/main" id="{28F6F9FA-9504-4CF5-88D8-1AAC44FE8B70}"/>
              </a:ext>
            </a:extLst>
          </p:cNvPr>
          <p:cNvSpPr>
            <a:spLocks noGrp="1"/>
          </p:cNvSpPr>
          <p:nvPr/>
        </p:nvSpPr>
        <p:spPr>
          <a:xfrm>
            <a:off x="457200" y="1666875"/>
            <a:ext cx="552450" cy="38100"/>
          </a:xfrm>
          <a:prstGeom prst="rect">
            <a:avLst/>
          </a:prstGeom>
          <a:solidFill>
            <a:srgbClr val="4A90E2"/>
          </a:solidFill>
          <a:ln w="0">
            <a:noFill/>
            <a:prstDash val="solid"/>
          </a:ln>
        </p:spPr>
      </p:sp>
      <p:sp>
        <p:nvSpPr>
          <p:cNvPr id="20" name="chapter-tab-1">
            <a:extLst>
              <a:ext uri="{FF2B5EF4-FFF2-40B4-BE49-F238E27FC236}">
                <a16:creationId xmlns:a16="http://schemas.microsoft.com/office/drawing/2014/main" id="{B1D08489-85DB-4BDD-8C0A-B62509187B15}"/>
              </a:ext>
            </a:extLst>
          </p:cNvPr>
          <p:cNvSpPr>
            <a:spLocks noGrp="1"/>
          </p:cNvSpPr>
          <p:nvPr/>
        </p:nvSpPr>
        <p:spPr>
          <a:xfrm>
            <a:off x="457200" y="4857750"/>
            <a:ext cx="2057400" cy="238125"/>
          </a:xfrm>
          <a:prstGeom prst="parallelogram">
            <a:avLst/>
          </a:prstGeom>
          <a:solidFill>
            <a:srgbClr val="FFFFFF"/>
          </a:solidFill>
          <a:ln w="10001">
            <a:solidFill>
              <a:srgbClr val="4A90E2"/>
            </a:solidFill>
            <a:prstDash val="solid"/>
          </a:ln>
        </p:spPr>
        <p:txBody>
          <a:bodyPr wrap="none" lIns="76200" tIns="0" rIns="76200" bIns="0" anchor="ctr">
            <a:normAutofit/>
          </a:bodyPr>
          <a:lstStyle/>
          <a:p>
            <a:pPr algn="ctr">
              <a:buNone/>
              <a:defRPr sz="998" b="1">
                <a:solidFill>
                  <a:srgbClr val="4A90E2"/>
                </a:solidFill>
                <a:latin typeface="Noto Sans CJK JP"/>
                <a:ea typeface="Noto Sans CJK JP"/>
                <a:cs typeface="Noto Sans CJK JP"/>
              </a:defRPr>
            </a:pPr>
            <a:r>
              <a:rPr sz="998" b="1">
                <a:solidFill>
                  <a:srgbClr val="4A90E2"/>
                </a:solidFill>
                <a:latin typeface="Noto Sans CJK JP"/>
                <a:ea typeface="Noto Sans CJK JP"/>
                <a:cs typeface="Noto Sans CJK JP"/>
              </a:rPr>
              <a:t>1 前提</a:t>
            </a:r>
          </a:p>
        </p:txBody>
      </p:sp>
      <p:sp>
        <p:nvSpPr>
          <p:cNvPr id="21" name="chapter-tab-2">
            <a:extLst>
              <a:ext uri="{FF2B5EF4-FFF2-40B4-BE49-F238E27FC236}">
                <a16:creationId xmlns:a16="http://schemas.microsoft.com/office/drawing/2014/main" id="{2F5EA8E4-B66E-4F8B-96F0-0481B5E062B2}"/>
              </a:ext>
            </a:extLst>
          </p:cNvPr>
          <p:cNvSpPr>
            <a:spLocks noGrp="1"/>
          </p:cNvSpPr>
          <p:nvPr/>
        </p:nvSpPr>
        <p:spPr>
          <a:xfrm>
            <a:off x="2428875" y="4857750"/>
            <a:ext cx="2057400" cy="238125"/>
          </a:xfrm>
          <a:prstGeom prst="parallelogram">
            <a:avLst/>
          </a:prstGeom>
          <a:solidFill>
            <a:srgbClr val="2F73B7"/>
          </a:solidFill>
          <a:ln w="11430">
            <a:solidFill>
              <a:srgbClr val="2F73B7"/>
            </a:solidFill>
            <a:prstDash val="solid"/>
          </a:ln>
        </p:spPr>
        <p:txBody>
          <a:bodyPr wrap="none" lIns="76200" tIns="0" rIns="76200" bIns="0" anchor="ctr">
            <a:normAutofit/>
          </a:bodyPr>
          <a:lstStyle/>
          <a:p>
            <a:pPr algn="ctr">
              <a:buNone/>
              <a:defRPr sz="998" b="1">
                <a:solidFill>
                  <a:srgbClr val="FFFFFF"/>
                </a:solidFill>
                <a:latin typeface="Noto Sans CJK JP"/>
                <a:ea typeface="Noto Sans CJK JP"/>
                <a:cs typeface="Noto Sans CJK JP"/>
              </a:defRPr>
            </a:pPr>
            <a:r>
              <a:rPr sz="998" b="1">
                <a:solidFill>
                  <a:srgbClr val="FFFFFF"/>
                </a:solidFill>
                <a:latin typeface="Noto Sans CJK JP"/>
                <a:ea typeface="Noto Sans CJK JP"/>
                <a:cs typeface="Noto Sans CJK JP"/>
              </a:rPr>
              <a:t>2 数理理論</a:t>
            </a:r>
          </a:p>
        </p:txBody>
      </p:sp>
      <p:sp>
        <p:nvSpPr>
          <p:cNvPr id="22" name="chapter-tab-3">
            <a:extLst>
              <a:ext uri="{FF2B5EF4-FFF2-40B4-BE49-F238E27FC236}">
                <a16:creationId xmlns:a16="http://schemas.microsoft.com/office/drawing/2014/main" id="{75468AE4-290B-4DB8-84C9-FA9E9E0BF211}"/>
              </a:ext>
            </a:extLst>
          </p:cNvPr>
          <p:cNvSpPr>
            <a:spLocks noGrp="1"/>
          </p:cNvSpPr>
          <p:nvPr/>
        </p:nvSpPr>
        <p:spPr>
          <a:xfrm>
            <a:off x="4400550" y="4857750"/>
            <a:ext cx="2057400" cy="238125"/>
          </a:xfrm>
          <a:prstGeom prst="parallelogram">
            <a:avLst/>
          </a:prstGeom>
          <a:solidFill>
            <a:srgbClr val="FFFFFF"/>
          </a:solidFill>
          <a:ln w="10001">
            <a:solidFill>
              <a:srgbClr val="2A8F6A"/>
            </a:solidFill>
            <a:prstDash val="solid"/>
          </a:ln>
        </p:spPr>
        <p:txBody>
          <a:bodyPr wrap="none" lIns="76200" tIns="0" rIns="76200" bIns="0" anchor="ctr">
            <a:normAutofit/>
          </a:bodyPr>
          <a:lstStyle/>
          <a:p>
            <a:pPr algn="ctr">
              <a:buNone/>
              <a:defRPr sz="998" b="1">
                <a:solidFill>
                  <a:srgbClr val="2A8F6A"/>
                </a:solidFill>
                <a:latin typeface="Noto Sans CJK JP"/>
                <a:ea typeface="Noto Sans CJK JP"/>
                <a:cs typeface="Noto Sans CJK JP"/>
              </a:defRPr>
            </a:pPr>
            <a:r>
              <a:rPr sz="998" b="1">
                <a:solidFill>
                  <a:srgbClr val="2A8F6A"/>
                </a:solidFill>
                <a:latin typeface="Noto Sans CJK JP"/>
                <a:ea typeface="Noto Sans CJK JP"/>
                <a:cs typeface="Noto Sans CJK JP"/>
              </a:rPr>
              <a:t>3 シミュレーション</a:t>
            </a:r>
          </a:p>
        </p:txBody>
      </p:sp>
      <p:sp>
        <p:nvSpPr>
          <p:cNvPr id="23" name="chapter-tab-4">
            <a:extLst>
              <a:ext uri="{FF2B5EF4-FFF2-40B4-BE49-F238E27FC236}">
                <a16:creationId xmlns:a16="http://schemas.microsoft.com/office/drawing/2014/main" id="{4BFE6C64-4137-458B-A238-7F9E9851012F}"/>
              </a:ext>
            </a:extLst>
          </p:cNvPr>
          <p:cNvSpPr>
            <a:spLocks noGrp="1"/>
          </p:cNvSpPr>
          <p:nvPr/>
        </p:nvSpPr>
        <p:spPr>
          <a:xfrm>
            <a:off x="6372225" y="4857750"/>
            <a:ext cx="2057400" cy="238125"/>
          </a:xfrm>
          <a:prstGeom prst="parallelogram">
            <a:avLst/>
          </a:prstGeom>
          <a:solidFill>
            <a:srgbClr val="FFFFFF"/>
          </a:solidFill>
          <a:ln w="10001">
            <a:solidFill>
              <a:srgbClr val="C9534B"/>
            </a:solidFill>
            <a:prstDash val="solid"/>
          </a:ln>
        </p:spPr>
        <p:txBody>
          <a:bodyPr wrap="none" lIns="76200" tIns="0" rIns="76200" bIns="0" anchor="ctr">
            <a:normAutofit/>
          </a:bodyPr>
          <a:lstStyle/>
          <a:p>
            <a:pPr algn="ctr">
              <a:buNone/>
              <a:defRPr sz="998" b="1">
                <a:solidFill>
                  <a:srgbClr val="C9534B"/>
                </a:solidFill>
                <a:latin typeface="Noto Sans CJK JP"/>
                <a:ea typeface="Noto Sans CJK JP"/>
                <a:cs typeface="Noto Sans CJK JP"/>
              </a:defRPr>
            </a:pPr>
            <a:r>
              <a:rPr sz="998" b="1">
                <a:solidFill>
                  <a:srgbClr val="C9534B"/>
                </a:solidFill>
                <a:latin typeface="Noto Sans CJK JP"/>
                <a:ea typeface="Noto Sans CJK JP"/>
                <a:cs typeface="Noto Sans CJK JP"/>
              </a:rPr>
              <a:t>4 結論</a:t>
            </a:r>
          </a:p>
        </p:txBody>
      </p:sp>
      <p:sp>
        <p:nvSpPr>
          <p:cNvPr id="24" name="s6-left-head">
            <a:extLst>
              <a:ext uri="{FF2B5EF4-FFF2-40B4-BE49-F238E27FC236}">
                <a16:creationId xmlns:a16="http://schemas.microsoft.com/office/drawing/2014/main" id="{E67D1D03-491B-4F40-81F9-4C7F1B193867}"/>
              </a:ext>
            </a:extLst>
          </p:cNvPr>
          <p:cNvSpPr>
            <a:spLocks noGrp="1"/>
          </p:cNvSpPr>
          <p:nvPr/>
        </p:nvSpPr>
        <p:spPr>
          <a:xfrm>
            <a:off x="857250" y="1771650"/>
            <a:ext cx="2857500" cy="228600"/>
          </a:xfrm>
          <a:prstGeom prst="rect">
            <a:avLst/>
          </a:prstGeom>
          <a:noFill/>
          <a:ln w="0">
            <a:noFill/>
            <a:prstDash val="solid"/>
          </a:ln>
        </p:spPr>
        <p:txBody>
          <a:bodyPr wrap="square" lIns="0" tIns="0" rIns="0" bIns="0" anchor="ctr">
            <a:normAutofit/>
          </a:bodyPr>
          <a:lstStyle/>
          <a:p>
            <a:pPr algn="ctr">
              <a:defRPr sz="1313" b="1">
                <a:solidFill>
                  <a:srgbClr val="4B6073"/>
                </a:solidFill>
                <a:latin typeface="Noto Sans CJK JP"/>
                <a:ea typeface="Noto Sans CJK JP"/>
                <a:cs typeface="Noto Sans CJK JP"/>
              </a:defRPr>
            </a:pPr>
            <a:r>
              <a:rPr sz="1313" b="1">
                <a:solidFill>
                  <a:srgbClr val="4B6073"/>
                </a:solidFill>
                <a:latin typeface="Noto Sans CJK JP"/>
                <a:ea typeface="Noto Sans CJK JP"/>
                <a:cs typeface="Noto Sans CJK JP"/>
              </a:rPr>
              <a:t>clip ｜ 低コスト近似</a:t>
            </a:r>
          </a:p>
        </p:txBody>
      </p:sp>
      <p:sp>
        <p:nvSpPr>
          <p:cNvPr id="25" name="s6-right-head">
            <a:extLst>
              <a:ext uri="{FF2B5EF4-FFF2-40B4-BE49-F238E27FC236}">
                <a16:creationId xmlns:a16="http://schemas.microsoft.com/office/drawing/2014/main" id="{E69C2F9C-454D-42E5-B27E-1F4E49582C1B}"/>
              </a:ext>
            </a:extLst>
          </p:cNvPr>
          <p:cNvSpPr>
            <a:spLocks noGrp="1"/>
          </p:cNvSpPr>
          <p:nvPr/>
        </p:nvSpPr>
        <p:spPr>
          <a:xfrm>
            <a:off x="5286375" y="1750436"/>
            <a:ext cx="2952750" cy="228600"/>
          </a:xfrm>
          <a:prstGeom prst="rect">
            <a:avLst/>
          </a:prstGeom>
          <a:noFill/>
          <a:ln w="0">
            <a:noFill/>
            <a:prstDash val="solid"/>
          </a:ln>
        </p:spPr>
        <p:txBody>
          <a:bodyPr wrap="square" lIns="0" tIns="0" rIns="0" bIns="0" anchor="ctr">
            <a:normAutofit/>
          </a:bodyPr>
          <a:lstStyle/>
          <a:p>
            <a:pPr algn="ctr">
              <a:defRPr sz="1313" b="1">
                <a:solidFill>
                  <a:srgbClr val="215FB4"/>
                </a:solidFill>
                <a:latin typeface="Noto Sans CJK JP"/>
                <a:ea typeface="Noto Sans CJK JP"/>
                <a:cs typeface="Noto Sans CJK JP"/>
              </a:defRPr>
            </a:pPr>
            <a:r>
              <a:rPr sz="1313" b="1" dirty="0">
                <a:solidFill>
                  <a:srgbClr val="215FB4"/>
                </a:solidFill>
                <a:latin typeface="Noto Sans CJK JP"/>
                <a:ea typeface="Noto Sans CJK JP"/>
                <a:cs typeface="Noto Sans CJK JP"/>
              </a:rPr>
              <a:t>strict ｜ </a:t>
            </a:r>
            <a:r>
              <a:rPr sz="1313" b="1" dirty="0" err="1">
                <a:solidFill>
                  <a:srgbClr val="215FB4"/>
                </a:solidFill>
                <a:latin typeface="Noto Sans CJK JP"/>
                <a:ea typeface="Noto Sans CJK JP"/>
                <a:cs typeface="Noto Sans CJK JP"/>
              </a:rPr>
              <a:t>最適性を保証</a:t>
            </a:r>
            <a:endParaRPr sz="1313" b="1" dirty="0">
              <a:solidFill>
                <a:srgbClr val="215FB4"/>
              </a:solidFill>
              <a:latin typeface="Noto Sans CJK JP"/>
              <a:ea typeface="Noto Sans CJK JP"/>
              <a:cs typeface="Noto Sans CJK JP"/>
            </a:endParaRPr>
          </a:p>
        </p:txBody>
      </p:sp>
      <p:sp>
        <p:nvSpPr>
          <p:cNvPr id="26" name="s6-l1-shape">
            <a:extLst>
              <a:ext uri="{FF2B5EF4-FFF2-40B4-BE49-F238E27FC236}">
                <a16:creationId xmlns:a16="http://schemas.microsoft.com/office/drawing/2014/main" id="{2FB4CF3D-2A69-45B5-BA39-00188DF9081C}"/>
              </a:ext>
            </a:extLst>
          </p:cNvPr>
          <p:cNvSpPr>
            <a:spLocks noGrp="1"/>
          </p:cNvSpPr>
          <p:nvPr/>
        </p:nvSpPr>
        <p:spPr>
          <a:xfrm>
            <a:off x="714375" y="2095500"/>
            <a:ext cx="228600" cy="228600"/>
          </a:xfrm>
          <a:prstGeom prst="roundRect">
            <a:avLst>
              <a:gd name="adj" fmla="val 25000"/>
            </a:avLst>
          </a:prstGeom>
          <a:solidFill>
            <a:srgbClr val="FFFFFF"/>
          </a:solidFill>
          <a:ln w="9525">
            <a:solidFill>
              <a:srgbClr val="94A3B8"/>
            </a:solidFill>
            <a:prstDash val="solid"/>
          </a:ln>
        </p:spPr>
      </p:sp>
      <p:sp>
        <p:nvSpPr>
          <p:cNvPr id="27" name="s6-l1-text">
            <a:extLst>
              <a:ext uri="{FF2B5EF4-FFF2-40B4-BE49-F238E27FC236}">
                <a16:creationId xmlns:a16="http://schemas.microsoft.com/office/drawing/2014/main" id="{724B90C8-26B7-4547-B3D8-8BBC3042C65F}"/>
              </a:ext>
            </a:extLst>
          </p:cNvPr>
          <p:cNvSpPr>
            <a:spLocks noGrp="1"/>
          </p:cNvSpPr>
          <p:nvPr/>
        </p:nvSpPr>
        <p:spPr>
          <a:xfrm>
            <a:off x="714375" y="2095500"/>
            <a:ext cx="228600" cy="228600"/>
          </a:xfrm>
          <a:prstGeom prst="rect">
            <a:avLst/>
          </a:prstGeom>
          <a:noFill/>
          <a:ln w="0">
            <a:noFill/>
            <a:prstDash val="solid"/>
          </a:ln>
        </p:spPr>
        <p:txBody>
          <a:bodyPr wrap="square" lIns="0" tIns="0" rIns="0" bIns="0" anchor="ctr">
            <a:normAutofit/>
          </a:bodyPr>
          <a:lstStyle/>
          <a:p>
            <a:pPr algn="ctr">
              <a:defRPr sz="975" b="1">
                <a:solidFill>
                  <a:srgbClr val="94A3B8"/>
                </a:solidFill>
                <a:latin typeface="Noto Sans CJK JP"/>
                <a:ea typeface="Noto Sans CJK JP"/>
                <a:cs typeface="Noto Sans CJK JP"/>
              </a:defRPr>
            </a:pPr>
            <a:r>
              <a:rPr sz="975" b="1">
                <a:solidFill>
                  <a:srgbClr val="94A3B8"/>
                </a:solidFill>
                <a:latin typeface="Noto Sans CJK JP"/>
                <a:ea typeface="Noto Sans CJK JP"/>
                <a:cs typeface="Noto Sans CJK JP"/>
              </a:rPr>
              <a:t>1</a:t>
            </a:r>
          </a:p>
        </p:txBody>
      </p:sp>
      <p:sp>
        <p:nvSpPr>
          <p:cNvPr id="28" name="s6-l1-text">
            <a:extLst>
              <a:ext uri="{FF2B5EF4-FFF2-40B4-BE49-F238E27FC236}">
                <a16:creationId xmlns:a16="http://schemas.microsoft.com/office/drawing/2014/main" id="{F1988149-5E68-4F92-8067-EF8CB60DAF7B}"/>
              </a:ext>
            </a:extLst>
          </p:cNvPr>
          <p:cNvSpPr>
            <a:spLocks noGrp="1"/>
          </p:cNvSpPr>
          <p:nvPr/>
        </p:nvSpPr>
        <p:spPr>
          <a:xfrm>
            <a:off x="1019175" y="2057400"/>
            <a:ext cx="3067050" cy="304800"/>
          </a:xfrm>
          <a:prstGeom prst="rect">
            <a:avLst/>
          </a:prstGeom>
          <a:noFill/>
          <a:ln w="0">
            <a:noFill/>
            <a:prstDash val="solid"/>
          </a:ln>
        </p:spPr>
        <p:txBody>
          <a:bodyPr wrap="square" lIns="0" tIns="0" rIns="0" bIns="0" anchor="ctr">
            <a:normAutofit/>
          </a:bodyPr>
          <a:lstStyle/>
          <a:p>
            <a:pPr algn="l">
              <a:defRPr sz="1073" b="0">
                <a:solidFill>
                  <a:srgbClr val="111827"/>
                </a:solidFill>
                <a:latin typeface="Noto Sans CJK JP"/>
                <a:ea typeface="Noto Sans CJK JP"/>
                <a:cs typeface="Noto Sans CJK JP"/>
              </a:defRPr>
            </a:pPr>
            <a:r>
              <a:rPr sz="1073" b="0" dirty="0">
                <a:solidFill>
                  <a:srgbClr val="111827"/>
                </a:solidFill>
                <a:latin typeface="Noto Sans CJK JP"/>
                <a:ea typeface="Noto Sans CJK JP"/>
                <a:cs typeface="Noto Sans CJK JP"/>
              </a:rPr>
              <a:t>Y = X + H </a:t>
            </a:r>
            <a:r>
              <a:rPr lang="ja-JP" altLang="en-US" sz="1073" b="0" dirty="0">
                <a:solidFill>
                  <a:srgbClr val="111827"/>
                </a:solidFill>
                <a:latin typeface="Noto Sans CJK JP"/>
                <a:ea typeface="Noto Sans CJK JP"/>
                <a:cs typeface="Noto Sans CJK JP"/>
              </a:rPr>
              <a:t>変換により、容易に</a:t>
            </a:r>
            <a:r>
              <a:rPr sz="1073" b="0" dirty="0" err="1">
                <a:solidFill>
                  <a:srgbClr val="111827"/>
                </a:solidFill>
                <a:latin typeface="Noto Sans CJK JP"/>
                <a:ea typeface="Noto Sans CJK JP"/>
                <a:cs typeface="Noto Sans CJK JP"/>
              </a:rPr>
              <a:t>無制約問題</a:t>
            </a:r>
            <a:r>
              <a:rPr lang="ja-JP" altLang="en-US" sz="1073" b="0" dirty="0">
                <a:solidFill>
                  <a:srgbClr val="111827"/>
                </a:solidFill>
                <a:latin typeface="Noto Sans CJK JP"/>
                <a:ea typeface="Noto Sans CJK JP"/>
                <a:cs typeface="Noto Sans CJK JP"/>
              </a:rPr>
              <a:t>は</a:t>
            </a:r>
            <a:r>
              <a:rPr sz="1073" b="0" dirty="0">
                <a:solidFill>
                  <a:srgbClr val="111827"/>
                </a:solidFill>
                <a:latin typeface="Noto Sans CJK JP"/>
                <a:ea typeface="Noto Sans CJK JP"/>
                <a:cs typeface="Noto Sans CJK JP"/>
              </a:rPr>
              <a:t>解</a:t>
            </a:r>
            <a:r>
              <a:rPr lang="ja-JP" altLang="en-US" sz="1073" b="0" dirty="0">
                <a:solidFill>
                  <a:srgbClr val="111827"/>
                </a:solidFill>
                <a:latin typeface="Noto Sans CJK JP"/>
                <a:ea typeface="Noto Sans CJK JP"/>
                <a:cs typeface="Noto Sans CJK JP"/>
              </a:rPr>
              <a:t>ける</a:t>
            </a:r>
            <a:endParaRPr sz="1073" b="0" dirty="0">
              <a:solidFill>
                <a:srgbClr val="111827"/>
              </a:solidFill>
              <a:latin typeface="Noto Sans CJK JP"/>
              <a:ea typeface="Noto Sans CJK JP"/>
              <a:cs typeface="Noto Sans CJK JP"/>
            </a:endParaRPr>
          </a:p>
        </p:txBody>
      </p:sp>
      <p:sp>
        <p:nvSpPr>
          <p:cNvPr id="29" name="s6-l1-math">
            <a:extLst>
              <a:ext uri="{FF2B5EF4-FFF2-40B4-BE49-F238E27FC236}">
                <a16:creationId xmlns:a16="http://schemas.microsoft.com/office/drawing/2014/main" id="{158070B9-8B0D-4107-91E6-A32CC0F58621}"/>
              </a:ext>
            </a:extLst>
          </p:cNvPr>
          <p:cNvSpPr>
            <a:spLocks noGrp="1"/>
          </p:cNvSpPr>
          <p:nvPr/>
        </p:nvSpPr>
        <p:spPr>
          <a:xfrm>
            <a:off x="1428750" y="2381250"/>
            <a:ext cx="2095500" cy="266700"/>
          </a:xfrm>
          <a:prstGeom prst="rect">
            <a:avLst/>
          </a:prstGeom>
          <a:noFill/>
          <a:ln w="0">
            <a:noFill/>
            <a:prstDash val="solid"/>
          </a:ln>
        </p:spPr>
        <p:txBody>
          <a:bodyPr wrap="square" lIns="0" tIns="0" rIns="0" bIns="0" anchor="ctr">
            <a:normAutofit/>
          </a:bodyPr>
          <a:lstStyle/>
          <a:p>
            <a:pPr algn="ctr">
              <a:defRPr sz="1350" b="0" i="1">
                <a:solidFill>
                  <a:srgbClr val="64748B"/>
                </a:solidFill>
                <a:latin typeface="Cambria Math"/>
                <a:ea typeface="Cambria Math"/>
                <a:cs typeface="Cambria Math"/>
              </a:defRPr>
            </a:pPr>
            <a:r>
              <a:rPr sz="1350" b="0" i="1">
                <a:solidFill>
                  <a:srgbClr val="64748B"/>
                </a:solidFill>
                <a:latin typeface="Cambria Math"/>
                <a:ea typeface="Cambria Math"/>
                <a:cs typeface="Cambria Math"/>
              </a:rPr>
              <a:t>π̂ᵘⁿᶜ(t, x + Hₜ)</a:t>
            </a:r>
          </a:p>
        </p:txBody>
      </p:sp>
      <p:sp>
        <p:nvSpPr>
          <p:cNvPr id="30" name="s6-l-arrow">
            <a:extLst>
              <a:ext uri="{FF2B5EF4-FFF2-40B4-BE49-F238E27FC236}">
                <a16:creationId xmlns:a16="http://schemas.microsoft.com/office/drawing/2014/main" id="{70DF80D7-23EF-4CE4-9692-40275C40F5FE}"/>
              </a:ext>
            </a:extLst>
          </p:cNvPr>
          <p:cNvSpPr>
            <a:spLocks noGrp="1"/>
          </p:cNvSpPr>
          <p:nvPr/>
        </p:nvSpPr>
        <p:spPr>
          <a:xfrm>
            <a:off x="2152650" y="2842779"/>
            <a:ext cx="266700" cy="323850"/>
          </a:xfrm>
          <a:prstGeom prst="downArrow">
            <a:avLst/>
          </a:prstGeom>
          <a:solidFill>
            <a:srgbClr val="4B6073"/>
          </a:solidFill>
          <a:ln w="0">
            <a:noFill/>
            <a:prstDash val="solid"/>
          </a:ln>
        </p:spPr>
      </p:sp>
      <p:sp>
        <p:nvSpPr>
          <p:cNvPr id="31" name="s6-l2-shape">
            <a:extLst>
              <a:ext uri="{FF2B5EF4-FFF2-40B4-BE49-F238E27FC236}">
                <a16:creationId xmlns:a16="http://schemas.microsoft.com/office/drawing/2014/main" id="{A87E7B6F-90E4-43D4-B184-EE657C76BAFB}"/>
              </a:ext>
            </a:extLst>
          </p:cNvPr>
          <p:cNvSpPr>
            <a:spLocks noGrp="1"/>
          </p:cNvSpPr>
          <p:nvPr/>
        </p:nvSpPr>
        <p:spPr>
          <a:xfrm>
            <a:off x="714375" y="3233304"/>
            <a:ext cx="228600" cy="228600"/>
          </a:xfrm>
          <a:prstGeom prst="roundRect">
            <a:avLst>
              <a:gd name="adj" fmla="val 25000"/>
            </a:avLst>
          </a:prstGeom>
          <a:solidFill>
            <a:srgbClr val="FFFFFF"/>
          </a:solidFill>
          <a:ln w="9525">
            <a:solidFill>
              <a:srgbClr val="94A3B8"/>
            </a:solidFill>
            <a:prstDash val="solid"/>
          </a:ln>
        </p:spPr>
      </p:sp>
      <p:sp>
        <p:nvSpPr>
          <p:cNvPr id="32" name="s6-l2-text">
            <a:extLst>
              <a:ext uri="{FF2B5EF4-FFF2-40B4-BE49-F238E27FC236}">
                <a16:creationId xmlns:a16="http://schemas.microsoft.com/office/drawing/2014/main" id="{C0F3CCD6-C786-4E30-BB6E-43803C82B68B}"/>
              </a:ext>
            </a:extLst>
          </p:cNvPr>
          <p:cNvSpPr>
            <a:spLocks noGrp="1"/>
          </p:cNvSpPr>
          <p:nvPr/>
        </p:nvSpPr>
        <p:spPr>
          <a:xfrm>
            <a:off x="714375" y="3233304"/>
            <a:ext cx="228600" cy="228600"/>
          </a:xfrm>
          <a:prstGeom prst="rect">
            <a:avLst/>
          </a:prstGeom>
          <a:noFill/>
          <a:ln w="0">
            <a:noFill/>
            <a:prstDash val="solid"/>
          </a:ln>
        </p:spPr>
        <p:txBody>
          <a:bodyPr wrap="square" lIns="0" tIns="0" rIns="0" bIns="0" anchor="ctr">
            <a:normAutofit/>
          </a:bodyPr>
          <a:lstStyle/>
          <a:p>
            <a:pPr algn="ctr">
              <a:defRPr sz="975" b="1">
                <a:solidFill>
                  <a:srgbClr val="94A3B8"/>
                </a:solidFill>
                <a:latin typeface="Noto Sans CJK JP"/>
                <a:ea typeface="Noto Sans CJK JP"/>
                <a:cs typeface="Noto Sans CJK JP"/>
              </a:defRPr>
            </a:pPr>
            <a:r>
              <a:rPr sz="975" b="1">
                <a:solidFill>
                  <a:srgbClr val="94A3B8"/>
                </a:solidFill>
                <a:latin typeface="Noto Sans CJK JP"/>
                <a:ea typeface="Noto Sans CJK JP"/>
                <a:cs typeface="Noto Sans CJK JP"/>
              </a:rPr>
              <a:t>2</a:t>
            </a:r>
          </a:p>
        </p:txBody>
      </p:sp>
      <p:sp>
        <p:nvSpPr>
          <p:cNvPr id="33" name="s6-l2-text">
            <a:extLst>
              <a:ext uri="{FF2B5EF4-FFF2-40B4-BE49-F238E27FC236}">
                <a16:creationId xmlns:a16="http://schemas.microsoft.com/office/drawing/2014/main" id="{24F61185-BDBA-4472-A851-646F6BBED284}"/>
              </a:ext>
            </a:extLst>
          </p:cNvPr>
          <p:cNvSpPr>
            <a:spLocks noGrp="1"/>
          </p:cNvSpPr>
          <p:nvPr/>
        </p:nvSpPr>
        <p:spPr>
          <a:xfrm>
            <a:off x="1047750" y="3214254"/>
            <a:ext cx="2619375" cy="266700"/>
          </a:xfrm>
          <a:prstGeom prst="rect">
            <a:avLst/>
          </a:prstGeom>
          <a:noFill/>
          <a:ln w="0">
            <a:noFill/>
            <a:prstDash val="solid"/>
          </a:ln>
        </p:spPr>
        <p:txBody>
          <a:bodyPr wrap="square" lIns="0" tIns="0" rIns="0" bIns="0" anchor="ctr">
            <a:normAutofit/>
          </a:bodyPr>
          <a:lstStyle/>
          <a:p>
            <a:pPr algn="l">
              <a:defRPr sz="1073" b="0">
                <a:solidFill>
                  <a:srgbClr val="111827"/>
                </a:solidFill>
                <a:latin typeface="Noto Sans CJK JP"/>
                <a:ea typeface="Noto Sans CJK JP"/>
                <a:cs typeface="Noto Sans CJK JP"/>
              </a:defRPr>
            </a:pPr>
            <a:r>
              <a:rPr lang="ja-JP" altLang="en-US" sz="1073" b="0" dirty="0">
                <a:solidFill>
                  <a:srgbClr val="111827"/>
                </a:solidFill>
                <a:latin typeface="Noto Sans CJK JP"/>
                <a:ea typeface="Noto Sans CJK JP"/>
                <a:cs typeface="Noto Sans CJK JP"/>
              </a:rPr>
              <a:t>無制約</a:t>
            </a:r>
            <a:r>
              <a:rPr lang="en-US" altLang="ja-JP" sz="1073" b="0" dirty="0">
                <a:solidFill>
                  <a:srgbClr val="111827"/>
                </a:solidFill>
                <a:latin typeface="Noto Sans CJK JP"/>
                <a:ea typeface="Noto Sans CJK JP"/>
                <a:cs typeface="Noto Sans CJK JP"/>
              </a:rPr>
              <a:t>PDE</a:t>
            </a:r>
            <a:r>
              <a:rPr lang="ja-JP" altLang="en-US" sz="1073" b="0" dirty="0">
                <a:solidFill>
                  <a:srgbClr val="111827"/>
                </a:solidFill>
                <a:latin typeface="Noto Sans CJK JP"/>
                <a:ea typeface="Noto Sans CJK JP"/>
                <a:cs typeface="Noto Sans CJK JP"/>
              </a:rPr>
              <a:t>を解いた上で</a:t>
            </a:r>
            <a:r>
              <a:rPr sz="1073" b="0" dirty="0">
                <a:solidFill>
                  <a:srgbClr val="111827"/>
                </a:solidFill>
                <a:latin typeface="Noto Sans CJK JP"/>
                <a:ea typeface="Noto Sans CJK JP"/>
                <a:cs typeface="Noto Sans CJK JP"/>
              </a:rPr>
              <a:t> [0, X] </a:t>
            </a:r>
            <a:r>
              <a:rPr sz="1073" b="0" dirty="0" err="1">
                <a:solidFill>
                  <a:srgbClr val="111827"/>
                </a:solidFill>
                <a:latin typeface="Noto Sans CJK JP"/>
                <a:ea typeface="Noto Sans CJK JP"/>
                <a:cs typeface="Noto Sans CJK JP"/>
              </a:rPr>
              <a:t>へ射影</a:t>
            </a:r>
            <a:endParaRPr sz="1073" b="0" dirty="0">
              <a:solidFill>
                <a:srgbClr val="111827"/>
              </a:solidFill>
              <a:latin typeface="Noto Sans CJK JP"/>
              <a:ea typeface="Noto Sans CJK JP"/>
              <a:cs typeface="Noto Sans CJK JP"/>
            </a:endParaRPr>
          </a:p>
        </p:txBody>
      </p:sp>
      <p:pic>
        <p:nvPicPr>
          <p:cNvPr id="65" name="グラフィックス 64"/>
          <p:cNvPicPr>
            <a:picLocks noChangeAspect="1"/>
          </p:cNvPicPr>
          <p:nvPr/>
        </p:nvPicPr>
        <p:blipFill>
          <a:blip>
            <a:extLst>
              <a:ext uri="{96DAC541-7B7A-43D3-8B79-37D633B846F1}">
                <asvg:svgBlip xmlns:asvg="http://schemas.microsoft.com/office/drawing/2016/SVG/main" r:embed="rId3"/>
              </a:ext>
            </a:extLst>
          </a:blip>
          <a:stretch/>
        </p:blipFill>
        <p:spPr>
          <a:xfrm>
            <a:off x="876300" y="3557154"/>
            <a:ext cx="3067050" cy="285750"/>
          </a:xfrm>
          <a:prstGeom prst="rect">
            <a:avLst/>
          </a:prstGeom>
        </p:spPr>
      </p:pic>
      <p:sp>
        <p:nvSpPr>
          <p:cNvPr id="35" name="s6-l-note">
            <a:extLst>
              <a:ext uri="{FF2B5EF4-FFF2-40B4-BE49-F238E27FC236}">
                <a16:creationId xmlns:a16="http://schemas.microsoft.com/office/drawing/2014/main" id="{324A0B7D-2E58-42DE-AEA1-0C527E8E539B}"/>
              </a:ext>
            </a:extLst>
          </p:cNvPr>
          <p:cNvSpPr>
            <a:spLocks noGrp="1"/>
          </p:cNvSpPr>
          <p:nvPr/>
        </p:nvSpPr>
        <p:spPr>
          <a:xfrm>
            <a:off x="904875" y="4042929"/>
            <a:ext cx="3000375" cy="228600"/>
          </a:xfrm>
          <a:prstGeom prst="rect">
            <a:avLst/>
          </a:prstGeom>
          <a:noFill/>
          <a:ln w="0">
            <a:noFill/>
            <a:prstDash val="solid"/>
          </a:ln>
        </p:spPr>
        <p:txBody>
          <a:bodyPr wrap="square" lIns="0" tIns="0" rIns="0" bIns="0" anchor="ctr">
            <a:normAutofit/>
          </a:bodyPr>
          <a:lstStyle/>
          <a:p>
            <a:pPr algn="ctr">
              <a:defRPr sz="1013" b="1">
                <a:solidFill>
                  <a:srgbClr val="D94138"/>
                </a:solidFill>
                <a:latin typeface="Noto Sans CJK JP"/>
                <a:ea typeface="Noto Sans CJK JP"/>
                <a:cs typeface="Noto Sans CJK JP"/>
              </a:defRPr>
            </a:pPr>
            <a:r>
              <a:rPr lang="ja-JP" altLang="en-US" sz="1100" b="1" dirty="0">
                <a:solidFill>
                  <a:srgbClr val="4B6073"/>
                </a:solidFill>
                <a:latin typeface="Noto Sans CJK JP"/>
                <a:ea typeface="Noto Sans CJK JP"/>
                <a:cs typeface="Noto Sans CJK JP"/>
              </a:rPr>
              <a:t>実務可能</a:t>
            </a:r>
            <a:r>
              <a:rPr sz="1100" b="1" dirty="0">
                <a:solidFill>
                  <a:srgbClr val="4B6073"/>
                </a:solidFill>
                <a:latin typeface="Noto Sans CJK JP"/>
                <a:ea typeface="Noto Sans CJK JP"/>
                <a:cs typeface="Noto Sans CJK JP"/>
              </a:rPr>
              <a:t>性 ◎　 </a:t>
            </a:r>
            <a:r>
              <a:rPr sz="1100" b="1" dirty="0" err="1">
                <a:solidFill>
                  <a:srgbClr val="4B6073"/>
                </a:solidFill>
                <a:latin typeface="Noto Sans CJK JP"/>
                <a:ea typeface="Noto Sans CJK JP"/>
                <a:cs typeface="Noto Sans CJK JP"/>
              </a:rPr>
              <a:t>最適性</a:t>
            </a:r>
            <a:r>
              <a:rPr lang="en-US" altLang="ja-JP" sz="1100" b="1" dirty="0">
                <a:solidFill>
                  <a:srgbClr val="4B6073"/>
                </a:solidFill>
                <a:latin typeface="Noto Sans CJK JP"/>
                <a:ea typeface="Noto Sans CJK JP"/>
                <a:cs typeface="Noto Sans CJK JP"/>
              </a:rPr>
              <a:t>×</a:t>
            </a:r>
            <a:endParaRPr sz="1100" b="1" dirty="0">
              <a:solidFill>
                <a:srgbClr val="4B6073"/>
              </a:solidFill>
              <a:latin typeface="Noto Sans CJK JP"/>
              <a:ea typeface="Noto Sans CJK JP"/>
              <a:cs typeface="Noto Sans CJK JP"/>
            </a:endParaRPr>
          </a:p>
        </p:txBody>
      </p:sp>
      <p:sp>
        <p:nvSpPr>
          <p:cNvPr id="36" name="s6-not-equal">
            <a:extLst>
              <a:ext uri="{FF2B5EF4-FFF2-40B4-BE49-F238E27FC236}">
                <a16:creationId xmlns:a16="http://schemas.microsoft.com/office/drawing/2014/main" id="{DDE028FE-E4B3-4977-90DE-0048336BAA47}"/>
              </a:ext>
            </a:extLst>
          </p:cNvPr>
          <p:cNvSpPr>
            <a:spLocks noGrp="1"/>
          </p:cNvSpPr>
          <p:nvPr/>
        </p:nvSpPr>
        <p:spPr>
          <a:xfrm>
            <a:off x="4357687" y="3347604"/>
            <a:ext cx="590550" cy="609600"/>
          </a:xfrm>
          <a:prstGeom prst="rect">
            <a:avLst/>
          </a:prstGeom>
          <a:noFill/>
          <a:ln w="0">
            <a:noFill/>
            <a:prstDash val="solid"/>
          </a:ln>
        </p:spPr>
        <p:txBody>
          <a:bodyPr wrap="square" lIns="0" tIns="0" rIns="0" bIns="0" anchor="ctr">
            <a:normAutofit/>
          </a:bodyPr>
          <a:lstStyle/>
          <a:p>
            <a:pPr algn="ctr">
              <a:defRPr sz="3300" b="1">
                <a:solidFill>
                  <a:srgbClr val="D94138"/>
                </a:solidFill>
                <a:latin typeface="Cambria Math"/>
                <a:ea typeface="Cambria Math"/>
                <a:cs typeface="Cambria Math"/>
              </a:defRPr>
            </a:pPr>
            <a:r>
              <a:rPr sz="3300" b="1" dirty="0">
                <a:solidFill>
                  <a:srgbClr val="D94138"/>
                </a:solidFill>
                <a:latin typeface="Cambria Math"/>
                <a:ea typeface="Cambria Math"/>
                <a:cs typeface="Cambria Math"/>
              </a:rPr>
              <a:t>≠</a:t>
            </a:r>
          </a:p>
        </p:txBody>
      </p:sp>
      <p:sp>
        <p:nvSpPr>
          <p:cNvPr id="37" name="s6-r1-shape">
            <a:extLst>
              <a:ext uri="{FF2B5EF4-FFF2-40B4-BE49-F238E27FC236}">
                <a16:creationId xmlns:a16="http://schemas.microsoft.com/office/drawing/2014/main" id="{52170F2C-3B3B-41FD-80F9-4FACAC1A0C57}"/>
              </a:ext>
            </a:extLst>
          </p:cNvPr>
          <p:cNvSpPr>
            <a:spLocks noGrp="1"/>
          </p:cNvSpPr>
          <p:nvPr/>
        </p:nvSpPr>
        <p:spPr>
          <a:xfrm>
            <a:off x="5238750" y="2095500"/>
            <a:ext cx="228600" cy="228600"/>
          </a:xfrm>
          <a:prstGeom prst="roundRect">
            <a:avLst>
              <a:gd name="adj" fmla="val 25000"/>
            </a:avLst>
          </a:prstGeom>
          <a:solidFill>
            <a:srgbClr val="FFFFFF"/>
          </a:solidFill>
          <a:ln w="9525">
            <a:solidFill>
              <a:srgbClr val="215FB4"/>
            </a:solidFill>
            <a:prstDash val="solid"/>
          </a:ln>
        </p:spPr>
      </p:sp>
      <p:sp>
        <p:nvSpPr>
          <p:cNvPr id="38" name="s6-r1-text">
            <a:extLst>
              <a:ext uri="{FF2B5EF4-FFF2-40B4-BE49-F238E27FC236}">
                <a16:creationId xmlns:a16="http://schemas.microsoft.com/office/drawing/2014/main" id="{A9214DD0-7B46-4705-A5E0-CD17FAE7DEBD}"/>
              </a:ext>
            </a:extLst>
          </p:cNvPr>
          <p:cNvSpPr>
            <a:spLocks noGrp="1"/>
          </p:cNvSpPr>
          <p:nvPr/>
        </p:nvSpPr>
        <p:spPr>
          <a:xfrm>
            <a:off x="5238750" y="2095500"/>
            <a:ext cx="228600" cy="228600"/>
          </a:xfrm>
          <a:prstGeom prst="rect">
            <a:avLst/>
          </a:prstGeom>
          <a:noFill/>
          <a:ln w="0">
            <a:noFill/>
            <a:prstDash val="solid"/>
          </a:ln>
        </p:spPr>
        <p:txBody>
          <a:bodyPr wrap="square" lIns="0" tIns="0" rIns="0" bIns="0" anchor="ctr">
            <a:normAutofit/>
          </a:bodyPr>
          <a:lstStyle/>
          <a:p>
            <a:pPr algn="ctr">
              <a:defRPr sz="975" b="1">
                <a:solidFill>
                  <a:srgbClr val="215FB4"/>
                </a:solidFill>
                <a:latin typeface="Noto Sans CJK JP"/>
                <a:ea typeface="Noto Sans CJK JP"/>
                <a:cs typeface="Noto Sans CJK JP"/>
              </a:defRPr>
            </a:pPr>
            <a:r>
              <a:rPr sz="975" b="1">
                <a:solidFill>
                  <a:srgbClr val="215FB4"/>
                </a:solidFill>
                <a:latin typeface="Noto Sans CJK JP"/>
                <a:ea typeface="Noto Sans CJK JP"/>
                <a:cs typeface="Noto Sans CJK JP"/>
              </a:rPr>
              <a:t>1</a:t>
            </a:r>
          </a:p>
        </p:txBody>
      </p:sp>
      <p:sp>
        <p:nvSpPr>
          <p:cNvPr id="39" name="s6-r1-text">
            <a:extLst>
              <a:ext uri="{FF2B5EF4-FFF2-40B4-BE49-F238E27FC236}">
                <a16:creationId xmlns:a16="http://schemas.microsoft.com/office/drawing/2014/main" id="{A0AB3C1F-40E6-416A-B0B7-F106F893B423}"/>
              </a:ext>
            </a:extLst>
          </p:cNvPr>
          <p:cNvSpPr>
            <a:spLocks noGrp="1"/>
          </p:cNvSpPr>
          <p:nvPr/>
        </p:nvSpPr>
        <p:spPr>
          <a:xfrm>
            <a:off x="5543550" y="2057400"/>
            <a:ext cx="2905125" cy="304800"/>
          </a:xfrm>
          <a:prstGeom prst="rect">
            <a:avLst/>
          </a:prstGeom>
          <a:noFill/>
          <a:ln w="0">
            <a:noFill/>
            <a:prstDash val="solid"/>
          </a:ln>
        </p:spPr>
        <p:txBody>
          <a:bodyPr wrap="square" lIns="0" tIns="0" rIns="0" bIns="0" anchor="ctr">
            <a:normAutofit/>
          </a:bodyPr>
          <a:lstStyle/>
          <a:p>
            <a:pPr algn="l">
              <a:defRPr sz="1073" b="0">
                <a:solidFill>
                  <a:srgbClr val="111827"/>
                </a:solidFill>
                <a:latin typeface="Noto Sans CJK JP"/>
                <a:ea typeface="Noto Sans CJK JP"/>
                <a:cs typeface="Noto Sans CJK JP"/>
              </a:defRPr>
            </a:pPr>
            <a:r>
              <a:rPr sz="1073" b="0" dirty="0" err="1">
                <a:solidFill>
                  <a:srgbClr val="111827"/>
                </a:solidFill>
                <a:latin typeface="Noto Sans CJK JP"/>
                <a:ea typeface="Noto Sans CJK JP"/>
                <a:cs typeface="Noto Sans CJK JP"/>
              </a:rPr>
              <a:t>制約付き</a:t>
            </a:r>
            <a:r>
              <a:rPr lang="en-US" altLang="ja-JP" sz="1073" b="0" dirty="0" err="1">
                <a:solidFill>
                  <a:srgbClr val="111827"/>
                </a:solidFill>
                <a:latin typeface="Noto Sans CJK JP"/>
                <a:ea typeface="Noto Sans CJK JP"/>
                <a:cs typeface="Noto Sans CJK JP"/>
              </a:rPr>
              <a:t>PDE</a:t>
            </a:r>
            <a:r>
              <a:rPr sz="1073" b="0" dirty="0" err="1">
                <a:solidFill>
                  <a:srgbClr val="111827"/>
                </a:solidFill>
                <a:latin typeface="Noto Sans CJK JP"/>
                <a:ea typeface="Noto Sans CJK JP"/>
                <a:cs typeface="Noto Sans CJK JP"/>
              </a:rPr>
              <a:t>を解く</a:t>
            </a:r>
            <a:endParaRPr sz="1073" b="0" dirty="0">
              <a:solidFill>
                <a:srgbClr val="111827"/>
              </a:solidFill>
              <a:latin typeface="Noto Sans CJK JP"/>
              <a:ea typeface="Noto Sans CJK JP"/>
              <a:cs typeface="Noto Sans CJK JP"/>
            </a:endParaRPr>
          </a:p>
        </p:txBody>
      </p:sp>
      <p:sp>
        <p:nvSpPr>
          <p:cNvPr id="40" name="s6-r1-math">
            <a:extLst>
              <a:ext uri="{FF2B5EF4-FFF2-40B4-BE49-F238E27FC236}">
                <a16:creationId xmlns:a16="http://schemas.microsoft.com/office/drawing/2014/main" id="{F897011F-C792-402F-9088-44F901D0540D}"/>
              </a:ext>
            </a:extLst>
          </p:cNvPr>
          <p:cNvSpPr>
            <a:spLocks noGrp="1"/>
          </p:cNvSpPr>
          <p:nvPr/>
        </p:nvSpPr>
        <p:spPr>
          <a:xfrm>
            <a:off x="6000750" y="2381250"/>
            <a:ext cx="1714500" cy="266700"/>
          </a:xfrm>
          <a:prstGeom prst="rect">
            <a:avLst/>
          </a:prstGeom>
          <a:noFill/>
          <a:ln w="0">
            <a:noFill/>
            <a:prstDash val="solid"/>
          </a:ln>
        </p:spPr>
        <p:txBody>
          <a:bodyPr wrap="square" lIns="0" tIns="0" rIns="0" bIns="0" anchor="ctr">
            <a:normAutofit/>
          </a:bodyPr>
          <a:lstStyle/>
          <a:p>
            <a:pPr algn="ctr">
              <a:defRPr sz="1350" b="0" i="1">
                <a:solidFill>
                  <a:srgbClr val="215FB4"/>
                </a:solidFill>
                <a:latin typeface="Cambria Math"/>
                <a:ea typeface="Cambria Math"/>
                <a:cs typeface="Cambria Math"/>
              </a:defRPr>
            </a:pPr>
            <a:endParaRPr sz="1350" b="0" i="1" dirty="0">
              <a:solidFill>
                <a:srgbClr val="215FB4"/>
              </a:solidFill>
              <a:latin typeface="Cambria Math"/>
              <a:ea typeface="Cambria Math"/>
              <a:cs typeface="Cambria Math"/>
            </a:endParaRPr>
          </a:p>
        </p:txBody>
      </p:sp>
      <p:sp>
        <p:nvSpPr>
          <p:cNvPr id="41" name="s6-r-arrow">
            <a:extLst>
              <a:ext uri="{FF2B5EF4-FFF2-40B4-BE49-F238E27FC236}">
                <a16:creationId xmlns:a16="http://schemas.microsoft.com/office/drawing/2014/main" id="{787969CC-AC97-4BE6-AF01-9EF93DAE5B80}"/>
              </a:ext>
            </a:extLst>
          </p:cNvPr>
          <p:cNvSpPr>
            <a:spLocks noGrp="1"/>
          </p:cNvSpPr>
          <p:nvPr/>
        </p:nvSpPr>
        <p:spPr>
          <a:xfrm>
            <a:off x="6677025" y="2842779"/>
            <a:ext cx="266700" cy="323850"/>
          </a:xfrm>
          <a:prstGeom prst="downArrow">
            <a:avLst/>
          </a:prstGeom>
          <a:solidFill>
            <a:srgbClr val="215FB4"/>
          </a:solidFill>
          <a:ln w="0">
            <a:noFill/>
            <a:prstDash val="solid"/>
          </a:ln>
        </p:spPr>
      </p:sp>
      <p:sp>
        <p:nvSpPr>
          <p:cNvPr id="42" name="s6-r2-shape">
            <a:extLst>
              <a:ext uri="{FF2B5EF4-FFF2-40B4-BE49-F238E27FC236}">
                <a16:creationId xmlns:a16="http://schemas.microsoft.com/office/drawing/2014/main" id="{1AD7B97A-5106-4410-BC6C-229454A921B6}"/>
              </a:ext>
            </a:extLst>
          </p:cNvPr>
          <p:cNvSpPr>
            <a:spLocks noGrp="1"/>
          </p:cNvSpPr>
          <p:nvPr/>
        </p:nvSpPr>
        <p:spPr>
          <a:xfrm>
            <a:off x="5238750" y="3233304"/>
            <a:ext cx="228600" cy="228600"/>
          </a:xfrm>
          <a:prstGeom prst="roundRect">
            <a:avLst>
              <a:gd name="adj" fmla="val 25000"/>
            </a:avLst>
          </a:prstGeom>
          <a:solidFill>
            <a:srgbClr val="FFFFFF"/>
          </a:solidFill>
          <a:ln w="9525">
            <a:solidFill>
              <a:srgbClr val="215FB4"/>
            </a:solidFill>
            <a:prstDash val="solid"/>
          </a:ln>
        </p:spPr>
      </p:sp>
      <p:sp>
        <p:nvSpPr>
          <p:cNvPr id="43" name="s6-r2-text">
            <a:extLst>
              <a:ext uri="{FF2B5EF4-FFF2-40B4-BE49-F238E27FC236}">
                <a16:creationId xmlns:a16="http://schemas.microsoft.com/office/drawing/2014/main" id="{C06476FC-62D5-49CA-B142-175EFC77302D}"/>
              </a:ext>
            </a:extLst>
          </p:cNvPr>
          <p:cNvSpPr>
            <a:spLocks noGrp="1"/>
          </p:cNvSpPr>
          <p:nvPr/>
        </p:nvSpPr>
        <p:spPr>
          <a:xfrm>
            <a:off x="5238750" y="3233304"/>
            <a:ext cx="228600" cy="228600"/>
          </a:xfrm>
          <a:prstGeom prst="rect">
            <a:avLst/>
          </a:prstGeom>
          <a:noFill/>
          <a:ln w="0">
            <a:noFill/>
            <a:prstDash val="solid"/>
          </a:ln>
        </p:spPr>
        <p:txBody>
          <a:bodyPr wrap="square" lIns="0" tIns="0" rIns="0" bIns="0" anchor="ctr">
            <a:normAutofit/>
          </a:bodyPr>
          <a:lstStyle/>
          <a:p>
            <a:pPr algn="ctr">
              <a:defRPr sz="975" b="1">
                <a:solidFill>
                  <a:srgbClr val="215FB4"/>
                </a:solidFill>
                <a:latin typeface="Noto Sans CJK JP"/>
                <a:ea typeface="Noto Sans CJK JP"/>
                <a:cs typeface="Noto Sans CJK JP"/>
              </a:defRPr>
            </a:pPr>
            <a:r>
              <a:rPr sz="975" b="1">
                <a:solidFill>
                  <a:srgbClr val="215FB4"/>
                </a:solidFill>
                <a:latin typeface="Noto Sans CJK JP"/>
                <a:ea typeface="Noto Sans CJK JP"/>
                <a:cs typeface="Noto Sans CJK JP"/>
              </a:rPr>
              <a:t>2</a:t>
            </a:r>
          </a:p>
        </p:txBody>
      </p:sp>
      <p:sp>
        <p:nvSpPr>
          <p:cNvPr id="44" name="s6-r2-text">
            <a:extLst>
              <a:ext uri="{FF2B5EF4-FFF2-40B4-BE49-F238E27FC236}">
                <a16:creationId xmlns:a16="http://schemas.microsoft.com/office/drawing/2014/main" id="{0C0E2CCD-B8E1-44AA-8551-7A1DC8CB58F6}"/>
              </a:ext>
            </a:extLst>
          </p:cNvPr>
          <p:cNvSpPr>
            <a:spLocks noGrp="1"/>
          </p:cNvSpPr>
          <p:nvPr/>
        </p:nvSpPr>
        <p:spPr>
          <a:xfrm>
            <a:off x="5543550" y="3214254"/>
            <a:ext cx="3143250" cy="266700"/>
          </a:xfrm>
          <a:prstGeom prst="rect">
            <a:avLst/>
          </a:prstGeom>
          <a:noFill/>
          <a:ln w="0">
            <a:noFill/>
            <a:prstDash val="solid"/>
          </a:ln>
        </p:spPr>
        <p:txBody>
          <a:bodyPr wrap="square" lIns="0" tIns="0" rIns="0" bIns="0" anchor="ctr">
            <a:normAutofit fontScale="92500"/>
          </a:bodyPr>
          <a:lstStyle/>
          <a:p>
            <a:pPr algn="l">
              <a:defRPr sz="1073" b="0">
                <a:solidFill>
                  <a:srgbClr val="111827"/>
                </a:solidFill>
                <a:latin typeface="Noto Sans CJK JP"/>
                <a:ea typeface="Noto Sans CJK JP"/>
                <a:cs typeface="Noto Sans CJK JP"/>
              </a:defRPr>
            </a:pPr>
            <a:r>
              <a:rPr lang="ja-JP" altLang="en-US" sz="1073" b="0" dirty="0">
                <a:solidFill>
                  <a:srgbClr val="111827"/>
                </a:solidFill>
                <a:latin typeface="Noto Sans CJK JP"/>
                <a:ea typeface="Noto Sans CJK JP"/>
                <a:cs typeface="Noto Sans CJK JP"/>
              </a:rPr>
              <a:t>制約付き</a:t>
            </a:r>
            <a:r>
              <a:rPr lang="en-US" altLang="ja-JP" sz="1073" b="0" dirty="0">
                <a:solidFill>
                  <a:srgbClr val="111827"/>
                </a:solidFill>
                <a:latin typeface="Noto Sans CJK JP"/>
                <a:ea typeface="Noto Sans CJK JP"/>
                <a:cs typeface="Noto Sans CJK JP"/>
              </a:rPr>
              <a:t>PDE</a:t>
            </a:r>
            <a:r>
              <a:rPr lang="ja-JP" altLang="en-US" sz="1073" b="0" dirty="0">
                <a:solidFill>
                  <a:srgbClr val="111827"/>
                </a:solidFill>
                <a:latin typeface="Noto Sans CJK JP"/>
                <a:ea typeface="Noto Sans CJK JP"/>
                <a:cs typeface="Noto Sans CJK JP"/>
              </a:rPr>
              <a:t>を解く過程で、</a:t>
            </a:r>
            <a:r>
              <a:rPr sz="1073" b="0" dirty="0" err="1">
                <a:solidFill>
                  <a:srgbClr val="111827"/>
                </a:solidFill>
                <a:latin typeface="Noto Sans CJK JP"/>
                <a:ea typeface="Noto Sans CJK JP"/>
                <a:cs typeface="Noto Sans CJK JP"/>
              </a:rPr>
              <a:t>各状態で</a:t>
            </a:r>
            <a:r>
              <a:rPr sz="1073" b="0" dirty="0">
                <a:solidFill>
                  <a:srgbClr val="111827"/>
                </a:solidFill>
                <a:latin typeface="Noto Sans CJK JP"/>
                <a:ea typeface="Noto Sans CJK JP"/>
                <a:cs typeface="Noto Sans CJK JP"/>
              </a:rPr>
              <a:t> [0, X] </a:t>
            </a:r>
            <a:r>
              <a:rPr sz="1073" b="0" dirty="0" err="1">
                <a:solidFill>
                  <a:srgbClr val="111827"/>
                </a:solidFill>
                <a:latin typeface="Noto Sans CJK JP"/>
                <a:ea typeface="Noto Sans CJK JP"/>
                <a:cs typeface="Noto Sans CJK JP"/>
              </a:rPr>
              <a:t>を内生化</a:t>
            </a:r>
            <a:endParaRPr sz="1073" b="0" dirty="0">
              <a:solidFill>
                <a:srgbClr val="111827"/>
              </a:solidFill>
              <a:latin typeface="Noto Sans CJK JP"/>
              <a:ea typeface="Noto Sans CJK JP"/>
              <a:cs typeface="Noto Sans CJK JP"/>
            </a:endParaRPr>
          </a:p>
        </p:txBody>
      </p:sp>
      <p:pic>
        <p:nvPicPr>
          <p:cNvPr id="76" name="グラフィックス 75"/>
          <p:cNvPicPr>
            <a:picLocks noChangeAspect="1"/>
          </p:cNvPicPr>
          <p:nvPr/>
        </p:nvPicPr>
        <p:blipFill>
          <a:blip>
            <a:extLst>
              <a:ext uri="{96DAC541-7B7A-43D3-8B79-37D633B846F1}">
                <asvg:svgBlip xmlns:asvg="http://schemas.microsoft.com/office/drawing/2016/SVG/main" r:embed="rId4"/>
              </a:ext>
            </a:extLst>
          </a:blip>
          <a:stretch/>
        </p:blipFill>
        <p:spPr>
          <a:xfrm>
            <a:off x="5362575" y="3547630"/>
            <a:ext cx="2568642" cy="288000"/>
          </a:xfrm>
          <a:prstGeom prst="rect">
            <a:avLst/>
          </a:prstGeom>
        </p:spPr>
      </p:pic>
      <p:sp>
        <p:nvSpPr>
          <p:cNvPr id="46" name="s6-r-note">
            <a:extLst>
              <a:ext uri="{FF2B5EF4-FFF2-40B4-BE49-F238E27FC236}">
                <a16:creationId xmlns:a16="http://schemas.microsoft.com/office/drawing/2014/main" id="{E10AE7D1-3DF6-4A02-A408-31A9A304B4F0}"/>
              </a:ext>
            </a:extLst>
          </p:cNvPr>
          <p:cNvSpPr>
            <a:spLocks noGrp="1"/>
          </p:cNvSpPr>
          <p:nvPr/>
        </p:nvSpPr>
        <p:spPr>
          <a:xfrm>
            <a:off x="5381625" y="4042929"/>
            <a:ext cx="3143250" cy="228600"/>
          </a:xfrm>
          <a:prstGeom prst="rect">
            <a:avLst/>
          </a:prstGeom>
          <a:noFill/>
          <a:ln w="0">
            <a:noFill/>
            <a:prstDash val="solid"/>
          </a:ln>
        </p:spPr>
        <p:txBody>
          <a:bodyPr wrap="square" lIns="0" tIns="0" rIns="0" bIns="0" anchor="ctr">
            <a:normAutofit/>
          </a:bodyPr>
          <a:lstStyle/>
          <a:p>
            <a:pPr algn="ctr">
              <a:defRPr sz="1013" b="1">
                <a:solidFill>
                  <a:srgbClr val="215FB4"/>
                </a:solidFill>
                <a:latin typeface="Noto Sans CJK JP"/>
                <a:ea typeface="Noto Sans CJK JP"/>
                <a:cs typeface="Noto Sans CJK JP"/>
              </a:defRPr>
            </a:pPr>
            <a:r>
              <a:rPr lang="ja-JP" altLang="en-US" sz="1100" b="1" dirty="0">
                <a:solidFill>
                  <a:srgbClr val="215FB4"/>
                </a:solidFill>
                <a:latin typeface="Noto Sans CJK JP"/>
                <a:ea typeface="Noto Sans CJK JP"/>
                <a:cs typeface="Noto Sans CJK JP"/>
              </a:rPr>
              <a:t>実務可能性△　</a:t>
            </a:r>
            <a:r>
              <a:rPr sz="1100" b="1" dirty="0" err="1">
                <a:solidFill>
                  <a:srgbClr val="215FB4"/>
                </a:solidFill>
                <a:latin typeface="Noto Sans CJK JP"/>
                <a:ea typeface="Noto Sans CJK JP"/>
                <a:cs typeface="Noto Sans CJK JP"/>
              </a:rPr>
              <a:t>最適性</a:t>
            </a:r>
            <a:r>
              <a:rPr sz="1100" b="1" dirty="0">
                <a:solidFill>
                  <a:srgbClr val="215FB4"/>
                </a:solidFill>
                <a:latin typeface="Noto Sans CJK JP"/>
                <a:ea typeface="Noto Sans CJK JP"/>
                <a:cs typeface="Noto Sans CJK JP"/>
              </a:rPr>
              <a:t>◎</a:t>
            </a:r>
          </a:p>
        </p:txBody>
      </p:sp>
      <p:sp>
        <p:nvSpPr>
          <p:cNvPr id="47" name="s6-bottom">
            <a:extLst>
              <a:ext uri="{FF2B5EF4-FFF2-40B4-BE49-F238E27FC236}">
                <a16:creationId xmlns:a16="http://schemas.microsoft.com/office/drawing/2014/main" id="{3608DEE7-7A67-4390-B446-6B2957F05C77}"/>
              </a:ext>
            </a:extLst>
          </p:cNvPr>
          <p:cNvSpPr>
            <a:spLocks noGrp="1"/>
          </p:cNvSpPr>
          <p:nvPr/>
        </p:nvSpPr>
        <p:spPr>
          <a:xfrm>
            <a:off x="904875" y="4387214"/>
            <a:ext cx="7334250" cy="304800"/>
          </a:xfrm>
          <a:prstGeom prst="rect">
            <a:avLst/>
          </a:prstGeom>
          <a:noFill/>
          <a:ln w="0">
            <a:noFill/>
            <a:prstDash val="solid"/>
          </a:ln>
        </p:spPr>
        <p:txBody>
          <a:bodyPr wrap="square" lIns="0" tIns="0" rIns="0" bIns="0" anchor="ctr">
            <a:normAutofit/>
          </a:bodyPr>
          <a:lstStyle/>
          <a:p>
            <a:pPr algn="ctr">
              <a:defRPr sz="1238" b="1">
                <a:solidFill>
                  <a:srgbClr val="D94138"/>
                </a:solidFill>
                <a:latin typeface="Noto Sans CJK JP"/>
                <a:ea typeface="Noto Sans CJK JP"/>
                <a:cs typeface="Noto Sans CJK JP"/>
              </a:defRPr>
            </a:pPr>
            <a:r>
              <a:rPr sz="1238" b="1" dirty="0" err="1">
                <a:solidFill>
                  <a:srgbClr val="D94138"/>
                </a:solidFill>
                <a:latin typeface="Noto Sans CJK JP"/>
                <a:ea typeface="Noto Sans CJK JP"/>
                <a:cs typeface="Noto Sans CJK JP"/>
              </a:rPr>
              <a:t>射影先が同じでも、</a:t>
            </a:r>
            <a:r>
              <a:rPr lang="en-US" sz="1238" b="1" dirty="0" err="1">
                <a:solidFill>
                  <a:srgbClr val="D94138"/>
                </a:solidFill>
                <a:latin typeface="Noto Sans CJK JP"/>
                <a:ea typeface="Noto Sans CJK JP"/>
                <a:cs typeface="Noto Sans CJK JP"/>
              </a:rPr>
              <a:t>PDE</a:t>
            </a:r>
            <a:r>
              <a:rPr lang="ja-JP" altLang="en-US" sz="1238" b="1" dirty="0">
                <a:solidFill>
                  <a:srgbClr val="D94138"/>
                </a:solidFill>
                <a:latin typeface="Noto Sans CJK JP"/>
                <a:ea typeface="Noto Sans CJK JP"/>
                <a:cs typeface="Noto Sans CJK JP"/>
              </a:rPr>
              <a:t>の中に制約を組み込むかどうかで意味も解きやすさも大きく異なる</a:t>
            </a:r>
            <a:endParaRPr lang="en-US" sz="1238" b="1" dirty="0">
              <a:solidFill>
                <a:srgbClr val="D94138"/>
              </a:solidFill>
              <a:latin typeface="Noto Sans CJK JP"/>
              <a:ea typeface="Noto Sans CJK JP"/>
              <a:cs typeface="Noto Sans CJK JP"/>
            </a:endParaRPr>
          </a:p>
        </p:txBody>
      </p:sp>
      <mc:AlternateContent xmlns:mc="http://schemas.openxmlformats.org/markup-compatibility/2006" xmlns:a14="http://schemas.microsoft.com/office/drawing/2010/main">
        <mc:Choice Requires="a14">
          <p:sp>
            <p:nvSpPr>
              <p:cNvPr id="8" name="s4-objective-label">
                <a:extLst>
                  <a:ext uri="{FF2B5EF4-FFF2-40B4-BE49-F238E27FC236}">
                    <a16:creationId xmlns:a16="http://schemas.microsoft.com/office/drawing/2014/main" id="{45668927-3D7B-8226-BFA6-584C798BDF37}"/>
                  </a:ext>
                </a:extLst>
              </p:cNvPr>
              <p:cNvSpPr>
                <a:spLocks noGrp="1"/>
              </p:cNvSpPr>
              <p:nvPr/>
            </p:nvSpPr>
            <p:spPr>
              <a:xfrm>
                <a:off x="5327504" y="2400649"/>
                <a:ext cx="3337215" cy="383251"/>
              </a:xfrm>
              <a:prstGeom prst="rect">
                <a:avLst/>
              </a:prstGeom>
              <a:noFill/>
              <a:ln w="0">
                <a:noFill/>
                <a:prstDash val="solid"/>
              </a:ln>
            </p:spPr>
            <p:txBody>
              <a:bodyPr wrap="square" lIns="0" tIns="0" rIns="0" bIns="0" anchor="ctr">
                <a:noAutofit/>
              </a:bodyPr>
              <a:lstStyle/>
              <a:p>
                <a:pPr algn="ctr">
                  <a:defRPr sz="938" b="1">
                    <a:solidFill>
                      <a:srgbClr val="215FB4"/>
                    </a:solidFill>
                    <a:latin typeface="Noto Sans CJK JP"/>
                    <a:ea typeface="Noto Sans CJK JP"/>
                    <a:cs typeface="Noto Sans CJK JP"/>
                  </a:defRPr>
                </a:pPr>
                <a14:m>
                  <m:oMathPara xmlns:m="http://schemas.openxmlformats.org/officeDocument/2006/math">
                    <m:oMath>
                      <m:acc>
                        <m:accPr>
                          <m:chr m:val="̃"/>
                          <m:ctrlPr>
                            <a:rPr lang="ja-JP" altLang="en-US" sz="1600" b="0" i="1">
                              <a:latin typeface="Cambria Math" panose="02040503050406030204" pitchFamily="18" charset="0"/>
                              <a:ea typeface="Cambria Math" panose="02040503050406030204" pitchFamily="18" charset="0"/>
                              <a:cs typeface="Noto Sans CJK JP"/>
                            </a:rPr>
                          </m:ctrlPr>
                        </m:accPr>
                        <m:e>
                          <m:r>
                            <a:rPr lang="ja-JP" altLang="en-US" sz="1600" b="0" i="1">
                              <a:latin typeface="Cambria Math" panose="02040503050406030204" pitchFamily="18" charset="0"/>
                              <a:ea typeface="Cambria Math" panose="02040503050406030204" pitchFamily="18" charset="0"/>
                              <a:cs typeface="Noto Sans CJK JP"/>
                            </a:rPr>
                            <m:t>𝜋</m:t>
                          </m:r>
                        </m:e>
                      </m:acc>
                      <m:r>
                        <a:rPr lang="en-US" altLang="ja-JP" sz="1600" b="0" i="1">
                          <a:latin typeface="Cambria Math" panose="02040503050406030204" pitchFamily="18" charset="0"/>
                          <a:ea typeface="Cambria Math" panose="02040503050406030204" pitchFamily="18" charset="0"/>
                          <a:cs typeface="Noto Sans CJK JP"/>
                        </a:rPr>
                        <m:t>(</m:t>
                      </m:r>
                      <m:r>
                        <a:rPr lang="ja-JP" altLang="en-US" sz="1600" b="0" i="1">
                          <a:latin typeface="Cambria Math" panose="02040503050406030204" pitchFamily="18" charset="0"/>
                          <a:ea typeface="Noto Sans CJK JP"/>
                          <a:cs typeface="Noto Sans CJK JP"/>
                        </a:rPr>
                        <m:t>𝑡</m:t>
                      </m:r>
                      <m:r>
                        <a:rPr lang="en-US" altLang="ja-JP" sz="1600" b="0" i="1">
                          <a:latin typeface="Cambria Math" panose="02040503050406030204" pitchFamily="18" charset="0"/>
                          <a:ea typeface="Noto Sans CJK JP"/>
                          <a:cs typeface="Noto Sans CJK JP"/>
                        </a:rPr>
                        <m:t>,</m:t>
                      </m:r>
                      <m:r>
                        <a:rPr lang="ja-JP" altLang="en-US" sz="1600" b="0" i="1">
                          <a:latin typeface="Cambria Math" panose="02040503050406030204" pitchFamily="18" charset="0"/>
                          <a:ea typeface="Noto Sans CJK JP"/>
                          <a:cs typeface="Noto Sans CJK JP"/>
                        </a:rPr>
                        <m:t>𝑥</m:t>
                      </m:r>
                      <m:r>
                        <a:rPr lang="en-US" altLang="ja-JP" sz="1600" b="0" i="1">
                          <a:latin typeface="Cambria Math" panose="02040503050406030204" pitchFamily="18" charset="0"/>
                          <a:ea typeface="Cambria Math" panose="02040503050406030204" pitchFamily="18" charset="0"/>
                          <a:cs typeface="Noto Sans CJK JP"/>
                        </a:rPr>
                        <m:t>)</m:t>
                      </m:r>
                      <m:r>
                        <a:rPr lang="en-US" altLang="ja-JP" sz="1600" b="0" i="1" smtClean="0">
                          <a:latin typeface="Cambria Math" panose="02040503050406030204" pitchFamily="18" charset="0"/>
                          <a:ea typeface="Cambria Math" panose="02040503050406030204" pitchFamily="18" charset="0"/>
                          <a:cs typeface="Noto Sans CJK JP"/>
                        </a:rPr>
                        <m:t>=−</m:t>
                      </m:r>
                      <m:f>
                        <m:fPr>
                          <m:ctrlPr>
                            <a:rPr lang="ja-JP" altLang="en-US" sz="1600" b="0" i="1" smtClean="0">
                              <a:latin typeface="Cambria Math" panose="02040503050406030204" pitchFamily="18" charset="0"/>
                              <a:ea typeface="Cambria Math" panose="02040503050406030204" pitchFamily="18" charset="0"/>
                            </a:rPr>
                          </m:ctrlPr>
                        </m:fPr>
                        <m:num>
                          <m:r>
                            <a:rPr lang="ja-JP" altLang="en-US" sz="1600" b="0" i="1" smtClean="0">
                              <a:latin typeface="Cambria Math" panose="02040503050406030204" pitchFamily="18" charset="0"/>
                              <a:ea typeface="Cambria Math" panose="02040503050406030204" pitchFamily="18" charset="0"/>
                            </a:rPr>
                            <m:t>𝛽</m:t>
                          </m:r>
                        </m:num>
                        <m:den>
                          <m:sSup>
                            <m:sSupPr>
                              <m:ctrlPr>
                                <a:rPr lang="ja-JP" altLang="en-US" sz="1600" i="1">
                                  <a:latin typeface="Cambria Math" panose="02040503050406030204" pitchFamily="18" charset="0"/>
                                  <a:ea typeface="Cambria Math" panose="02040503050406030204" pitchFamily="18" charset="0"/>
                                </a:rPr>
                              </m:ctrlPr>
                            </m:sSupPr>
                            <m:e>
                              <m:r>
                                <a:rPr lang="ja-JP" altLang="en-US" sz="1600" i="1">
                                  <a:latin typeface="Cambria Math" panose="02040503050406030204" pitchFamily="18" charset="0"/>
                                  <a:ea typeface="Cambria Math" panose="02040503050406030204" pitchFamily="18" charset="0"/>
                                </a:rPr>
                                <m:t>𝜎</m:t>
                              </m:r>
                            </m:e>
                            <m:sup>
                              <m:r>
                                <a:rPr lang="en-US" altLang="ja-JP" sz="1600" b="0" i="1" smtClean="0">
                                  <a:latin typeface="Cambria Math" panose="02040503050406030204" pitchFamily="18" charset="0"/>
                                  <a:ea typeface="Cambria Math" panose="02040503050406030204" pitchFamily="18" charset="0"/>
                                </a:rPr>
                                <m:t>2</m:t>
                              </m:r>
                            </m:sup>
                          </m:sSup>
                        </m:den>
                      </m:f>
                      <m:f>
                        <m:fPr>
                          <m:ctrlPr>
                            <a:rPr lang="en-US" altLang="ja-JP" sz="1600" i="1">
                              <a:latin typeface="Cambria Math" panose="02040503050406030204" pitchFamily="18" charset="0"/>
                              <a:ea typeface="Cambria Math" panose="02040503050406030204" pitchFamily="18" charset="0"/>
                            </a:rPr>
                          </m:ctrlPr>
                        </m:fPr>
                        <m:num>
                          <m:sSub>
                            <m:sSubPr>
                              <m:ctrlPr>
                                <a:rPr lang="en-US" altLang="ja-JP" sz="1600" i="1">
                                  <a:latin typeface="Cambria Math" panose="02040503050406030204" pitchFamily="18" charset="0"/>
                                  <a:ea typeface="Cambria Math" panose="02040503050406030204" pitchFamily="18" charset="0"/>
                                </a:rPr>
                              </m:ctrlPr>
                            </m:sSubPr>
                            <m:e>
                              <m:r>
                                <a:rPr lang="en-US" altLang="ja-JP" sz="1600" i="1">
                                  <a:latin typeface="Cambria Math" panose="02040503050406030204" pitchFamily="18" charset="0"/>
                                  <a:ea typeface="Cambria Math" panose="02040503050406030204" pitchFamily="18" charset="0"/>
                                </a:rPr>
                                <m:t>𝑣</m:t>
                              </m:r>
                            </m:e>
                            <m:sub>
                              <m:r>
                                <a:rPr lang="ja-JP" altLang="en-US" sz="1600" i="1">
                                  <a:latin typeface="Cambria Math" panose="02040503050406030204" pitchFamily="18" charset="0"/>
                                  <a:ea typeface="Noto Sans CJK JP"/>
                                  <a:cs typeface="Noto Sans CJK JP"/>
                                </a:rPr>
                                <m:t>𝑥</m:t>
                              </m:r>
                            </m:sub>
                          </m:sSub>
                        </m:num>
                        <m:den>
                          <m:sSub>
                            <m:sSubPr>
                              <m:ctrlPr>
                                <a:rPr lang="en-US" altLang="ja-JP" sz="1600" i="1">
                                  <a:latin typeface="Cambria Math" panose="02040503050406030204" pitchFamily="18" charset="0"/>
                                  <a:ea typeface="Cambria Math" panose="02040503050406030204" pitchFamily="18" charset="0"/>
                                </a:rPr>
                              </m:ctrlPr>
                            </m:sSubPr>
                            <m:e>
                              <m:r>
                                <a:rPr lang="en-US" altLang="ja-JP" sz="1600" i="1">
                                  <a:latin typeface="Cambria Math" panose="02040503050406030204" pitchFamily="18" charset="0"/>
                                  <a:ea typeface="Cambria Math" panose="02040503050406030204" pitchFamily="18" charset="0"/>
                                </a:rPr>
                                <m:t>𝑣</m:t>
                              </m:r>
                            </m:e>
                            <m:sub>
                              <m:r>
                                <a:rPr lang="ja-JP" altLang="en-US" sz="1600" i="1">
                                  <a:latin typeface="Cambria Math" panose="02040503050406030204" pitchFamily="18" charset="0"/>
                                  <a:ea typeface="Noto Sans CJK JP"/>
                                  <a:cs typeface="Noto Sans CJK JP"/>
                                </a:rPr>
                                <m:t>𝑥𝑥</m:t>
                              </m:r>
                            </m:sub>
                          </m:sSub>
                          <m:r>
                            <a:rPr lang="en-US" altLang="ja-JP" sz="1600" b="0" i="1" smtClean="0">
                              <a:latin typeface="Cambria Math" panose="02040503050406030204" pitchFamily="18" charset="0"/>
                              <a:ea typeface="Cambria Math" panose="02040503050406030204" pitchFamily="18" charset="0"/>
                            </a:rPr>
                            <m:t> </m:t>
                          </m:r>
                        </m:den>
                      </m:f>
                    </m:oMath>
                  </m:oMathPara>
                </a14:m>
                <a:endParaRPr lang="en-US" sz="1600" i="1" dirty="0">
                  <a:solidFill>
                    <a:schemeClr val="tx1"/>
                  </a:solidFill>
                  <a:latin typeface="Noto Sans CJK JP"/>
                  <a:ea typeface="Noto Sans CJK JP"/>
                  <a:cs typeface="Noto Sans CJK JP"/>
                </a:endParaRPr>
              </a:p>
            </p:txBody>
          </p:sp>
        </mc:Choice>
        <mc:Fallback xmlns="">
          <p:sp>
            <p:nvSpPr>
              <p:cNvPr id="8" name="s4-objective-label">
                <a:extLst>
                  <a:ext uri="{FF2B5EF4-FFF2-40B4-BE49-F238E27FC236}">
                    <a16:creationId xmlns:a16="http://schemas.microsoft.com/office/drawing/2014/main" id="{45668927-3D7B-8226-BFA6-584C798BDF37}"/>
                  </a:ext>
                </a:extLst>
              </p:cNvPr>
              <p:cNvSpPr>
                <a:spLocks noGrp="1" noRot="1" noChangeAspect="1" noMove="1" noResize="1" noEditPoints="1" noAdjustHandles="1" noChangeArrowheads="1" noChangeShapeType="1" noTextEdit="1"/>
              </p:cNvSpPr>
              <p:nvPr/>
            </p:nvSpPr>
            <p:spPr>
              <a:xfrm>
                <a:off x="5327504" y="2400649"/>
                <a:ext cx="3337215" cy="383251"/>
              </a:xfrm>
              <a:prstGeom prst="rect">
                <a:avLst/>
              </a:prstGeom>
              <a:blipFill>
                <a:blip r:embed="rId5"/>
                <a:stretch>
                  <a:fillRect t="-9524" b="-15873"/>
                </a:stretch>
              </a:blipFill>
              <a:ln w="0">
                <a:noFill/>
                <a:prstDash val="solid"/>
              </a:ln>
            </p:spPr>
            <p:txBody>
              <a:bodyPr/>
              <a:lstStyle/>
              <a:p>
                <a:r>
                  <a:rPr lang="ja-JP" altLang="en-US">
                    <a:noFill/>
                  </a:rPr>
                  <a:t> </a:t>
                </a:r>
              </a:p>
            </p:txBody>
          </p:sp>
        </mc:Fallback>
      </mc:AlternateContent>
      <p:pic>
        <p:nvPicPr>
          <p:cNvPr id="10" name="図 9">
            <a:extLst>
              <a:ext uri="{FF2B5EF4-FFF2-40B4-BE49-F238E27FC236}">
                <a16:creationId xmlns:a16="http://schemas.microsoft.com/office/drawing/2014/main" id="{BD92789D-F134-B85E-5CE9-EA20A0C48330}"/>
              </a:ext>
            </a:extLst>
          </p:cNvPr>
          <p:cNvPicPr>
            <a:picLocks noChangeAspect="1"/>
          </p:cNvPicPr>
          <p:nvPr/>
        </p:nvPicPr>
        <p:blipFill>
          <a:blip r:embed="rId6"/>
          <a:stretch>
            <a:fillRect/>
          </a:stretch>
        </p:blipFill>
        <p:spPr>
          <a:xfrm>
            <a:off x="6991350" y="2874605"/>
            <a:ext cx="2103789" cy="315836"/>
          </a:xfrm>
          <a:prstGeom prst="rect">
            <a:avLst/>
          </a:prstGeom>
        </p:spPr>
      </p:pic>
      <p:pic>
        <p:nvPicPr>
          <p:cNvPr id="12" name="グラフィックス 11" descr="線矢印: 時計回りの曲線 単色塗りつぶし">
            <a:extLst>
              <a:ext uri="{FF2B5EF4-FFF2-40B4-BE49-F238E27FC236}">
                <a16:creationId xmlns:a16="http://schemas.microsoft.com/office/drawing/2014/main" id="{79BB0C1A-E063-CC86-221F-0CB363C3777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5856373" flipV="1">
            <a:off x="7933332" y="2511310"/>
            <a:ext cx="288000" cy="288000"/>
          </a:xfrm>
          <a:prstGeom prst="rect">
            <a:avLst/>
          </a:prstGeom>
        </p:spPr>
      </p:pic>
      <p:pic>
        <p:nvPicPr>
          <p:cNvPr id="14" name="グラフィックス 13" descr="線矢印: 時計回りの曲線 単色塗りつぶし">
            <a:extLst>
              <a:ext uri="{FF2B5EF4-FFF2-40B4-BE49-F238E27FC236}">
                <a16:creationId xmlns:a16="http://schemas.microsoft.com/office/drawing/2014/main" id="{9473C66C-FFD9-B3E0-8565-D6BAE307F26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404069" flipH="1">
            <a:off x="8537165" y="3209244"/>
            <a:ext cx="492703" cy="676772"/>
          </a:xfrm>
          <a:prstGeom prst="rect">
            <a:avLst/>
          </a:prstGeom>
        </p:spPr>
      </p:pic>
      <p:pic>
        <p:nvPicPr>
          <p:cNvPr id="16" name="グラフィックス 15" descr="線矢印: 時計回りの曲線 単色塗りつぶし">
            <a:extLst>
              <a:ext uri="{FF2B5EF4-FFF2-40B4-BE49-F238E27FC236}">
                <a16:creationId xmlns:a16="http://schemas.microsoft.com/office/drawing/2014/main" id="{4037E4F0-B312-5022-3187-7B79471F781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2173214" flipH="1">
            <a:off x="8353259" y="3142567"/>
            <a:ext cx="492703" cy="676772"/>
          </a:xfrm>
          <a:prstGeom prst="rect">
            <a:avLst/>
          </a:prstGeom>
        </p:spPr>
      </p:pic>
      <p:sp>
        <p:nvSpPr>
          <p:cNvPr id="9" name="s8-contribution">
            <a:extLst>
              <a:ext uri="{FF2B5EF4-FFF2-40B4-BE49-F238E27FC236}">
                <a16:creationId xmlns:a16="http://schemas.microsoft.com/office/drawing/2014/main" id="{61F30659-6B98-10AF-94E0-1442DD3EC451}"/>
              </a:ext>
            </a:extLst>
          </p:cNvPr>
          <p:cNvSpPr>
            <a:spLocks noGrp="1"/>
          </p:cNvSpPr>
          <p:nvPr/>
        </p:nvSpPr>
        <p:spPr>
          <a:xfrm>
            <a:off x="432478" y="798046"/>
            <a:ext cx="2183043" cy="232708"/>
          </a:xfrm>
          <a:prstGeom prst="rect">
            <a:avLst/>
          </a:prstGeom>
          <a:ln/>
        </p:spPr>
        <p:style>
          <a:lnRef idx="2">
            <a:schemeClr val="accent2"/>
          </a:lnRef>
          <a:fillRef idx="1">
            <a:schemeClr val="lt1"/>
          </a:fillRef>
          <a:effectRef idx="0">
            <a:schemeClr val="accent2"/>
          </a:effectRef>
          <a:fontRef idx="minor">
            <a:schemeClr val="dk1"/>
          </a:fontRef>
        </p:style>
        <p:txBody>
          <a:bodyPr wrap="square" lIns="0" tIns="0" rIns="0" bIns="0" anchor="ctr">
            <a:normAutofit/>
          </a:bodyPr>
          <a:lstStyle/>
          <a:p>
            <a:pPr algn="ctr">
              <a:defRPr sz="915" b="0">
                <a:solidFill>
                  <a:srgbClr val="64748B"/>
                </a:solidFill>
                <a:latin typeface="Noto Sans CJK JP"/>
                <a:ea typeface="Noto Sans CJK JP"/>
                <a:cs typeface="Noto Sans CJK JP"/>
              </a:defRPr>
            </a:pPr>
            <a:r>
              <a:rPr lang="ja-JP" altLang="en-US" sz="915" b="1" dirty="0">
                <a:solidFill>
                  <a:srgbClr val="C00000"/>
                </a:solidFill>
                <a:latin typeface="Noto Sans CJK JP"/>
                <a:ea typeface="Noto Sans CJK JP"/>
                <a:cs typeface="Noto Sans CJK JP"/>
              </a:rPr>
              <a:t>主結果①　</a:t>
            </a:r>
            <a:r>
              <a:rPr lang="en-US" sz="915" b="1" dirty="0">
                <a:solidFill>
                  <a:srgbClr val="C00000"/>
                </a:solidFill>
                <a:latin typeface="Noto Sans CJK JP"/>
                <a:ea typeface="Noto Sans CJK JP"/>
                <a:cs typeface="Noto Sans CJK JP"/>
              </a:rPr>
              <a:t>4</a:t>
            </a:r>
            <a:r>
              <a:rPr lang="ja-JP" altLang="en-US" sz="915" b="1" dirty="0">
                <a:solidFill>
                  <a:srgbClr val="C00000"/>
                </a:solidFill>
                <a:latin typeface="Noto Sans CJK JP"/>
                <a:ea typeface="Noto Sans CJK JP"/>
                <a:cs typeface="Noto Sans CJK JP"/>
              </a:rPr>
              <a:t>解概念の</a:t>
            </a:r>
            <a:r>
              <a:rPr lang="en-US" altLang="ja-JP" sz="915" b="1" dirty="0">
                <a:solidFill>
                  <a:srgbClr val="C00000"/>
                </a:solidFill>
                <a:latin typeface="Noto Sans CJK JP"/>
                <a:ea typeface="Noto Sans CJK JP"/>
                <a:cs typeface="Noto Sans CJK JP"/>
              </a:rPr>
              <a:t>clip/strict</a:t>
            </a:r>
            <a:r>
              <a:rPr lang="ja-JP" altLang="en-US" sz="915" b="1" dirty="0">
                <a:solidFill>
                  <a:srgbClr val="C00000"/>
                </a:solidFill>
                <a:latin typeface="Noto Sans CJK JP"/>
                <a:ea typeface="Noto Sans CJK JP"/>
                <a:cs typeface="Noto Sans CJK JP"/>
              </a:rPr>
              <a:t>の統一解法</a:t>
            </a:r>
            <a:endParaRPr sz="915" b="1" dirty="0">
              <a:solidFill>
                <a:srgbClr val="C00000"/>
              </a:solidFill>
              <a:latin typeface="Noto Sans CJK JP"/>
              <a:ea typeface="Noto Sans CJK JP"/>
              <a:cs typeface="Noto Sans CJK JP"/>
            </a:endParaRPr>
          </a:p>
        </p:txBody>
      </p:sp>
    </p:spTree>
    <p:extLst>
      <p:ext uri="{BB962C8B-B14F-4D97-AF65-F5344CB8AC3E}">
        <p14:creationId xmlns:p14="http://schemas.microsoft.com/office/powerpoint/2010/main" val="875397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B5FB2-DE08-01C4-4B0F-3D45E31A046E}"/>
              </a:ext>
            </a:extLst>
          </p:cNvPr>
          <p:cNvSpPr>
            <a:spLocks noGrp="1"/>
          </p:cNvSpPr>
          <p:nvPr>
            <p:ph type="title"/>
          </p:nvPr>
        </p:nvSpPr>
        <p:spPr>
          <a:xfrm>
            <a:off x="457200" y="990600"/>
            <a:ext cx="8229600" cy="609600"/>
          </a:xfrm>
        </p:spPr>
        <p:txBody>
          <a:bodyPr wrap="none" lIns="0" tIns="0" rIns="0" bIns="0" anchor="ctr">
            <a:normAutofit/>
          </a:bodyPr>
          <a:lstStyle/>
          <a:p>
            <a:pPr algn="l">
              <a:buNone/>
              <a:defRPr sz="2138" b="1">
                <a:solidFill>
                  <a:srgbClr val="111827"/>
                </a:solidFill>
                <a:latin typeface="Noto Sans CJK JP"/>
                <a:ea typeface="Noto Sans CJK JP"/>
                <a:cs typeface="Noto Sans CJK JP"/>
              </a:defRPr>
            </a:pPr>
            <a:r>
              <a:rPr sz="2138" b="1">
                <a:solidFill>
                  <a:srgbClr val="111827"/>
                </a:solidFill>
                <a:latin typeface="Noto Sans CJK JP"/>
                <a:ea typeface="Noto Sans CJK JP"/>
                <a:cs typeface="Noto Sans CJK JP"/>
              </a:rPr>
              <a:t>strict解は、制約を3つの投資領域と自由境界へ変える</a:t>
            </a:r>
          </a:p>
        </p:txBody>
      </p:sp>
      <p:sp>
        <p:nvSpPr>
          <p:cNvPr id="3" name="title-divider">
            <a:extLst>
              <a:ext uri="{FF2B5EF4-FFF2-40B4-BE49-F238E27FC236}">
                <a16:creationId xmlns:a16="http://schemas.microsoft.com/office/drawing/2014/main" id="{8AFE38F8-9B9D-4A42-862E-C599FE5F7E0C}"/>
              </a:ext>
            </a:extLst>
          </p:cNvPr>
          <p:cNvSpPr>
            <a:spLocks noGrp="1"/>
          </p:cNvSpPr>
          <p:nvPr/>
        </p:nvSpPr>
        <p:spPr>
          <a:xfrm>
            <a:off x="457200" y="1676400"/>
            <a:ext cx="8229600" cy="9525"/>
          </a:xfrm>
          <a:prstGeom prst="rect">
            <a:avLst/>
          </a:prstGeom>
          <a:solidFill>
            <a:srgbClr val="E5EAF0"/>
          </a:solidFill>
          <a:ln w="0">
            <a:noFill/>
            <a:prstDash val="solid"/>
          </a:ln>
        </p:spPr>
      </p:sp>
      <p:sp>
        <p:nvSpPr>
          <p:cNvPr id="4" name="title-accent">
            <a:extLst>
              <a:ext uri="{FF2B5EF4-FFF2-40B4-BE49-F238E27FC236}">
                <a16:creationId xmlns:a16="http://schemas.microsoft.com/office/drawing/2014/main" id="{D83E7902-B37B-43FB-BE7E-0B664C485A6A}"/>
              </a:ext>
            </a:extLst>
          </p:cNvPr>
          <p:cNvSpPr>
            <a:spLocks noGrp="1"/>
          </p:cNvSpPr>
          <p:nvPr/>
        </p:nvSpPr>
        <p:spPr>
          <a:xfrm>
            <a:off x="457200" y="1666875"/>
            <a:ext cx="552450" cy="38100"/>
          </a:xfrm>
          <a:prstGeom prst="rect">
            <a:avLst/>
          </a:prstGeom>
          <a:solidFill>
            <a:srgbClr val="4A90E2"/>
          </a:solidFill>
          <a:ln w="0">
            <a:noFill/>
            <a:prstDash val="solid"/>
          </a:ln>
        </p:spPr>
      </p:sp>
      <p:sp>
        <p:nvSpPr>
          <p:cNvPr id="24" name="chapter-tab-1">
            <a:extLst>
              <a:ext uri="{FF2B5EF4-FFF2-40B4-BE49-F238E27FC236}">
                <a16:creationId xmlns:a16="http://schemas.microsoft.com/office/drawing/2014/main" id="{769F3AA0-597B-44C0-A297-7BDCE561189B}"/>
              </a:ext>
            </a:extLst>
          </p:cNvPr>
          <p:cNvSpPr>
            <a:spLocks noGrp="1"/>
          </p:cNvSpPr>
          <p:nvPr/>
        </p:nvSpPr>
        <p:spPr>
          <a:xfrm>
            <a:off x="457200" y="4857750"/>
            <a:ext cx="2057400" cy="238125"/>
          </a:xfrm>
          <a:prstGeom prst="parallelogram">
            <a:avLst/>
          </a:prstGeom>
          <a:solidFill>
            <a:srgbClr val="FFFFFF"/>
          </a:solidFill>
          <a:ln w="10001">
            <a:solidFill>
              <a:srgbClr val="4A90E2"/>
            </a:solidFill>
            <a:prstDash val="solid"/>
          </a:ln>
        </p:spPr>
        <p:txBody>
          <a:bodyPr wrap="none" lIns="76200" tIns="0" rIns="76200" bIns="0" anchor="ctr">
            <a:normAutofit/>
          </a:bodyPr>
          <a:lstStyle/>
          <a:p>
            <a:pPr algn="ctr">
              <a:buNone/>
              <a:defRPr sz="998" b="1">
                <a:solidFill>
                  <a:srgbClr val="4A90E2"/>
                </a:solidFill>
                <a:latin typeface="Noto Sans CJK JP"/>
                <a:ea typeface="Noto Sans CJK JP"/>
                <a:cs typeface="Noto Sans CJK JP"/>
              </a:defRPr>
            </a:pPr>
            <a:r>
              <a:rPr sz="998" b="1">
                <a:solidFill>
                  <a:srgbClr val="4A90E2"/>
                </a:solidFill>
                <a:latin typeface="Noto Sans CJK JP"/>
                <a:ea typeface="Noto Sans CJK JP"/>
                <a:cs typeface="Noto Sans CJK JP"/>
              </a:rPr>
              <a:t>1 前提</a:t>
            </a:r>
          </a:p>
        </p:txBody>
      </p:sp>
      <p:sp>
        <p:nvSpPr>
          <p:cNvPr id="25" name="chapter-tab-2">
            <a:extLst>
              <a:ext uri="{FF2B5EF4-FFF2-40B4-BE49-F238E27FC236}">
                <a16:creationId xmlns:a16="http://schemas.microsoft.com/office/drawing/2014/main" id="{4A159269-B4B6-43E1-BB79-9B92379E65B5}"/>
              </a:ext>
            </a:extLst>
          </p:cNvPr>
          <p:cNvSpPr>
            <a:spLocks noGrp="1"/>
          </p:cNvSpPr>
          <p:nvPr/>
        </p:nvSpPr>
        <p:spPr>
          <a:xfrm>
            <a:off x="2428875" y="4857750"/>
            <a:ext cx="2057400" cy="238125"/>
          </a:xfrm>
          <a:prstGeom prst="parallelogram">
            <a:avLst/>
          </a:prstGeom>
          <a:solidFill>
            <a:srgbClr val="2F73B7"/>
          </a:solidFill>
          <a:ln w="11430">
            <a:solidFill>
              <a:srgbClr val="2F73B7"/>
            </a:solidFill>
            <a:prstDash val="solid"/>
          </a:ln>
        </p:spPr>
        <p:txBody>
          <a:bodyPr wrap="none" lIns="76200" tIns="0" rIns="76200" bIns="0" anchor="ctr">
            <a:normAutofit/>
          </a:bodyPr>
          <a:lstStyle/>
          <a:p>
            <a:pPr algn="ctr">
              <a:buNone/>
              <a:defRPr sz="998" b="1">
                <a:solidFill>
                  <a:srgbClr val="FFFFFF"/>
                </a:solidFill>
                <a:latin typeface="Noto Sans CJK JP"/>
                <a:ea typeface="Noto Sans CJK JP"/>
                <a:cs typeface="Noto Sans CJK JP"/>
              </a:defRPr>
            </a:pPr>
            <a:r>
              <a:rPr sz="998" b="1">
                <a:solidFill>
                  <a:srgbClr val="FFFFFF"/>
                </a:solidFill>
                <a:latin typeface="Noto Sans CJK JP"/>
                <a:ea typeface="Noto Sans CJK JP"/>
                <a:cs typeface="Noto Sans CJK JP"/>
              </a:rPr>
              <a:t>2 数理理論</a:t>
            </a:r>
          </a:p>
        </p:txBody>
      </p:sp>
      <p:sp>
        <p:nvSpPr>
          <p:cNvPr id="26" name="chapter-tab-3">
            <a:extLst>
              <a:ext uri="{FF2B5EF4-FFF2-40B4-BE49-F238E27FC236}">
                <a16:creationId xmlns:a16="http://schemas.microsoft.com/office/drawing/2014/main" id="{F3F2CA3B-0D97-40B8-8D36-CD6E26E116A4}"/>
              </a:ext>
            </a:extLst>
          </p:cNvPr>
          <p:cNvSpPr>
            <a:spLocks noGrp="1"/>
          </p:cNvSpPr>
          <p:nvPr/>
        </p:nvSpPr>
        <p:spPr>
          <a:xfrm>
            <a:off x="4400550" y="4857750"/>
            <a:ext cx="2057400" cy="238125"/>
          </a:xfrm>
          <a:prstGeom prst="parallelogram">
            <a:avLst/>
          </a:prstGeom>
          <a:solidFill>
            <a:srgbClr val="FFFFFF"/>
          </a:solidFill>
          <a:ln w="10001">
            <a:solidFill>
              <a:srgbClr val="2A8F6A"/>
            </a:solidFill>
            <a:prstDash val="solid"/>
          </a:ln>
        </p:spPr>
        <p:txBody>
          <a:bodyPr wrap="none" lIns="76200" tIns="0" rIns="76200" bIns="0" anchor="ctr">
            <a:normAutofit/>
          </a:bodyPr>
          <a:lstStyle/>
          <a:p>
            <a:pPr algn="ctr">
              <a:buNone/>
              <a:defRPr sz="998" b="1">
                <a:solidFill>
                  <a:srgbClr val="2A8F6A"/>
                </a:solidFill>
                <a:latin typeface="Noto Sans CJK JP"/>
                <a:ea typeface="Noto Sans CJK JP"/>
                <a:cs typeface="Noto Sans CJK JP"/>
              </a:defRPr>
            </a:pPr>
            <a:r>
              <a:rPr sz="998" b="1">
                <a:solidFill>
                  <a:srgbClr val="2A8F6A"/>
                </a:solidFill>
                <a:latin typeface="Noto Sans CJK JP"/>
                <a:ea typeface="Noto Sans CJK JP"/>
                <a:cs typeface="Noto Sans CJK JP"/>
              </a:rPr>
              <a:t>3 シミュレーション</a:t>
            </a:r>
          </a:p>
        </p:txBody>
      </p:sp>
      <p:sp>
        <p:nvSpPr>
          <p:cNvPr id="27" name="chapter-tab-4">
            <a:extLst>
              <a:ext uri="{FF2B5EF4-FFF2-40B4-BE49-F238E27FC236}">
                <a16:creationId xmlns:a16="http://schemas.microsoft.com/office/drawing/2014/main" id="{E199A940-5B1C-4A49-BAF8-C0209103B4CC}"/>
              </a:ext>
            </a:extLst>
          </p:cNvPr>
          <p:cNvSpPr>
            <a:spLocks noGrp="1"/>
          </p:cNvSpPr>
          <p:nvPr/>
        </p:nvSpPr>
        <p:spPr>
          <a:xfrm>
            <a:off x="6372225" y="4857750"/>
            <a:ext cx="2057400" cy="238125"/>
          </a:xfrm>
          <a:prstGeom prst="parallelogram">
            <a:avLst/>
          </a:prstGeom>
          <a:solidFill>
            <a:srgbClr val="FFFFFF"/>
          </a:solidFill>
          <a:ln w="10001">
            <a:solidFill>
              <a:srgbClr val="C9534B"/>
            </a:solidFill>
            <a:prstDash val="solid"/>
          </a:ln>
        </p:spPr>
        <p:txBody>
          <a:bodyPr wrap="none" lIns="76200" tIns="0" rIns="76200" bIns="0" anchor="ctr">
            <a:normAutofit/>
          </a:bodyPr>
          <a:lstStyle/>
          <a:p>
            <a:pPr algn="ctr">
              <a:buNone/>
              <a:defRPr sz="998" b="1">
                <a:solidFill>
                  <a:srgbClr val="C9534B"/>
                </a:solidFill>
                <a:latin typeface="Noto Sans CJK JP"/>
                <a:ea typeface="Noto Sans CJK JP"/>
                <a:cs typeface="Noto Sans CJK JP"/>
              </a:defRPr>
            </a:pPr>
            <a:r>
              <a:rPr sz="998" b="1">
                <a:solidFill>
                  <a:srgbClr val="C9534B"/>
                </a:solidFill>
                <a:latin typeface="Noto Sans CJK JP"/>
                <a:ea typeface="Noto Sans CJK JP"/>
                <a:cs typeface="Noto Sans CJK JP"/>
              </a:rPr>
              <a:t>4 結論</a:t>
            </a:r>
          </a:p>
        </p:txBody>
      </p:sp>
      <p:pic>
        <p:nvPicPr>
          <p:cNvPr id="53" name="グラフィックス 52"/>
          <p:cNvPicPr>
            <a:picLocks noChangeAspect="1"/>
          </p:cNvPicPr>
          <p:nvPr/>
        </p:nvPicPr>
        <p:blipFill>
          <a:blip>
            <a:extLst>
              <a:ext uri="{96DAC541-7B7A-43D3-8B79-37D633B846F1}">
                <asvg:svgBlip xmlns:asvg="http://schemas.microsoft.com/office/drawing/2016/SVG/main" r:embed="rId3"/>
              </a:ext>
            </a:extLst>
          </a:blip>
          <a:stretch/>
        </p:blipFill>
        <p:spPr>
          <a:xfrm>
            <a:off x="2524125" y="1874257"/>
            <a:ext cx="4095750" cy="466731"/>
          </a:xfrm>
          <a:prstGeom prst="rect">
            <a:avLst/>
          </a:prstGeom>
        </p:spPr>
      </p:pic>
      <mc:AlternateContent xmlns:mc="http://schemas.openxmlformats.org/markup-compatibility/2006" xmlns:a14="http://schemas.microsoft.com/office/drawing/2010/main">
        <mc:Choice Requires="a14">
          <p:sp>
            <p:nvSpPr>
              <p:cNvPr id="29" name="s7-candidate-left">
                <a:extLst>
                  <a:ext uri="{FF2B5EF4-FFF2-40B4-BE49-F238E27FC236}">
                    <a16:creationId xmlns:a16="http://schemas.microsoft.com/office/drawing/2014/main" id="{A5AAB328-53AD-4212-9453-62BB4771AFAC}"/>
                  </a:ext>
                </a:extLst>
              </p:cNvPr>
              <p:cNvSpPr>
                <a:spLocks noGrp="1"/>
              </p:cNvSpPr>
              <p:nvPr/>
            </p:nvSpPr>
            <p:spPr>
              <a:xfrm>
                <a:off x="809625" y="2476500"/>
                <a:ext cx="1524000" cy="228600"/>
              </a:xfrm>
              <a:prstGeom prst="rect">
                <a:avLst/>
              </a:prstGeom>
              <a:noFill/>
              <a:ln w="0">
                <a:noFill/>
                <a:prstDash val="solid"/>
              </a:ln>
            </p:spPr>
            <p:txBody>
              <a:bodyPr wrap="square" lIns="0" tIns="0" rIns="0" bIns="0" anchor="ctr">
                <a:normAutofit/>
              </a:bodyPr>
              <a:lstStyle/>
              <a:p>
                <a:pPr algn="ctr">
                  <a:defRPr sz="1163" b="0">
                    <a:solidFill>
                      <a:srgbClr val="64748B"/>
                    </a:solidFill>
                    <a:latin typeface="Cambria Math"/>
                    <a:ea typeface="Cambria Math"/>
                    <a:cs typeface="Cambria Math"/>
                  </a:defRPr>
                </a:pPr>
                <a:r>
                  <a:rPr sz="1163" b="0" dirty="0" err="1">
                    <a:solidFill>
                      <a:srgbClr val="64748B"/>
                    </a:solidFill>
                    <a:latin typeface="Cambria Math"/>
                    <a:ea typeface="Cambria Math"/>
                    <a:cs typeface="Cambria Math"/>
                  </a:rPr>
                  <a:t>候補</a:t>
                </a:r>
                <a14:m>
                  <m:oMath xmlns:m="http://schemas.openxmlformats.org/officeDocument/2006/math">
                    <m:acc>
                      <m:accPr>
                        <m:chr m:val="̃"/>
                        <m:ctrlPr>
                          <a:rPr lang="ja-JP" altLang="en-US" sz="1200" i="1">
                            <a:latin typeface="Cambria Math" panose="02040503050406030204" pitchFamily="18" charset="0"/>
                            <a:ea typeface="Cambria Math" panose="02040503050406030204" pitchFamily="18" charset="0"/>
                            <a:cs typeface="Noto Sans CJK JP"/>
                          </a:rPr>
                        </m:ctrlPr>
                      </m:accPr>
                      <m:e>
                        <m:r>
                          <a:rPr lang="ja-JP" altLang="en-US" sz="1200" i="1">
                            <a:latin typeface="Cambria Math" panose="02040503050406030204" pitchFamily="18" charset="0"/>
                            <a:ea typeface="Cambria Math" panose="02040503050406030204" pitchFamily="18" charset="0"/>
                            <a:cs typeface="Noto Sans CJK JP"/>
                          </a:rPr>
                          <m:t>𝜋</m:t>
                        </m:r>
                      </m:e>
                    </m:acc>
                  </m:oMath>
                </a14:m>
                <a:r>
                  <a:rPr sz="1163" b="0" dirty="0">
                    <a:solidFill>
                      <a:srgbClr val="64748B"/>
                    </a:solidFill>
                    <a:latin typeface="Cambria Math"/>
                    <a:ea typeface="Cambria Math"/>
                    <a:cs typeface="Cambria Math"/>
                  </a:rPr>
                  <a:t> ≤ 0</a:t>
                </a:r>
              </a:p>
            </p:txBody>
          </p:sp>
        </mc:Choice>
        <mc:Fallback xmlns="">
          <p:sp>
            <p:nvSpPr>
              <p:cNvPr id="29" name="s7-candidate-left">
                <a:extLst>
                  <a:ext uri="{FF2B5EF4-FFF2-40B4-BE49-F238E27FC236}">
                    <a16:creationId xmlns:a16="http://schemas.microsoft.com/office/drawing/2014/main" id="{A5AAB328-53AD-4212-9453-62BB4771AFAC}"/>
                  </a:ext>
                </a:extLst>
              </p:cNvPr>
              <p:cNvSpPr>
                <a:spLocks noGrp="1" noRot="1" noChangeAspect="1" noMove="1" noResize="1" noEditPoints="1" noAdjustHandles="1" noChangeArrowheads="1" noChangeShapeType="1" noTextEdit="1"/>
              </p:cNvSpPr>
              <p:nvPr/>
            </p:nvSpPr>
            <p:spPr>
              <a:xfrm>
                <a:off x="809625" y="2476500"/>
                <a:ext cx="1524000" cy="228600"/>
              </a:xfrm>
              <a:prstGeom prst="rect">
                <a:avLst/>
              </a:prstGeom>
              <a:blipFill>
                <a:blip r:embed="rId4"/>
                <a:stretch>
                  <a:fillRect t="-10526" b="-26316"/>
                </a:stretch>
              </a:blipFill>
              <a:ln w="0">
                <a:noFill/>
                <a:prstDash val="solid"/>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0" name="s7-candidate-mid">
                <a:extLst>
                  <a:ext uri="{FF2B5EF4-FFF2-40B4-BE49-F238E27FC236}">
                    <a16:creationId xmlns:a16="http://schemas.microsoft.com/office/drawing/2014/main" id="{B36E1023-4C49-47CA-B245-59917CACA002}"/>
                  </a:ext>
                </a:extLst>
              </p:cNvPr>
              <p:cNvSpPr>
                <a:spLocks noGrp="1"/>
              </p:cNvSpPr>
              <p:nvPr/>
            </p:nvSpPr>
            <p:spPr>
              <a:xfrm>
                <a:off x="3476625" y="2476500"/>
                <a:ext cx="2095500" cy="228600"/>
              </a:xfrm>
              <a:prstGeom prst="rect">
                <a:avLst/>
              </a:prstGeom>
              <a:noFill/>
              <a:ln w="0">
                <a:noFill/>
                <a:prstDash val="solid"/>
              </a:ln>
            </p:spPr>
            <p:txBody>
              <a:bodyPr wrap="square" lIns="0" tIns="0" rIns="0" bIns="0" anchor="ctr">
                <a:normAutofit/>
              </a:bodyPr>
              <a:lstStyle/>
              <a:p>
                <a:pPr algn="ctr">
                  <a:defRPr sz="1163" b="0">
                    <a:solidFill>
                      <a:srgbClr val="16875C"/>
                    </a:solidFill>
                    <a:latin typeface="Cambria Math"/>
                    <a:ea typeface="Cambria Math"/>
                    <a:cs typeface="Cambria Math"/>
                  </a:defRPr>
                </a:pPr>
                <a:r>
                  <a:rPr sz="1163" b="0" dirty="0">
                    <a:solidFill>
                      <a:srgbClr val="16875C"/>
                    </a:solidFill>
                    <a:latin typeface="Cambria Math"/>
                    <a:ea typeface="Cambria Math"/>
                    <a:cs typeface="Cambria Math"/>
                  </a:rPr>
                  <a:t>0 &lt; </a:t>
                </a:r>
                <a:r>
                  <a:rPr sz="1163" b="0" dirty="0" err="1">
                    <a:solidFill>
                      <a:srgbClr val="16875C"/>
                    </a:solidFill>
                    <a:latin typeface="Cambria Math"/>
                    <a:ea typeface="Cambria Math"/>
                    <a:cs typeface="Cambria Math"/>
                  </a:rPr>
                  <a:t>候補</a:t>
                </a:r>
                <a14:m>
                  <m:oMath xmlns:m="http://schemas.openxmlformats.org/officeDocument/2006/math">
                    <m:acc>
                      <m:accPr>
                        <m:chr m:val="̃"/>
                        <m:ctrlPr>
                          <a:rPr lang="ja-JP" altLang="en-US" sz="1200" i="1">
                            <a:latin typeface="Cambria Math" panose="02040503050406030204" pitchFamily="18" charset="0"/>
                            <a:ea typeface="Cambria Math" panose="02040503050406030204" pitchFamily="18" charset="0"/>
                            <a:cs typeface="Noto Sans CJK JP"/>
                          </a:rPr>
                        </m:ctrlPr>
                      </m:accPr>
                      <m:e>
                        <m:r>
                          <a:rPr lang="ja-JP" altLang="en-US" sz="1200" i="1">
                            <a:latin typeface="Cambria Math" panose="02040503050406030204" pitchFamily="18" charset="0"/>
                            <a:ea typeface="Cambria Math" panose="02040503050406030204" pitchFamily="18" charset="0"/>
                            <a:cs typeface="Noto Sans CJK JP"/>
                          </a:rPr>
                          <m:t>𝜋</m:t>
                        </m:r>
                      </m:e>
                    </m:acc>
                  </m:oMath>
                </a14:m>
                <a:r>
                  <a:rPr sz="1163" b="0" dirty="0">
                    <a:solidFill>
                      <a:srgbClr val="16875C"/>
                    </a:solidFill>
                    <a:latin typeface="Cambria Math"/>
                    <a:ea typeface="Cambria Math"/>
                    <a:cs typeface="Cambria Math"/>
                  </a:rPr>
                  <a:t> &lt; x</a:t>
                </a:r>
              </a:p>
            </p:txBody>
          </p:sp>
        </mc:Choice>
        <mc:Fallback xmlns="">
          <p:sp>
            <p:nvSpPr>
              <p:cNvPr id="30" name="s7-candidate-mid">
                <a:extLst>
                  <a:ext uri="{FF2B5EF4-FFF2-40B4-BE49-F238E27FC236}">
                    <a16:creationId xmlns:a16="http://schemas.microsoft.com/office/drawing/2014/main" id="{B36E1023-4C49-47CA-B245-59917CACA002}"/>
                  </a:ext>
                </a:extLst>
              </p:cNvPr>
              <p:cNvSpPr>
                <a:spLocks noGrp="1" noRot="1" noChangeAspect="1" noMove="1" noResize="1" noEditPoints="1" noAdjustHandles="1" noChangeArrowheads="1" noChangeShapeType="1" noTextEdit="1"/>
              </p:cNvSpPr>
              <p:nvPr/>
            </p:nvSpPr>
            <p:spPr>
              <a:xfrm>
                <a:off x="3476625" y="2476500"/>
                <a:ext cx="2095500" cy="228600"/>
              </a:xfrm>
              <a:prstGeom prst="rect">
                <a:avLst/>
              </a:prstGeom>
              <a:blipFill>
                <a:blip r:embed="rId5"/>
                <a:stretch>
                  <a:fillRect t="-10526" b="-26316"/>
                </a:stretch>
              </a:blipFill>
              <a:ln w="0">
                <a:noFill/>
                <a:prstDash val="solid"/>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1" name="s7-candidate-right">
                <a:extLst>
                  <a:ext uri="{FF2B5EF4-FFF2-40B4-BE49-F238E27FC236}">
                    <a16:creationId xmlns:a16="http://schemas.microsoft.com/office/drawing/2014/main" id="{DAA782D2-13EF-4009-905E-64B704CA97A9}"/>
                  </a:ext>
                </a:extLst>
              </p:cNvPr>
              <p:cNvSpPr>
                <a:spLocks noGrp="1"/>
              </p:cNvSpPr>
              <p:nvPr/>
            </p:nvSpPr>
            <p:spPr>
              <a:xfrm>
                <a:off x="6667500" y="2476500"/>
                <a:ext cx="1524000" cy="228600"/>
              </a:xfrm>
              <a:prstGeom prst="rect">
                <a:avLst/>
              </a:prstGeom>
              <a:noFill/>
              <a:ln w="0">
                <a:noFill/>
                <a:prstDash val="solid"/>
              </a:ln>
            </p:spPr>
            <p:txBody>
              <a:bodyPr wrap="square" lIns="0" tIns="0" rIns="0" bIns="0" anchor="ctr">
                <a:normAutofit/>
              </a:bodyPr>
              <a:lstStyle/>
              <a:p>
                <a:pPr algn="ctr">
                  <a:defRPr sz="1163" b="0">
                    <a:solidFill>
                      <a:srgbClr val="215FB4"/>
                    </a:solidFill>
                    <a:latin typeface="Cambria Math"/>
                    <a:ea typeface="Cambria Math"/>
                    <a:cs typeface="Cambria Math"/>
                  </a:defRPr>
                </a:pPr>
                <a:r>
                  <a:rPr sz="1163" b="0" dirty="0" err="1">
                    <a:solidFill>
                      <a:srgbClr val="215FB4"/>
                    </a:solidFill>
                    <a:latin typeface="Cambria Math"/>
                    <a:ea typeface="Cambria Math"/>
                    <a:cs typeface="Cambria Math"/>
                  </a:rPr>
                  <a:t>候補</a:t>
                </a:r>
                <a14:m>
                  <m:oMath xmlns:m="http://schemas.openxmlformats.org/officeDocument/2006/math">
                    <m:acc>
                      <m:accPr>
                        <m:chr m:val="̃"/>
                        <m:ctrlPr>
                          <a:rPr lang="ja-JP" altLang="en-US" sz="1200" i="1">
                            <a:latin typeface="Cambria Math" panose="02040503050406030204" pitchFamily="18" charset="0"/>
                            <a:ea typeface="Cambria Math" panose="02040503050406030204" pitchFamily="18" charset="0"/>
                            <a:cs typeface="Noto Sans CJK JP"/>
                          </a:rPr>
                        </m:ctrlPr>
                      </m:accPr>
                      <m:e>
                        <m:r>
                          <a:rPr lang="ja-JP" altLang="en-US" sz="1200" i="1">
                            <a:latin typeface="Cambria Math" panose="02040503050406030204" pitchFamily="18" charset="0"/>
                            <a:ea typeface="Cambria Math" panose="02040503050406030204" pitchFamily="18" charset="0"/>
                            <a:cs typeface="Noto Sans CJK JP"/>
                          </a:rPr>
                          <m:t>𝜋</m:t>
                        </m:r>
                      </m:e>
                    </m:acc>
                  </m:oMath>
                </a14:m>
                <a:r>
                  <a:rPr sz="1163" b="0" dirty="0">
                    <a:solidFill>
                      <a:srgbClr val="215FB4"/>
                    </a:solidFill>
                    <a:latin typeface="Cambria Math"/>
                    <a:ea typeface="Cambria Math"/>
                    <a:cs typeface="Cambria Math"/>
                  </a:rPr>
                  <a:t> ≥ x</a:t>
                </a:r>
              </a:p>
            </p:txBody>
          </p:sp>
        </mc:Choice>
        <mc:Fallback xmlns="">
          <p:sp>
            <p:nvSpPr>
              <p:cNvPr id="31" name="s7-candidate-right">
                <a:extLst>
                  <a:ext uri="{FF2B5EF4-FFF2-40B4-BE49-F238E27FC236}">
                    <a16:creationId xmlns:a16="http://schemas.microsoft.com/office/drawing/2014/main" id="{DAA782D2-13EF-4009-905E-64B704CA97A9}"/>
                  </a:ext>
                </a:extLst>
              </p:cNvPr>
              <p:cNvSpPr>
                <a:spLocks noGrp="1" noRot="1" noChangeAspect="1" noMove="1" noResize="1" noEditPoints="1" noAdjustHandles="1" noChangeArrowheads="1" noChangeShapeType="1" noTextEdit="1"/>
              </p:cNvSpPr>
              <p:nvPr/>
            </p:nvSpPr>
            <p:spPr>
              <a:xfrm>
                <a:off x="6667500" y="2476500"/>
                <a:ext cx="1524000" cy="228600"/>
              </a:xfrm>
              <a:prstGeom prst="rect">
                <a:avLst/>
              </a:prstGeom>
              <a:blipFill>
                <a:blip r:embed="rId6"/>
                <a:stretch>
                  <a:fillRect t="-10526" b="-26316"/>
                </a:stretch>
              </a:blipFill>
              <a:ln w="0">
                <a:noFill/>
                <a:prstDash val="solid"/>
              </a:ln>
            </p:spPr>
            <p:txBody>
              <a:bodyPr/>
              <a:lstStyle/>
              <a:p>
                <a:r>
                  <a:rPr lang="ja-JP" altLang="en-US">
                    <a:noFill/>
                  </a:rPr>
                  <a:t> </a:t>
                </a:r>
              </a:p>
            </p:txBody>
          </p:sp>
        </mc:Fallback>
      </mc:AlternateContent>
      <p:sp>
        <p:nvSpPr>
          <p:cNvPr id="32" name="s7-axis-left">
            <a:extLst>
              <a:ext uri="{FF2B5EF4-FFF2-40B4-BE49-F238E27FC236}">
                <a16:creationId xmlns:a16="http://schemas.microsoft.com/office/drawing/2014/main" id="{9B8DA177-9833-4F56-ADEC-C3F151A0ECDE}"/>
              </a:ext>
            </a:extLst>
          </p:cNvPr>
          <p:cNvSpPr>
            <a:spLocks noGrp="1"/>
          </p:cNvSpPr>
          <p:nvPr/>
        </p:nvSpPr>
        <p:spPr>
          <a:xfrm>
            <a:off x="876300" y="2876550"/>
            <a:ext cx="2524125" cy="19050"/>
          </a:xfrm>
          <a:prstGeom prst="rect">
            <a:avLst/>
          </a:prstGeom>
          <a:solidFill>
            <a:srgbClr val="94A3B8"/>
          </a:solidFill>
          <a:ln w="0">
            <a:noFill/>
            <a:prstDash val="solid"/>
          </a:ln>
        </p:spPr>
      </p:sp>
      <p:sp>
        <p:nvSpPr>
          <p:cNvPr id="33" name="s7-axis-mid">
            <a:extLst>
              <a:ext uri="{FF2B5EF4-FFF2-40B4-BE49-F238E27FC236}">
                <a16:creationId xmlns:a16="http://schemas.microsoft.com/office/drawing/2014/main" id="{46722A63-D890-45DE-9DF8-FABFE10AAC4D}"/>
              </a:ext>
            </a:extLst>
          </p:cNvPr>
          <p:cNvSpPr>
            <a:spLocks noGrp="1"/>
          </p:cNvSpPr>
          <p:nvPr/>
        </p:nvSpPr>
        <p:spPr>
          <a:xfrm>
            <a:off x="3400425" y="2876550"/>
            <a:ext cx="2428875" cy="19050"/>
          </a:xfrm>
          <a:prstGeom prst="rect">
            <a:avLst/>
          </a:prstGeom>
          <a:solidFill>
            <a:srgbClr val="16875C"/>
          </a:solidFill>
          <a:ln w="0">
            <a:noFill/>
            <a:prstDash val="solid"/>
          </a:ln>
        </p:spPr>
      </p:sp>
      <p:sp>
        <p:nvSpPr>
          <p:cNvPr id="34" name="s7-axis-right">
            <a:extLst>
              <a:ext uri="{FF2B5EF4-FFF2-40B4-BE49-F238E27FC236}">
                <a16:creationId xmlns:a16="http://schemas.microsoft.com/office/drawing/2014/main" id="{713724FA-5013-4880-9E26-401073A7B3CC}"/>
              </a:ext>
            </a:extLst>
          </p:cNvPr>
          <p:cNvSpPr>
            <a:spLocks noGrp="1"/>
          </p:cNvSpPr>
          <p:nvPr/>
        </p:nvSpPr>
        <p:spPr>
          <a:xfrm>
            <a:off x="5829300" y="2819400"/>
            <a:ext cx="2476500" cy="133350"/>
          </a:xfrm>
          <a:prstGeom prst="rightArrow">
            <a:avLst/>
          </a:prstGeom>
          <a:solidFill>
            <a:srgbClr val="215FB4"/>
          </a:solidFill>
          <a:ln w="0">
            <a:noFill/>
            <a:prstDash val="solid"/>
          </a:ln>
        </p:spPr>
      </p:sp>
      <p:sp>
        <p:nvSpPr>
          <p:cNvPr id="35" name="s7-boundary-a">
            <a:extLst>
              <a:ext uri="{FF2B5EF4-FFF2-40B4-BE49-F238E27FC236}">
                <a16:creationId xmlns:a16="http://schemas.microsoft.com/office/drawing/2014/main" id="{5FE68ACE-08A4-4C7A-A207-9A3CCA7FE0BE}"/>
              </a:ext>
            </a:extLst>
          </p:cNvPr>
          <p:cNvSpPr>
            <a:spLocks noGrp="1"/>
          </p:cNvSpPr>
          <p:nvPr/>
        </p:nvSpPr>
        <p:spPr>
          <a:xfrm>
            <a:off x="3343275" y="2819400"/>
            <a:ext cx="114300" cy="114300"/>
          </a:xfrm>
          <a:prstGeom prst="ellipse">
            <a:avLst/>
          </a:prstGeom>
          <a:solidFill>
            <a:srgbClr val="FFFFFF"/>
          </a:solidFill>
          <a:ln w="9525">
            <a:solidFill>
              <a:srgbClr val="07183B"/>
            </a:solidFill>
            <a:prstDash val="solid"/>
          </a:ln>
        </p:spPr>
      </p:sp>
      <p:sp>
        <p:nvSpPr>
          <p:cNvPr id="36" name="s7-boundary-b">
            <a:extLst>
              <a:ext uri="{FF2B5EF4-FFF2-40B4-BE49-F238E27FC236}">
                <a16:creationId xmlns:a16="http://schemas.microsoft.com/office/drawing/2014/main" id="{1164EAC2-74C3-49F9-AB39-A76D214EA4C6}"/>
              </a:ext>
            </a:extLst>
          </p:cNvPr>
          <p:cNvSpPr>
            <a:spLocks noGrp="1"/>
          </p:cNvSpPr>
          <p:nvPr/>
        </p:nvSpPr>
        <p:spPr>
          <a:xfrm>
            <a:off x="5772150" y="2819400"/>
            <a:ext cx="114300" cy="114300"/>
          </a:xfrm>
          <a:prstGeom prst="ellipse">
            <a:avLst/>
          </a:prstGeom>
          <a:solidFill>
            <a:srgbClr val="FFFFFF"/>
          </a:solidFill>
          <a:ln w="9525">
            <a:solidFill>
              <a:srgbClr val="07183B"/>
            </a:solidFill>
            <a:prstDash val="solid"/>
          </a:ln>
        </p:spPr>
      </p:sp>
      <p:sp>
        <p:nvSpPr>
          <p:cNvPr id="37" name="s7-zero">
            <a:extLst>
              <a:ext uri="{FF2B5EF4-FFF2-40B4-BE49-F238E27FC236}">
                <a16:creationId xmlns:a16="http://schemas.microsoft.com/office/drawing/2014/main" id="{7691E2D4-4218-41E4-926C-AF81DB65AF7A}"/>
              </a:ext>
            </a:extLst>
          </p:cNvPr>
          <p:cNvSpPr>
            <a:spLocks noGrp="1"/>
          </p:cNvSpPr>
          <p:nvPr/>
        </p:nvSpPr>
        <p:spPr>
          <a:xfrm>
            <a:off x="3257550" y="2594876"/>
            <a:ext cx="285750" cy="190500"/>
          </a:xfrm>
          <a:prstGeom prst="rect">
            <a:avLst/>
          </a:prstGeom>
          <a:noFill/>
          <a:ln w="0">
            <a:noFill/>
            <a:prstDash val="solid"/>
          </a:ln>
        </p:spPr>
        <p:txBody>
          <a:bodyPr wrap="square" lIns="0" tIns="0" rIns="0" bIns="0" anchor="ctr">
            <a:normAutofit/>
          </a:bodyPr>
          <a:lstStyle/>
          <a:p>
            <a:pPr algn="ctr">
              <a:defRPr sz="975" b="0">
                <a:solidFill>
                  <a:srgbClr val="64748B"/>
                </a:solidFill>
                <a:latin typeface="Cambria Math"/>
                <a:ea typeface="Cambria Math"/>
                <a:cs typeface="Cambria Math"/>
              </a:defRPr>
            </a:pPr>
            <a:r>
              <a:rPr sz="975" b="0" dirty="0">
                <a:solidFill>
                  <a:srgbClr val="64748B"/>
                </a:solidFill>
                <a:latin typeface="Cambria Math"/>
                <a:ea typeface="Cambria Math"/>
                <a:cs typeface="Cambria Math"/>
              </a:rPr>
              <a:t>0</a:t>
            </a:r>
          </a:p>
        </p:txBody>
      </p:sp>
      <p:sp>
        <p:nvSpPr>
          <p:cNvPr id="38" name="s7-x">
            <a:extLst>
              <a:ext uri="{FF2B5EF4-FFF2-40B4-BE49-F238E27FC236}">
                <a16:creationId xmlns:a16="http://schemas.microsoft.com/office/drawing/2014/main" id="{B59FF6A5-A684-4C1B-9400-1A2AE1D8D432}"/>
              </a:ext>
            </a:extLst>
          </p:cNvPr>
          <p:cNvSpPr>
            <a:spLocks noGrp="1"/>
          </p:cNvSpPr>
          <p:nvPr/>
        </p:nvSpPr>
        <p:spPr>
          <a:xfrm>
            <a:off x="5686425" y="2594876"/>
            <a:ext cx="285750" cy="190500"/>
          </a:xfrm>
          <a:prstGeom prst="rect">
            <a:avLst/>
          </a:prstGeom>
          <a:noFill/>
          <a:ln w="0">
            <a:noFill/>
            <a:prstDash val="solid"/>
          </a:ln>
        </p:spPr>
        <p:txBody>
          <a:bodyPr wrap="square" lIns="0" tIns="0" rIns="0" bIns="0" anchor="ctr">
            <a:normAutofit/>
          </a:bodyPr>
          <a:lstStyle/>
          <a:p>
            <a:pPr algn="ctr">
              <a:defRPr sz="975" b="0" i="1">
                <a:solidFill>
                  <a:srgbClr val="215FB4"/>
                </a:solidFill>
                <a:latin typeface="Cambria Math"/>
                <a:ea typeface="Cambria Math"/>
                <a:cs typeface="Cambria Math"/>
              </a:defRPr>
            </a:pPr>
            <a:r>
              <a:rPr sz="975" b="0" i="1">
                <a:solidFill>
                  <a:srgbClr val="215FB4"/>
                </a:solidFill>
                <a:latin typeface="Cambria Math"/>
                <a:ea typeface="Cambria Math"/>
                <a:cs typeface="Cambria Math"/>
              </a:rPr>
              <a:t>x</a:t>
            </a:r>
          </a:p>
        </p:txBody>
      </p:sp>
      <p:sp>
        <p:nvSpPr>
          <p:cNvPr id="39" name="s7-region0">
            <a:extLst>
              <a:ext uri="{FF2B5EF4-FFF2-40B4-BE49-F238E27FC236}">
                <a16:creationId xmlns:a16="http://schemas.microsoft.com/office/drawing/2014/main" id="{CEC767B8-BA50-49D2-9FBF-BC0B3D2B9305}"/>
              </a:ext>
            </a:extLst>
          </p:cNvPr>
          <p:cNvSpPr>
            <a:spLocks noGrp="1"/>
          </p:cNvSpPr>
          <p:nvPr/>
        </p:nvSpPr>
        <p:spPr>
          <a:xfrm>
            <a:off x="714375" y="3286125"/>
            <a:ext cx="2381250" cy="247650"/>
          </a:xfrm>
          <a:prstGeom prst="rect">
            <a:avLst/>
          </a:prstGeom>
          <a:noFill/>
          <a:ln w="0">
            <a:noFill/>
            <a:prstDash val="solid"/>
          </a:ln>
        </p:spPr>
        <p:txBody>
          <a:bodyPr wrap="square" lIns="0" tIns="0" rIns="0" bIns="0" anchor="ctr">
            <a:normAutofit/>
          </a:bodyPr>
          <a:lstStyle/>
          <a:p>
            <a:pPr algn="ctr">
              <a:defRPr sz="1275" b="1">
                <a:solidFill>
                  <a:srgbClr val="4B6073"/>
                </a:solidFill>
                <a:latin typeface="Noto Sans CJK JP"/>
                <a:ea typeface="Noto Sans CJK JP"/>
                <a:cs typeface="Noto Sans CJK JP"/>
              </a:defRPr>
            </a:pPr>
            <a:r>
              <a:rPr sz="1275" b="1">
                <a:solidFill>
                  <a:srgbClr val="4B6073"/>
                </a:solidFill>
                <a:latin typeface="Noto Sans CJK JP"/>
                <a:ea typeface="Noto Sans CJK JP"/>
                <a:cs typeface="Noto Sans CJK JP"/>
              </a:rPr>
              <a:t>0投資領域</a:t>
            </a:r>
          </a:p>
        </p:txBody>
      </p:sp>
      <p:sp>
        <p:nvSpPr>
          <p:cNvPr id="40" name="s7-region0m">
            <a:extLst>
              <a:ext uri="{FF2B5EF4-FFF2-40B4-BE49-F238E27FC236}">
                <a16:creationId xmlns:a16="http://schemas.microsoft.com/office/drawing/2014/main" id="{4BA5DBA3-EE46-400D-850A-46578F2BECB0}"/>
              </a:ext>
            </a:extLst>
          </p:cNvPr>
          <p:cNvSpPr>
            <a:spLocks noGrp="1"/>
          </p:cNvSpPr>
          <p:nvPr/>
        </p:nvSpPr>
        <p:spPr>
          <a:xfrm>
            <a:off x="809625" y="3581400"/>
            <a:ext cx="2190750" cy="285750"/>
          </a:xfrm>
          <a:prstGeom prst="rect">
            <a:avLst/>
          </a:prstGeom>
          <a:noFill/>
          <a:ln w="0">
            <a:noFill/>
            <a:prstDash val="solid"/>
          </a:ln>
        </p:spPr>
        <p:txBody>
          <a:bodyPr wrap="square" lIns="0" tIns="0" rIns="0" bIns="0" anchor="ctr">
            <a:normAutofit/>
          </a:bodyPr>
          <a:lstStyle/>
          <a:p>
            <a:pPr algn="ctr">
              <a:defRPr sz="1650" b="0">
                <a:solidFill>
                  <a:srgbClr val="111827"/>
                </a:solidFill>
                <a:latin typeface="Cambria Math"/>
                <a:ea typeface="Cambria Math"/>
                <a:cs typeface="Cambria Math"/>
              </a:defRPr>
            </a:pPr>
            <a:r>
              <a:rPr sz="1650" b="0">
                <a:solidFill>
                  <a:srgbClr val="111827"/>
                </a:solidFill>
                <a:latin typeface="Cambria Math"/>
                <a:ea typeface="Cambria Math"/>
                <a:cs typeface="Cambria Math"/>
              </a:rPr>
              <a:t>π* = 0</a:t>
            </a:r>
          </a:p>
        </p:txBody>
      </p:sp>
      <p:sp>
        <p:nvSpPr>
          <p:cNvPr id="41" name="s7-region1">
            <a:extLst>
              <a:ext uri="{FF2B5EF4-FFF2-40B4-BE49-F238E27FC236}">
                <a16:creationId xmlns:a16="http://schemas.microsoft.com/office/drawing/2014/main" id="{3F0DAD7F-FF1B-4548-BCC5-91FE7CE434B4}"/>
              </a:ext>
            </a:extLst>
          </p:cNvPr>
          <p:cNvSpPr>
            <a:spLocks noGrp="1"/>
          </p:cNvSpPr>
          <p:nvPr/>
        </p:nvSpPr>
        <p:spPr>
          <a:xfrm>
            <a:off x="3381375" y="3286125"/>
            <a:ext cx="2476500" cy="247650"/>
          </a:xfrm>
          <a:prstGeom prst="rect">
            <a:avLst/>
          </a:prstGeom>
          <a:noFill/>
          <a:ln w="0">
            <a:noFill/>
            <a:prstDash val="solid"/>
          </a:ln>
        </p:spPr>
        <p:txBody>
          <a:bodyPr wrap="square" lIns="0" tIns="0" rIns="0" bIns="0" anchor="ctr">
            <a:normAutofit/>
          </a:bodyPr>
          <a:lstStyle/>
          <a:p>
            <a:pPr algn="ctr">
              <a:defRPr sz="1275" b="1">
                <a:solidFill>
                  <a:srgbClr val="16875C"/>
                </a:solidFill>
                <a:latin typeface="Noto Sans CJK JP"/>
                <a:ea typeface="Noto Sans CJK JP"/>
                <a:cs typeface="Noto Sans CJK JP"/>
              </a:defRPr>
            </a:pPr>
            <a:r>
              <a:rPr sz="1275" b="1">
                <a:solidFill>
                  <a:srgbClr val="16875C"/>
                </a:solidFill>
                <a:latin typeface="Noto Sans CJK JP"/>
                <a:ea typeface="Noto Sans CJK JP"/>
                <a:cs typeface="Noto Sans CJK JP"/>
              </a:rPr>
              <a:t>内点領域</a:t>
            </a:r>
          </a:p>
        </p:txBody>
      </p:sp>
      <p:sp>
        <p:nvSpPr>
          <p:cNvPr id="42" name="s7-region1m">
            <a:extLst>
              <a:ext uri="{FF2B5EF4-FFF2-40B4-BE49-F238E27FC236}">
                <a16:creationId xmlns:a16="http://schemas.microsoft.com/office/drawing/2014/main" id="{73D7A417-1ED3-43FA-902A-D62C7AAE3A95}"/>
              </a:ext>
            </a:extLst>
          </p:cNvPr>
          <p:cNvSpPr>
            <a:spLocks noGrp="1"/>
          </p:cNvSpPr>
          <p:nvPr/>
        </p:nvSpPr>
        <p:spPr>
          <a:xfrm>
            <a:off x="3429000" y="3581400"/>
            <a:ext cx="2381250" cy="285750"/>
          </a:xfrm>
          <a:prstGeom prst="rect">
            <a:avLst/>
          </a:prstGeom>
          <a:noFill/>
          <a:ln w="0">
            <a:noFill/>
            <a:prstDash val="solid"/>
          </a:ln>
        </p:spPr>
        <p:txBody>
          <a:bodyPr wrap="square" lIns="0" tIns="0" rIns="0" bIns="0" anchor="ctr">
            <a:normAutofit/>
          </a:bodyPr>
          <a:lstStyle/>
          <a:p>
            <a:pPr algn="ctr">
              <a:defRPr sz="1650" b="0">
                <a:solidFill>
                  <a:srgbClr val="111827"/>
                </a:solidFill>
                <a:latin typeface="Cambria Math"/>
                <a:ea typeface="Cambria Math"/>
                <a:cs typeface="Cambria Math"/>
              </a:defRPr>
            </a:pPr>
            <a:r>
              <a:rPr sz="1650" b="0">
                <a:solidFill>
                  <a:srgbClr val="111827"/>
                </a:solidFill>
                <a:latin typeface="Cambria Math"/>
                <a:ea typeface="Cambria Math"/>
                <a:cs typeface="Cambria Math"/>
              </a:rPr>
              <a:t>0 &lt; π* &lt; x</a:t>
            </a:r>
          </a:p>
        </p:txBody>
      </p:sp>
      <p:sp>
        <p:nvSpPr>
          <p:cNvPr id="43" name="s7-region2">
            <a:extLst>
              <a:ext uri="{FF2B5EF4-FFF2-40B4-BE49-F238E27FC236}">
                <a16:creationId xmlns:a16="http://schemas.microsoft.com/office/drawing/2014/main" id="{6AD46A0A-33C5-4BC7-A27B-8D30CBE2547B}"/>
              </a:ext>
            </a:extLst>
          </p:cNvPr>
          <p:cNvSpPr>
            <a:spLocks noGrp="1"/>
          </p:cNvSpPr>
          <p:nvPr/>
        </p:nvSpPr>
        <p:spPr>
          <a:xfrm>
            <a:off x="6096000" y="3286125"/>
            <a:ext cx="2428875" cy="247650"/>
          </a:xfrm>
          <a:prstGeom prst="rect">
            <a:avLst/>
          </a:prstGeom>
          <a:noFill/>
          <a:ln w="0">
            <a:noFill/>
            <a:prstDash val="solid"/>
          </a:ln>
        </p:spPr>
        <p:txBody>
          <a:bodyPr wrap="square" lIns="0" tIns="0" rIns="0" bIns="0" anchor="ctr">
            <a:normAutofit/>
          </a:bodyPr>
          <a:lstStyle/>
          <a:p>
            <a:pPr algn="ctr">
              <a:defRPr sz="1275" b="1">
                <a:solidFill>
                  <a:srgbClr val="215FB4"/>
                </a:solidFill>
                <a:latin typeface="Noto Sans CJK JP"/>
                <a:ea typeface="Noto Sans CJK JP"/>
                <a:cs typeface="Noto Sans CJK JP"/>
              </a:defRPr>
            </a:pPr>
            <a:r>
              <a:rPr sz="1275" b="1">
                <a:solidFill>
                  <a:srgbClr val="215FB4"/>
                </a:solidFill>
                <a:latin typeface="Noto Sans CJK JP"/>
                <a:ea typeface="Noto Sans CJK JP"/>
                <a:cs typeface="Noto Sans CJK JP"/>
              </a:rPr>
              <a:t>全額投資領域</a:t>
            </a:r>
          </a:p>
        </p:txBody>
      </p:sp>
      <p:sp>
        <p:nvSpPr>
          <p:cNvPr id="44" name="s7-region2m">
            <a:extLst>
              <a:ext uri="{FF2B5EF4-FFF2-40B4-BE49-F238E27FC236}">
                <a16:creationId xmlns:a16="http://schemas.microsoft.com/office/drawing/2014/main" id="{9BB67F50-CFEB-47D6-99BD-55EDB9130562}"/>
              </a:ext>
            </a:extLst>
          </p:cNvPr>
          <p:cNvSpPr>
            <a:spLocks noGrp="1"/>
          </p:cNvSpPr>
          <p:nvPr/>
        </p:nvSpPr>
        <p:spPr>
          <a:xfrm>
            <a:off x="6191250" y="3581400"/>
            <a:ext cx="2238375" cy="285750"/>
          </a:xfrm>
          <a:prstGeom prst="rect">
            <a:avLst/>
          </a:prstGeom>
          <a:noFill/>
          <a:ln w="0">
            <a:noFill/>
            <a:prstDash val="solid"/>
          </a:ln>
        </p:spPr>
        <p:txBody>
          <a:bodyPr wrap="square" lIns="0" tIns="0" rIns="0" bIns="0" anchor="ctr">
            <a:normAutofit/>
          </a:bodyPr>
          <a:lstStyle/>
          <a:p>
            <a:pPr algn="ctr">
              <a:defRPr sz="1650" b="0">
                <a:solidFill>
                  <a:srgbClr val="111827"/>
                </a:solidFill>
                <a:latin typeface="Cambria Math"/>
                <a:ea typeface="Cambria Math"/>
                <a:cs typeface="Cambria Math"/>
              </a:defRPr>
            </a:pPr>
            <a:r>
              <a:rPr sz="1650" b="0">
                <a:solidFill>
                  <a:srgbClr val="111827"/>
                </a:solidFill>
                <a:latin typeface="Cambria Math"/>
                <a:ea typeface="Cambria Math"/>
                <a:cs typeface="Cambria Math"/>
              </a:rPr>
              <a:t>π* = x</a:t>
            </a:r>
          </a:p>
        </p:txBody>
      </p:sp>
      <p:sp>
        <p:nvSpPr>
          <p:cNvPr id="45" name="s7-bottom">
            <a:extLst>
              <a:ext uri="{FF2B5EF4-FFF2-40B4-BE49-F238E27FC236}">
                <a16:creationId xmlns:a16="http://schemas.microsoft.com/office/drawing/2014/main" id="{DFF59CA3-B268-4FEB-A43E-05FEF3F52623}"/>
              </a:ext>
            </a:extLst>
          </p:cNvPr>
          <p:cNvSpPr>
            <a:spLocks noGrp="1"/>
          </p:cNvSpPr>
          <p:nvPr/>
        </p:nvSpPr>
        <p:spPr>
          <a:xfrm>
            <a:off x="809625" y="4295775"/>
            <a:ext cx="7524750" cy="323850"/>
          </a:xfrm>
          <a:prstGeom prst="rect">
            <a:avLst/>
          </a:prstGeom>
          <a:noFill/>
          <a:ln w="0">
            <a:noFill/>
            <a:prstDash val="solid"/>
          </a:ln>
        </p:spPr>
        <p:txBody>
          <a:bodyPr wrap="square" lIns="0" tIns="0" rIns="0" bIns="0" anchor="ctr">
            <a:normAutofit/>
          </a:bodyPr>
          <a:lstStyle/>
          <a:p>
            <a:pPr algn="ctr">
              <a:defRPr sz="1238" b="1">
                <a:solidFill>
                  <a:srgbClr val="215FB4"/>
                </a:solidFill>
                <a:latin typeface="Noto Sans CJK JP"/>
                <a:ea typeface="Noto Sans CJK JP"/>
                <a:cs typeface="Noto Sans CJK JP"/>
              </a:defRPr>
            </a:pPr>
            <a:r>
              <a:rPr sz="1238" b="1" dirty="0" err="1">
                <a:solidFill>
                  <a:srgbClr val="215FB4"/>
                </a:solidFill>
                <a:latin typeface="Noto Sans CJK JP"/>
                <a:ea typeface="Noto Sans CJK JP"/>
                <a:cs typeface="Noto Sans CJK JP"/>
              </a:rPr>
              <a:t>切替条件は値関数の微分で決まり、境界は内生的である</a:t>
            </a:r>
            <a:endParaRPr sz="1238" b="1" dirty="0">
              <a:solidFill>
                <a:srgbClr val="215FB4"/>
              </a:solidFill>
              <a:latin typeface="Noto Sans CJK JP"/>
              <a:ea typeface="Noto Sans CJK JP"/>
              <a:cs typeface="Noto Sans CJK JP"/>
            </a:endParaRPr>
          </a:p>
        </p:txBody>
      </p:sp>
      <p:cxnSp>
        <p:nvCxnSpPr>
          <p:cNvPr id="8" name="直線コネクタ 7">
            <a:extLst>
              <a:ext uri="{FF2B5EF4-FFF2-40B4-BE49-F238E27FC236}">
                <a16:creationId xmlns:a16="http://schemas.microsoft.com/office/drawing/2014/main" id="{037CBBC8-8068-3C9B-346A-71C8CF3F6B1F}"/>
              </a:ext>
            </a:extLst>
          </p:cNvPr>
          <p:cNvCxnSpPr>
            <a:cxnSpLocks/>
          </p:cNvCxnSpPr>
          <p:nvPr/>
        </p:nvCxnSpPr>
        <p:spPr>
          <a:xfrm>
            <a:off x="3402606" y="3015645"/>
            <a:ext cx="0" cy="1224000"/>
          </a:xfrm>
          <a:prstGeom prst="line">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B32D4723-3576-4D0A-4739-FB2EA538FA98}"/>
              </a:ext>
            </a:extLst>
          </p:cNvPr>
          <p:cNvCxnSpPr>
            <a:cxnSpLocks/>
          </p:cNvCxnSpPr>
          <p:nvPr/>
        </p:nvCxnSpPr>
        <p:spPr>
          <a:xfrm>
            <a:off x="5838388" y="3015645"/>
            <a:ext cx="0" cy="1224000"/>
          </a:xfrm>
          <a:prstGeom prst="line">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2" name="s7-axis-right">
            <a:extLst>
              <a:ext uri="{FF2B5EF4-FFF2-40B4-BE49-F238E27FC236}">
                <a16:creationId xmlns:a16="http://schemas.microsoft.com/office/drawing/2014/main" id="{2C35A97A-5E39-BC29-AF3E-1619422E05B8}"/>
              </a:ext>
            </a:extLst>
          </p:cNvPr>
          <p:cNvSpPr>
            <a:spLocks noGrp="1"/>
          </p:cNvSpPr>
          <p:nvPr/>
        </p:nvSpPr>
        <p:spPr>
          <a:xfrm flipH="1">
            <a:off x="866775" y="2810094"/>
            <a:ext cx="2476500" cy="133350"/>
          </a:xfrm>
          <a:prstGeom prst="rightArrow">
            <a:avLst/>
          </a:prstGeom>
          <a:solidFill>
            <a:srgbClr val="54687A"/>
          </a:solidFill>
          <a:ln w="0">
            <a:noFill/>
            <a:prstDash val="solid"/>
          </a:ln>
        </p:spPr>
        <p:txBody>
          <a:bodyPr/>
          <a:lstStyle/>
          <a:p>
            <a:endParaRPr lang="ja-JP" altLang="en-US" dirty="0"/>
          </a:p>
        </p:txBody>
      </p:sp>
      <p:pic>
        <p:nvPicPr>
          <p:cNvPr id="16" name="図 15">
            <a:extLst>
              <a:ext uri="{FF2B5EF4-FFF2-40B4-BE49-F238E27FC236}">
                <a16:creationId xmlns:a16="http://schemas.microsoft.com/office/drawing/2014/main" id="{DDBF2C6B-C1A1-6F62-BBED-583DAD2A15DB}"/>
              </a:ext>
            </a:extLst>
          </p:cNvPr>
          <p:cNvPicPr>
            <a:picLocks noChangeAspect="1"/>
          </p:cNvPicPr>
          <p:nvPr/>
        </p:nvPicPr>
        <p:blipFill>
          <a:blip r:embed="rId7"/>
          <a:stretch>
            <a:fillRect/>
          </a:stretch>
        </p:blipFill>
        <p:spPr>
          <a:xfrm>
            <a:off x="5451426" y="1914501"/>
            <a:ext cx="234999" cy="107973"/>
          </a:xfrm>
          <a:prstGeom prst="rect">
            <a:avLst/>
          </a:prstGeom>
        </p:spPr>
      </p:pic>
    </p:spTree>
    <p:extLst>
      <p:ext uri="{BB962C8B-B14F-4D97-AF65-F5344CB8AC3E}">
        <p14:creationId xmlns:p14="http://schemas.microsoft.com/office/powerpoint/2010/main" val="875397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BC52A-D853-2F1C-3EEE-F0980D8370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35F1F-4711-B3F5-4BBA-2D4A9726E073}"/>
              </a:ext>
            </a:extLst>
          </p:cNvPr>
          <p:cNvSpPr>
            <a:spLocks noGrp="1"/>
          </p:cNvSpPr>
          <p:nvPr>
            <p:ph type="title"/>
          </p:nvPr>
        </p:nvSpPr>
        <p:spPr>
          <a:xfrm>
            <a:off x="457200" y="990600"/>
            <a:ext cx="8229600" cy="609600"/>
          </a:xfrm>
        </p:spPr>
        <p:txBody>
          <a:bodyPr wrap="none" lIns="0" tIns="0" rIns="0" bIns="0" anchor="ctr">
            <a:normAutofit/>
          </a:bodyPr>
          <a:lstStyle/>
          <a:p>
            <a:pPr algn="l">
              <a:buNone/>
              <a:defRPr sz="2175" b="1">
                <a:solidFill>
                  <a:srgbClr val="111827"/>
                </a:solidFill>
                <a:latin typeface="Noto Sans CJK JP"/>
                <a:ea typeface="Noto Sans CJK JP"/>
                <a:cs typeface="Noto Sans CJK JP"/>
              </a:defRPr>
            </a:pPr>
            <a:r>
              <a:rPr sz="2175" b="1" dirty="0">
                <a:solidFill>
                  <a:srgbClr val="111827"/>
                </a:solidFill>
                <a:latin typeface="Noto Sans CJK JP"/>
                <a:ea typeface="Noto Sans CJK JP"/>
                <a:cs typeface="Noto Sans CJK JP"/>
              </a:rPr>
              <a:t>1つの遷移核</a:t>
            </a:r>
            <a:r>
              <a:rPr lang="ja-JP" altLang="en-US" sz="2175" b="1" dirty="0">
                <a:solidFill>
                  <a:srgbClr val="111827"/>
                </a:solidFill>
                <a:latin typeface="Noto Sans CJK JP"/>
                <a:ea typeface="Noto Sans CJK JP"/>
                <a:cs typeface="Noto Sans CJK JP"/>
              </a:rPr>
              <a:t>で統合シミュレーション：</a:t>
            </a:r>
            <a:r>
              <a:rPr sz="2175" b="1" dirty="0" err="1">
                <a:solidFill>
                  <a:srgbClr val="111827"/>
                </a:solidFill>
                <a:latin typeface="Noto Sans CJK JP"/>
                <a:ea typeface="Noto Sans CJK JP"/>
                <a:cs typeface="Noto Sans CJK JP"/>
              </a:rPr>
              <a:t>後退</a:t>
            </a:r>
            <a:r>
              <a:rPr lang="ja-JP" altLang="en-US" sz="2175" b="1" dirty="0">
                <a:solidFill>
                  <a:srgbClr val="111827"/>
                </a:solidFill>
                <a:latin typeface="Noto Sans CJK JP"/>
                <a:ea typeface="Noto Sans CJK JP"/>
                <a:cs typeface="Noto Sans CJK JP"/>
              </a:rPr>
              <a:t>で最適化・</a:t>
            </a:r>
            <a:r>
              <a:rPr sz="2175" b="1" dirty="0" err="1">
                <a:solidFill>
                  <a:srgbClr val="111827"/>
                </a:solidFill>
                <a:latin typeface="Noto Sans CJK JP"/>
                <a:ea typeface="Noto Sans CJK JP"/>
                <a:cs typeface="Noto Sans CJK JP"/>
              </a:rPr>
              <a:t>前進</a:t>
            </a:r>
            <a:r>
              <a:rPr lang="ja-JP" altLang="en-US" sz="2175" b="1" dirty="0">
                <a:solidFill>
                  <a:srgbClr val="111827"/>
                </a:solidFill>
                <a:latin typeface="Noto Sans CJK JP"/>
                <a:ea typeface="Noto Sans CJK JP"/>
                <a:cs typeface="Noto Sans CJK JP"/>
              </a:rPr>
              <a:t>で</a:t>
            </a:r>
            <a:r>
              <a:rPr sz="2175" b="1" dirty="0" err="1">
                <a:solidFill>
                  <a:srgbClr val="111827"/>
                </a:solidFill>
                <a:latin typeface="Noto Sans CJK JP"/>
                <a:ea typeface="Noto Sans CJK JP"/>
                <a:cs typeface="Noto Sans CJK JP"/>
              </a:rPr>
              <a:t>評価</a:t>
            </a:r>
            <a:endParaRPr sz="2175" b="1" dirty="0">
              <a:solidFill>
                <a:srgbClr val="111827"/>
              </a:solidFill>
              <a:latin typeface="Noto Sans CJK JP"/>
              <a:ea typeface="Noto Sans CJK JP"/>
              <a:cs typeface="Noto Sans CJK JP"/>
            </a:endParaRPr>
          </a:p>
        </p:txBody>
      </p:sp>
      <p:sp>
        <p:nvSpPr>
          <p:cNvPr id="3" name="title-divider">
            <a:extLst>
              <a:ext uri="{FF2B5EF4-FFF2-40B4-BE49-F238E27FC236}">
                <a16:creationId xmlns:a16="http://schemas.microsoft.com/office/drawing/2014/main" id="{BE0A8E07-5A32-58AD-C93E-E3D80FFD41B2}"/>
              </a:ext>
            </a:extLst>
          </p:cNvPr>
          <p:cNvSpPr>
            <a:spLocks noGrp="1"/>
          </p:cNvSpPr>
          <p:nvPr/>
        </p:nvSpPr>
        <p:spPr>
          <a:xfrm>
            <a:off x="457200" y="1676400"/>
            <a:ext cx="8229600" cy="9525"/>
          </a:xfrm>
          <a:prstGeom prst="rect">
            <a:avLst/>
          </a:prstGeom>
          <a:solidFill>
            <a:srgbClr val="E5EAF0"/>
          </a:solidFill>
          <a:ln w="0">
            <a:noFill/>
            <a:prstDash val="solid"/>
          </a:ln>
        </p:spPr>
      </p:sp>
      <p:sp>
        <p:nvSpPr>
          <p:cNvPr id="4" name="title-accent">
            <a:extLst>
              <a:ext uri="{FF2B5EF4-FFF2-40B4-BE49-F238E27FC236}">
                <a16:creationId xmlns:a16="http://schemas.microsoft.com/office/drawing/2014/main" id="{2795363C-B86A-D4AD-7526-F5CEA8A111EE}"/>
              </a:ext>
            </a:extLst>
          </p:cNvPr>
          <p:cNvSpPr>
            <a:spLocks noGrp="1"/>
          </p:cNvSpPr>
          <p:nvPr/>
        </p:nvSpPr>
        <p:spPr>
          <a:xfrm>
            <a:off x="457200" y="1666875"/>
            <a:ext cx="552450" cy="38100"/>
          </a:xfrm>
          <a:prstGeom prst="rect">
            <a:avLst/>
          </a:prstGeom>
          <a:solidFill>
            <a:srgbClr val="4A90E2"/>
          </a:solidFill>
          <a:ln w="0">
            <a:noFill/>
            <a:prstDash val="solid"/>
          </a:ln>
        </p:spPr>
      </p:sp>
      <p:sp>
        <p:nvSpPr>
          <p:cNvPr id="24" name="chapter-tab-1">
            <a:extLst>
              <a:ext uri="{FF2B5EF4-FFF2-40B4-BE49-F238E27FC236}">
                <a16:creationId xmlns:a16="http://schemas.microsoft.com/office/drawing/2014/main" id="{D5C773C8-05C4-560F-CF68-4942F956E5CB}"/>
              </a:ext>
            </a:extLst>
          </p:cNvPr>
          <p:cNvSpPr>
            <a:spLocks noGrp="1"/>
          </p:cNvSpPr>
          <p:nvPr/>
        </p:nvSpPr>
        <p:spPr>
          <a:xfrm>
            <a:off x="457200" y="4857750"/>
            <a:ext cx="2057400" cy="238125"/>
          </a:xfrm>
          <a:prstGeom prst="parallelogram">
            <a:avLst/>
          </a:prstGeom>
          <a:solidFill>
            <a:srgbClr val="FFFFFF"/>
          </a:solidFill>
          <a:ln w="10001">
            <a:solidFill>
              <a:srgbClr val="4A90E2"/>
            </a:solidFill>
            <a:prstDash val="solid"/>
          </a:ln>
        </p:spPr>
        <p:txBody>
          <a:bodyPr wrap="none" lIns="76200" tIns="0" rIns="76200" bIns="0" anchor="ctr">
            <a:normAutofit/>
          </a:bodyPr>
          <a:lstStyle/>
          <a:p>
            <a:pPr algn="ctr">
              <a:buNone/>
              <a:defRPr sz="998" b="1">
                <a:solidFill>
                  <a:srgbClr val="4A90E2"/>
                </a:solidFill>
                <a:latin typeface="Noto Sans CJK JP"/>
                <a:ea typeface="Noto Sans CJK JP"/>
                <a:cs typeface="Noto Sans CJK JP"/>
              </a:defRPr>
            </a:pPr>
            <a:r>
              <a:rPr sz="998" b="1">
                <a:solidFill>
                  <a:srgbClr val="4A90E2"/>
                </a:solidFill>
                <a:latin typeface="Noto Sans CJK JP"/>
                <a:ea typeface="Noto Sans CJK JP"/>
                <a:cs typeface="Noto Sans CJK JP"/>
              </a:rPr>
              <a:t>1 前提</a:t>
            </a:r>
          </a:p>
        </p:txBody>
      </p:sp>
      <p:sp>
        <p:nvSpPr>
          <p:cNvPr id="25" name="chapter-tab-2">
            <a:extLst>
              <a:ext uri="{FF2B5EF4-FFF2-40B4-BE49-F238E27FC236}">
                <a16:creationId xmlns:a16="http://schemas.microsoft.com/office/drawing/2014/main" id="{48164EB7-8A96-9743-D72F-DAEEB340E3AA}"/>
              </a:ext>
            </a:extLst>
          </p:cNvPr>
          <p:cNvSpPr>
            <a:spLocks noGrp="1"/>
          </p:cNvSpPr>
          <p:nvPr/>
        </p:nvSpPr>
        <p:spPr>
          <a:xfrm>
            <a:off x="2428875" y="4857750"/>
            <a:ext cx="2057400" cy="238125"/>
          </a:xfrm>
          <a:prstGeom prst="parallelogram">
            <a:avLst/>
          </a:prstGeom>
          <a:solidFill>
            <a:srgbClr val="FFFFFF"/>
          </a:solidFill>
          <a:ln w="10001">
            <a:solidFill>
              <a:srgbClr val="2F73B7"/>
            </a:solidFill>
            <a:prstDash val="solid"/>
          </a:ln>
        </p:spPr>
        <p:txBody>
          <a:bodyPr wrap="none" lIns="76200" tIns="0" rIns="76200" bIns="0" anchor="ctr">
            <a:normAutofit/>
          </a:bodyPr>
          <a:lstStyle/>
          <a:p>
            <a:pPr algn="ctr">
              <a:buNone/>
              <a:defRPr sz="998" b="1">
                <a:solidFill>
                  <a:srgbClr val="2F73B7"/>
                </a:solidFill>
                <a:latin typeface="Noto Sans CJK JP"/>
                <a:ea typeface="Noto Sans CJK JP"/>
                <a:cs typeface="Noto Sans CJK JP"/>
              </a:defRPr>
            </a:pPr>
            <a:r>
              <a:rPr sz="998" b="1" dirty="0">
                <a:solidFill>
                  <a:srgbClr val="2F73B7"/>
                </a:solidFill>
                <a:latin typeface="Noto Sans CJK JP"/>
                <a:ea typeface="Noto Sans CJK JP"/>
                <a:cs typeface="Noto Sans CJK JP"/>
              </a:rPr>
              <a:t>2 </a:t>
            </a:r>
            <a:r>
              <a:rPr sz="998" b="1" dirty="0" err="1">
                <a:solidFill>
                  <a:srgbClr val="2F73B7"/>
                </a:solidFill>
                <a:latin typeface="Noto Sans CJK JP"/>
                <a:ea typeface="Noto Sans CJK JP"/>
                <a:cs typeface="Noto Sans CJK JP"/>
              </a:rPr>
              <a:t>数理理論</a:t>
            </a:r>
            <a:endParaRPr sz="998" b="1" dirty="0">
              <a:solidFill>
                <a:srgbClr val="2F73B7"/>
              </a:solidFill>
              <a:latin typeface="Noto Sans CJK JP"/>
              <a:ea typeface="Noto Sans CJK JP"/>
              <a:cs typeface="Noto Sans CJK JP"/>
            </a:endParaRPr>
          </a:p>
        </p:txBody>
      </p:sp>
      <p:sp>
        <p:nvSpPr>
          <p:cNvPr id="26" name="chapter-tab-3">
            <a:extLst>
              <a:ext uri="{FF2B5EF4-FFF2-40B4-BE49-F238E27FC236}">
                <a16:creationId xmlns:a16="http://schemas.microsoft.com/office/drawing/2014/main" id="{AB1DB5F3-D495-8B05-9DF7-49F21AD99D42}"/>
              </a:ext>
            </a:extLst>
          </p:cNvPr>
          <p:cNvSpPr>
            <a:spLocks noGrp="1"/>
          </p:cNvSpPr>
          <p:nvPr/>
        </p:nvSpPr>
        <p:spPr>
          <a:xfrm>
            <a:off x="4400550" y="4857750"/>
            <a:ext cx="2057400" cy="238125"/>
          </a:xfrm>
          <a:prstGeom prst="parallelogram">
            <a:avLst/>
          </a:prstGeom>
          <a:solidFill>
            <a:srgbClr val="2A8F6A"/>
          </a:solidFill>
          <a:ln w="11430">
            <a:solidFill>
              <a:srgbClr val="2A8F6A"/>
            </a:solidFill>
            <a:prstDash val="solid"/>
          </a:ln>
        </p:spPr>
        <p:txBody>
          <a:bodyPr wrap="none" lIns="76200" tIns="0" rIns="76200" bIns="0" anchor="ctr">
            <a:normAutofit/>
          </a:bodyPr>
          <a:lstStyle/>
          <a:p>
            <a:pPr algn="ctr">
              <a:buNone/>
              <a:defRPr sz="998" b="1">
                <a:solidFill>
                  <a:srgbClr val="FFFFFF"/>
                </a:solidFill>
                <a:latin typeface="Noto Sans CJK JP"/>
                <a:ea typeface="Noto Sans CJK JP"/>
                <a:cs typeface="Noto Sans CJK JP"/>
              </a:defRPr>
            </a:pPr>
            <a:r>
              <a:rPr sz="998" b="1">
                <a:solidFill>
                  <a:srgbClr val="FFFFFF"/>
                </a:solidFill>
                <a:latin typeface="Noto Sans CJK JP"/>
                <a:ea typeface="Noto Sans CJK JP"/>
                <a:cs typeface="Noto Sans CJK JP"/>
              </a:rPr>
              <a:t>3 シミュレーション</a:t>
            </a:r>
          </a:p>
        </p:txBody>
      </p:sp>
      <p:sp>
        <p:nvSpPr>
          <p:cNvPr id="27" name="chapter-tab-4">
            <a:extLst>
              <a:ext uri="{FF2B5EF4-FFF2-40B4-BE49-F238E27FC236}">
                <a16:creationId xmlns:a16="http://schemas.microsoft.com/office/drawing/2014/main" id="{CD5654EB-3E3B-DF1F-480D-81AD0BF707EF}"/>
              </a:ext>
            </a:extLst>
          </p:cNvPr>
          <p:cNvSpPr>
            <a:spLocks noGrp="1"/>
          </p:cNvSpPr>
          <p:nvPr/>
        </p:nvSpPr>
        <p:spPr>
          <a:xfrm>
            <a:off x="6372225" y="4857750"/>
            <a:ext cx="2057400" cy="238125"/>
          </a:xfrm>
          <a:prstGeom prst="parallelogram">
            <a:avLst/>
          </a:prstGeom>
          <a:solidFill>
            <a:srgbClr val="FFFFFF"/>
          </a:solidFill>
          <a:ln w="10001">
            <a:solidFill>
              <a:srgbClr val="C9534B"/>
            </a:solidFill>
            <a:prstDash val="solid"/>
          </a:ln>
        </p:spPr>
        <p:txBody>
          <a:bodyPr wrap="none" lIns="76200" tIns="0" rIns="76200" bIns="0" anchor="ctr">
            <a:normAutofit/>
          </a:bodyPr>
          <a:lstStyle/>
          <a:p>
            <a:pPr algn="ctr">
              <a:buNone/>
              <a:defRPr sz="998" b="1">
                <a:solidFill>
                  <a:srgbClr val="C9534B"/>
                </a:solidFill>
                <a:latin typeface="Noto Sans CJK JP"/>
                <a:ea typeface="Noto Sans CJK JP"/>
                <a:cs typeface="Noto Sans CJK JP"/>
              </a:defRPr>
            </a:pPr>
            <a:r>
              <a:rPr sz="998" b="1">
                <a:solidFill>
                  <a:srgbClr val="C9534B"/>
                </a:solidFill>
                <a:latin typeface="Noto Sans CJK JP"/>
                <a:ea typeface="Noto Sans CJK JP"/>
                <a:cs typeface="Noto Sans CJK JP"/>
              </a:rPr>
              <a:t>4 結論</a:t>
            </a:r>
          </a:p>
        </p:txBody>
      </p:sp>
      <p:sp>
        <p:nvSpPr>
          <p:cNvPr id="6" name="s8-contribution">
            <a:extLst>
              <a:ext uri="{FF2B5EF4-FFF2-40B4-BE49-F238E27FC236}">
                <a16:creationId xmlns:a16="http://schemas.microsoft.com/office/drawing/2014/main" id="{CF3245F7-4442-42AA-6282-FB2790CFD437}"/>
              </a:ext>
            </a:extLst>
          </p:cNvPr>
          <p:cNvSpPr>
            <a:spLocks noGrp="1"/>
          </p:cNvSpPr>
          <p:nvPr/>
        </p:nvSpPr>
        <p:spPr>
          <a:xfrm>
            <a:off x="432478" y="798046"/>
            <a:ext cx="2183043" cy="232708"/>
          </a:xfrm>
          <a:prstGeom prst="rect">
            <a:avLst/>
          </a:prstGeom>
          <a:ln/>
        </p:spPr>
        <p:style>
          <a:lnRef idx="2">
            <a:schemeClr val="accent2"/>
          </a:lnRef>
          <a:fillRef idx="1">
            <a:schemeClr val="lt1"/>
          </a:fillRef>
          <a:effectRef idx="0">
            <a:schemeClr val="accent2"/>
          </a:effectRef>
          <a:fontRef idx="minor">
            <a:schemeClr val="dk1"/>
          </a:fontRef>
        </p:style>
        <p:txBody>
          <a:bodyPr wrap="square" lIns="0" tIns="0" rIns="0" bIns="0" anchor="ctr">
            <a:normAutofit/>
          </a:bodyPr>
          <a:lstStyle/>
          <a:p>
            <a:pPr algn="ctr">
              <a:defRPr sz="915" b="0">
                <a:solidFill>
                  <a:srgbClr val="64748B"/>
                </a:solidFill>
                <a:latin typeface="Noto Sans CJK JP"/>
                <a:ea typeface="Noto Sans CJK JP"/>
                <a:cs typeface="Noto Sans CJK JP"/>
              </a:defRPr>
            </a:pPr>
            <a:r>
              <a:rPr lang="ja-JP" altLang="en-US" sz="915" b="1" dirty="0">
                <a:solidFill>
                  <a:srgbClr val="C00000"/>
                </a:solidFill>
                <a:latin typeface="Noto Sans CJK JP"/>
                <a:ea typeface="Noto Sans CJK JP"/>
                <a:cs typeface="Noto Sans CJK JP"/>
              </a:rPr>
              <a:t>主結果②　</a:t>
            </a:r>
            <a:r>
              <a:rPr lang="en-US" sz="915" b="1" dirty="0">
                <a:solidFill>
                  <a:srgbClr val="C00000"/>
                </a:solidFill>
                <a:latin typeface="Noto Sans CJK JP"/>
                <a:ea typeface="Noto Sans CJK JP"/>
                <a:cs typeface="Noto Sans CJK JP"/>
              </a:rPr>
              <a:t>M</a:t>
            </a:r>
            <a:r>
              <a:rPr lang="en-US" altLang="ja-JP" sz="915" b="1" dirty="0">
                <a:solidFill>
                  <a:srgbClr val="C00000"/>
                </a:solidFill>
                <a:latin typeface="Noto Sans CJK JP"/>
                <a:ea typeface="Noto Sans CJK JP"/>
                <a:cs typeface="Noto Sans CJK JP"/>
              </a:rPr>
              <a:t>–</a:t>
            </a:r>
            <a:r>
              <a:rPr sz="915" b="1" dirty="0">
                <a:solidFill>
                  <a:srgbClr val="C00000"/>
                </a:solidFill>
                <a:latin typeface="Noto Sans CJK JP"/>
                <a:ea typeface="Noto Sans CJK JP"/>
                <a:cs typeface="Noto Sans CJK JP"/>
              </a:rPr>
              <a:t>G–H</a:t>
            </a:r>
            <a:r>
              <a:rPr lang="en-US" sz="915" b="1" dirty="0">
                <a:solidFill>
                  <a:srgbClr val="C00000"/>
                </a:solidFill>
                <a:latin typeface="Noto Sans CJK JP"/>
                <a:ea typeface="Noto Sans CJK JP"/>
                <a:cs typeface="Noto Sans CJK JP"/>
              </a:rPr>
              <a:t> Engine</a:t>
            </a:r>
            <a:r>
              <a:rPr lang="ja-JP" altLang="en-US" sz="915" b="1" dirty="0">
                <a:solidFill>
                  <a:srgbClr val="C00000"/>
                </a:solidFill>
                <a:latin typeface="Noto Sans CJK JP"/>
                <a:ea typeface="Noto Sans CJK JP"/>
                <a:cs typeface="Noto Sans CJK JP"/>
              </a:rPr>
              <a:t> </a:t>
            </a:r>
            <a:r>
              <a:rPr lang="en-US" altLang="ja-JP" sz="915" b="1" dirty="0">
                <a:solidFill>
                  <a:srgbClr val="C00000"/>
                </a:solidFill>
                <a:latin typeface="Noto Sans CJK JP"/>
                <a:ea typeface="Noto Sans CJK JP"/>
                <a:cs typeface="Noto Sans CJK JP"/>
              </a:rPr>
              <a:t>&amp;</a:t>
            </a:r>
            <a:r>
              <a:rPr lang="ja-JP" altLang="en-US" sz="915" b="1" dirty="0">
                <a:solidFill>
                  <a:srgbClr val="C00000"/>
                </a:solidFill>
                <a:latin typeface="Noto Sans CJK JP"/>
                <a:ea typeface="Noto Sans CJK JP"/>
                <a:cs typeface="Noto Sans CJK JP"/>
              </a:rPr>
              <a:t> </a:t>
            </a:r>
            <a:r>
              <a:rPr lang="en-US" altLang="ja-JP" sz="915" b="1" dirty="0" err="1">
                <a:solidFill>
                  <a:srgbClr val="C00000"/>
                </a:solidFill>
                <a:latin typeface="Noto Sans CJK JP"/>
                <a:ea typeface="Noto Sans CJK JP"/>
                <a:cs typeface="Noto Sans CJK JP"/>
              </a:rPr>
              <a:t>rollig</a:t>
            </a:r>
            <a:r>
              <a:rPr lang="ja-JP" altLang="en-US" sz="915" b="1" dirty="0">
                <a:solidFill>
                  <a:srgbClr val="C00000"/>
                </a:solidFill>
                <a:latin typeface="Noto Sans CJK JP"/>
                <a:ea typeface="Noto Sans CJK JP"/>
                <a:cs typeface="Noto Sans CJK JP"/>
              </a:rPr>
              <a:t>評価</a:t>
            </a:r>
            <a:endParaRPr sz="915" b="1" dirty="0">
              <a:solidFill>
                <a:srgbClr val="C00000"/>
              </a:solidFill>
              <a:latin typeface="Noto Sans CJK JP"/>
              <a:ea typeface="Noto Sans CJK JP"/>
              <a:cs typeface="Noto Sans CJK JP"/>
            </a:endParaRPr>
          </a:p>
        </p:txBody>
      </p:sp>
      <p:sp>
        <p:nvSpPr>
          <p:cNvPr id="554" name="backward-heading">
            <a:extLst>
              <a:ext uri="{FF2B5EF4-FFF2-40B4-BE49-F238E27FC236}">
                <a16:creationId xmlns:a16="http://schemas.microsoft.com/office/drawing/2014/main" id="{758244C7-1E36-6EDD-ED63-CB9F8854AA05}"/>
              </a:ext>
            </a:extLst>
          </p:cNvPr>
          <p:cNvSpPr>
            <a:spLocks noGrp="1"/>
          </p:cNvSpPr>
          <p:nvPr/>
        </p:nvSpPr>
        <p:spPr>
          <a:xfrm>
            <a:off x="3532275" y="1728329"/>
            <a:ext cx="1908000" cy="288000"/>
          </a:xfrm>
          <a:prstGeom prst="rect">
            <a:avLst/>
          </a:prstGeom>
          <a:noFill/>
          <a:ln w="0">
            <a:noFill/>
            <a:prstDash val="solid"/>
          </a:ln>
        </p:spPr>
        <p:txBody>
          <a:bodyPr wrap="none" lIns="0" tIns="0" rIns="0" bIns="0" anchor="ctr">
            <a:normAutofit/>
          </a:bodyPr>
          <a:lstStyle/>
          <a:p>
            <a:pPr algn="ctr">
              <a:defRPr sz="1800" b="1">
                <a:solidFill>
                  <a:srgbClr val="1764C0"/>
                </a:solidFill>
                <a:latin typeface="Yu Gothic"/>
                <a:ea typeface="Yu Gothic"/>
                <a:cs typeface="Yu Gothic"/>
              </a:defRPr>
            </a:pPr>
            <a:r>
              <a:rPr sz="1400" b="1" dirty="0" err="1">
                <a:solidFill>
                  <a:srgbClr val="1764C0"/>
                </a:solidFill>
                <a:latin typeface="Yu Gothic"/>
                <a:ea typeface="Yu Gothic"/>
                <a:cs typeface="Yu Gothic"/>
              </a:rPr>
              <a:t>後退計算</a:t>
            </a:r>
            <a:r>
              <a:rPr sz="1400" b="1" dirty="0">
                <a:solidFill>
                  <a:srgbClr val="1764C0"/>
                </a:solidFill>
                <a:latin typeface="Yu Gothic"/>
                <a:ea typeface="Yu Gothic"/>
                <a:cs typeface="Yu Gothic"/>
              </a:rPr>
              <a:t>　</a:t>
            </a:r>
            <a:r>
              <a:rPr lang="en-US" sz="1400" b="1" dirty="0">
                <a:solidFill>
                  <a:srgbClr val="1764C0"/>
                </a:solidFill>
                <a:latin typeface="Yu Gothic"/>
                <a:ea typeface="Yu Gothic"/>
                <a:cs typeface="Yu Gothic"/>
              </a:rPr>
              <a:t>0</a:t>
            </a:r>
            <a:r>
              <a:rPr sz="1400" b="1" dirty="0">
                <a:solidFill>
                  <a:srgbClr val="1764C0"/>
                </a:solidFill>
                <a:latin typeface="Yu Gothic"/>
                <a:ea typeface="Yu Gothic"/>
                <a:cs typeface="Yu Gothic"/>
              </a:rPr>
              <a:t> </a:t>
            </a:r>
            <a:r>
              <a:rPr lang="ja-JP" altLang="en-US" sz="1400" b="1" dirty="0">
                <a:solidFill>
                  <a:srgbClr val="1764C0"/>
                </a:solidFill>
                <a:latin typeface="Yu Gothic"/>
                <a:ea typeface="Yu Gothic"/>
                <a:cs typeface="Yu Gothic"/>
              </a:rPr>
              <a:t>←</a:t>
            </a:r>
            <a:r>
              <a:rPr sz="1400" b="1" dirty="0">
                <a:solidFill>
                  <a:srgbClr val="1764C0"/>
                </a:solidFill>
                <a:latin typeface="Yu Gothic"/>
                <a:ea typeface="Yu Gothic"/>
                <a:cs typeface="Yu Gothic"/>
              </a:rPr>
              <a:t> </a:t>
            </a:r>
            <a:r>
              <a:rPr lang="en-US" altLang="ja-JP" sz="1400" b="1" dirty="0">
                <a:solidFill>
                  <a:srgbClr val="1764C0"/>
                </a:solidFill>
                <a:latin typeface="Yu Gothic"/>
                <a:ea typeface="Yu Gothic"/>
                <a:cs typeface="Yu Gothic"/>
              </a:rPr>
              <a:t>T</a:t>
            </a:r>
            <a:r>
              <a:rPr lang="ja-JP" altLang="en-US" sz="1400" b="1" dirty="0">
                <a:solidFill>
                  <a:srgbClr val="1764C0"/>
                </a:solidFill>
                <a:latin typeface="Yu Gothic"/>
                <a:ea typeface="Yu Gothic"/>
                <a:cs typeface="Yu Gothic"/>
              </a:rPr>
              <a:t>：方策 </a:t>
            </a:r>
            <a:r>
              <a:rPr lang="en-US" altLang="ja-JP" sz="1400" b="1" dirty="0">
                <a:solidFill>
                  <a:srgbClr val="1764C0"/>
                </a:solidFill>
                <a:latin typeface="Yu Gothic"/>
                <a:ea typeface="Yu Gothic"/>
                <a:cs typeface="Yu Gothic"/>
              </a:rPr>
              <a:t>π* </a:t>
            </a:r>
            <a:r>
              <a:rPr lang="ja-JP" altLang="en-US" sz="1400" b="1" dirty="0">
                <a:solidFill>
                  <a:srgbClr val="1764C0"/>
                </a:solidFill>
                <a:latin typeface="Yu Gothic"/>
                <a:ea typeface="Yu Gothic"/>
                <a:cs typeface="Yu Gothic"/>
              </a:rPr>
              <a:t>を決定</a:t>
            </a:r>
          </a:p>
        </p:txBody>
      </p:sp>
      <p:sp>
        <p:nvSpPr>
          <p:cNvPr id="558" name="forward-heading">
            <a:extLst>
              <a:ext uri="{FF2B5EF4-FFF2-40B4-BE49-F238E27FC236}">
                <a16:creationId xmlns:a16="http://schemas.microsoft.com/office/drawing/2014/main" id="{953FC33F-6DB3-DB06-4504-5A5BA7B0A02E}"/>
              </a:ext>
            </a:extLst>
          </p:cNvPr>
          <p:cNvSpPr>
            <a:spLocks noGrp="1"/>
          </p:cNvSpPr>
          <p:nvPr/>
        </p:nvSpPr>
        <p:spPr>
          <a:xfrm>
            <a:off x="3610182" y="4530623"/>
            <a:ext cx="1923636" cy="285750"/>
          </a:xfrm>
          <a:prstGeom prst="rect">
            <a:avLst/>
          </a:prstGeom>
          <a:noFill/>
          <a:ln w="0">
            <a:noFill/>
            <a:prstDash val="solid"/>
          </a:ln>
        </p:spPr>
        <p:txBody>
          <a:bodyPr wrap="none" lIns="0" tIns="0" rIns="0" bIns="0" anchor="ctr">
            <a:normAutofit/>
          </a:bodyPr>
          <a:lstStyle/>
          <a:p>
            <a:pPr algn="ctr">
              <a:defRPr sz="1725" b="1">
                <a:solidFill>
                  <a:srgbClr val="008A52"/>
                </a:solidFill>
                <a:latin typeface="Yu Gothic"/>
                <a:ea typeface="Yu Gothic"/>
                <a:cs typeface="Yu Gothic"/>
              </a:defRPr>
            </a:pPr>
            <a:r>
              <a:rPr sz="1400" b="1" dirty="0" err="1">
                <a:solidFill>
                  <a:srgbClr val="008A52"/>
                </a:solidFill>
                <a:latin typeface="Yu Gothic"/>
                <a:ea typeface="Yu Gothic"/>
                <a:cs typeface="Yu Gothic"/>
              </a:rPr>
              <a:t>前進評価</a:t>
            </a:r>
            <a:r>
              <a:rPr sz="1400" b="1" dirty="0">
                <a:solidFill>
                  <a:srgbClr val="008A52"/>
                </a:solidFill>
                <a:latin typeface="Yu Gothic"/>
                <a:ea typeface="Yu Gothic"/>
                <a:cs typeface="Yu Gothic"/>
              </a:rPr>
              <a:t>　0 → T</a:t>
            </a:r>
            <a:r>
              <a:rPr lang="ja-JP" altLang="en-US" sz="1400" b="1" dirty="0">
                <a:solidFill>
                  <a:srgbClr val="07152E"/>
                </a:solidFill>
                <a:latin typeface="Yu Gothic"/>
                <a:ea typeface="Yu Gothic"/>
                <a:cs typeface="Yu Gothic"/>
              </a:rPr>
              <a:t>：</a:t>
            </a:r>
            <a:r>
              <a:rPr lang="en-US" altLang="ja-JP" sz="1400" b="1" dirty="0">
                <a:solidFill>
                  <a:srgbClr val="07152E"/>
                </a:solidFill>
                <a:latin typeface="Yu Gothic"/>
                <a:ea typeface="Yu Gothic"/>
                <a:cs typeface="Yu Gothic"/>
              </a:rPr>
              <a:t>π* </a:t>
            </a:r>
            <a:r>
              <a:rPr lang="ja-JP" altLang="en-US" sz="1400" b="1" dirty="0">
                <a:solidFill>
                  <a:srgbClr val="07152E"/>
                </a:solidFill>
                <a:latin typeface="Yu Gothic"/>
                <a:ea typeface="Yu Gothic"/>
                <a:cs typeface="Yu Gothic"/>
              </a:rPr>
              <a:t>の下で</a:t>
            </a:r>
            <a:r>
              <a:rPr lang="ja-JP" altLang="en-US" sz="1400" b="1" dirty="0">
                <a:solidFill>
                  <a:srgbClr val="008A52"/>
                </a:solidFill>
                <a:latin typeface="Yu Gothic"/>
                <a:ea typeface="Yu Gothic"/>
                <a:cs typeface="Yu Gothic"/>
              </a:rPr>
              <a:t>分布を算出</a:t>
            </a:r>
          </a:p>
        </p:txBody>
      </p:sp>
      <p:sp>
        <p:nvSpPr>
          <p:cNvPr id="8" name="backward-arrow">
            <a:extLst>
              <a:ext uri="{FF2B5EF4-FFF2-40B4-BE49-F238E27FC236}">
                <a16:creationId xmlns:a16="http://schemas.microsoft.com/office/drawing/2014/main" id="{256E17E5-A596-D0CE-11B0-E6EA0C8B5CB1}"/>
              </a:ext>
            </a:extLst>
          </p:cNvPr>
          <p:cNvSpPr>
            <a:spLocks noGrp="1"/>
          </p:cNvSpPr>
          <p:nvPr/>
        </p:nvSpPr>
        <p:spPr>
          <a:xfrm>
            <a:off x="432478" y="1759026"/>
            <a:ext cx="2490362" cy="216000"/>
          </a:xfrm>
          <a:prstGeom prst="leftArrow">
            <a:avLst/>
          </a:prstGeom>
          <a:solidFill>
            <a:srgbClr val="1764C0"/>
          </a:solidFill>
          <a:ln w="5715">
            <a:solidFill>
              <a:srgbClr val="1764C0"/>
            </a:solidFill>
            <a:prstDash val="solid"/>
          </a:ln>
        </p:spPr>
      </p:sp>
      <p:sp>
        <p:nvSpPr>
          <p:cNvPr id="14" name="backward-arrow">
            <a:extLst>
              <a:ext uri="{FF2B5EF4-FFF2-40B4-BE49-F238E27FC236}">
                <a16:creationId xmlns:a16="http://schemas.microsoft.com/office/drawing/2014/main" id="{1D0A2CEE-8DD8-52FD-D1F4-E8BBFDA143F5}"/>
              </a:ext>
            </a:extLst>
          </p:cNvPr>
          <p:cNvSpPr>
            <a:spLocks noGrp="1"/>
          </p:cNvSpPr>
          <p:nvPr/>
        </p:nvSpPr>
        <p:spPr>
          <a:xfrm>
            <a:off x="6039420" y="1809020"/>
            <a:ext cx="2664000" cy="108000"/>
          </a:xfrm>
          <a:prstGeom prst="flowChartProcess">
            <a:avLst/>
          </a:prstGeom>
          <a:solidFill>
            <a:srgbClr val="1764C0"/>
          </a:solidFill>
          <a:ln w="5715">
            <a:solidFill>
              <a:srgbClr val="1764C0"/>
            </a:solidFill>
            <a:prstDash val="solid"/>
          </a:ln>
        </p:spPr>
      </p:sp>
      <p:sp>
        <p:nvSpPr>
          <p:cNvPr id="23" name="正方形/長方形 22">
            <a:extLst>
              <a:ext uri="{FF2B5EF4-FFF2-40B4-BE49-F238E27FC236}">
                <a16:creationId xmlns:a16="http://schemas.microsoft.com/office/drawing/2014/main" id="{B561449A-6467-37EA-EEBF-B449113F4A1B}"/>
              </a:ext>
            </a:extLst>
          </p:cNvPr>
          <p:cNvSpPr/>
          <p:nvPr/>
        </p:nvSpPr>
        <p:spPr>
          <a:xfrm>
            <a:off x="136079" y="4618920"/>
            <a:ext cx="329522" cy="184439"/>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35" name="left-timeline">
            <a:extLst>
              <a:ext uri="{FF2B5EF4-FFF2-40B4-BE49-F238E27FC236}">
                <a16:creationId xmlns:a16="http://schemas.microsoft.com/office/drawing/2014/main" id="{24F71F06-E8AF-FD02-337D-CDED853B9410}"/>
              </a:ext>
            </a:extLst>
          </p:cNvPr>
          <p:cNvSpPr>
            <a:spLocks noGrp="1"/>
          </p:cNvSpPr>
          <p:nvPr/>
        </p:nvSpPr>
        <p:spPr>
          <a:xfrm>
            <a:off x="405765" y="2137586"/>
            <a:ext cx="13335" cy="2340000"/>
          </a:xfrm>
          <a:prstGeom prst="rect">
            <a:avLst/>
          </a:prstGeom>
          <a:solidFill>
            <a:srgbClr val="C8CDD5"/>
          </a:solidFill>
          <a:ln w="0">
            <a:noFill/>
            <a:prstDash val="solid"/>
          </a:ln>
        </p:spPr>
      </p:sp>
      <p:sp>
        <p:nvSpPr>
          <p:cNvPr id="39" name="right-timeline">
            <a:extLst>
              <a:ext uri="{FF2B5EF4-FFF2-40B4-BE49-F238E27FC236}">
                <a16:creationId xmlns:a16="http://schemas.microsoft.com/office/drawing/2014/main" id="{30842EC5-7954-42DB-F21A-B649A2188C49}"/>
              </a:ext>
            </a:extLst>
          </p:cNvPr>
          <p:cNvSpPr>
            <a:spLocks noGrp="1"/>
          </p:cNvSpPr>
          <p:nvPr/>
        </p:nvSpPr>
        <p:spPr>
          <a:xfrm>
            <a:off x="8745390" y="2144345"/>
            <a:ext cx="13335" cy="2304000"/>
          </a:xfrm>
          <a:prstGeom prst="rect">
            <a:avLst/>
          </a:prstGeom>
          <a:solidFill>
            <a:srgbClr val="C8CDD5"/>
          </a:solidFill>
          <a:ln w="0">
            <a:noFill/>
            <a:prstDash val="solid"/>
          </a:ln>
        </p:spPr>
      </p:sp>
      <p:sp>
        <p:nvSpPr>
          <p:cNvPr id="41" name="time-zero-dot">
            <a:extLst>
              <a:ext uri="{FF2B5EF4-FFF2-40B4-BE49-F238E27FC236}">
                <a16:creationId xmlns:a16="http://schemas.microsoft.com/office/drawing/2014/main" id="{D40ABD09-D2DA-B60B-2626-DC6BFC63A92F}"/>
              </a:ext>
            </a:extLst>
          </p:cNvPr>
          <p:cNvSpPr>
            <a:spLocks noGrp="1"/>
          </p:cNvSpPr>
          <p:nvPr/>
        </p:nvSpPr>
        <p:spPr>
          <a:xfrm>
            <a:off x="307657" y="3098036"/>
            <a:ext cx="209550" cy="209550"/>
          </a:xfrm>
          <a:prstGeom prst="ellipse">
            <a:avLst/>
          </a:prstGeom>
          <a:solidFill>
            <a:srgbClr val="0A285F"/>
          </a:solidFill>
          <a:ln w="0">
            <a:solidFill>
              <a:srgbClr val="0A285F"/>
            </a:solidFill>
            <a:prstDash val="solid"/>
          </a:ln>
        </p:spPr>
      </p:sp>
      <p:sp>
        <p:nvSpPr>
          <p:cNvPr id="47" name="time-zero-label">
            <a:extLst>
              <a:ext uri="{FF2B5EF4-FFF2-40B4-BE49-F238E27FC236}">
                <a16:creationId xmlns:a16="http://schemas.microsoft.com/office/drawing/2014/main" id="{B5CE87D5-C2FB-2FB9-4582-5C88B9DAAC2F}"/>
              </a:ext>
            </a:extLst>
          </p:cNvPr>
          <p:cNvSpPr>
            <a:spLocks noGrp="1"/>
          </p:cNvSpPr>
          <p:nvPr/>
        </p:nvSpPr>
        <p:spPr>
          <a:xfrm>
            <a:off x="30004" y="2878161"/>
            <a:ext cx="406717" cy="285750"/>
          </a:xfrm>
          <a:prstGeom prst="rect">
            <a:avLst/>
          </a:prstGeom>
          <a:noFill/>
          <a:ln w="0">
            <a:noFill/>
            <a:prstDash val="solid"/>
          </a:ln>
        </p:spPr>
        <p:txBody>
          <a:bodyPr wrap="none" lIns="0" tIns="0" rIns="0" bIns="0" anchor="ctr">
            <a:normAutofit/>
          </a:bodyPr>
          <a:lstStyle/>
          <a:p>
            <a:pPr algn="l">
              <a:defRPr sz="1350" b="1">
                <a:solidFill>
                  <a:srgbClr val="07152E"/>
                </a:solidFill>
                <a:latin typeface="Yu Gothic"/>
                <a:ea typeface="Yu Gothic"/>
                <a:cs typeface="Yu Gothic"/>
              </a:defRPr>
            </a:pPr>
            <a:r>
              <a:rPr sz="1000" b="1" dirty="0" err="1">
                <a:solidFill>
                  <a:srgbClr val="07152E"/>
                </a:solidFill>
                <a:latin typeface="Yu Gothic"/>
                <a:ea typeface="Yu Gothic"/>
                <a:cs typeface="Yu Gothic"/>
              </a:rPr>
              <a:t>時刻</a:t>
            </a:r>
            <a:r>
              <a:rPr sz="1000" b="1" dirty="0">
                <a:solidFill>
                  <a:srgbClr val="07152E"/>
                </a:solidFill>
                <a:latin typeface="Yu Gothic"/>
                <a:ea typeface="Yu Gothic"/>
                <a:cs typeface="Yu Gothic"/>
              </a:rPr>
              <a:t> 0</a:t>
            </a:r>
          </a:p>
        </p:txBody>
      </p:sp>
      <p:sp>
        <p:nvSpPr>
          <p:cNvPr id="53" name="time-zero-dot">
            <a:extLst>
              <a:ext uri="{FF2B5EF4-FFF2-40B4-BE49-F238E27FC236}">
                <a16:creationId xmlns:a16="http://schemas.microsoft.com/office/drawing/2014/main" id="{D7A37468-22F1-7952-5B2F-2A672B4C6BBA}"/>
              </a:ext>
            </a:extLst>
          </p:cNvPr>
          <p:cNvSpPr>
            <a:spLocks noGrp="1"/>
          </p:cNvSpPr>
          <p:nvPr/>
        </p:nvSpPr>
        <p:spPr>
          <a:xfrm>
            <a:off x="8639853" y="3094920"/>
            <a:ext cx="209550" cy="209550"/>
          </a:xfrm>
          <a:prstGeom prst="ellipse">
            <a:avLst/>
          </a:prstGeom>
          <a:solidFill>
            <a:srgbClr val="0A285F"/>
          </a:solidFill>
          <a:ln w="0">
            <a:solidFill>
              <a:srgbClr val="0A285F"/>
            </a:solidFill>
            <a:prstDash val="solid"/>
          </a:ln>
        </p:spPr>
      </p:sp>
      <p:sp>
        <p:nvSpPr>
          <p:cNvPr id="55" name="time-zero-label">
            <a:extLst>
              <a:ext uri="{FF2B5EF4-FFF2-40B4-BE49-F238E27FC236}">
                <a16:creationId xmlns:a16="http://schemas.microsoft.com/office/drawing/2014/main" id="{A06A495A-F639-FD66-B022-238B003EA8A4}"/>
              </a:ext>
            </a:extLst>
          </p:cNvPr>
          <p:cNvSpPr>
            <a:spLocks noGrp="1"/>
          </p:cNvSpPr>
          <p:nvPr/>
        </p:nvSpPr>
        <p:spPr>
          <a:xfrm>
            <a:off x="8768917" y="2875045"/>
            <a:ext cx="406717" cy="285750"/>
          </a:xfrm>
          <a:prstGeom prst="rect">
            <a:avLst/>
          </a:prstGeom>
          <a:noFill/>
          <a:ln w="0">
            <a:noFill/>
            <a:prstDash val="solid"/>
          </a:ln>
        </p:spPr>
        <p:txBody>
          <a:bodyPr wrap="none" lIns="0" tIns="0" rIns="0" bIns="0" anchor="ctr">
            <a:normAutofit/>
          </a:bodyPr>
          <a:lstStyle/>
          <a:p>
            <a:pPr algn="l">
              <a:defRPr sz="1350" b="1">
                <a:solidFill>
                  <a:srgbClr val="07152E"/>
                </a:solidFill>
                <a:latin typeface="Yu Gothic"/>
                <a:ea typeface="Yu Gothic"/>
                <a:cs typeface="Yu Gothic"/>
              </a:defRPr>
            </a:pPr>
            <a:r>
              <a:rPr sz="1000" b="1" dirty="0" err="1">
                <a:solidFill>
                  <a:srgbClr val="07152E"/>
                </a:solidFill>
                <a:latin typeface="Yu Gothic"/>
                <a:ea typeface="Yu Gothic"/>
                <a:cs typeface="Yu Gothic"/>
              </a:rPr>
              <a:t>時刻</a:t>
            </a:r>
            <a:r>
              <a:rPr sz="1000" b="1" dirty="0">
                <a:solidFill>
                  <a:srgbClr val="07152E"/>
                </a:solidFill>
                <a:latin typeface="Yu Gothic"/>
                <a:ea typeface="Yu Gothic"/>
                <a:cs typeface="Yu Gothic"/>
              </a:rPr>
              <a:t> </a:t>
            </a:r>
            <a:r>
              <a:rPr lang="en-US" sz="1000" b="1" dirty="0">
                <a:solidFill>
                  <a:srgbClr val="07152E"/>
                </a:solidFill>
                <a:latin typeface="Yu Gothic"/>
                <a:ea typeface="Yu Gothic"/>
                <a:cs typeface="Yu Gothic"/>
              </a:rPr>
              <a:t>T</a:t>
            </a:r>
            <a:endParaRPr sz="1000" b="1" dirty="0">
              <a:solidFill>
                <a:srgbClr val="07152E"/>
              </a:solidFill>
              <a:latin typeface="Yu Gothic"/>
              <a:ea typeface="Yu Gothic"/>
              <a:cs typeface="Yu Gothic"/>
            </a:endParaRPr>
          </a:p>
        </p:txBody>
      </p:sp>
      <p:sp>
        <p:nvSpPr>
          <p:cNvPr id="58" name="backward-panel">
            <a:extLst>
              <a:ext uri="{FF2B5EF4-FFF2-40B4-BE49-F238E27FC236}">
                <a16:creationId xmlns:a16="http://schemas.microsoft.com/office/drawing/2014/main" id="{ABBA41C6-B78E-3A3A-4488-8EFDA4FE1B2F}"/>
              </a:ext>
            </a:extLst>
          </p:cNvPr>
          <p:cNvSpPr>
            <a:spLocks noGrp="1"/>
          </p:cNvSpPr>
          <p:nvPr/>
        </p:nvSpPr>
        <p:spPr>
          <a:xfrm>
            <a:off x="542258" y="1994655"/>
            <a:ext cx="2192248" cy="2565036"/>
          </a:xfrm>
          <a:prstGeom prst="roundRect">
            <a:avLst>
              <a:gd name="adj" fmla="val 3348"/>
            </a:avLst>
          </a:prstGeom>
          <a:solidFill>
            <a:srgbClr val="FFFFFF"/>
          </a:solidFill>
          <a:ln w="8762">
            <a:solidFill>
              <a:srgbClr val="1959B7"/>
            </a:solidFill>
            <a:prstDash val="solid"/>
          </a:ln>
        </p:spPr>
      </p:sp>
      <p:sp>
        <p:nvSpPr>
          <p:cNvPr id="63" name="backward-heading">
            <a:extLst>
              <a:ext uri="{FF2B5EF4-FFF2-40B4-BE49-F238E27FC236}">
                <a16:creationId xmlns:a16="http://schemas.microsoft.com/office/drawing/2014/main" id="{FFAB4B9E-1AA3-87E2-E1BC-CFABC8677CA1}"/>
              </a:ext>
            </a:extLst>
          </p:cNvPr>
          <p:cNvSpPr>
            <a:spLocks noGrp="1"/>
          </p:cNvSpPr>
          <p:nvPr/>
        </p:nvSpPr>
        <p:spPr>
          <a:xfrm>
            <a:off x="1137150" y="2056130"/>
            <a:ext cx="1478371" cy="219105"/>
          </a:xfrm>
          <a:prstGeom prst="rect">
            <a:avLst/>
          </a:prstGeom>
          <a:noFill/>
          <a:ln w="0">
            <a:noFill/>
            <a:prstDash val="solid"/>
          </a:ln>
        </p:spPr>
        <p:txBody>
          <a:bodyPr/>
          <a:lstStyle/>
          <a:p>
            <a:pPr algn="l">
              <a:defRPr sz="1294" b="1">
                <a:solidFill>
                  <a:srgbClr val="07459C"/>
                </a:solidFill>
              </a:defRPr>
            </a:pPr>
            <a:r>
              <a:rPr sz="1294" b="1" dirty="0" err="1">
                <a:solidFill>
                  <a:srgbClr val="07459C"/>
                </a:solidFill>
              </a:rPr>
              <a:t>後退計算</a:t>
            </a:r>
            <a:r>
              <a:rPr sz="1294" b="1" dirty="0">
                <a:solidFill>
                  <a:srgbClr val="07459C"/>
                </a:solidFill>
              </a:rPr>
              <a:t>　0</a:t>
            </a:r>
            <a:r>
              <a:rPr lang="ja-JP" altLang="en-US" sz="1294" b="1" dirty="0">
                <a:solidFill>
                  <a:srgbClr val="07459C"/>
                </a:solidFill>
              </a:rPr>
              <a:t>←</a:t>
            </a:r>
            <a:r>
              <a:rPr lang="en-US" altLang="ja-JP" sz="1294" b="1" dirty="0">
                <a:solidFill>
                  <a:srgbClr val="07459C"/>
                </a:solidFill>
              </a:rPr>
              <a:t>T</a:t>
            </a:r>
            <a:endParaRPr sz="1294" b="1" dirty="0">
              <a:solidFill>
                <a:srgbClr val="07459C"/>
              </a:solidFill>
            </a:endParaRPr>
          </a:p>
        </p:txBody>
      </p:sp>
      <p:sp>
        <p:nvSpPr>
          <p:cNvPr id="451" name="backward-subheading">
            <a:extLst>
              <a:ext uri="{FF2B5EF4-FFF2-40B4-BE49-F238E27FC236}">
                <a16:creationId xmlns:a16="http://schemas.microsoft.com/office/drawing/2014/main" id="{72BC1982-06AF-4603-3DFC-43E04141FE13}"/>
              </a:ext>
            </a:extLst>
          </p:cNvPr>
          <p:cNvSpPr>
            <a:spLocks noGrp="1"/>
          </p:cNvSpPr>
          <p:nvPr/>
        </p:nvSpPr>
        <p:spPr>
          <a:xfrm>
            <a:off x="482903" y="2312954"/>
            <a:ext cx="2217557" cy="164329"/>
          </a:xfrm>
          <a:prstGeom prst="rect">
            <a:avLst/>
          </a:prstGeom>
          <a:noFill/>
          <a:ln w="0">
            <a:noFill/>
            <a:prstDash val="solid"/>
          </a:ln>
        </p:spPr>
        <p:txBody>
          <a:bodyPr/>
          <a:lstStyle/>
          <a:p>
            <a:pPr algn="ctr">
              <a:defRPr sz="906" b="1">
                <a:solidFill>
                  <a:srgbClr val="07459C"/>
                </a:solidFill>
              </a:defRPr>
            </a:pPr>
            <a:r>
              <a:rPr sz="906" b="1" dirty="0" err="1">
                <a:solidFill>
                  <a:srgbClr val="07459C"/>
                </a:solidFill>
              </a:rPr>
              <a:t>未来の価値から、今の最適</a:t>
            </a:r>
            <a:r>
              <a:rPr lang="ja-JP" altLang="en-US" sz="906" b="1" dirty="0">
                <a:solidFill>
                  <a:srgbClr val="07459C"/>
                </a:solidFill>
              </a:rPr>
              <a:t>方策</a:t>
            </a:r>
            <a:r>
              <a:rPr sz="906" b="1" dirty="0">
                <a:solidFill>
                  <a:srgbClr val="07459C"/>
                </a:solidFill>
              </a:rPr>
              <a:t>を</a:t>
            </a:r>
            <a:r>
              <a:rPr lang="ja-JP" altLang="en-US" sz="906" b="1" dirty="0">
                <a:solidFill>
                  <a:srgbClr val="07459C"/>
                </a:solidFill>
              </a:rPr>
              <a:t>決定</a:t>
            </a:r>
            <a:endParaRPr sz="906" b="1" dirty="0">
              <a:solidFill>
                <a:srgbClr val="07459C"/>
              </a:solidFill>
            </a:endParaRPr>
          </a:p>
        </p:txBody>
      </p:sp>
      <p:sp>
        <p:nvSpPr>
          <p:cNvPr id="455" name="bellman-formula-box">
            <a:extLst>
              <a:ext uri="{FF2B5EF4-FFF2-40B4-BE49-F238E27FC236}">
                <a16:creationId xmlns:a16="http://schemas.microsoft.com/office/drawing/2014/main" id="{E15E5014-8FDB-0A1B-83F2-B748D30FD59B}"/>
              </a:ext>
            </a:extLst>
          </p:cNvPr>
          <p:cNvSpPr>
            <a:spLocks noGrp="1"/>
          </p:cNvSpPr>
          <p:nvPr/>
        </p:nvSpPr>
        <p:spPr>
          <a:xfrm>
            <a:off x="572813" y="2565854"/>
            <a:ext cx="2102572" cy="597062"/>
          </a:xfrm>
          <a:prstGeom prst="roundRect">
            <a:avLst>
              <a:gd name="adj" fmla="val 11007"/>
            </a:avLst>
          </a:prstGeom>
          <a:solidFill>
            <a:srgbClr val="FFFFFF"/>
          </a:solidFill>
          <a:ln w="7667">
            <a:solidFill>
              <a:srgbClr val="1959B7"/>
            </a:solidFill>
            <a:prstDash val="solid"/>
          </a:ln>
        </p:spPr>
      </p:sp>
      <p:sp>
        <p:nvSpPr>
          <p:cNvPr id="459" name="policy-formula-box">
            <a:extLst>
              <a:ext uri="{FF2B5EF4-FFF2-40B4-BE49-F238E27FC236}">
                <a16:creationId xmlns:a16="http://schemas.microsoft.com/office/drawing/2014/main" id="{E7EC730C-8A56-AE17-B9F2-CF4D517DE13D}"/>
              </a:ext>
            </a:extLst>
          </p:cNvPr>
          <p:cNvSpPr>
            <a:spLocks noGrp="1"/>
          </p:cNvSpPr>
          <p:nvPr/>
        </p:nvSpPr>
        <p:spPr>
          <a:xfrm>
            <a:off x="572813" y="3266991"/>
            <a:ext cx="2102572" cy="476554"/>
          </a:xfrm>
          <a:prstGeom prst="roundRect">
            <a:avLst>
              <a:gd name="adj" fmla="val 13790"/>
            </a:avLst>
          </a:prstGeom>
          <a:solidFill>
            <a:srgbClr val="FFFFFF"/>
          </a:solidFill>
          <a:ln w="7667">
            <a:solidFill>
              <a:srgbClr val="1959B7"/>
            </a:solidFill>
            <a:prstDash val="solid"/>
          </a:ln>
        </p:spPr>
      </p:sp>
      <p:sp>
        <p:nvSpPr>
          <p:cNvPr id="463" name="backward-bullets">
            <a:extLst>
              <a:ext uri="{FF2B5EF4-FFF2-40B4-BE49-F238E27FC236}">
                <a16:creationId xmlns:a16="http://schemas.microsoft.com/office/drawing/2014/main" id="{3FE3D3B6-EBEE-5161-0172-D07812D05C02}"/>
              </a:ext>
            </a:extLst>
          </p:cNvPr>
          <p:cNvSpPr>
            <a:spLocks noGrp="1"/>
          </p:cNvSpPr>
          <p:nvPr/>
        </p:nvSpPr>
        <p:spPr>
          <a:xfrm>
            <a:off x="600192" y="3836909"/>
            <a:ext cx="2075194" cy="646361"/>
          </a:xfrm>
          <a:prstGeom prst="rect">
            <a:avLst/>
          </a:prstGeom>
          <a:noFill/>
          <a:ln w="0">
            <a:noFill/>
            <a:prstDash val="solid"/>
          </a:ln>
        </p:spPr>
        <p:txBody>
          <a:bodyPr/>
          <a:lstStyle/>
          <a:p>
            <a:pPr algn="l">
              <a:defRPr sz="949" b="1">
                <a:solidFill>
                  <a:srgbClr val="07459C"/>
                </a:solidFill>
              </a:defRPr>
            </a:pPr>
            <a:r>
              <a:rPr sz="949" b="1" dirty="0">
                <a:solidFill>
                  <a:srgbClr val="07459C"/>
                </a:solidFill>
              </a:rPr>
              <a:t>• 5点の将来価値を重み付きで集約</a:t>
            </a:r>
          </a:p>
          <a:p>
            <a:endParaRPr sz="949" b="1" dirty="0">
              <a:solidFill>
                <a:srgbClr val="07459C"/>
              </a:solidFill>
            </a:endParaRPr>
          </a:p>
          <a:p>
            <a:pPr algn="l">
              <a:defRPr sz="949" b="1">
                <a:solidFill>
                  <a:srgbClr val="07459C"/>
                </a:solidFill>
              </a:defRPr>
            </a:pPr>
            <a:r>
              <a:rPr sz="949" b="1" dirty="0">
                <a:solidFill>
                  <a:srgbClr val="07459C"/>
                </a:solidFill>
              </a:rPr>
              <a:t>• PCMV/DOMV </a:t>
            </a:r>
            <a:r>
              <a:rPr sz="949" b="1" dirty="0" err="1">
                <a:solidFill>
                  <a:srgbClr val="07459C"/>
                </a:solidFill>
              </a:rPr>
              <a:t>では価値関数</a:t>
            </a:r>
            <a:r>
              <a:rPr sz="949" b="1" dirty="0">
                <a:solidFill>
                  <a:srgbClr val="07459C"/>
                </a:solidFill>
              </a:rPr>
              <a:t>、</a:t>
            </a:r>
          </a:p>
          <a:p>
            <a:pPr algn="l">
              <a:defRPr sz="949" b="1">
                <a:solidFill>
                  <a:srgbClr val="07459C"/>
                </a:solidFill>
              </a:defRPr>
            </a:pPr>
            <a:r>
              <a:rPr sz="949" b="1" dirty="0">
                <a:solidFill>
                  <a:srgbClr val="07459C"/>
                </a:solidFill>
              </a:rPr>
              <a:t>　</a:t>
            </a:r>
            <a:r>
              <a:rPr sz="949" b="1" dirty="0" err="1">
                <a:solidFill>
                  <a:srgbClr val="07459C"/>
                </a:solidFill>
              </a:rPr>
              <a:t>TC</a:t>
            </a:r>
            <a:r>
              <a:rPr lang="en-US" altLang="ja-JP" sz="949" b="1" dirty="0" err="1">
                <a:solidFill>
                  <a:srgbClr val="07459C"/>
                </a:solidFill>
              </a:rPr>
              <a:t>MV</a:t>
            </a:r>
            <a:r>
              <a:rPr sz="949" b="1" dirty="0" err="1">
                <a:solidFill>
                  <a:srgbClr val="07459C"/>
                </a:solidFill>
              </a:rPr>
              <a:t>ではモーメント</a:t>
            </a:r>
            <a:r>
              <a:rPr lang="ja-JP" altLang="en-US" sz="949" b="1" dirty="0">
                <a:solidFill>
                  <a:srgbClr val="07459C"/>
                </a:solidFill>
              </a:rPr>
              <a:t>系</a:t>
            </a:r>
            <a:r>
              <a:rPr sz="949" b="1" dirty="0" err="1">
                <a:solidFill>
                  <a:srgbClr val="07459C"/>
                </a:solidFill>
              </a:rPr>
              <a:t>を後退</a:t>
            </a:r>
            <a:endParaRPr sz="949" b="1" dirty="0">
              <a:solidFill>
                <a:srgbClr val="07459C"/>
              </a:solidFill>
            </a:endParaRPr>
          </a:p>
        </p:txBody>
      </p:sp>
      <p:sp>
        <p:nvSpPr>
          <p:cNvPr id="467" name="step1-circle">
            <a:extLst>
              <a:ext uri="{FF2B5EF4-FFF2-40B4-BE49-F238E27FC236}">
                <a16:creationId xmlns:a16="http://schemas.microsoft.com/office/drawing/2014/main" id="{936E4A89-608E-9C66-E048-A09BBB104A7E}"/>
              </a:ext>
            </a:extLst>
          </p:cNvPr>
          <p:cNvSpPr>
            <a:spLocks noGrp="1"/>
          </p:cNvSpPr>
          <p:nvPr/>
        </p:nvSpPr>
        <p:spPr>
          <a:xfrm>
            <a:off x="940370" y="2105054"/>
            <a:ext cx="197116" cy="197195"/>
          </a:xfrm>
          <a:prstGeom prst="ellipse">
            <a:avLst/>
          </a:prstGeom>
          <a:solidFill>
            <a:srgbClr val="07459C"/>
          </a:solidFill>
          <a:ln w="5477">
            <a:solidFill>
              <a:srgbClr val="07459C"/>
            </a:solidFill>
            <a:prstDash val="solid"/>
          </a:ln>
        </p:spPr>
      </p:sp>
      <p:sp>
        <p:nvSpPr>
          <p:cNvPr id="471" name="step1-number">
            <a:extLst>
              <a:ext uri="{FF2B5EF4-FFF2-40B4-BE49-F238E27FC236}">
                <a16:creationId xmlns:a16="http://schemas.microsoft.com/office/drawing/2014/main" id="{206C5162-0208-61F8-94F0-9EF4FFEBCA51}"/>
              </a:ext>
            </a:extLst>
          </p:cNvPr>
          <p:cNvSpPr>
            <a:spLocks noGrp="1"/>
          </p:cNvSpPr>
          <p:nvPr/>
        </p:nvSpPr>
        <p:spPr>
          <a:xfrm>
            <a:off x="978698" y="2085132"/>
            <a:ext cx="120460" cy="169807"/>
          </a:xfrm>
          <a:prstGeom prst="rect">
            <a:avLst/>
          </a:prstGeom>
          <a:noFill/>
          <a:ln w="0">
            <a:noFill/>
            <a:prstDash val="solid"/>
          </a:ln>
        </p:spPr>
        <p:txBody>
          <a:bodyPr/>
          <a:lstStyle/>
          <a:p>
            <a:pPr algn="ctr">
              <a:defRPr sz="1035" b="1">
                <a:solidFill>
                  <a:srgbClr val="FFFFFF"/>
                </a:solidFill>
              </a:defRPr>
            </a:pPr>
            <a:r>
              <a:rPr sz="1035" b="1" dirty="0">
                <a:solidFill>
                  <a:srgbClr val="FFFFFF"/>
                </a:solidFill>
              </a:rPr>
              <a:t>1</a:t>
            </a:r>
          </a:p>
        </p:txBody>
      </p:sp>
      <p:sp>
        <p:nvSpPr>
          <p:cNvPr id="475" name="backward-arrow">
            <a:extLst>
              <a:ext uri="{FF2B5EF4-FFF2-40B4-BE49-F238E27FC236}">
                <a16:creationId xmlns:a16="http://schemas.microsoft.com/office/drawing/2014/main" id="{B3B8E4A6-A46A-C1C0-7748-1FC6967BD349}"/>
              </a:ext>
            </a:extLst>
          </p:cNvPr>
          <p:cNvSpPr>
            <a:spLocks noGrp="1"/>
          </p:cNvSpPr>
          <p:nvPr/>
        </p:nvSpPr>
        <p:spPr>
          <a:xfrm rot="10800000">
            <a:off x="6346800" y="4559690"/>
            <a:ext cx="2340000" cy="216000"/>
          </a:xfrm>
          <a:prstGeom prst="leftArrow">
            <a:avLst/>
          </a:prstGeom>
          <a:solidFill>
            <a:srgbClr val="16875C"/>
          </a:solidFill>
          <a:ln w="5715">
            <a:solidFill>
              <a:srgbClr val="1764C0"/>
            </a:solidFill>
            <a:prstDash val="solid"/>
          </a:ln>
        </p:spPr>
      </p:sp>
      <p:sp>
        <p:nvSpPr>
          <p:cNvPr id="479" name="backward-arrow">
            <a:extLst>
              <a:ext uri="{FF2B5EF4-FFF2-40B4-BE49-F238E27FC236}">
                <a16:creationId xmlns:a16="http://schemas.microsoft.com/office/drawing/2014/main" id="{D06CBF3B-7069-4CF9-ED83-9A632EF252DE}"/>
              </a:ext>
            </a:extLst>
          </p:cNvPr>
          <p:cNvSpPr>
            <a:spLocks noGrp="1"/>
          </p:cNvSpPr>
          <p:nvPr/>
        </p:nvSpPr>
        <p:spPr>
          <a:xfrm>
            <a:off x="397739" y="4643461"/>
            <a:ext cx="2376000" cy="108000"/>
          </a:xfrm>
          <a:prstGeom prst="flowChartProcess">
            <a:avLst/>
          </a:prstGeom>
          <a:solidFill>
            <a:srgbClr val="16875C"/>
          </a:solidFill>
          <a:ln w="5715">
            <a:solidFill>
              <a:srgbClr val="1764C0"/>
            </a:solidFill>
            <a:prstDash val="solid"/>
          </a:ln>
        </p:spPr>
      </p:sp>
      <p:pic>
        <p:nvPicPr>
          <p:cNvPr id="483" name="図 482">
            <a:extLst>
              <a:ext uri="{FF2B5EF4-FFF2-40B4-BE49-F238E27FC236}">
                <a16:creationId xmlns:a16="http://schemas.microsoft.com/office/drawing/2014/main" id="{E7A91077-A0BB-22F8-C2DE-A7B727C9EE1A}"/>
              </a:ext>
            </a:extLst>
          </p:cNvPr>
          <p:cNvPicPr>
            <a:picLocks noChangeAspect="1"/>
          </p:cNvPicPr>
          <p:nvPr/>
        </p:nvPicPr>
        <p:blipFill>
          <a:blip r:embed="rId3"/>
          <a:stretch>
            <a:fillRect/>
          </a:stretch>
        </p:blipFill>
        <p:spPr>
          <a:xfrm>
            <a:off x="640365" y="2726144"/>
            <a:ext cx="1975156" cy="314706"/>
          </a:xfrm>
          <a:prstGeom prst="rect">
            <a:avLst/>
          </a:prstGeom>
        </p:spPr>
      </p:pic>
      <p:pic>
        <p:nvPicPr>
          <p:cNvPr id="487" name="図 486">
            <a:extLst>
              <a:ext uri="{FF2B5EF4-FFF2-40B4-BE49-F238E27FC236}">
                <a16:creationId xmlns:a16="http://schemas.microsoft.com/office/drawing/2014/main" id="{88A957BB-681B-DBCB-2353-FBE59A5DCE13}"/>
              </a:ext>
            </a:extLst>
          </p:cNvPr>
          <p:cNvPicPr>
            <a:picLocks noChangeAspect="1"/>
          </p:cNvPicPr>
          <p:nvPr/>
        </p:nvPicPr>
        <p:blipFill>
          <a:blip r:embed="rId4"/>
          <a:stretch>
            <a:fillRect/>
          </a:stretch>
        </p:blipFill>
        <p:spPr>
          <a:xfrm>
            <a:off x="737883" y="3329923"/>
            <a:ext cx="1695711" cy="363367"/>
          </a:xfrm>
          <a:prstGeom prst="rect">
            <a:avLst/>
          </a:prstGeom>
        </p:spPr>
      </p:pic>
      <p:sp>
        <p:nvSpPr>
          <p:cNvPr id="223" name="kernel-panel">
            <a:extLst>
              <a:ext uri="{FF2B5EF4-FFF2-40B4-BE49-F238E27FC236}">
                <a16:creationId xmlns:a16="http://schemas.microsoft.com/office/drawing/2014/main" id="{EB994CDD-71E7-3F16-5B9B-BFFEAEF0295B}"/>
              </a:ext>
            </a:extLst>
          </p:cNvPr>
          <p:cNvSpPr>
            <a:spLocks noGrp="1"/>
          </p:cNvSpPr>
          <p:nvPr/>
        </p:nvSpPr>
        <p:spPr>
          <a:xfrm>
            <a:off x="3170946" y="1994654"/>
            <a:ext cx="2770577" cy="2535969"/>
          </a:xfrm>
          <a:prstGeom prst="roundRect">
            <a:avLst>
              <a:gd name="adj" fmla="val 3187"/>
            </a:avLst>
          </a:prstGeom>
          <a:solidFill>
            <a:srgbClr val="FFFFFF"/>
          </a:solidFill>
          <a:ln w="8762">
            <a:solidFill>
              <a:srgbClr val="07459C"/>
            </a:solidFill>
            <a:prstDash val="solid"/>
          </a:ln>
        </p:spPr>
      </p:sp>
      <p:sp>
        <p:nvSpPr>
          <p:cNvPr id="227" name="backward-chevron">
            <a:extLst>
              <a:ext uri="{FF2B5EF4-FFF2-40B4-BE49-F238E27FC236}">
                <a16:creationId xmlns:a16="http://schemas.microsoft.com/office/drawing/2014/main" id="{10BBBEEC-3214-EC38-13A0-9E5095880ED2}"/>
              </a:ext>
            </a:extLst>
          </p:cNvPr>
          <p:cNvSpPr>
            <a:spLocks noGrp="1"/>
          </p:cNvSpPr>
          <p:nvPr/>
        </p:nvSpPr>
        <p:spPr>
          <a:xfrm>
            <a:off x="2906321" y="3040883"/>
            <a:ext cx="131411" cy="498465"/>
          </a:xfrm>
          <a:prstGeom prst="leftArrow">
            <a:avLst/>
          </a:prstGeom>
          <a:solidFill>
            <a:srgbClr val="07459C"/>
          </a:solidFill>
          <a:ln w="5477">
            <a:solidFill>
              <a:srgbClr val="07459C"/>
            </a:solidFill>
            <a:prstDash val="solid"/>
          </a:ln>
        </p:spPr>
      </p:sp>
      <p:sp>
        <p:nvSpPr>
          <p:cNvPr id="231" name="forward-chevron">
            <a:extLst>
              <a:ext uri="{FF2B5EF4-FFF2-40B4-BE49-F238E27FC236}">
                <a16:creationId xmlns:a16="http://schemas.microsoft.com/office/drawing/2014/main" id="{CB726316-1F1D-EC5D-188F-4592046B95D3}"/>
              </a:ext>
            </a:extLst>
          </p:cNvPr>
          <p:cNvSpPr>
            <a:spLocks noGrp="1"/>
          </p:cNvSpPr>
          <p:nvPr/>
        </p:nvSpPr>
        <p:spPr>
          <a:xfrm>
            <a:off x="6012703" y="3049098"/>
            <a:ext cx="153313" cy="498465"/>
          </a:xfrm>
          <a:prstGeom prst="rightArrow">
            <a:avLst/>
          </a:prstGeom>
          <a:solidFill>
            <a:srgbClr val="007A34"/>
          </a:solidFill>
          <a:ln w="5477">
            <a:solidFill>
              <a:srgbClr val="007A34"/>
            </a:solidFill>
            <a:prstDash val="solid"/>
          </a:ln>
        </p:spPr>
      </p:sp>
      <p:sp>
        <p:nvSpPr>
          <p:cNvPr id="235" name="kernel-title">
            <a:extLst>
              <a:ext uri="{FF2B5EF4-FFF2-40B4-BE49-F238E27FC236}">
                <a16:creationId xmlns:a16="http://schemas.microsoft.com/office/drawing/2014/main" id="{35162F98-9434-0725-93A9-4856149AA18D}"/>
              </a:ext>
            </a:extLst>
          </p:cNvPr>
          <p:cNvSpPr>
            <a:spLocks noGrp="1"/>
          </p:cNvSpPr>
          <p:nvPr/>
        </p:nvSpPr>
        <p:spPr>
          <a:xfrm>
            <a:off x="3641835" y="1994654"/>
            <a:ext cx="1806898" cy="246494"/>
          </a:xfrm>
          <a:prstGeom prst="roundRect">
            <a:avLst>
              <a:gd name="adj" fmla="val 15552"/>
            </a:avLst>
          </a:prstGeom>
          <a:solidFill>
            <a:srgbClr val="07459C"/>
          </a:solidFill>
          <a:ln w="5477">
            <a:solidFill>
              <a:srgbClr val="07459C"/>
            </a:solidFill>
            <a:prstDash val="solid"/>
          </a:ln>
        </p:spPr>
      </p:sp>
      <p:sp>
        <p:nvSpPr>
          <p:cNvPr id="239" name="kernel-title-label">
            <a:extLst>
              <a:ext uri="{FF2B5EF4-FFF2-40B4-BE49-F238E27FC236}">
                <a16:creationId xmlns:a16="http://schemas.microsoft.com/office/drawing/2014/main" id="{E94F951B-AC69-BA58-34CE-8EC4016528FF}"/>
              </a:ext>
            </a:extLst>
          </p:cNvPr>
          <p:cNvSpPr>
            <a:spLocks noGrp="1"/>
          </p:cNvSpPr>
          <p:nvPr/>
        </p:nvSpPr>
        <p:spPr>
          <a:xfrm>
            <a:off x="3860853" y="1997040"/>
            <a:ext cx="1368862" cy="164329"/>
          </a:xfrm>
          <a:prstGeom prst="rect">
            <a:avLst/>
          </a:prstGeom>
          <a:noFill/>
          <a:ln w="0">
            <a:noFill/>
            <a:prstDash val="solid"/>
          </a:ln>
        </p:spPr>
        <p:txBody>
          <a:bodyPr/>
          <a:lstStyle/>
          <a:p>
            <a:pPr algn="ctr">
              <a:defRPr sz="1164" b="1">
                <a:solidFill>
                  <a:srgbClr val="FFFFFF"/>
                </a:solidFill>
              </a:defRPr>
            </a:pPr>
            <a:r>
              <a:rPr sz="1164" b="1" dirty="0">
                <a:solidFill>
                  <a:srgbClr val="FFFFFF"/>
                </a:solidFill>
              </a:rPr>
              <a:t>共通の5点遷移核</a:t>
            </a:r>
          </a:p>
        </p:txBody>
      </p:sp>
      <p:pic>
        <p:nvPicPr>
          <p:cNvPr id="623" name="図 622">
            <a:extLst>
              <a:ext uri="{FF2B5EF4-FFF2-40B4-BE49-F238E27FC236}">
                <a16:creationId xmlns:a16="http://schemas.microsoft.com/office/drawing/2014/main" id="{E491D4CB-432F-DD5A-2421-0BA0C74A0FBC}"/>
              </a:ext>
            </a:extLst>
          </p:cNvPr>
          <p:cNvPicPr>
            <a:picLocks noChangeAspect="1"/>
          </p:cNvPicPr>
          <p:nvPr/>
        </p:nvPicPr>
        <p:blipFill>
          <a:blip r:embed="rId5"/>
          <a:stretch>
            <a:fillRect/>
          </a:stretch>
        </p:blipFill>
        <p:spPr>
          <a:xfrm>
            <a:off x="3338300" y="2322959"/>
            <a:ext cx="2381116" cy="860118"/>
          </a:xfrm>
          <a:prstGeom prst="rect">
            <a:avLst/>
          </a:prstGeom>
        </p:spPr>
      </p:pic>
      <p:pic>
        <p:nvPicPr>
          <p:cNvPr id="625" name="図 624">
            <a:extLst>
              <a:ext uri="{FF2B5EF4-FFF2-40B4-BE49-F238E27FC236}">
                <a16:creationId xmlns:a16="http://schemas.microsoft.com/office/drawing/2014/main" id="{EE94D4CE-C9E9-B434-540A-0D6974ACFB6A}"/>
              </a:ext>
            </a:extLst>
          </p:cNvPr>
          <p:cNvPicPr>
            <a:picLocks noChangeAspect="1"/>
          </p:cNvPicPr>
          <p:nvPr/>
        </p:nvPicPr>
        <p:blipFill>
          <a:blip r:embed="rId6"/>
          <a:stretch>
            <a:fillRect/>
          </a:stretch>
        </p:blipFill>
        <p:spPr>
          <a:xfrm>
            <a:off x="3229549" y="3262638"/>
            <a:ext cx="2632595" cy="1001286"/>
          </a:xfrm>
          <a:prstGeom prst="rect">
            <a:avLst/>
          </a:prstGeom>
        </p:spPr>
      </p:pic>
      <p:sp>
        <p:nvSpPr>
          <p:cNvPr id="633" name="forward-panel">
            <a:extLst>
              <a:ext uri="{FF2B5EF4-FFF2-40B4-BE49-F238E27FC236}">
                <a16:creationId xmlns:a16="http://schemas.microsoft.com/office/drawing/2014/main" id="{D98F1F57-6089-BC57-6F8F-E9D08ED5D46B}"/>
              </a:ext>
            </a:extLst>
          </p:cNvPr>
          <p:cNvSpPr>
            <a:spLocks noGrp="1"/>
          </p:cNvSpPr>
          <p:nvPr/>
        </p:nvSpPr>
        <p:spPr>
          <a:xfrm>
            <a:off x="6237196" y="1990314"/>
            <a:ext cx="2379130" cy="2569378"/>
          </a:xfrm>
          <a:prstGeom prst="roundRect">
            <a:avLst>
              <a:gd name="adj" fmla="val 3187"/>
            </a:avLst>
          </a:prstGeom>
          <a:solidFill>
            <a:srgbClr val="FFFFFF"/>
          </a:solidFill>
          <a:ln w="8762">
            <a:solidFill>
              <a:srgbClr val="169447"/>
            </a:solidFill>
            <a:prstDash val="solid"/>
          </a:ln>
        </p:spPr>
      </p:sp>
      <p:sp>
        <p:nvSpPr>
          <p:cNvPr id="651" name="step2-circle">
            <a:extLst>
              <a:ext uri="{FF2B5EF4-FFF2-40B4-BE49-F238E27FC236}">
                <a16:creationId xmlns:a16="http://schemas.microsoft.com/office/drawing/2014/main" id="{8806247B-3EF6-A838-6225-1C2E4849D1BF}"/>
              </a:ext>
            </a:extLst>
          </p:cNvPr>
          <p:cNvSpPr>
            <a:spLocks noGrp="1"/>
          </p:cNvSpPr>
          <p:nvPr/>
        </p:nvSpPr>
        <p:spPr>
          <a:xfrm>
            <a:off x="6540591" y="2108211"/>
            <a:ext cx="197116" cy="197195"/>
          </a:xfrm>
          <a:prstGeom prst="ellipse">
            <a:avLst/>
          </a:prstGeom>
          <a:solidFill>
            <a:srgbClr val="007A34"/>
          </a:solidFill>
          <a:ln w="5477">
            <a:solidFill>
              <a:srgbClr val="007A34"/>
            </a:solidFill>
            <a:prstDash val="solid"/>
          </a:ln>
        </p:spPr>
      </p:sp>
      <p:sp>
        <p:nvSpPr>
          <p:cNvPr id="653" name="step2-number">
            <a:extLst>
              <a:ext uri="{FF2B5EF4-FFF2-40B4-BE49-F238E27FC236}">
                <a16:creationId xmlns:a16="http://schemas.microsoft.com/office/drawing/2014/main" id="{EF610901-BA93-645B-51E9-7422618B6C5C}"/>
              </a:ext>
            </a:extLst>
          </p:cNvPr>
          <p:cNvSpPr>
            <a:spLocks noGrp="1"/>
          </p:cNvSpPr>
          <p:nvPr/>
        </p:nvSpPr>
        <p:spPr>
          <a:xfrm>
            <a:off x="6586414" y="2091203"/>
            <a:ext cx="120460" cy="169807"/>
          </a:xfrm>
          <a:prstGeom prst="rect">
            <a:avLst/>
          </a:prstGeom>
          <a:noFill/>
          <a:ln w="0">
            <a:noFill/>
            <a:prstDash val="solid"/>
          </a:ln>
        </p:spPr>
        <p:txBody>
          <a:bodyPr/>
          <a:lstStyle/>
          <a:p>
            <a:pPr algn="ctr">
              <a:defRPr sz="1035" b="1">
                <a:solidFill>
                  <a:srgbClr val="FFFFFF"/>
                </a:solidFill>
              </a:defRPr>
            </a:pPr>
            <a:r>
              <a:rPr sz="1035" b="1" dirty="0">
                <a:solidFill>
                  <a:srgbClr val="FFFFFF"/>
                </a:solidFill>
              </a:rPr>
              <a:t>2</a:t>
            </a:r>
          </a:p>
        </p:txBody>
      </p:sp>
      <p:sp>
        <p:nvSpPr>
          <p:cNvPr id="655" name="forward-heading">
            <a:extLst>
              <a:ext uri="{FF2B5EF4-FFF2-40B4-BE49-F238E27FC236}">
                <a16:creationId xmlns:a16="http://schemas.microsoft.com/office/drawing/2014/main" id="{85B3823A-8628-DD30-BF6C-7FB7AB2878E2}"/>
              </a:ext>
            </a:extLst>
          </p:cNvPr>
          <p:cNvSpPr>
            <a:spLocks noGrp="1"/>
          </p:cNvSpPr>
          <p:nvPr/>
        </p:nvSpPr>
        <p:spPr>
          <a:xfrm>
            <a:off x="6808888" y="2081691"/>
            <a:ext cx="1642635" cy="219105"/>
          </a:xfrm>
          <a:prstGeom prst="rect">
            <a:avLst/>
          </a:prstGeom>
          <a:noFill/>
          <a:ln w="0">
            <a:noFill/>
            <a:prstDash val="solid"/>
          </a:ln>
        </p:spPr>
        <p:txBody>
          <a:bodyPr/>
          <a:lstStyle/>
          <a:p>
            <a:pPr algn="l">
              <a:defRPr sz="1294" b="1">
                <a:solidFill>
                  <a:srgbClr val="007A34"/>
                </a:solidFill>
              </a:defRPr>
            </a:pPr>
            <a:r>
              <a:rPr sz="1294" b="1" dirty="0" err="1">
                <a:solidFill>
                  <a:srgbClr val="007A34"/>
                </a:solidFill>
              </a:rPr>
              <a:t>前進評価</a:t>
            </a:r>
            <a:r>
              <a:rPr sz="1294" b="1" dirty="0">
                <a:solidFill>
                  <a:srgbClr val="007A34"/>
                </a:solidFill>
              </a:rPr>
              <a:t>　0 → T</a:t>
            </a:r>
          </a:p>
        </p:txBody>
      </p:sp>
      <p:sp>
        <p:nvSpPr>
          <p:cNvPr id="657" name="forward-subheading">
            <a:extLst>
              <a:ext uri="{FF2B5EF4-FFF2-40B4-BE49-F238E27FC236}">
                <a16:creationId xmlns:a16="http://schemas.microsoft.com/office/drawing/2014/main" id="{A696D26B-D3C1-2505-D73E-7A116F3C6E7C}"/>
              </a:ext>
            </a:extLst>
          </p:cNvPr>
          <p:cNvSpPr>
            <a:spLocks noGrp="1"/>
          </p:cNvSpPr>
          <p:nvPr/>
        </p:nvSpPr>
        <p:spPr>
          <a:xfrm>
            <a:off x="6081507" y="2376615"/>
            <a:ext cx="2792479" cy="164329"/>
          </a:xfrm>
          <a:prstGeom prst="rect">
            <a:avLst/>
          </a:prstGeom>
          <a:noFill/>
          <a:ln w="0">
            <a:noFill/>
            <a:prstDash val="solid"/>
          </a:ln>
        </p:spPr>
        <p:txBody>
          <a:bodyPr/>
          <a:lstStyle/>
          <a:p>
            <a:pPr algn="ctr">
              <a:defRPr sz="906" b="1">
                <a:solidFill>
                  <a:srgbClr val="007A34"/>
                </a:solidFill>
              </a:defRPr>
            </a:pPr>
            <a:r>
              <a:rPr sz="906" b="1" dirty="0" err="1">
                <a:solidFill>
                  <a:srgbClr val="007A34"/>
                </a:solidFill>
              </a:rPr>
              <a:t>決めた</a:t>
            </a:r>
            <a:r>
              <a:rPr sz="906" b="1" dirty="0">
                <a:solidFill>
                  <a:srgbClr val="007A34"/>
                </a:solidFill>
              </a:rPr>
              <a:t> π* </a:t>
            </a:r>
            <a:r>
              <a:rPr sz="906" b="1" dirty="0" err="1">
                <a:solidFill>
                  <a:srgbClr val="007A34"/>
                </a:solidFill>
              </a:rPr>
              <a:t>の下で、確率質量</a:t>
            </a:r>
            <a:r>
              <a:rPr lang="ja-JP" altLang="en-US" sz="906" b="1" dirty="0">
                <a:solidFill>
                  <a:srgbClr val="007A34"/>
                </a:solidFill>
              </a:rPr>
              <a:t>から</a:t>
            </a:r>
            <a:r>
              <a:rPr sz="906" b="1" dirty="0" err="1">
                <a:solidFill>
                  <a:srgbClr val="007A34"/>
                </a:solidFill>
              </a:rPr>
              <a:t>分布を作る</a:t>
            </a:r>
            <a:endParaRPr sz="906" b="1" dirty="0">
              <a:solidFill>
                <a:srgbClr val="007A34"/>
              </a:solidFill>
            </a:endParaRPr>
          </a:p>
        </p:txBody>
      </p:sp>
      <p:pic>
        <p:nvPicPr>
          <p:cNvPr id="661" name="図 660">
            <a:extLst>
              <a:ext uri="{FF2B5EF4-FFF2-40B4-BE49-F238E27FC236}">
                <a16:creationId xmlns:a16="http://schemas.microsoft.com/office/drawing/2014/main" id="{16A75BC2-1BDB-0111-420D-AF4D47C5C99E}"/>
              </a:ext>
            </a:extLst>
          </p:cNvPr>
          <p:cNvPicPr>
            <a:picLocks noChangeAspect="1"/>
          </p:cNvPicPr>
          <p:nvPr/>
        </p:nvPicPr>
        <p:blipFill>
          <a:blip r:embed="rId7"/>
          <a:stretch>
            <a:fillRect/>
          </a:stretch>
        </p:blipFill>
        <p:spPr>
          <a:xfrm>
            <a:off x="6321705" y="2662561"/>
            <a:ext cx="2232082" cy="1334724"/>
          </a:xfrm>
          <a:prstGeom prst="rect">
            <a:avLst/>
          </a:prstGeom>
        </p:spPr>
      </p:pic>
      <p:sp>
        <p:nvSpPr>
          <p:cNvPr id="663" name="backward-bullets">
            <a:extLst>
              <a:ext uri="{FF2B5EF4-FFF2-40B4-BE49-F238E27FC236}">
                <a16:creationId xmlns:a16="http://schemas.microsoft.com/office/drawing/2014/main" id="{60E16992-9BF7-BF5A-EB4A-5CF5A1D13952}"/>
              </a:ext>
            </a:extLst>
          </p:cNvPr>
          <p:cNvSpPr>
            <a:spLocks noGrp="1"/>
          </p:cNvSpPr>
          <p:nvPr/>
        </p:nvSpPr>
        <p:spPr>
          <a:xfrm>
            <a:off x="6259166" y="3997285"/>
            <a:ext cx="2075194" cy="488391"/>
          </a:xfrm>
          <a:prstGeom prst="rect">
            <a:avLst/>
          </a:prstGeom>
          <a:noFill/>
          <a:ln w="0">
            <a:noFill/>
            <a:prstDash val="solid"/>
          </a:ln>
        </p:spPr>
        <p:txBody>
          <a:bodyPr/>
          <a:lstStyle/>
          <a:p>
            <a:pPr algn="l">
              <a:defRPr sz="949" b="1">
                <a:solidFill>
                  <a:srgbClr val="07459C"/>
                </a:solidFill>
              </a:defRPr>
            </a:pPr>
            <a:r>
              <a:rPr sz="949" b="1" dirty="0">
                <a:solidFill>
                  <a:srgbClr val="16875C"/>
                </a:solidFill>
              </a:rPr>
              <a:t>• </a:t>
            </a:r>
            <a:r>
              <a:rPr lang="ja-JP" altLang="en-US" sz="949" b="1" dirty="0">
                <a:solidFill>
                  <a:srgbClr val="16875C"/>
                </a:solidFill>
              </a:rPr>
              <a:t>モンテカルロ法によらず高速で収束</a:t>
            </a:r>
            <a:endParaRPr sz="949" b="1" dirty="0">
              <a:solidFill>
                <a:srgbClr val="16875C"/>
              </a:solidFill>
            </a:endParaRPr>
          </a:p>
        </p:txBody>
      </p:sp>
    </p:spTree>
    <p:extLst>
      <p:ext uri="{BB962C8B-B14F-4D97-AF65-F5344CB8AC3E}">
        <p14:creationId xmlns:p14="http://schemas.microsoft.com/office/powerpoint/2010/main" val="3707055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B5FB2-DE08-01C4-4B0F-3D45E31A046E}"/>
              </a:ext>
            </a:extLst>
          </p:cNvPr>
          <p:cNvSpPr>
            <a:spLocks noGrp="1"/>
          </p:cNvSpPr>
          <p:nvPr>
            <p:ph type="title"/>
          </p:nvPr>
        </p:nvSpPr>
        <p:spPr>
          <a:xfrm>
            <a:off x="457200" y="990600"/>
            <a:ext cx="8229600" cy="609600"/>
          </a:xfrm>
        </p:spPr>
        <p:txBody>
          <a:bodyPr wrap="none" lIns="0" tIns="0" rIns="0" bIns="0" anchor="ctr">
            <a:normAutofit/>
          </a:bodyPr>
          <a:lstStyle/>
          <a:p>
            <a:pPr algn="l">
              <a:buNone/>
              <a:defRPr sz="2138" b="1">
                <a:solidFill>
                  <a:srgbClr val="111827"/>
                </a:solidFill>
                <a:latin typeface="Noto Sans CJK JP"/>
                <a:ea typeface="Noto Sans CJK JP"/>
                <a:cs typeface="Noto Sans CJK JP"/>
              </a:defRPr>
            </a:pPr>
            <a:r>
              <a:rPr sz="2138" b="1" dirty="0">
                <a:solidFill>
                  <a:srgbClr val="111827"/>
                </a:solidFill>
                <a:latin typeface="Noto Sans CJK JP"/>
                <a:ea typeface="Noto Sans CJK JP"/>
                <a:cs typeface="Noto Sans CJK JP"/>
              </a:rPr>
              <a:t>期待終端富を84.78に揃え、分布とリスク時期を比較する</a:t>
            </a:r>
          </a:p>
        </p:txBody>
      </p:sp>
      <p:sp>
        <p:nvSpPr>
          <p:cNvPr id="3" name="title-divider">
            <a:extLst>
              <a:ext uri="{FF2B5EF4-FFF2-40B4-BE49-F238E27FC236}">
                <a16:creationId xmlns:a16="http://schemas.microsoft.com/office/drawing/2014/main" id="{8D5FC74D-17D9-4766-AA74-A432B63EF0DF}"/>
              </a:ext>
            </a:extLst>
          </p:cNvPr>
          <p:cNvSpPr>
            <a:spLocks noGrp="1"/>
          </p:cNvSpPr>
          <p:nvPr/>
        </p:nvSpPr>
        <p:spPr>
          <a:xfrm>
            <a:off x="457200" y="1676400"/>
            <a:ext cx="8229600" cy="9525"/>
          </a:xfrm>
          <a:prstGeom prst="rect">
            <a:avLst/>
          </a:prstGeom>
          <a:solidFill>
            <a:srgbClr val="E5EAF0"/>
          </a:solidFill>
          <a:ln w="0">
            <a:noFill/>
            <a:prstDash val="solid"/>
          </a:ln>
        </p:spPr>
      </p:sp>
      <p:sp>
        <p:nvSpPr>
          <p:cNvPr id="4" name="title-accent">
            <a:extLst>
              <a:ext uri="{FF2B5EF4-FFF2-40B4-BE49-F238E27FC236}">
                <a16:creationId xmlns:a16="http://schemas.microsoft.com/office/drawing/2014/main" id="{CCEE2AC8-B051-4C67-B874-C132CC972EFF}"/>
              </a:ext>
            </a:extLst>
          </p:cNvPr>
          <p:cNvSpPr>
            <a:spLocks noGrp="1"/>
          </p:cNvSpPr>
          <p:nvPr/>
        </p:nvSpPr>
        <p:spPr>
          <a:xfrm>
            <a:off x="457200" y="1666875"/>
            <a:ext cx="552450" cy="38100"/>
          </a:xfrm>
          <a:prstGeom prst="rect">
            <a:avLst/>
          </a:prstGeom>
          <a:solidFill>
            <a:srgbClr val="4A90E2"/>
          </a:solidFill>
          <a:ln w="0">
            <a:noFill/>
            <a:prstDash val="solid"/>
          </a:ln>
        </p:spPr>
      </p:sp>
      <p:sp>
        <p:nvSpPr>
          <p:cNvPr id="28" name="chapter-tab-1">
            <a:extLst>
              <a:ext uri="{FF2B5EF4-FFF2-40B4-BE49-F238E27FC236}">
                <a16:creationId xmlns:a16="http://schemas.microsoft.com/office/drawing/2014/main" id="{DE1B5A8C-12AA-40DE-9375-3D79FAFC7048}"/>
              </a:ext>
            </a:extLst>
          </p:cNvPr>
          <p:cNvSpPr>
            <a:spLocks noGrp="1"/>
          </p:cNvSpPr>
          <p:nvPr/>
        </p:nvSpPr>
        <p:spPr>
          <a:xfrm>
            <a:off x="457200" y="4857750"/>
            <a:ext cx="2057400" cy="238125"/>
          </a:xfrm>
          <a:prstGeom prst="parallelogram">
            <a:avLst/>
          </a:prstGeom>
          <a:solidFill>
            <a:srgbClr val="FFFFFF"/>
          </a:solidFill>
          <a:ln w="10001">
            <a:solidFill>
              <a:srgbClr val="4A90E2"/>
            </a:solidFill>
            <a:prstDash val="solid"/>
          </a:ln>
        </p:spPr>
        <p:txBody>
          <a:bodyPr wrap="none" lIns="76200" tIns="0" rIns="76200" bIns="0" anchor="ctr">
            <a:normAutofit/>
          </a:bodyPr>
          <a:lstStyle/>
          <a:p>
            <a:pPr algn="ctr">
              <a:buNone/>
              <a:defRPr sz="998" b="1">
                <a:solidFill>
                  <a:srgbClr val="4A90E2"/>
                </a:solidFill>
                <a:latin typeface="Noto Sans CJK JP"/>
                <a:ea typeface="Noto Sans CJK JP"/>
                <a:cs typeface="Noto Sans CJK JP"/>
              </a:defRPr>
            </a:pPr>
            <a:r>
              <a:rPr sz="998" b="1">
                <a:solidFill>
                  <a:srgbClr val="4A90E2"/>
                </a:solidFill>
                <a:latin typeface="Noto Sans CJK JP"/>
                <a:ea typeface="Noto Sans CJK JP"/>
                <a:cs typeface="Noto Sans CJK JP"/>
              </a:rPr>
              <a:t>1 前提</a:t>
            </a:r>
          </a:p>
        </p:txBody>
      </p:sp>
      <p:sp>
        <p:nvSpPr>
          <p:cNvPr id="29" name="chapter-tab-2">
            <a:extLst>
              <a:ext uri="{FF2B5EF4-FFF2-40B4-BE49-F238E27FC236}">
                <a16:creationId xmlns:a16="http://schemas.microsoft.com/office/drawing/2014/main" id="{6C89CD04-DA57-4DBB-8B5D-D22C7C770FDA}"/>
              </a:ext>
            </a:extLst>
          </p:cNvPr>
          <p:cNvSpPr>
            <a:spLocks noGrp="1"/>
          </p:cNvSpPr>
          <p:nvPr/>
        </p:nvSpPr>
        <p:spPr>
          <a:xfrm>
            <a:off x="2428875" y="4857750"/>
            <a:ext cx="2057400" cy="238125"/>
          </a:xfrm>
          <a:prstGeom prst="parallelogram">
            <a:avLst/>
          </a:prstGeom>
          <a:solidFill>
            <a:srgbClr val="FFFFFF"/>
          </a:solidFill>
          <a:ln w="10001">
            <a:solidFill>
              <a:srgbClr val="2F73B7"/>
            </a:solidFill>
            <a:prstDash val="solid"/>
          </a:ln>
        </p:spPr>
        <p:txBody>
          <a:bodyPr wrap="none" lIns="76200" tIns="0" rIns="76200" bIns="0" anchor="ctr">
            <a:normAutofit/>
          </a:bodyPr>
          <a:lstStyle/>
          <a:p>
            <a:pPr algn="ctr">
              <a:buNone/>
              <a:defRPr sz="998" b="1">
                <a:solidFill>
                  <a:srgbClr val="2F73B7"/>
                </a:solidFill>
                <a:latin typeface="Noto Sans CJK JP"/>
                <a:ea typeface="Noto Sans CJK JP"/>
                <a:cs typeface="Noto Sans CJK JP"/>
              </a:defRPr>
            </a:pPr>
            <a:r>
              <a:rPr sz="998" b="1">
                <a:solidFill>
                  <a:srgbClr val="2F73B7"/>
                </a:solidFill>
                <a:latin typeface="Noto Sans CJK JP"/>
                <a:ea typeface="Noto Sans CJK JP"/>
                <a:cs typeface="Noto Sans CJK JP"/>
              </a:rPr>
              <a:t>2 数理理論</a:t>
            </a:r>
          </a:p>
        </p:txBody>
      </p:sp>
      <p:sp>
        <p:nvSpPr>
          <p:cNvPr id="30" name="chapter-tab-3">
            <a:extLst>
              <a:ext uri="{FF2B5EF4-FFF2-40B4-BE49-F238E27FC236}">
                <a16:creationId xmlns:a16="http://schemas.microsoft.com/office/drawing/2014/main" id="{93A5C2DD-9661-483A-83F8-AB549D84ED51}"/>
              </a:ext>
            </a:extLst>
          </p:cNvPr>
          <p:cNvSpPr>
            <a:spLocks noGrp="1"/>
          </p:cNvSpPr>
          <p:nvPr/>
        </p:nvSpPr>
        <p:spPr>
          <a:xfrm>
            <a:off x="4400550" y="4857750"/>
            <a:ext cx="2057400" cy="238125"/>
          </a:xfrm>
          <a:prstGeom prst="parallelogram">
            <a:avLst/>
          </a:prstGeom>
          <a:solidFill>
            <a:srgbClr val="2A8F6A"/>
          </a:solidFill>
          <a:ln w="11430">
            <a:solidFill>
              <a:srgbClr val="2A8F6A"/>
            </a:solidFill>
            <a:prstDash val="solid"/>
          </a:ln>
        </p:spPr>
        <p:txBody>
          <a:bodyPr wrap="none" lIns="76200" tIns="0" rIns="76200" bIns="0" anchor="ctr">
            <a:normAutofit/>
          </a:bodyPr>
          <a:lstStyle/>
          <a:p>
            <a:pPr algn="ctr">
              <a:buNone/>
              <a:defRPr sz="998" b="1">
                <a:solidFill>
                  <a:srgbClr val="FFFFFF"/>
                </a:solidFill>
                <a:latin typeface="Noto Sans CJK JP"/>
                <a:ea typeface="Noto Sans CJK JP"/>
                <a:cs typeface="Noto Sans CJK JP"/>
              </a:defRPr>
            </a:pPr>
            <a:r>
              <a:rPr sz="998" b="1">
                <a:solidFill>
                  <a:srgbClr val="FFFFFF"/>
                </a:solidFill>
                <a:latin typeface="Noto Sans CJK JP"/>
                <a:ea typeface="Noto Sans CJK JP"/>
                <a:cs typeface="Noto Sans CJK JP"/>
              </a:rPr>
              <a:t>3 シミュレーション</a:t>
            </a:r>
          </a:p>
        </p:txBody>
      </p:sp>
      <p:sp>
        <p:nvSpPr>
          <p:cNvPr id="31" name="chapter-tab-4">
            <a:extLst>
              <a:ext uri="{FF2B5EF4-FFF2-40B4-BE49-F238E27FC236}">
                <a16:creationId xmlns:a16="http://schemas.microsoft.com/office/drawing/2014/main" id="{2373B778-B921-45E6-9CEA-9776758C90C3}"/>
              </a:ext>
            </a:extLst>
          </p:cNvPr>
          <p:cNvSpPr>
            <a:spLocks noGrp="1"/>
          </p:cNvSpPr>
          <p:nvPr/>
        </p:nvSpPr>
        <p:spPr>
          <a:xfrm>
            <a:off x="6372225" y="4857750"/>
            <a:ext cx="2057400" cy="238125"/>
          </a:xfrm>
          <a:prstGeom prst="parallelogram">
            <a:avLst/>
          </a:prstGeom>
          <a:solidFill>
            <a:srgbClr val="FFFFFF"/>
          </a:solidFill>
          <a:ln w="10001">
            <a:solidFill>
              <a:srgbClr val="C9534B"/>
            </a:solidFill>
            <a:prstDash val="solid"/>
          </a:ln>
        </p:spPr>
        <p:txBody>
          <a:bodyPr wrap="none" lIns="76200" tIns="0" rIns="76200" bIns="0" anchor="ctr">
            <a:normAutofit/>
          </a:bodyPr>
          <a:lstStyle/>
          <a:p>
            <a:pPr algn="ctr">
              <a:buNone/>
              <a:defRPr sz="998" b="1">
                <a:solidFill>
                  <a:srgbClr val="C9534B"/>
                </a:solidFill>
                <a:latin typeface="Noto Sans CJK JP"/>
                <a:ea typeface="Noto Sans CJK JP"/>
                <a:cs typeface="Noto Sans CJK JP"/>
              </a:defRPr>
            </a:pPr>
            <a:r>
              <a:rPr sz="998" b="1">
                <a:solidFill>
                  <a:srgbClr val="C9534B"/>
                </a:solidFill>
                <a:latin typeface="Noto Sans CJK JP"/>
                <a:ea typeface="Noto Sans CJK JP"/>
                <a:cs typeface="Noto Sans CJK JP"/>
              </a:rPr>
              <a:t>4 結論</a:t>
            </a:r>
          </a:p>
        </p:txBody>
      </p:sp>
      <p:sp>
        <p:nvSpPr>
          <p:cNvPr id="33" name="s9-code-0">
            <a:extLst>
              <a:ext uri="{FF2B5EF4-FFF2-40B4-BE49-F238E27FC236}">
                <a16:creationId xmlns:a16="http://schemas.microsoft.com/office/drawing/2014/main" id="{E6A63B42-6A69-487B-A0C5-15E75EC1F9D5}"/>
              </a:ext>
            </a:extLst>
          </p:cNvPr>
          <p:cNvSpPr>
            <a:spLocks noGrp="1"/>
          </p:cNvSpPr>
          <p:nvPr/>
        </p:nvSpPr>
        <p:spPr>
          <a:xfrm>
            <a:off x="783666" y="2112945"/>
            <a:ext cx="714375" cy="228600"/>
          </a:xfrm>
          <a:prstGeom prst="rect">
            <a:avLst/>
          </a:prstGeom>
          <a:noFill/>
          <a:ln w="0">
            <a:noFill/>
            <a:prstDash val="solid"/>
          </a:ln>
        </p:spPr>
        <p:txBody>
          <a:bodyPr wrap="square" lIns="0" tIns="0" rIns="0" bIns="0" anchor="ctr">
            <a:normAutofit/>
          </a:bodyPr>
          <a:lstStyle/>
          <a:p>
            <a:pPr algn="l">
              <a:defRPr sz="1050" b="1">
                <a:solidFill>
                  <a:srgbClr val="215FB4"/>
                </a:solidFill>
                <a:latin typeface="Arial"/>
                <a:ea typeface="Arial"/>
                <a:cs typeface="Arial"/>
              </a:defRPr>
            </a:pPr>
            <a:r>
              <a:rPr sz="1050" b="1" dirty="0">
                <a:solidFill>
                  <a:srgbClr val="215FB4"/>
                </a:solidFill>
                <a:latin typeface="Arial"/>
                <a:ea typeface="Arial"/>
                <a:cs typeface="Arial"/>
              </a:rPr>
              <a:t>PCMV</a:t>
            </a:r>
          </a:p>
        </p:txBody>
      </p:sp>
      <p:sp>
        <p:nvSpPr>
          <p:cNvPr id="35" name="s9-code-1">
            <a:extLst>
              <a:ext uri="{FF2B5EF4-FFF2-40B4-BE49-F238E27FC236}">
                <a16:creationId xmlns:a16="http://schemas.microsoft.com/office/drawing/2014/main" id="{7CAF21E8-B582-4BF0-B4F6-CB80AB8BFCC0}"/>
              </a:ext>
            </a:extLst>
          </p:cNvPr>
          <p:cNvSpPr>
            <a:spLocks noGrp="1"/>
          </p:cNvSpPr>
          <p:nvPr/>
        </p:nvSpPr>
        <p:spPr>
          <a:xfrm>
            <a:off x="783666" y="2673030"/>
            <a:ext cx="714375" cy="228600"/>
          </a:xfrm>
          <a:prstGeom prst="rect">
            <a:avLst/>
          </a:prstGeom>
          <a:noFill/>
          <a:ln w="0">
            <a:noFill/>
            <a:prstDash val="solid"/>
          </a:ln>
        </p:spPr>
        <p:txBody>
          <a:bodyPr wrap="square" lIns="0" tIns="0" rIns="0" bIns="0" anchor="ctr">
            <a:normAutofit/>
          </a:bodyPr>
          <a:lstStyle/>
          <a:p>
            <a:pPr algn="l">
              <a:defRPr sz="1050" b="1">
                <a:solidFill>
                  <a:srgbClr val="4B6073"/>
                </a:solidFill>
                <a:latin typeface="Arial"/>
                <a:ea typeface="Arial"/>
                <a:cs typeface="Arial"/>
              </a:defRPr>
            </a:pPr>
            <a:r>
              <a:rPr sz="1050" b="1" dirty="0">
                <a:solidFill>
                  <a:srgbClr val="4B6073"/>
                </a:solidFill>
                <a:latin typeface="Arial"/>
                <a:ea typeface="Arial"/>
                <a:cs typeface="Arial"/>
              </a:rPr>
              <a:t>DOMV</a:t>
            </a:r>
          </a:p>
        </p:txBody>
      </p:sp>
      <p:sp>
        <p:nvSpPr>
          <p:cNvPr id="37" name="s9-code-2">
            <a:extLst>
              <a:ext uri="{FF2B5EF4-FFF2-40B4-BE49-F238E27FC236}">
                <a16:creationId xmlns:a16="http://schemas.microsoft.com/office/drawing/2014/main" id="{0B6BB28C-551C-4B3C-8D6C-4C39B7BA3279}"/>
              </a:ext>
            </a:extLst>
          </p:cNvPr>
          <p:cNvSpPr>
            <a:spLocks noGrp="1"/>
          </p:cNvSpPr>
          <p:nvPr/>
        </p:nvSpPr>
        <p:spPr>
          <a:xfrm>
            <a:off x="783666" y="3221917"/>
            <a:ext cx="714375" cy="228600"/>
          </a:xfrm>
          <a:prstGeom prst="rect">
            <a:avLst/>
          </a:prstGeom>
          <a:noFill/>
          <a:ln w="0">
            <a:noFill/>
            <a:prstDash val="solid"/>
          </a:ln>
        </p:spPr>
        <p:txBody>
          <a:bodyPr wrap="square" lIns="0" tIns="0" rIns="0" bIns="0" anchor="ctr">
            <a:normAutofit/>
          </a:bodyPr>
          <a:lstStyle/>
          <a:p>
            <a:pPr algn="l">
              <a:defRPr sz="1050" b="1">
                <a:solidFill>
                  <a:srgbClr val="16875C"/>
                </a:solidFill>
                <a:latin typeface="Arial"/>
                <a:ea typeface="Arial"/>
                <a:cs typeface="Arial"/>
              </a:defRPr>
            </a:pPr>
            <a:r>
              <a:rPr sz="1050" b="1" dirty="0" err="1">
                <a:solidFill>
                  <a:srgbClr val="16875C"/>
                </a:solidFill>
                <a:latin typeface="Arial"/>
                <a:ea typeface="Arial"/>
                <a:cs typeface="Arial"/>
              </a:rPr>
              <a:t>cTCMV</a:t>
            </a:r>
            <a:endParaRPr sz="1050" b="1" dirty="0">
              <a:solidFill>
                <a:srgbClr val="16875C"/>
              </a:solidFill>
              <a:latin typeface="Arial"/>
              <a:ea typeface="Arial"/>
              <a:cs typeface="Arial"/>
            </a:endParaRPr>
          </a:p>
        </p:txBody>
      </p:sp>
      <p:sp>
        <p:nvSpPr>
          <p:cNvPr id="39" name="s9-code-3">
            <a:extLst>
              <a:ext uri="{FF2B5EF4-FFF2-40B4-BE49-F238E27FC236}">
                <a16:creationId xmlns:a16="http://schemas.microsoft.com/office/drawing/2014/main" id="{9771D4D4-2A90-4575-AD8A-19FD2901F026}"/>
              </a:ext>
            </a:extLst>
          </p:cNvPr>
          <p:cNvSpPr>
            <a:spLocks noGrp="1"/>
          </p:cNvSpPr>
          <p:nvPr/>
        </p:nvSpPr>
        <p:spPr>
          <a:xfrm>
            <a:off x="783666" y="3814139"/>
            <a:ext cx="714375" cy="228600"/>
          </a:xfrm>
          <a:prstGeom prst="rect">
            <a:avLst/>
          </a:prstGeom>
          <a:noFill/>
          <a:ln w="0">
            <a:noFill/>
            <a:prstDash val="solid"/>
          </a:ln>
        </p:spPr>
        <p:txBody>
          <a:bodyPr wrap="square" lIns="0" tIns="0" rIns="0" bIns="0" anchor="ctr">
            <a:normAutofit/>
          </a:bodyPr>
          <a:lstStyle/>
          <a:p>
            <a:pPr algn="l">
              <a:defRPr sz="1050" b="1">
                <a:solidFill>
                  <a:srgbClr val="D94138"/>
                </a:solidFill>
                <a:latin typeface="Arial"/>
                <a:ea typeface="Arial"/>
                <a:cs typeface="Arial"/>
              </a:defRPr>
            </a:pPr>
            <a:r>
              <a:rPr sz="1050" b="1" dirty="0" err="1">
                <a:solidFill>
                  <a:srgbClr val="D94138"/>
                </a:solidFill>
                <a:latin typeface="Arial"/>
                <a:ea typeface="Arial"/>
                <a:cs typeface="Arial"/>
              </a:rPr>
              <a:t>dTCMV</a:t>
            </a:r>
            <a:endParaRPr sz="1050" b="1" dirty="0">
              <a:solidFill>
                <a:srgbClr val="D94138"/>
              </a:solidFill>
              <a:latin typeface="Arial"/>
              <a:ea typeface="Arial"/>
              <a:cs typeface="Arial"/>
            </a:endParaRPr>
          </a:p>
        </p:txBody>
      </p:sp>
      <p:pic>
        <p:nvPicPr>
          <p:cNvPr id="80" name="グラフィックス 79"/>
          <p:cNvPicPr>
            <a:picLocks noChangeAspect="1"/>
          </p:cNvPicPr>
          <p:nvPr/>
        </p:nvPicPr>
        <p:blipFill>
          <a:blip>
            <a:extLst>
              <a:ext uri="{96DAC541-7B7A-43D3-8B79-37D633B846F1}">
                <asvg:svgBlip xmlns:asvg="http://schemas.microsoft.com/office/drawing/2016/SVG/main" r:embed="rId3"/>
              </a:ext>
            </a:extLst>
          </a:blip>
          <a:stretch/>
        </p:blipFill>
        <p:spPr>
          <a:xfrm>
            <a:off x="3888963" y="2846667"/>
            <a:ext cx="2388870" cy="448983"/>
          </a:xfrm>
          <a:prstGeom prst="rect">
            <a:avLst/>
          </a:prstGeom>
        </p:spPr>
      </p:pic>
      <p:sp>
        <p:nvSpPr>
          <p:cNvPr id="44" name="s9-rail">
            <a:extLst>
              <a:ext uri="{FF2B5EF4-FFF2-40B4-BE49-F238E27FC236}">
                <a16:creationId xmlns:a16="http://schemas.microsoft.com/office/drawing/2014/main" id="{7028CF6C-6BF9-48BF-A4DA-CDC62C93E882}"/>
              </a:ext>
            </a:extLst>
          </p:cNvPr>
          <p:cNvSpPr>
            <a:spLocks noGrp="1"/>
          </p:cNvSpPr>
          <p:nvPr/>
        </p:nvSpPr>
        <p:spPr>
          <a:xfrm>
            <a:off x="6905625" y="1762125"/>
            <a:ext cx="11430" cy="2095500"/>
          </a:xfrm>
          <a:prstGeom prst="rect">
            <a:avLst/>
          </a:prstGeom>
          <a:solidFill>
            <a:srgbClr val="DDE4EC"/>
          </a:solidFill>
          <a:ln w="0">
            <a:noFill/>
            <a:prstDash val="solid"/>
          </a:ln>
        </p:spPr>
      </p:sp>
      <p:sp>
        <p:nvSpPr>
          <p:cNvPr id="45" name="s9-assumptions">
            <a:extLst>
              <a:ext uri="{FF2B5EF4-FFF2-40B4-BE49-F238E27FC236}">
                <a16:creationId xmlns:a16="http://schemas.microsoft.com/office/drawing/2014/main" id="{CB79724F-605F-470F-9896-357012B5C959}"/>
              </a:ext>
            </a:extLst>
          </p:cNvPr>
          <p:cNvSpPr>
            <a:spLocks noGrp="1"/>
          </p:cNvSpPr>
          <p:nvPr/>
        </p:nvSpPr>
        <p:spPr>
          <a:xfrm>
            <a:off x="7143750" y="1790700"/>
            <a:ext cx="1666875" cy="209550"/>
          </a:xfrm>
          <a:prstGeom prst="rect">
            <a:avLst/>
          </a:prstGeom>
          <a:noFill/>
          <a:ln w="0">
            <a:noFill/>
            <a:prstDash val="solid"/>
          </a:ln>
        </p:spPr>
        <p:txBody>
          <a:bodyPr wrap="square" lIns="0" tIns="0" rIns="0" bIns="0" anchor="ctr">
            <a:normAutofit/>
          </a:bodyPr>
          <a:lstStyle/>
          <a:p>
            <a:pPr algn="ctr">
              <a:defRPr sz="1088" b="1">
                <a:solidFill>
                  <a:srgbClr val="215FB4"/>
                </a:solidFill>
                <a:latin typeface="Noto Sans CJK JP"/>
                <a:ea typeface="Noto Sans CJK JP"/>
                <a:cs typeface="Noto Sans CJK JP"/>
              </a:defRPr>
            </a:pPr>
            <a:r>
              <a:rPr sz="1088" b="1">
                <a:solidFill>
                  <a:srgbClr val="215FB4"/>
                </a:solidFill>
                <a:latin typeface="Noto Sans CJK JP"/>
                <a:ea typeface="Noto Sans CJK JP"/>
                <a:cs typeface="Noto Sans CJK JP"/>
              </a:rPr>
              <a:t>月次40年の共通前提</a:t>
            </a:r>
          </a:p>
        </p:txBody>
      </p:sp>
      <p:sp>
        <p:nvSpPr>
          <p:cNvPr id="46" name="s9-label-0">
            <a:extLst>
              <a:ext uri="{FF2B5EF4-FFF2-40B4-BE49-F238E27FC236}">
                <a16:creationId xmlns:a16="http://schemas.microsoft.com/office/drawing/2014/main" id="{E1C83893-E15F-4ACD-AFB1-EC6D2E7455FA}"/>
              </a:ext>
            </a:extLst>
          </p:cNvPr>
          <p:cNvSpPr>
            <a:spLocks noGrp="1"/>
          </p:cNvSpPr>
          <p:nvPr/>
        </p:nvSpPr>
        <p:spPr>
          <a:xfrm>
            <a:off x="7143750" y="2124075"/>
            <a:ext cx="1200150" cy="171450"/>
          </a:xfrm>
          <a:prstGeom prst="rect">
            <a:avLst/>
          </a:prstGeom>
          <a:noFill/>
          <a:ln w="0">
            <a:noFill/>
            <a:prstDash val="solid"/>
          </a:ln>
        </p:spPr>
        <p:txBody>
          <a:bodyPr wrap="square" lIns="0" tIns="0" rIns="0" bIns="0" anchor="ctr">
            <a:normAutofit/>
          </a:bodyPr>
          <a:lstStyle/>
          <a:p>
            <a:pPr algn="l">
              <a:defRPr sz="855" b="0">
                <a:solidFill>
                  <a:srgbClr val="64748B"/>
                </a:solidFill>
                <a:latin typeface="Noto Sans CJK JP"/>
                <a:ea typeface="Noto Sans CJK JP"/>
                <a:cs typeface="Noto Sans CJK JP"/>
              </a:defRPr>
            </a:pPr>
            <a:r>
              <a:rPr sz="855" b="0">
                <a:solidFill>
                  <a:srgbClr val="64748B"/>
                </a:solidFill>
                <a:latin typeface="Noto Sans CJK JP"/>
                <a:ea typeface="Noto Sans CJK JP"/>
                <a:cs typeface="Noto Sans CJK JP"/>
              </a:rPr>
              <a:t>無リスク利率 r</a:t>
            </a:r>
          </a:p>
        </p:txBody>
      </p:sp>
      <p:sp>
        <p:nvSpPr>
          <p:cNvPr id="47" name="s9-value-0">
            <a:extLst>
              <a:ext uri="{FF2B5EF4-FFF2-40B4-BE49-F238E27FC236}">
                <a16:creationId xmlns:a16="http://schemas.microsoft.com/office/drawing/2014/main" id="{DBF0EC1A-A613-497B-97F7-9D77F2C8C3FD}"/>
              </a:ext>
            </a:extLst>
          </p:cNvPr>
          <p:cNvSpPr>
            <a:spLocks noGrp="1"/>
          </p:cNvSpPr>
          <p:nvPr/>
        </p:nvSpPr>
        <p:spPr>
          <a:xfrm>
            <a:off x="8305800" y="2124075"/>
            <a:ext cx="523875" cy="171450"/>
          </a:xfrm>
          <a:prstGeom prst="rect">
            <a:avLst/>
          </a:prstGeom>
          <a:noFill/>
          <a:ln w="0">
            <a:noFill/>
            <a:prstDash val="solid"/>
          </a:ln>
        </p:spPr>
        <p:txBody>
          <a:bodyPr wrap="square" lIns="0" tIns="0" rIns="0" bIns="0" anchor="ctr">
            <a:normAutofit/>
          </a:bodyPr>
          <a:lstStyle/>
          <a:p>
            <a:pPr algn="r">
              <a:defRPr sz="915" b="1">
                <a:solidFill>
                  <a:srgbClr val="111827"/>
                </a:solidFill>
                <a:latin typeface="Noto Sans CJK JP"/>
                <a:ea typeface="Noto Sans CJK JP"/>
                <a:cs typeface="Noto Sans CJK JP"/>
              </a:defRPr>
            </a:pPr>
            <a:r>
              <a:rPr sz="915" b="1">
                <a:solidFill>
                  <a:srgbClr val="111827"/>
                </a:solidFill>
                <a:latin typeface="Noto Sans CJK JP"/>
                <a:ea typeface="Noto Sans CJK JP"/>
                <a:cs typeface="Noto Sans CJK JP"/>
              </a:rPr>
              <a:t>1.5%</a:t>
            </a:r>
          </a:p>
        </p:txBody>
      </p:sp>
      <p:sp>
        <p:nvSpPr>
          <p:cNvPr id="48" name="s9-row-0">
            <a:extLst>
              <a:ext uri="{FF2B5EF4-FFF2-40B4-BE49-F238E27FC236}">
                <a16:creationId xmlns:a16="http://schemas.microsoft.com/office/drawing/2014/main" id="{68B71D3F-E7A0-4B3D-9ED2-96D2A3830C46}"/>
              </a:ext>
            </a:extLst>
          </p:cNvPr>
          <p:cNvSpPr>
            <a:spLocks noGrp="1"/>
          </p:cNvSpPr>
          <p:nvPr/>
        </p:nvSpPr>
        <p:spPr>
          <a:xfrm>
            <a:off x="7143750" y="2352675"/>
            <a:ext cx="1685925" cy="6668"/>
          </a:xfrm>
          <a:prstGeom prst="rect">
            <a:avLst/>
          </a:prstGeom>
          <a:solidFill>
            <a:srgbClr val="DDE4EC"/>
          </a:solidFill>
          <a:ln w="0">
            <a:noFill/>
            <a:prstDash val="solid"/>
          </a:ln>
        </p:spPr>
      </p:sp>
      <p:sp>
        <p:nvSpPr>
          <p:cNvPr id="49" name="s9-label-1">
            <a:extLst>
              <a:ext uri="{FF2B5EF4-FFF2-40B4-BE49-F238E27FC236}">
                <a16:creationId xmlns:a16="http://schemas.microsoft.com/office/drawing/2014/main" id="{23A0D209-F107-4954-8109-E7710142EE57}"/>
              </a:ext>
            </a:extLst>
          </p:cNvPr>
          <p:cNvSpPr>
            <a:spLocks noGrp="1"/>
          </p:cNvSpPr>
          <p:nvPr/>
        </p:nvSpPr>
        <p:spPr>
          <a:xfrm>
            <a:off x="7143750" y="2457450"/>
            <a:ext cx="1200150" cy="171450"/>
          </a:xfrm>
          <a:prstGeom prst="rect">
            <a:avLst/>
          </a:prstGeom>
          <a:noFill/>
          <a:ln w="0">
            <a:noFill/>
            <a:prstDash val="solid"/>
          </a:ln>
        </p:spPr>
        <p:txBody>
          <a:bodyPr wrap="square" lIns="0" tIns="0" rIns="0" bIns="0" anchor="ctr">
            <a:normAutofit/>
          </a:bodyPr>
          <a:lstStyle/>
          <a:p>
            <a:pPr algn="l">
              <a:defRPr sz="855" b="0">
                <a:solidFill>
                  <a:srgbClr val="64748B"/>
                </a:solidFill>
                <a:latin typeface="Noto Sans CJK JP"/>
                <a:ea typeface="Noto Sans CJK JP"/>
                <a:cs typeface="Noto Sans CJK JP"/>
              </a:defRPr>
            </a:pPr>
            <a:r>
              <a:rPr sz="855" b="0">
                <a:solidFill>
                  <a:srgbClr val="64748B"/>
                </a:solidFill>
                <a:latin typeface="Noto Sans CJK JP"/>
                <a:ea typeface="Noto Sans CJK JP"/>
                <a:cs typeface="Noto Sans CJK JP"/>
              </a:rPr>
              <a:t>株式期待収益率 μ</a:t>
            </a:r>
          </a:p>
        </p:txBody>
      </p:sp>
      <p:sp>
        <p:nvSpPr>
          <p:cNvPr id="50" name="s9-value-1">
            <a:extLst>
              <a:ext uri="{FF2B5EF4-FFF2-40B4-BE49-F238E27FC236}">
                <a16:creationId xmlns:a16="http://schemas.microsoft.com/office/drawing/2014/main" id="{F66D3924-9322-44C6-AD89-114B0C4A58D4}"/>
              </a:ext>
            </a:extLst>
          </p:cNvPr>
          <p:cNvSpPr>
            <a:spLocks noGrp="1"/>
          </p:cNvSpPr>
          <p:nvPr/>
        </p:nvSpPr>
        <p:spPr>
          <a:xfrm>
            <a:off x="8305800" y="2457450"/>
            <a:ext cx="523875" cy="171450"/>
          </a:xfrm>
          <a:prstGeom prst="rect">
            <a:avLst/>
          </a:prstGeom>
          <a:noFill/>
          <a:ln w="0">
            <a:noFill/>
            <a:prstDash val="solid"/>
          </a:ln>
        </p:spPr>
        <p:txBody>
          <a:bodyPr wrap="square" lIns="0" tIns="0" rIns="0" bIns="0" anchor="ctr">
            <a:normAutofit/>
          </a:bodyPr>
          <a:lstStyle/>
          <a:p>
            <a:pPr algn="r">
              <a:defRPr sz="915" b="1">
                <a:solidFill>
                  <a:srgbClr val="111827"/>
                </a:solidFill>
                <a:latin typeface="Noto Sans CJK JP"/>
                <a:ea typeface="Noto Sans CJK JP"/>
                <a:cs typeface="Noto Sans CJK JP"/>
              </a:defRPr>
            </a:pPr>
            <a:r>
              <a:rPr sz="915" b="1">
                <a:solidFill>
                  <a:srgbClr val="111827"/>
                </a:solidFill>
                <a:latin typeface="Noto Sans CJK JP"/>
                <a:ea typeface="Noto Sans CJK JP"/>
                <a:cs typeface="Noto Sans CJK JP"/>
              </a:rPr>
              <a:t>5.5%</a:t>
            </a:r>
          </a:p>
        </p:txBody>
      </p:sp>
      <p:sp>
        <p:nvSpPr>
          <p:cNvPr id="51" name="s9-row-1">
            <a:extLst>
              <a:ext uri="{FF2B5EF4-FFF2-40B4-BE49-F238E27FC236}">
                <a16:creationId xmlns:a16="http://schemas.microsoft.com/office/drawing/2014/main" id="{051A2BBC-D0D9-4872-A3BA-A8BACAD28CBA}"/>
              </a:ext>
            </a:extLst>
          </p:cNvPr>
          <p:cNvSpPr>
            <a:spLocks noGrp="1"/>
          </p:cNvSpPr>
          <p:nvPr/>
        </p:nvSpPr>
        <p:spPr>
          <a:xfrm>
            <a:off x="7143750" y="2686050"/>
            <a:ext cx="1685925" cy="6668"/>
          </a:xfrm>
          <a:prstGeom prst="rect">
            <a:avLst/>
          </a:prstGeom>
          <a:solidFill>
            <a:srgbClr val="DDE4EC"/>
          </a:solidFill>
          <a:ln w="0">
            <a:noFill/>
            <a:prstDash val="solid"/>
          </a:ln>
        </p:spPr>
      </p:sp>
      <p:sp>
        <p:nvSpPr>
          <p:cNvPr id="52" name="s9-label-2">
            <a:extLst>
              <a:ext uri="{FF2B5EF4-FFF2-40B4-BE49-F238E27FC236}">
                <a16:creationId xmlns:a16="http://schemas.microsoft.com/office/drawing/2014/main" id="{F1306FA0-4E5C-49BE-BE5A-65F4FD864F81}"/>
              </a:ext>
            </a:extLst>
          </p:cNvPr>
          <p:cNvSpPr>
            <a:spLocks noGrp="1"/>
          </p:cNvSpPr>
          <p:nvPr/>
        </p:nvSpPr>
        <p:spPr>
          <a:xfrm>
            <a:off x="7143750" y="2790825"/>
            <a:ext cx="1200150" cy="171450"/>
          </a:xfrm>
          <a:prstGeom prst="rect">
            <a:avLst/>
          </a:prstGeom>
          <a:noFill/>
          <a:ln w="0">
            <a:noFill/>
            <a:prstDash val="solid"/>
          </a:ln>
        </p:spPr>
        <p:txBody>
          <a:bodyPr wrap="square" lIns="0" tIns="0" rIns="0" bIns="0" anchor="ctr">
            <a:normAutofit/>
          </a:bodyPr>
          <a:lstStyle/>
          <a:p>
            <a:pPr algn="l">
              <a:defRPr sz="855" b="0">
                <a:solidFill>
                  <a:srgbClr val="64748B"/>
                </a:solidFill>
                <a:latin typeface="Noto Sans CJK JP"/>
                <a:ea typeface="Noto Sans CJK JP"/>
                <a:cs typeface="Noto Sans CJK JP"/>
              </a:defRPr>
            </a:pPr>
            <a:r>
              <a:rPr sz="855" b="0">
                <a:solidFill>
                  <a:srgbClr val="64748B"/>
                </a:solidFill>
                <a:latin typeface="Noto Sans CJK JP"/>
                <a:ea typeface="Noto Sans CJK JP"/>
                <a:cs typeface="Noto Sans CJK JP"/>
              </a:rPr>
              <a:t>株式ボラティリティ σ</a:t>
            </a:r>
          </a:p>
        </p:txBody>
      </p:sp>
      <p:sp>
        <p:nvSpPr>
          <p:cNvPr id="53" name="s9-value-2">
            <a:extLst>
              <a:ext uri="{FF2B5EF4-FFF2-40B4-BE49-F238E27FC236}">
                <a16:creationId xmlns:a16="http://schemas.microsoft.com/office/drawing/2014/main" id="{D370707A-536D-4616-83F4-E2447623B116}"/>
              </a:ext>
            </a:extLst>
          </p:cNvPr>
          <p:cNvSpPr>
            <a:spLocks noGrp="1"/>
          </p:cNvSpPr>
          <p:nvPr/>
        </p:nvSpPr>
        <p:spPr>
          <a:xfrm>
            <a:off x="8305800" y="2790825"/>
            <a:ext cx="523875" cy="171450"/>
          </a:xfrm>
          <a:prstGeom prst="rect">
            <a:avLst/>
          </a:prstGeom>
          <a:noFill/>
          <a:ln w="0">
            <a:noFill/>
            <a:prstDash val="solid"/>
          </a:ln>
        </p:spPr>
        <p:txBody>
          <a:bodyPr wrap="square" lIns="0" tIns="0" rIns="0" bIns="0" anchor="ctr">
            <a:normAutofit/>
          </a:bodyPr>
          <a:lstStyle/>
          <a:p>
            <a:pPr algn="r">
              <a:defRPr sz="915" b="1">
                <a:solidFill>
                  <a:srgbClr val="111827"/>
                </a:solidFill>
                <a:latin typeface="Noto Sans CJK JP"/>
                <a:ea typeface="Noto Sans CJK JP"/>
                <a:cs typeface="Noto Sans CJK JP"/>
              </a:defRPr>
            </a:pPr>
            <a:r>
              <a:rPr sz="915" b="1">
                <a:solidFill>
                  <a:srgbClr val="111827"/>
                </a:solidFill>
                <a:latin typeface="Noto Sans CJK JP"/>
                <a:ea typeface="Noto Sans CJK JP"/>
                <a:cs typeface="Noto Sans CJK JP"/>
              </a:rPr>
              <a:t>18%</a:t>
            </a:r>
          </a:p>
        </p:txBody>
      </p:sp>
      <p:sp>
        <p:nvSpPr>
          <p:cNvPr id="54" name="s9-row-2">
            <a:extLst>
              <a:ext uri="{FF2B5EF4-FFF2-40B4-BE49-F238E27FC236}">
                <a16:creationId xmlns:a16="http://schemas.microsoft.com/office/drawing/2014/main" id="{9BCC70CD-2D0D-44B0-8ED3-B36D5676EFA1}"/>
              </a:ext>
            </a:extLst>
          </p:cNvPr>
          <p:cNvSpPr>
            <a:spLocks noGrp="1"/>
          </p:cNvSpPr>
          <p:nvPr/>
        </p:nvSpPr>
        <p:spPr>
          <a:xfrm>
            <a:off x="7143750" y="3019425"/>
            <a:ext cx="1685925" cy="6668"/>
          </a:xfrm>
          <a:prstGeom prst="rect">
            <a:avLst/>
          </a:prstGeom>
          <a:solidFill>
            <a:srgbClr val="DDE4EC"/>
          </a:solidFill>
          <a:ln w="0">
            <a:noFill/>
            <a:prstDash val="solid"/>
          </a:ln>
        </p:spPr>
      </p:sp>
      <p:sp>
        <p:nvSpPr>
          <p:cNvPr id="55" name="s9-label-3">
            <a:extLst>
              <a:ext uri="{FF2B5EF4-FFF2-40B4-BE49-F238E27FC236}">
                <a16:creationId xmlns:a16="http://schemas.microsoft.com/office/drawing/2014/main" id="{F33DED9D-5382-417F-BBE7-F66832D11A24}"/>
              </a:ext>
            </a:extLst>
          </p:cNvPr>
          <p:cNvSpPr>
            <a:spLocks noGrp="1"/>
          </p:cNvSpPr>
          <p:nvPr/>
        </p:nvSpPr>
        <p:spPr>
          <a:xfrm>
            <a:off x="7143750" y="3124200"/>
            <a:ext cx="1200150" cy="171450"/>
          </a:xfrm>
          <a:prstGeom prst="rect">
            <a:avLst/>
          </a:prstGeom>
          <a:noFill/>
          <a:ln w="0">
            <a:noFill/>
            <a:prstDash val="solid"/>
          </a:ln>
        </p:spPr>
        <p:txBody>
          <a:bodyPr wrap="square" lIns="0" tIns="0" rIns="0" bIns="0" anchor="ctr">
            <a:normAutofit/>
          </a:bodyPr>
          <a:lstStyle/>
          <a:p>
            <a:pPr algn="l">
              <a:defRPr sz="855" b="0">
                <a:solidFill>
                  <a:srgbClr val="64748B"/>
                </a:solidFill>
                <a:latin typeface="Noto Sans CJK JP"/>
                <a:ea typeface="Noto Sans CJK JP"/>
                <a:cs typeface="Noto Sans CJK JP"/>
              </a:defRPr>
            </a:pPr>
            <a:r>
              <a:rPr sz="855" b="0">
                <a:solidFill>
                  <a:srgbClr val="64748B"/>
                </a:solidFill>
                <a:latin typeface="Noto Sans CJK JP"/>
                <a:ea typeface="Noto Sans CJK JP"/>
                <a:cs typeface="Noto Sans CJK JP"/>
              </a:rPr>
              <a:t>投資期間 T</a:t>
            </a:r>
          </a:p>
        </p:txBody>
      </p:sp>
      <p:sp>
        <p:nvSpPr>
          <p:cNvPr id="56" name="s9-value-3">
            <a:extLst>
              <a:ext uri="{FF2B5EF4-FFF2-40B4-BE49-F238E27FC236}">
                <a16:creationId xmlns:a16="http://schemas.microsoft.com/office/drawing/2014/main" id="{5A852879-7515-408C-8B00-E3A321A69F8F}"/>
              </a:ext>
            </a:extLst>
          </p:cNvPr>
          <p:cNvSpPr>
            <a:spLocks noGrp="1"/>
          </p:cNvSpPr>
          <p:nvPr/>
        </p:nvSpPr>
        <p:spPr>
          <a:xfrm>
            <a:off x="8305800" y="3124200"/>
            <a:ext cx="523875" cy="171450"/>
          </a:xfrm>
          <a:prstGeom prst="rect">
            <a:avLst/>
          </a:prstGeom>
          <a:noFill/>
          <a:ln w="0">
            <a:noFill/>
            <a:prstDash val="solid"/>
          </a:ln>
        </p:spPr>
        <p:txBody>
          <a:bodyPr wrap="square" lIns="0" tIns="0" rIns="0" bIns="0" anchor="ctr">
            <a:normAutofit fontScale="92500"/>
          </a:bodyPr>
          <a:lstStyle/>
          <a:p>
            <a:pPr algn="r">
              <a:defRPr sz="915" b="1">
                <a:solidFill>
                  <a:srgbClr val="111827"/>
                </a:solidFill>
                <a:latin typeface="Noto Sans CJK JP"/>
                <a:ea typeface="Noto Sans CJK JP"/>
                <a:cs typeface="Noto Sans CJK JP"/>
              </a:defRPr>
            </a:pPr>
            <a:r>
              <a:rPr sz="915" b="1" dirty="0">
                <a:solidFill>
                  <a:srgbClr val="111827"/>
                </a:solidFill>
                <a:latin typeface="Noto Sans CJK JP"/>
                <a:ea typeface="Noto Sans CJK JP"/>
                <a:cs typeface="Noto Sans CJK JP"/>
              </a:rPr>
              <a:t>40年</a:t>
            </a:r>
            <a:r>
              <a:rPr lang="en-US" sz="915" b="1" dirty="0">
                <a:solidFill>
                  <a:srgbClr val="111827"/>
                </a:solidFill>
                <a:latin typeface="Noto Sans CJK JP"/>
                <a:ea typeface="Noto Sans CJK JP"/>
                <a:cs typeface="Noto Sans CJK JP"/>
              </a:rPr>
              <a:t>=</a:t>
            </a:r>
            <a:r>
              <a:rPr sz="915" b="1" dirty="0">
                <a:solidFill>
                  <a:srgbClr val="111827"/>
                </a:solidFill>
                <a:latin typeface="Noto Sans CJK JP"/>
                <a:ea typeface="Noto Sans CJK JP"/>
                <a:cs typeface="Noto Sans CJK JP"/>
              </a:rPr>
              <a:t>480期</a:t>
            </a:r>
          </a:p>
        </p:txBody>
      </p:sp>
      <p:sp>
        <p:nvSpPr>
          <p:cNvPr id="57" name="s9-row-3">
            <a:extLst>
              <a:ext uri="{FF2B5EF4-FFF2-40B4-BE49-F238E27FC236}">
                <a16:creationId xmlns:a16="http://schemas.microsoft.com/office/drawing/2014/main" id="{C0A50378-31A4-4587-AC00-D419327E1D6D}"/>
              </a:ext>
            </a:extLst>
          </p:cNvPr>
          <p:cNvSpPr>
            <a:spLocks noGrp="1"/>
          </p:cNvSpPr>
          <p:nvPr/>
        </p:nvSpPr>
        <p:spPr>
          <a:xfrm>
            <a:off x="7143750" y="3352800"/>
            <a:ext cx="1685925" cy="6668"/>
          </a:xfrm>
          <a:prstGeom prst="rect">
            <a:avLst/>
          </a:prstGeom>
          <a:solidFill>
            <a:srgbClr val="DDE4EC"/>
          </a:solidFill>
          <a:ln w="0">
            <a:noFill/>
            <a:prstDash val="solid"/>
          </a:ln>
        </p:spPr>
      </p:sp>
      <p:sp>
        <p:nvSpPr>
          <p:cNvPr id="58" name="s9-label-4">
            <a:extLst>
              <a:ext uri="{FF2B5EF4-FFF2-40B4-BE49-F238E27FC236}">
                <a16:creationId xmlns:a16="http://schemas.microsoft.com/office/drawing/2014/main" id="{0AFCA7AB-9B5A-46C5-B136-88B71F248A4E}"/>
              </a:ext>
            </a:extLst>
          </p:cNvPr>
          <p:cNvSpPr>
            <a:spLocks noGrp="1"/>
          </p:cNvSpPr>
          <p:nvPr/>
        </p:nvSpPr>
        <p:spPr>
          <a:xfrm>
            <a:off x="7143750" y="3457575"/>
            <a:ext cx="1200150" cy="171450"/>
          </a:xfrm>
          <a:prstGeom prst="rect">
            <a:avLst/>
          </a:prstGeom>
          <a:noFill/>
          <a:ln w="0">
            <a:noFill/>
            <a:prstDash val="solid"/>
          </a:ln>
        </p:spPr>
        <p:txBody>
          <a:bodyPr wrap="square" lIns="0" tIns="0" rIns="0" bIns="0" anchor="ctr">
            <a:normAutofit/>
          </a:bodyPr>
          <a:lstStyle/>
          <a:p>
            <a:pPr algn="l">
              <a:defRPr sz="855" b="0">
                <a:solidFill>
                  <a:srgbClr val="64748B"/>
                </a:solidFill>
                <a:latin typeface="Noto Sans CJK JP"/>
                <a:ea typeface="Noto Sans CJK JP"/>
                <a:cs typeface="Noto Sans CJK JP"/>
              </a:defRPr>
            </a:pPr>
            <a:r>
              <a:rPr sz="855" b="0" dirty="0" err="1">
                <a:solidFill>
                  <a:srgbClr val="64748B"/>
                </a:solidFill>
                <a:latin typeface="Noto Sans CJK JP"/>
                <a:ea typeface="Noto Sans CJK JP"/>
                <a:cs typeface="Noto Sans CJK JP"/>
              </a:rPr>
              <a:t>年間拠出</a:t>
            </a:r>
            <a:endParaRPr sz="855" b="0" dirty="0">
              <a:solidFill>
                <a:srgbClr val="64748B"/>
              </a:solidFill>
              <a:latin typeface="Noto Sans CJK JP"/>
              <a:ea typeface="Noto Sans CJK JP"/>
              <a:cs typeface="Noto Sans CJK JP"/>
            </a:endParaRPr>
          </a:p>
        </p:txBody>
      </p:sp>
      <p:sp>
        <p:nvSpPr>
          <p:cNvPr id="59" name="s9-value-4">
            <a:extLst>
              <a:ext uri="{FF2B5EF4-FFF2-40B4-BE49-F238E27FC236}">
                <a16:creationId xmlns:a16="http://schemas.microsoft.com/office/drawing/2014/main" id="{3E67904F-4C9F-4742-B220-D456348EED35}"/>
              </a:ext>
            </a:extLst>
          </p:cNvPr>
          <p:cNvSpPr>
            <a:spLocks noGrp="1"/>
          </p:cNvSpPr>
          <p:nvPr/>
        </p:nvSpPr>
        <p:spPr>
          <a:xfrm>
            <a:off x="8305800" y="3457575"/>
            <a:ext cx="523875" cy="171450"/>
          </a:xfrm>
          <a:prstGeom prst="rect">
            <a:avLst/>
          </a:prstGeom>
          <a:noFill/>
          <a:ln w="0">
            <a:noFill/>
            <a:prstDash val="solid"/>
          </a:ln>
        </p:spPr>
        <p:txBody>
          <a:bodyPr wrap="square" lIns="0" tIns="0" rIns="0" bIns="0" anchor="ctr">
            <a:normAutofit/>
          </a:bodyPr>
          <a:lstStyle/>
          <a:p>
            <a:pPr algn="r">
              <a:defRPr sz="915" b="1">
                <a:solidFill>
                  <a:srgbClr val="111827"/>
                </a:solidFill>
                <a:latin typeface="Noto Sans CJK JP"/>
                <a:ea typeface="Noto Sans CJK JP"/>
                <a:cs typeface="Noto Sans CJK JP"/>
              </a:defRPr>
            </a:pPr>
            <a:r>
              <a:rPr sz="915" b="1" dirty="0">
                <a:solidFill>
                  <a:srgbClr val="111827"/>
                </a:solidFill>
                <a:latin typeface="Noto Sans CJK JP"/>
                <a:ea typeface="Noto Sans CJK JP"/>
                <a:cs typeface="Noto Sans CJK JP"/>
              </a:rPr>
              <a:t>1</a:t>
            </a:r>
          </a:p>
        </p:txBody>
      </p:sp>
      <p:sp>
        <p:nvSpPr>
          <p:cNvPr id="60" name="s9-row-4">
            <a:extLst>
              <a:ext uri="{FF2B5EF4-FFF2-40B4-BE49-F238E27FC236}">
                <a16:creationId xmlns:a16="http://schemas.microsoft.com/office/drawing/2014/main" id="{FCDDFCE4-06DC-4C01-BAB9-2CDD9B2E26D9}"/>
              </a:ext>
            </a:extLst>
          </p:cNvPr>
          <p:cNvSpPr>
            <a:spLocks noGrp="1"/>
          </p:cNvSpPr>
          <p:nvPr/>
        </p:nvSpPr>
        <p:spPr>
          <a:xfrm>
            <a:off x="7143750" y="3686175"/>
            <a:ext cx="1685925" cy="6668"/>
          </a:xfrm>
          <a:prstGeom prst="rect">
            <a:avLst/>
          </a:prstGeom>
          <a:solidFill>
            <a:srgbClr val="DDE4EC"/>
          </a:solidFill>
          <a:ln w="0">
            <a:noFill/>
            <a:prstDash val="solid"/>
          </a:ln>
        </p:spPr>
      </p:sp>
      <p:sp>
        <p:nvSpPr>
          <p:cNvPr id="61" name="s9-compute-shape">
            <a:extLst>
              <a:ext uri="{FF2B5EF4-FFF2-40B4-BE49-F238E27FC236}">
                <a16:creationId xmlns:a16="http://schemas.microsoft.com/office/drawing/2014/main" id="{E4DBE4A7-C0AF-4A7C-ACFD-80D2C6D57BAC}"/>
              </a:ext>
            </a:extLst>
          </p:cNvPr>
          <p:cNvSpPr>
            <a:spLocks noGrp="1"/>
          </p:cNvSpPr>
          <p:nvPr/>
        </p:nvSpPr>
        <p:spPr>
          <a:xfrm>
            <a:off x="533400" y="4257675"/>
            <a:ext cx="8077200" cy="361950"/>
          </a:xfrm>
          <a:prstGeom prst="roundRect">
            <a:avLst>
              <a:gd name="adj" fmla="val 15789"/>
            </a:avLst>
          </a:prstGeom>
          <a:solidFill>
            <a:srgbClr val="FFFFFF"/>
          </a:solidFill>
          <a:ln w="9525">
            <a:solidFill>
              <a:srgbClr val="BFD5EC"/>
            </a:solidFill>
            <a:prstDash val="solid"/>
          </a:ln>
        </p:spPr>
      </p:sp>
      <p:sp>
        <p:nvSpPr>
          <p:cNvPr id="62" name="s9-compute-text">
            <a:extLst>
              <a:ext uri="{FF2B5EF4-FFF2-40B4-BE49-F238E27FC236}">
                <a16:creationId xmlns:a16="http://schemas.microsoft.com/office/drawing/2014/main" id="{1CD5C291-863F-4E3A-915E-61E880F9FAA3}"/>
              </a:ext>
            </a:extLst>
          </p:cNvPr>
          <p:cNvSpPr>
            <a:spLocks noGrp="1"/>
          </p:cNvSpPr>
          <p:nvPr/>
        </p:nvSpPr>
        <p:spPr>
          <a:xfrm>
            <a:off x="723900" y="4286250"/>
            <a:ext cx="7696200" cy="304800"/>
          </a:xfrm>
          <a:prstGeom prst="rect">
            <a:avLst/>
          </a:prstGeom>
          <a:noFill/>
          <a:ln w="0">
            <a:noFill/>
            <a:prstDash val="solid"/>
          </a:ln>
        </p:spPr>
        <p:txBody>
          <a:bodyPr wrap="square" lIns="0" tIns="0" rIns="0" bIns="0" anchor="ctr">
            <a:normAutofit/>
          </a:bodyPr>
          <a:lstStyle/>
          <a:p>
            <a:pPr algn="ctr">
              <a:defRPr sz="990" b="1">
                <a:solidFill>
                  <a:srgbClr val="BFD5EC"/>
                </a:solidFill>
                <a:latin typeface="Noto Sans CJK JP"/>
                <a:ea typeface="Noto Sans CJK JP"/>
                <a:cs typeface="Noto Sans CJK JP"/>
              </a:defRPr>
            </a:pPr>
            <a:r>
              <a:rPr lang="ja-JP" altLang="en-US" sz="990" b="1" dirty="0">
                <a:solidFill>
                  <a:srgbClr val="215FB4"/>
                </a:solidFill>
                <a:latin typeface="Noto Sans CJK JP"/>
                <a:ea typeface="Noto Sans CJK JP"/>
                <a:cs typeface="Noto Sans CJK JP"/>
              </a:rPr>
              <a:t>平均差を消し、分布形状とリスクを取る時期を公平に比較</a:t>
            </a:r>
          </a:p>
        </p:txBody>
      </p:sp>
      <p:sp>
        <p:nvSpPr>
          <p:cNvPr id="6" name="s9-label-4">
            <a:extLst>
              <a:ext uri="{FF2B5EF4-FFF2-40B4-BE49-F238E27FC236}">
                <a16:creationId xmlns:a16="http://schemas.microsoft.com/office/drawing/2014/main" id="{B090F9CF-F846-56BA-0692-EFF97BC83F0A}"/>
              </a:ext>
            </a:extLst>
          </p:cNvPr>
          <p:cNvSpPr>
            <a:spLocks noGrp="1"/>
          </p:cNvSpPr>
          <p:nvPr/>
        </p:nvSpPr>
        <p:spPr>
          <a:xfrm>
            <a:off x="7150163" y="3784282"/>
            <a:ext cx="1200150" cy="171450"/>
          </a:xfrm>
          <a:prstGeom prst="rect">
            <a:avLst/>
          </a:prstGeom>
          <a:noFill/>
          <a:ln w="0">
            <a:noFill/>
            <a:prstDash val="solid"/>
          </a:ln>
        </p:spPr>
        <p:txBody>
          <a:bodyPr wrap="square" lIns="0" tIns="0" rIns="0" bIns="0" anchor="ctr">
            <a:normAutofit/>
          </a:bodyPr>
          <a:lstStyle/>
          <a:p>
            <a:pPr algn="l">
              <a:defRPr sz="855" b="0">
                <a:solidFill>
                  <a:srgbClr val="64748B"/>
                </a:solidFill>
                <a:latin typeface="Noto Sans CJK JP"/>
                <a:ea typeface="Noto Sans CJK JP"/>
                <a:cs typeface="Noto Sans CJK JP"/>
              </a:defRPr>
            </a:pPr>
            <a:r>
              <a:rPr lang="ja-JP" altLang="en-US" sz="855" b="0" dirty="0">
                <a:solidFill>
                  <a:srgbClr val="64748B"/>
                </a:solidFill>
                <a:latin typeface="Noto Sans CJK JP"/>
                <a:ea typeface="Noto Sans CJK JP"/>
                <a:cs typeface="Noto Sans CJK JP"/>
              </a:rPr>
              <a:t>初</a:t>
            </a:r>
            <a:r>
              <a:rPr sz="855" b="0" dirty="0" err="1">
                <a:solidFill>
                  <a:srgbClr val="64748B"/>
                </a:solidFill>
                <a:latin typeface="Noto Sans CJK JP"/>
                <a:ea typeface="Noto Sans CJK JP"/>
                <a:cs typeface="Noto Sans CJK JP"/>
              </a:rPr>
              <a:t>期残高</a:t>
            </a:r>
            <a:endParaRPr sz="855" b="0" dirty="0">
              <a:solidFill>
                <a:srgbClr val="64748B"/>
              </a:solidFill>
              <a:latin typeface="Noto Sans CJK JP"/>
              <a:ea typeface="Noto Sans CJK JP"/>
              <a:cs typeface="Noto Sans CJK JP"/>
            </a:endParaRPr>
          </a:p>
        </p:txBody>
      </p:sp>
      <p:sp>
        <p:nvSpPr>
          <p:cNvPr id="8" name="s9-value-4">
            <a:extLst>
              <a:ext uri="{FF2B5EF4-FFF2-40B4-BE49-F238E27FC236}">
                <a16:creationId xmlns:a16="http://schemas.microsoft.com/office/drawing/2014/main" id="{51FEC137-0EF1-FDDB-AB4C-082E85C80974}"/>
              </a:ext>
            </a:extLst>
          </p:cNvPr>
          <p:cNvSpPr>
            <a:spLocks noGrp="1"/>
          </p:cNvSpPr>
          <p:nvPr/>
        </p:nvSpPr>
        <p:spPr>
          <a:xfrm>
            <a:off x="8312213" y="3784282"/>
            <a:ext cx="523875" cy="171450"/>
          </a:xfrm>
          <a:prstGeom prst="rect">
            <a:avLst/>
          </a:prstGeom>
          <a:noFill/>
          <a:ln w="0">
            <a:noFill/>
            <a:prstDash val="solid"/>
          </a:ln>
        </p:spPr>
        <p:txBody>
          <a:bodyPr wrap="square" lIns="0" tIns="0" rIns="0" bIns="0" anchor="ctr">
            <a:normAutofit/>
          </a:bodyPr>
          <a:lstStyle/>
          <a:p>
            <a:pPr algn="r">
              <a:defRPr sz="915" b="1">
                <a:solidFill>
                  <a:srgbClr val="111827"/>
                </a:solidFill>
                <a:latin typeface="Noto Sans CJK JP"/>
                <a:ea typeface="Noto Sans CJK JP"/>
                <a:cs typeface="Noto Sans CJK JP"/>
              </a:defRPr>
            </a:pPr>
            <a:r>
              <a:rPr sz="915" b="1" dirty="0">
                <a:solidFill>
                  <a:srgbClr val="111827"/>
                </a:solidFill>
                <a:latin typeface="Noto Sans CJK JP"/>
                <a:ea typeface="Noto Sans CJK JP"/>
                <a:cs typeface="Noto Sans CJK JP"/>
              </a:rPr>
              <a:t>1/12</a:t>
            </a:r>
          </a:p>
        </p:txBody>
      </p:sp>
      <p:sp>
        <p:nvSpPr>
          <p:cNvPr id="10" name="s9-row-4">
            <a:extLst>
              <a:ext uri="{FF2B5EF4-FFF2-40B4-BE49-F238E27FC236}">
                <a16:creationId xmlns:a16="http://schemas.microsoft.com/office/drawing/2014/main" id="{71431776-7830-5D63-BB54-70A73D7BFAF5}"/>
              </a:ext>
            </a:extLst>
          </p:cNvPr>
          <p:cNvSpPr>
            <a:spLocks noGrp="1"/>
          </p:cNvSpPr>
          <p:nvPr/>
        </p:nvSpPr>
        <p:spPr>
          <a:xfrm>
            <a:off x="7150163" y="4012882"/>
            <a:ext cx="1685925" cy="6668"/>
          </a:xfrm>
          <a:prstGeom prst="rect">
            <a:avLst/>
          </a:prstGeom>
          <a:solidFill>
            <a:srgbClr val="DDE4EC"/>
          </a:solidFill>
          <a:ln w="0">
            <a:noFill/>
            <a:prstDash val="solid"/>
          </a:ln>
        </p:spPr>
      </p:sp>
      <p:sp>
        <p:nvSpPr>
          <p:cNvPr id="32" name="s9-common-mean">
            <a:extLst>
              <a:ext uri="{FF2B5EF4-FFF2-40B4-BE49-F238E27FC236}">
                <a16:creationId xmlns:a16="http://schemas.microsoft.com/office/drawing/2014/main" id="{2BC5B884-7AAF-415A-BD3A-98D945699776}"/>
              </a:ext>
            </a:extLst>
          </p:cNvPr>
          <p:cNvSpPr>
            <a:spLocks noGrp="1"/>
          </p:cNvSpPr>
          <p:nvPr/>
        </p:nvSpPr>
        <p:spPr>
          <a:xfrm>
            <a:off x="2000250" y="1790700"/>
            <a:ext cx="4457700" cy="209550"/>
          </a:xfrm>
          <a:prstGeom prst="rect">
            <a:avLst/>
          </a:prstGeom>
          <a:noFill/>
          <a:ln w="0">
            <a:noFill/>
            <a:prstDash val="solid"/>
          </a:ln>
        </p:spPr>
        <p:txBody>
          <a:bodyPr wrap="square" lIns="0" tIns="0" rIns="0" bIns="0" anchor="ctr">
            <a:normAutofit fontScale="92500"/>
          </a:bodyPr>
          <a:lstStyle/>
          <a:p>
            <a:pPr algn="ctr">
              <a:defRPr sz="1163" b="1">
                <a:solidFill>
                  <a:srgbClr val="215FB4"/>
                </a:solidFill>
                <a:latin typeface="Noto Sans CJK JP"/>
                <a:ea typeface="Noto Sans CJK JP"/>
                <a:cs typeface="Noto Sans CJK JP"/>
              </a:defRPr>
            </a:pPr>
            <a:r>
              <a:rPr sz="1163" b="1" dirty="0">
                <a:solidFill>
                  <a:srgbClr val="215FB4"/>
                </a:solidFill>
                <a:latin typeface="Noto Sans CJK JP"/>
                <a:ea typeface="Noto Sans CJK JP"/>
                <a:cs typeface="Noto Sans CJK JP"/>
              </a:rPr>
              <a:t>4戦略</a:t>
            </a:r>
            <a:r>
              <a:rPr lang="ja-JP" altLang="en-US" sz="1163" b="1" dirty="0">
                <a:solidFill>
                  <a:srgbClr val="215FB4"/>
                </a:solidFill>
                <a:latin typeface="Noto Sans CJK JP"/>
                <a:ea typeface="Noto Sans CJK JP"/>
                <a:cs typeface="Noto Sans CJK JP"/>
              </a:rPr>
              <a:t>が</a:t>
            </a:r>
            <a:r>
              <a:rPr sz="1163" b="1" dirty="0" err="1">
                <a:solidFill>
                  <a:srgbClr val="215FB4"/>
                </a:solidFill>
                <a:latin typeface="Noto Sans CJK JP"/>
                <a:ea typeface="Noto Sans CJK JP"/>
                <a:cs typeface="Noto Sans CJK JP"/>
              </a:rPr>
              <a:t>同じ平均</a:t>
            </a:r>
            <a:r>
              <a:rPr lang="ja-JP" altLang="en-US" sz="1163" b="1" dirty="0">
                <a:solidFill>
                  <a:srgbClr val="215FB4"/>
                </a:solidFill>
                <a:latin typeface="Noto Sans CJK JP"/>
                <a:ea typeface="Noto Sans CJK JP"/>
                <a:cs typeface="Noto Sans CJK JP"/>
              </a:rPr>
              <a:t>になるよう目的関数の各係数をキャリブレーション</a:t>
            </a:r>
            <a:endParaRPr sz="1163" b="1" dirty="0">
              <a:solidFill>
                <a:srgbClr val="215FB4"/>
              </a:solidFill>
              <a:latin typeface="Noto Sans CJK JP"/>
              <a:ea typeface="Noto Sans CJK JP"/>
              <a:cs typeface="Noto Sans CJK JP"/>
            </a:endParaRPr>
          </a:p>
        </p:txBody>
      </p:sp>
      <p:grpSp>
        <p:nvGrpSpPr>
          <p:cNvPr id="26" name="グループ化 25">
            <a:extLst>
              <a:ext uri="{FF2B5EF4-FFF2-40B4-BE49-F238E27FC236}">
                <a16:creationId xmlns:a16="http://schemas.microsoft.com/office/drawing/2014/main" id="{2377705C-AD55-8EAA-D3CA-40E517A5566C}"/>
              </a:ext>
            </a:extLst>
          </p:cNvPr>
          <p:cNvGrpSpPr/>
          <p:nvPr/>
        </p:nvGrpSpPr>
        <p:grpSpPr>
          <a:xfrm>
            <a:off x="1239755" y="2063430"/>
            <a:ext cx="2649208" cy="2043273"/>
            <a:chOff x="1471612" y="1977705"/>
            <a:chExt cx="2649208" cy="2043273"/>
          </a:xfrm>
        </p:grpSpPr>
        <p:pic>
          <p:nvPicPr>
            <p:cNvPr id="24" name="図 23">
              <a:extLst>
                <a:ext uri="{FF2B5EF4-FFF2-40B4-BE49-F238E27FC236}">
                  <a16:creationId xmlns:a16="http://schemas.microsoft.com/office/drawing/2014/main" id="{45A09689-DAEE-123F-ED0B-0FB0FE1A8868}"/>
                </a:ext>
              </a:extLst>
            </p:cNvPr>
            <p:cNvPicPr>
              <a:picLocks noChangeAspect="1"/>
            </p:cNvPicPr>
            <p:nvPr/>
          </p:nvPicPr>
          <p:blipFill>
            <a:blip r:embed="rId4"/>
            <a:stretch>
              <a:fillRect/>
            </a:stretch>
          </p:blipFill>
          <p:spPr>
            <a:xfrm>
              <a:off x="1471612" y="1977705"/>
              <a:ext cx="2544506" cy="2029991"/>
            </a:xfrm>
            <a:prstGeom prst="rect">
              <a:avLst/>
            </a:prstGeom>
          </p:spPr>
        </p:pic>
        <p:sp>
          <p:nvSpPr>
            <p:cNvPr id="25" name="正方形/長方形 24">
              <a:extLst>
                <a:ext uri="{FF2B5EF4-FFF2-40B4-BE49-F238E27FC236}">
                  <a16:creationId xmlns:a16="http://schemas.microsoft.com/office/drawing/2014/main" id="{A682251D-8F94-E244-1084-6540D579637B}"/>
                </a:ext>
              </a:extLst>
            </p:cNvPr>
            <p:cNvSpPr/>
            <p:nvPr/>
          </p:nvSpPr>
          <p:spPr>
            <a:xfrm>
              <a:off x="3024805" y="3694271"/>
              <a:ext cx="1096015" cy="3267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875397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B5FB2-DE08-01C4-4B0F-3D45E31A046E}"/>
              </a:ext>
            </a:extLst>
          </p:cNvPr>
          <p:cNvSpPr>
            <a:spLocks noGrp="1"/>
          </p:cNvSpPr>
          <p:nvPr>
            <p:ph type="title"/>
          </p:nvPr>
        </p:nvSpPr>
        <p:spPr>
          <a:xfrm>
            <a:off x="457200" y="990600"/>
            <a:ext cx="8229600" cy="609600"/>
          </a:xfrm>
        </p:spPr>
        <p:txBody>
          <a:bodyPr wrap="none" lIns="0" tIns="0" rIns="0" bIns="0" anchor="ctr">
            <a:normAutofit/>
          </a:bodyPr>
          <a:lstStyle/>
          <a:p>
            <a:pPr algn="l">
              <a:buNone/>
              <a:defRPr sz="2175" b="1">
                <a:solidFill>
                  <a:srgbClr val="111827"/>
                </a:solidFill>
                <a:latin typeface="Noto Sans CJK JP"/>
                <a:ea typeface="Noto Sans CJK JP"/>
                <a:cs typeface="Noto Sans CJK JP"/>
              </a:defRPr>
            </a:pPr>
            <a:r>
              <a:rPr sz="2175" b="1">
                <a:solidFill>
                  <a:srgbClr val="111827"/>
                </a:solidFill>
                <a:latin typeface="Noto Sans CJK JP"/>
                <a:ea typeface="Noto Sans CJK JP"/>
                <a:cs typeface="Noto Sans CJK JP"/>
              </a:rPr>
              <a:t>同じ平均でも、左裾・中央値・右裾は大きく異なる</a:t>
            </a:r>
          </a:p>
        </p:txBody>
      </p:sp>
      <p:sp>
        <p:nvSpPr>
          <p:cNvPr id="3" name="title-divider">
            <a:extLst>
              <a:ext uri="{FF2B5EF4-FFF2-40B4-BE49-F238E27FC236}">
                <a16:creationId xmlns:a16="http://schemas.microsoft.com/office/drawing/2014/main" id="{C38E0438-27C4-4BE1-BE74-9644DEFD11FA}"/>
              </a:ext>
            </a:extLst>
          </p:cNvPr>
          <p:cNvSpPr>
            <a:spLocks noGrp="1"/>
          </p:cNvSpPr>
          <p:nvPr/>
        </p:nvSpPr>
        <p:spPr>
          <a:xfrm>
            <a:off x="457200" y="1676400"/>
            <a:ext cx="8229600" cy="9525"/>
          </a:xfrm>
          <a:prstGeom prst="rect">
            <a:avLst/>
          </a:prstGeom>
          <a:solidFill>
            <a:srgbClr val="E5EAF0"/>
          </a:solidFill>
          <a:ln w="0">
            <a:noFill/>
            <a:prstDash val="solid"/>
          </a:ln>
        </p:spPr>
      </p:sp>
      <p:sp>
        <p:nvSpPr>
          <p:cNvPr id="4" name="title-accent">
            <a:extLst>
              <a:ext uri="{FF2B5EF4-FFF2-40B4-BE49-F238E27FC236}">
                <a16:creationId xmlns:a16="http://schemas.microsoft.com/office/drawing/2014/main" id="{1BCDE0CB-6EBB-4074-986C-0D37CE1C19D1}"/>
              </a:ext>
            </a:extLst>
          </p:cNvPr>
          <p:cNvSpPr>
            <a:spLocks noGrp="1"/>
          </p:cNvSpPr>
          <p:nvPr/>
        </p:nvSpPr>
        <p:spPr>
          <a:xfrm>
            <a:off x="457200" y="1666875"/>
            <a:ext cx="552450" cy="38100"/>
          </a:xfrm>
          <a:prstGeom prst="rect">
            <a:avLst/>
          </a:prstGeom>
          <a:solidFill>
            <a:srgbClr val="4A90E2"/>
          </a:solidFill>
          <a:ln w="0">
            <a:noFill/>
            <a:prstDash val="solid"/>
          </a:ln>
        </p:spPr>
      </p:sp>
      <p:sp>
        <p:nvSpPr>
          <p:cNvPr id="15" name="chapter-tab-1">
            <a:extLst>
              <a:ext uri="{FF2B5EF4-FFF2-40B4-BE49-F238E27FC236}">
                <a16:creationId xmlns:a16="http://schemas.microsoft.com/office/drawing/2014/main" id="{615655EB-DD31-4307-B89D-B352EB5107C0}"/>
              </a:ext>
            </a:extLst>
          </p:cNvPr>
          <p:cNvSpPr>
            <a:spLocks noGrp="1"/>
          </p:cNvSpPr>
          <p:nvPr/>
        </p:nvSpPr>
        <p:spPr>
          <a:xfrm>
            <a:off x="457200" y="4857750"/>
            <a:ext cx="2057400" cy="238125"/>
          </a:xfrm>
          <a:prstGeom prst="parallelogram">
            <a:avLst/>
          </a:prstGeom>
          <a:solidFill>
            <a:srgbClr val="FFFFFF"/>
          </a:solidFill>
          <a:ln w="10001">
            <a:solidFill>
              <a:srgbClr val="4A90E2"/>
            </a:solidFill>
            <a:prstDash val="solid"/>
          </a:ln>
        </p:spPr>
        <p:txBody>
          <a:bodyPr wrap="none" lIns="76200" tIns="0" rIns="76200" bIns="0" anchor="ctr">
            <a:normAutofit/>
          </a:bodyPr>
          <a:lstStyle/>
          <a:p>
            <a:pPr algn="ctr">
              <a:buNone/>
              <a:defRPr sz="998" b="1">
                <a:solidFill>
                  <a:srgbClr val="4A90E2"/>
                </a:solidFill>
                <a:latin typeface="Noto Sans CJK JP"/>
                <a:ea typeface="Noto Sans CJK JP"/>
                <a:cs typeface="Noto Sans CJK JP"/>
              </a:defRPr>
            </a:pPr>
            <a:r>
              <a:rPr sz="998" b="1">
                <a:solidFill>
                  <a:srgbClr val="4A90E2"/>
                </a:solidFill>
                <a:latin typeface="Noto Sans CJK JP"/>
                <a:ea typeface="Noto Sans CJK JP"/>
                <a:cs typeface="Noto Sans CJK JP"/>
              </a:rPr>
              <a:t>1 前提</a:t>
            </a:r>
          </a:p>
        </p:txBody>
      </p:sp>
      <p:sp>
        <p:nvSpPr>
          <p:cNvPr id="16" name="chapter-tab-2">
            <a:extLst>
              <a:ext uri="{FF2B5EF4-FFF2-40B4-BE49-F238E27FC236}">
                <a16:creationId xmlns:a16="http://schemas.microsoft.com/office/drawing/2014/main" id="{7CF94F35-5B25-48EC-805C-1255A04263C7}"/>
              </a:ext>
            </a:extLst>
          </p:cNvPr>
          <p:cNvSpPr>
            <a:spLocks noGrp="1"/>
          </p:cNvSpPr>
          <p:nvPr/>
        </p:nvSpPr>
        <p:spPr>
          <a:xfrm>
            <a:off x="2428875" y="4857750"/>
            <a:ext cx="2057400" cy="238125"/>
          </a:xfrm>
          <a:prstGeom prst="parallelogram">
            <a:avLst/>
          </a:prstGeom>
          <a:solidFill>
            <a:srgbClr val="FFFFFF"/>
          </a:solidFill>
          <a:ln w="10001">
            <a:solidFill>
              <a:srgbClr val="2F73B7"/>
            </a:solidFill>
            <a:prstDash val="solid"/>
          </a:ln>
        </p:spPr>
        <p:txBody>
          <a:bodyPr wrap="none" lIns="76200" tIns="0" rIns="76200" bIns="0" anchor="ctr">
            <a:normAutofit/>
          </a:bodyPr>
          <a:lstStyle/>
          <a:p>
            <a:pPr algn="ctr">
              <a:buNone/>
              <a:defRPr sz="998" b="1">
                <a:solidFill>
                  <a:srgbClr val="2F73B7"/>
                </a:solidFill>
                <a:latin typeface="Noto Sans CJK JP"/>
                <a:ea typeface="Noto Sans CJK JP"/>
                <a:cs typeface="Noto Sans CJK JP"/>
              </a:defRPr>
            </a:pPr>
            <a:r>
              <a:rPr sz="998" b="1">
                <a:solidFill>
                  <a:srgbClr val="2F73B7"/>
                </a:solidFill>
                <a:latin typeface="Noto Sans CJK JP"/>
                <a:ea typeface="Noto Sans CJK JP"/>
                <a:cs typeface="Noto Sans CJK JP"/>
              </a:rPr>
              <a:t>2 数理理論</a:t>
            </a:r>
          </a:p>
        </p:txBody>
      </p:sp>
      <p:sp>
        <p:nvSpPr>
          <p:cNvPr id="17" name="chapter-tab-3">
            <a:extLst>
              <a:ext uri="{FF2B5EF4-FFF2-40B4-BE49-F238E27FC236}">
                <a16:creationId xmlns:a16="http://schemas.microsoft.com/office/drawing/2014/main" id="{13190143-BE0D-4FF0-BB92-02267971F156}"/>
              </a:ext>
            </a:extLst>
          </p:cNvPr>
          <p:cNvSpPr>
            <a:spLocks noGrp="1"/>
          </p:cNvSpPr>
          <p:nvPr/>
        </p:nvSpPr>
        <p:spPr>
          <a:xfrm>
            <a:off x="4400550" y="4857750"/>
            <a:ext cx="2057400" cy="238125"/>
          </a:xfrm>
          <a:prstGeom prst="parallelogram">
            <a:avLst/>
          </a:prstGeom>
          <a:solidFill>
            <a:srgbClr val="2A8F6A"/>
          </a:solidFill>
          <a:ln w="11430">
            <a:solidFill>
              <a:srgbClr val="2A8F6A"/>
            </a:solidFill>
            <a:prstDash val="solid"/>
          </a:ln>
        </p:spPr>
        <p:txBody>
          <a:bodyPr wrap="none" lIns="76200" tIns="0" rIns="76200" bIns="0" anchor="ctr">
            <a:normAutofit/>
          </a:bodyPr>
          <a:lstStyle/>
          <a:p>
            <a:pPr algn="ctr">
              <a:buNone/>
              <a:defRPr sz="998" b="1">
                <a:solidFill>
                  <a:srgbClr val="FFFFFF"/>
                </a:solidFill>
                <a:latin typeface="Noto Sans CJK JP"/>
                <a:ea typeface="Noto Sans CJK JP"/>
                <a:cs typeface="Noto Sans CJK JP"/>
              </a:defRPr>
            </a:pPr>
            <a:r>
              <a:rPr sz="998" b="1">
                <a:solidFill>
                  <a:srgbClr val="FFFFFF"/>
                </a:solidFill>
                <a:latin typeface="Noto Sans CJK JP"/>
                <a:ea typeface="Noto Sans CJK JP"/>
                <a:cs typeface="Noto Sans CJK JP"/>
              </a:rPr>
              <a:t>3 シミュレーション</a:t>
            </a:r>
          </a:p>
        </p:txBody>
      </p:sp>
      <p:sp>
        <p:nvSpPr>
          <p:cNvPr id="18" name="chapter-tab-4">
            <a:extLst>
              <a:ext uri="{FF2B5EF4-FFF2-40B4-BE49-F238E27FC236}">
                <a16:creationId xmlns:a16="http://schemas.microsoft.com/office/drawing/2014/main" id="{45B6A9CD-0558-4F21-9E03-441D94B7122C}"/>
              </a:ext>
            </a:extLst>
          </p:cNvPr>
          <p:cNvSpPr>
            <a:spLocks noGrp="1"/>
          </p:cNvSpPr>
          <p:nvPr/>
        </p:nvSpPr>
        <p:spPr>
          <a:xfrm>
            <a:off x="6372225" y="4857750"/>
            <a:ext cx="2057400" cy="238125"/>
          </a:xfrm>
          <a:prstGeom prst="parallelogram">
            <a:avLst/>
          </a:prstGeom>
          <a:solidFill>
            <a:srgbClr val="FFFFFF"/>
          </a:solidFill>
          <a:ln w="10001">
            <a:solidFill>
              <a:srgbClr val="C9534B"/>
            </a:solidFill>
            <a:prstDash val="solid"/>
          </a:ln>
        </p:spPr>
        <p:txBody>
          <a:bodyPr wrap="none" lIns="76200" tIns="0" rIns="76200" bIns="0" anchor="ctr">
            <a:normAutofit/>
          </a:bodyPr>
          <a:lstStyle/>
          <a:p>
            <a:pPr algn="ctr">
              <a:buNone/>
              <a:defRPr sz="998" b="1">
                <a:solidFill>
                  <a:srgbClr val="C9534B"/>
                </a:solidFill>
                <a:latin typeface="Noto Sans CJK JP"/>
                <a:ea typeface="Noto Sans CJK JP"/>
                <a:cs typeface="Noto Sans CJK JP"/>
              </a:defRPr>
            </a:pPr>
            <a:r>
              <a:rPr sz="998" b="1">
                <a:solidFill>
                  <a:srgbClr val="C9534B"/>
                </a:solidFill>
                <a:latin typeface="Noto Sans CJK JP"/>
                <a:ea typeface="Noto Sans CJK JP"/>
                <a:cs typeface="Noto Sans CJK JP"/>
              </a:rPr>
              <a:t>4 結論</a:t>
            </a:r>
          </a:p>
        </p:txBody>
      </p:sp>
      <p:pic>
        <p:nvPicPr>
          <p:cNvPr id="45" name="図 44"/>
          <p:cNvPicPr>
            <a:picLocks noChangeAspect="1"/>
          </p:cNvPicPr>
          <p:nvPr/>
        </p:nvPicPr>
        <p:blipFill>
          <a:blip r:embed="rId3"/>
          <a:stretch/>
        </p:blipFill>
        <p:spPr>
          <a:xfrm>
            <a:off x="882015" y="1715272"/>
            <a:ext cx="4695019" cy="2856728"/>
          </a:xfrm>
          <a:prstGeom prst="rect">
            <a:avLst/>
          </a:prstGeom>
        </p:spPr>
      </p:pic>
      <p:sp>
        <p:nvSpPr>
          <p:cNvPr id="21" name="s10-rail">
            <a:extLst>
              <a:ext uri="{FF2B5EF4-FFF2-40B4-BE49-F238E27FC236}">
                <a16:creationId xmlns:a16="http://schemas.microsoft.com/office/drawing/2014/main" id="{80796984-F2DE-4865-B0BC-03BEA0161D2A}"/>
              </a:ext>
            </a:extLst>
          </p:cNvPr>
          <p:cNvSpPr>
            <a:spLocks noGrp="1"/>
          </p:cNvSpPr>
          <p:nvPr/>
        </p:nvSpPr>
        <p:spPr>
          <a:xfrm>
            <a:off x="6572250" y="1857375"/>
            <a:ext cx="11430" cy="2381250"/>
          </a:xfrm>
          <a:prstGeom prst="rect">
            <a:avLst/>
          </a:prstGeom>
          <a:solidFill>
            <a:srgbClr val="DDE4EC"/>
          </a:solidFill>
          <a:ln w="0">
            <a:noFill/>
            <a:prstDash val="solid"/>
          </a:ln>
        </p:spPr>
      </p:sp>
      <p:sp>
        <p:nvSpPr>
          <p:cNvPr id="22" name="s10-call-dot-0">
            <a:extLst>
              <a:ext uri="{FF2B5EF4-FFF2-40B4-BE49-F238E27FC236}">
                <a16:creationId xmlns:a16="http://schemas.microsoft.com/office/drawing/2014/main" id="{76F1EDEA-E1A3-46D5-A588-AA40B9A4D853}"/>
              </a:ext>
            </a:extLst>
          </p:cNvPr>
          <p:cNvSpPr>
            <a:spLocks noGrp="1"/>
          </p:cNvSpPr>
          <p:nvPr/>
        </p:nvSpPr>
        <p:spPr>
          <a:xfrm>
            <a:off x="6515100" y="3001925"/>
            <a:ext cx="95250" cy="95250"/>
          </a:xfrm>
          <a:prstGeom prst="ellipse">
            <a:avLst/>
          </a:prstGeom>
          <a:solidFill>
            <a:srgbClr val="215FB4"/>
          </a:solidFill>
          <a:ln w="0">
            <a:noFill/>
            <a:prstDash val="solid"/>
          </a:ln>
        </p:spPr>
      </p:sp>
      <p:sp>
        <p:nvSpPr>
          <p:cNvPr id="24" name="s10-call-code-0">
            <a:extLst>
              <a:ext uri="{FF2B5EF4-FFF2-40B4-BE49-F238E27FC236}">
                <a16:creationId xmlns:a16="http://schemas.microsoft.com/office/drawing/2014/main" id="{65798709-75F4-41E4-89FB-8CDCD50FEF13}"/>
              </a:ext>
            </a:extLst>
          </p:cNvPr>
          <p:cNvSpPr>
            <a:spLocks noGrp="1"/>
          </p:cNvSpPr>
          <p:nvPr/>
        </p:nvSpPr>
        <p:spPr>
          <a:xfrm>
            <a:off x="6677025" y="2924702"/>
            <a:ext cx="1143000" cy="219075"/>
          </a:xfrm>
          <a:prstGeom prst="rect">
            <a:avLst/>
          </a:prstGeom>
          <a:noFill/>
          <a:ln w="0">
            <a:noFill/>
            <a:prstDash val="solid"/>
          </a:ln>
        </p:spPr>
        <p:txBody>
          <a:bodyPr wrap="square" lIns="0" tIns="0" rIns="0" bIns="0" anchor="ctr">
            <a:normAutofit/>
          </a:bodyPr>
          <a:lstStyle/>
          <a:p>
            <a:pPr algn="l">
              <a:defRPr sz="1200" b="1">
                <a:solidFill>
                  <a:srgbClr val="215FB4"/>
                </a:solidFill>
                <a:latin typeface="Arial"/>
                <a:ea typeface="Arial"/>
                <a:cs typeface="Arial"/>
              </a:defRPr>
            </a:pPr>
            <a:r>
              <a:rPr sz="1200" b="1" dirty="0">
                <a:solidFill>
                  <a:srgbClr val="215FB4"/>
                </a:solidFill>
                <a:latin typeface="Arial"/>
                <a:ea typeface="Arial"/>
                <a:cs typeface="Arial"/>
              </a:rPr>
              <a:t>PCMV</a:t>
            </a:r>
          </a:p>
        </p:txBody>
      </p:sp>
      <p:sp>
        <p:nvSpPr>
          <p:cNvPr id="25" name="s10-call-text-0">
            <a:extLst>
              <a:ext uri="{FF2B5EF4-FFF2-40B4-BE49-F238E27FC236}">
                <a16:creationId xmlns:a16="http://schemas.microsoft.com/office/drawing/2014/main" id="{22725A65-69F3-4BE2-BB89-7DEA0D95B296}"/>
              </a:ext>
            </a:extLst>
          </p:cNvPr>
          <p:cNvSpPr>
            <a:spLocks noGrp="1"/>
          </p:cNvSpPr>
          <p:nvPr/>
        </p:nvSpPr>
        <p:spPr>
          <a:xfrm>
            <a:off x="6677025" y="3162827"/>
            <a:ext cx="1571625" cy="533400"/>
          </a:xfrm>
          <a:prstGeom prst="rect">
            <a:avLst/>
          </a:prstGeom>
          <a:noFill/>
          <a:ln w="0">
            <a:noFill/>
            <a:prstDash val="solid"/>
          </a:ln>
        </p:spPr>
        <p:txBody>
          <a:bodyPr wrap="square" lIns="0" tIns="0" rIns="0" bIns="0" anchor="ctr">
            <a:normAutofit/>
          </a:bodyPr>
          <a:lstStyle/>
          <a:p>
            <a:pPr algn="l">
              <a:defRPr sz="923" b="0">
                <a:solidFill>
                  <a:srgbClr val="111827"/>
                </a:solidFill>
                <a:latin typeface="Noto Sans CJK JP"/>
                <a:ea typeface="Noto Sans CJK JP"/>
                <a:cs typeface="Noto Sans CJK JP"/>
              </a:defRPr>
            </a:pPr>
            <a:r>
              <a:rPr sz="923" b="0" dirty="0">
                <a:solidFill>
                  <a:srgbClr val="111827"/>
                </a:solidFill>
                <a:latin typeface="Noto Sans CJK JP"/>
                <a:ea typeface="Noto Sans CJK JP"/>
                <a:cs typeface="Noto Sans CJK JP"/>
              </a:rPr>
              <a:t>SD 22.96</a:t>
            </a:r>
          </a:p>
          <a:p>
            <a:pPr algn="l">
              <a:defRPr sz="923" b="0">
                <a:solidFill>
                  <a:srgbClr val="111827"/>
                </a:solidFill>
                <a:latin typeface="Noto Sans CJK JP"/>
                <a:ea typeface="Noto Sans CJK JP"/>
                <a:cs typeface="Noto Sans CJK JP"/>
              </a:defRPr>
            </a:pPr>
            <a:r>
              <a:rPr sz="923" b="0" dirty="0" err="1">
                <a:solidFill>
                  <a:srgbClr val="111827"/>
                </a:solidFill>
                <a:latin typeface="Noto Sans CJK JP"/>
                <a:ea typeface="Noto Sans CJK JP"/>
                <a:cs typeface="Noto Sans CJK JP"/>
              </a:rPr>
              <a:t>中央値</a:t>
            </a:r>
            <a:r>
              <a:rPr sz="923" b="0" dirty="0">
                <a:solidFill>
                  <a:srgbClr val="111827"/>
                </a:solidFill>
                <a:latin typeface="Noto Sans CJK JP"/>
                <a:ea typeface="Noto Sans CJK JP"/>
                <a:cs typeface="Noto Sans CJK JP"/>
              </a:rPr>
              <a:t> 92.71</a:t>
            </a:r>
          </a:p>
          <a:p>
            <a:pPr algn="l">
              <a:defRPr sz="923" b="0">
                <a:solidFill>
                  <a:srgbClr val="111827"/>
                </a:solidFill>
                <a:latin typeface="Noto Sans CJK JP"/>
                <a:ea typeface="Noto Sans CJK JP"/>
                <a:cs typeface="Noto Sans CJK JP"/>
              </a:defRPr>
            </a:pPr>
            <a:r>
              <a:rPr lang="ja-JP" altLang="en-US" sz="923" b="0" dirty="0">
                <a:solidFill>
                  <a:srgbClr val="111827"/>
                </a:solidFill>
                <a:latin typeface="Noto Sans CJK JP"/>
                <a:ea typeface="Noto Sans CJK JP"/>
                <a:cs typeface="Noto Sans CJK JP"/>
              </a:rPr>
              <a:t>負の歪度</a:t>
            </a:r>
            <a:endParaRPr sz="923" b="0" dirty="0">
              <a:solidFill>
                <a:srgbClr val="111827"/>
              </a:solidFill>
              <a:latin typeface="Noto Sans CJK JP"/>
              <a:ea typeface="Noto Sans CJK JP"/>
              <a:cs typeface="Noto Sans CJK JP"/>
            </a:endParaRPr>
          </a:p>
        </p:txBody>
      </p:sp>
      <p:sp>
        <p:nvSpPr>
          <p:cNvPr id="26" name="s10-call-dot-1">
            <a:extLst>
              <a:ext uri="{FF2B5EF4-FFF2-40B4-BE49-F238E27FC236}">
                <a16:creationId xmlns:a16="http://schemas.microsoft.com/office/drawing/2014/main" id="{B5D93E84-93B9-4232-99D5-0B7874979233}"/>
              </a:ext>
            </a:extLst>
          </p:cNvPr>
          <p:cNvSpPr>
            <a:spLocks noGrp="1"/>
          </p:cNvSpPr>
          <p:nvPr/>
        </p:nvSpPr>
        <p:spPr>
          <a:xfrm>
            <a:off x="6515100" y="4086144"/>
            <a:ext cx="95250" cy="95250"/>
          </a:xfrm>
          <a:prstGeom prst="ellipse">
            <a:avLst/>
          </a:prstGeom>
          <a:solidFill>
            <a:srgbClr val="16875C"/>
          </a:solidFill>
          <a:ln w="0">
            <a:noFill/>
            <a:prstDash val="solid"/>
          </a:ln>
        </p:spPr>
      </p:sp>
      <p:sp>
        <p:nvSpPr>
          <p:cNvPr id="28" name="s10-call-code-1">
            <a:extLst>
              <a:ext uri="{FF2B5EF4-FFF2-40B4-BE49-F238E27FC236}">
                <a16:creationId xmlns:a16="http://schemas.microsoft.com/office/drawing/2014/main" id="{28C8F3E5-1A5D-4DCA-8D6C-082E11A6942B}"/>
              </a:ext>
            </a:extLst>
          </p:cNvPr>
          <p:cNvSpPr>
            <a:spLocks noGrp="1"/>
          </p:cNvSpPr>
          <p:nvPr/>
        </p:nvSpPr>
        <p:spPr>
          <a:xfrm>
            <a:off x="6677025" y="4043362"/>
            <a:ext cx="1143000" cy="219075"/>
          </a:xfrm>
          <a:prstGeom prst="rect">
            <a:avLst/>
          </a:prstGeom>
          <a:noFill/>
          <a:ln w="0">
            <a:noFill/>
            <a:prstDash val="solid"/>
          </a:ln>
        </p:spPr>
        <p:txBody>
          <a:bodyPr wrap="square" lIns="0" tIns="0" rIns="0" bIns="0" anchor="ctr">
            <a:normAutofit/>
          </a:bodyPr>
          <a:lstStyle/>
          <a:p>
            <a:pPr algn="l">
              <a:defRPr sz="1200" b="1">
                <a:solidFill>
                  <a:srgbClr val="16875C"/>
                </a:solidFill>
                <a:latin typeface="Arial"/>
                <a:ea typeface="Arial"/>
                <a:cs typeface="Arial"/>
              </a:defRPr>
            </a:pPr>
            <a:r>
              <a:rPr sz="1200" b="1" dirty="0" err="1">
                <a:solidFill>
                  <a:srgbClr val="16875C"/>
                </a:solidFill>
                <a:latin typeface="Arial"/>
                <a:ea typeface="Arial"/>
                <a:cs typeface="Arial"/>
              </a:rPr>
              <a:t>cTCMV</a:t>
            </a:r>
            <a:endParaRPr sz="1200" b="1" dirty="0">
              <a:solidFill>
                <a:srgbClr val="16875C"/>
              </a:solidFill>
              <a:latin typeface="Arial"/>
              <a:ea typeface="Arial"/>
              <a:cs typeface="Arial"/>
            </a:endParaRPr>
          </a:p>
        </p:txBody>
      </p:sp>
      <p:sp>
        <p:nvSpPr>
          <p:cNvPr id="29" name="s10-call-text-1">
            <a:extLst>
              <a:ext uri="{FF2B5EF4-FFF2-40B4-BE49-F238E27FC236}">
                <a16:creationId xmlns:a16="http://schemas.microsoft.com/office/drawing/2014/main" id="{79373104-437C-4091-A47C-6F4BD3EDEB9A}"/>
              </a:ext>
            </a:extLst>
          </p:cNvPr>
          <p:cNvSpPr>
            <a:spLocks noGrp="1"/>
          </p:cNvSpPr>
          <p:nvPr/>
        </p:nvSpPr>
        <p:spPr>
          <a:xfrm>
            <a:off x="6677025" y="4281487"/>
            <a:ext cx="2009775" cy="361950"/>
          </a:xfrm>
          <a:prstGeom prst="rect">
            <a:avLst/>
          </a:prstGeom>
          <a:noFill/>
          <a:ln w="0">
            <a:noFill/>
            <a:prstDash val="solid"/>
          </a:ln>
        </p:spPr>
        <p:txBody>
          <a:bodyPr wrap="square" lIns="0" tIns="0" rIns="0" bIns="0" anchor="ctr">
            <a:normAutofit fontScale="92500"/>
          </a:bodyPr>
          <a:lstStyle/>
          <a:p>
            <a:pPr algn="l">
              <a:defRPr sz="923" b="0">
                <a:solidFill>
                  <a:srgbClr val="111827"/>
                </a:solidFill>
                <a:latin typeface="Noto Sans CJK JP"/>
                <a:ea typeface="Noto Sans CJK JP"/>
                <a:cs typeface="Noto Sans CJK JP"/>
              </a:defRPr>
            </a:pPr>
            <a:r>
              <a:rPr sz="923" b="0" dirty="0">
                <a:solidFill>
                  <a:srgbClr val="111827"/>
                </a:solidFill>
                <a:latin typeface="Noto Sans CJK JP"/>
                <a:ea typeface="Noto Sans CJK JP"/>
                <a:cs typeface="Noto Sans CJK JP"/>
              </a:rPr>
              <a:t>q05 42.16</a:t>
            </a:r>
          </a:p>
          <a:p>
            <a:pPr algn="l">
              <a:defRPr sz="923" b="0">
                <a:solidFill>
                  <a:srgbClr val="111827"/>
                </a:solidFill>
                <a:latin typeface="Noto Sans CJK JP"/>
                <a:ea typeface="Noto Sans CJK JP"/>
                <a:cs typeface="Noto Sans CJK JP"/>
              </a:defRPr>
            </a:pPr>
            <a:r>
              <a:rPr lang="en-US" altLang="ja-JP" sz="923" b="0" dirty="0">
                <a:solidFill>
                  <a:srgbClr val="111827"/>
                </a:solidFill>
                <a:latin typeface="Noto Sans CJK JP"/>
                <a:ea typeface="Noto Sans CJK JP"/>
                <a:cs typeface="Noto Sans CJK JP"/>
              </a:rPr>
              <a:t>5</a:t>
            </a:r>
            <a:r>
              <a:rPr lang="ja-JP" altLang="en-US" sz="923" b="0" dirty="0">
                <a:solidFill>
                  <a:srgbClr val="111827"/>
                </a:solidFill>
                <a:latin typeface="Noto Sans CJK JP"/>
                <a:ea typeface="Noto Sans CJK JP"/>
                <a:cs typeface="Noto Sans CJK JP"/>
              </a:rPr>
              <a:t>％タイル点</a:t>
            </a:r>
            <a:r>
              <a:rPr sz="923" b="0" dirty="0" err="1">
                <a:solidFill>
                  <a:srgbClr val="111827"/>
                </a:solidFill>
                <a:latin typeface="Noto Sans CJK JP"/>
                <a:ea typeface="Noto Sans CJK JP"/>
                <a:cs typeface="Noto Sans CJK JP"/>
              </a:rPr>
              <a:t>が最も</a:t>
            </a:r>
            <a:r>
              <a:rPr lang="ja-JP" altLang="en-US" sz="923" b="0" dirty="0">
                <a:solidFill>
                  <a:srgbClr val="111827"/>
                </a:solidFill>
                <a:latin typeface="Noto Sans CJK JP"/>
                <a:ea typeface="Noto Sans CJK JP"/>
                <a:cs typeface="Noto Sans CJK JP"/>
              </a:rPr>
              <a:t>大きく、下落を死守</a:t>
            </a:r>
            <a:endParaRPr sz="923" b="0" dirty="0">
              <a:solidFill>
                <a:srgbClr val="111827"/>
              </a:solidFill>
              <a:latin typeface="Noto Sans CJK JP"/>
              <a:ea typeface="Noto Sans CJK JP"/>
              <a:cs typeface="Noto Sans CJK JP"/>
            </a:endParaRPr>
          </a:p>
        </p:txBody>
      </p:sp>
      <p:sp>
        <p:nvSpPr>
          <p:cNvPr id="30" name="s10-call-dot-2">
            <a:extLst>
              <a:ext uri="{FF2B5EF4-FFF2-40B4-BE49-F238E27FC236}">
                <a16:creationId xmlns:a16="http://schemas.microsoft.com/office/drawing/2014/main" id="{B6149BE3-D23B-4D0E-9F6A-C45756696A50}"/>
              </a:ext>
            </a:extLst>
          </p:cNvPr>
          <p:cNvSpPr>
            <a:spLocks noGrp="1"/>
          </p:cNvSpPr>
          <p:nvPr/>
        </p:nvSpPr>
        <p:spPr>
          <a:xfrm>
            <a:off x="6524625" y="1937238"/>
            <a:ext cx="95250" cy="95250"/>
          </a:xfrm>
          <a:prstGeom prst="ellipse">
            <a:avLst/>
          </a:prstGeom>
          <a:solidFill>
            <a:srgbClr val="D94138"/>
          </a:solidFill>
          <a:ln w="0">
            <a:noFill/>
            <a:prstDash val="solid"/>
          </a:ln>
        </p:spPr>
      </p:sp>
      <p:sp>
        <p:nvSpPr>
          <p:cNvPr id="31" name="s10-call-line-2">
            <a:extLst>
              <a:ext uri="{FF2B5EF4-FFF2-40B4-BE49-F238E27FC236}">
                <a16:creationId xmlns:a16="http://schemas.microsoft.com/office/drawing/2014/main" id="{4916BE73-6CD9-445A-9AC4-27FA031675B5}"/>
              </a:ext>
            </a:extLst>
          </p:cNvPr>
          <p:cNvSpPr>
            <a:spLocks noGrp="1"/>
          </p:cNvSpPr>
          <p:nvPr/>
        </p:nvSpPr>
        <p:spPr>
          <a:xfrm>
            <a:off x="5516550" y="1975263"/>
            <a:ext cx="1080000" cy="9525"/>
          </a:xfrm>
          <a:prstGeom prst="rect">
            <a:avLst/>
          </a:prstGeom>
          <a:solidFill>
            <a:srgbClr val="D94138"/>
          </a:solidFill>
          <a:ln w="0">
            <a:noFill/>
            <a:prstDash val="solid"/>
          </a:ln>
        </p:spPr>
      </p:sp>
      <p:sp>
        <p:nvSpPr>
          <p:cNvPr id="32" name="s10-call-code-2">
            <a:extLst>
              <a:ext uri="{FF2B5EF4-FFF2-40B4-BE49-F238E27FC236}">
                <a16:creationId xmlns:a16="http://schemas.microsoft.com/office/drawing/2014/main" id="{38B08AAB-1D3D-45DD-8488-64359834D637}"/>
              </a:ext>
            </a:extLst>
          </p:cNvPr>
          <p:cNvSpPr>
            <a:spLocks noGrp="1"/>
          </p:cNvSpPr>
          <p:nvPr/>
        </p:nvSpPr>
        <p:spPr>
          <a:xfrm>
            <a:off x="6677025" y="1870741"/>
            <a:ext cx="1143000" cy="219075"/>
          </a:xfrm>
          <a:prstGeom prst="rect">
            <a:avLst/>
          </a:prstGeom>
          <a:noFill/>
          <a:ln w="0">
            <a:noFill/>
            <a:prstDash val="solid"/>
          </a:ln>
        </p:spPr>
        <p:txBody>
          <a:bodyPr wrap="square" lIns="0" tIns="0" rIns="0" bIns="0" anchor="ctr">
            <a:normAutofit/>
          </a:bodyPr>
          <a:lstStyle/>
          <a:p>
            <a:pPr algn="l">
              <a:defRPr sz="1200" b="1">
                <a:solidFill>
                  <a:srgbClr val="D94138"/>
                </a:solidFill>
                <a:latin typeface="Arial"/>
                <a:ea typeface="Arial"/>
                <a:cs typeface="Arial"/>
              </a:defRPr>
            </a:pPr>
            <a:r>
              <a:rPr sz="1200" b="1" dirty="0" err="1">
                <a:solidFill>
                  <a:srgbClr val="D94138"/>
                </a:solidFill>
                <a:latin typeface="Arial"/>
                <a:ea typeface="Arial"/>
                <a:cs typeface="Arial"/>
              </a:rPr>
              <a:t>dTCMV</a:t>
            </a:r>
            <a:endParaRPr sz="1200" b="1" dirty="0">
              <a:solidFill>
                <a:srgbClr val="D94138"/>
              </a:solidFill>
              <a:latin typeface="Arial"/>
              <a:ea typeface="Arial"/>
              <a:cs typeface="Arial"/>
            </a:endParaRPr>
          </a:p>
        </p:txBody>
      </p:sp>
      <p:sp>
        <p:nvSpPr>
          <p:cNvPr id="33" name="s10-call-text-2">
            <a:extLst>
              <a:ext uri="{FF2B5EF4-FFF2-40B4-BE49-F238E27FC236}">
                <a16:creationId xmlns:a16="http://schemas.microsoft.com/office/drawing/2014/main" id="{F48E2CFD-7AAD-4D73-A434-055664C47550}"/>
              </a:ext>
            </a:extLst>
          </p:cNvPr>
          <p:cNvSpPr>
            <a:spLocks noGrp="1"/>
          </p:cNvSpPr>
          <p:nvPr/>
        </p:nvSpPr>
        <p:spPr>
          <a:xfrm>
            <a:off x="6677025" y="2108866"/>
            <a:ext cx="2129620" cy="361950"/>
          </a:xfrm>
          <a:prstGeom prst="rect">
            <a:avLst/>
          </a:prstGeom>
          <a:noFill/>
          <a:ln w="0">
            <a:noFill/>
            <a:prstDash val="solid"/>
          </a:ln>
        </p:spPr>
        <p:txBody>
          <a:bodyPr wrap="square" lIns="0" tIns="0" rIns="0" bIns="0" anchor="ctr">
            <a:normAutofit/>
          </a:bodyPr>
          <a:lstStyle/>
          <a:p>
            <a:pPr algn="l">
              <a:defRPr sz="923" b="0">
                <a:solidFill>
                  <a:srgbClr val="111827"/>
                </a:solidFill>
                <a:latin typeface="Noto Sans CJK JP"/>
                <a:ea typeface="Noto Sans CJK JP"/>
                <a:cs typeface="Noto Sans CJK JP"/>
              </a:defRPr>
            </a:pPr>
            <a:r>
              <a:rPr sz="923" b="0" dirty="0">
                <a:solidFill>
                  <a:srgbClr val="111827"/>
                </a:solidFill>
                <a:latin typeface="Noto Sans CJK JP"/>
                <a:ea typeface="Noto Sans CJK JP"/>
                <a:cs typeface="Noto Sans CJK JP"/>
              </a:rPr>
              <a:t>q95 164.41</a:t>
            </a:r>
          </a:p>
          <a:p>
            <a:pPr algn="l">
              <a:defRPr sz="923" b="0">
                <a:solidFill>
                  <a:srgbClr val="111827"/>
                </a:solidFill>
                <a:latin typeface="Noto Sans CJK JP"/>
                <a:ea typeface="Noto Sans CJK JP"/>
                <a:cs typeface="Noto Sans CJK JP"/>
              </a:defRPr>
            </a:pPr>
            <a:r>
              <a:rPr sz="923" b="0" dirty="0" err="1">
                <a:solidFill>
                  <a:srgbClr val="111827"/>
                </a:solidFill>
                <a:latin typeface="Noto Sans CJK JP"/>
                <a:ea typeface="Noto Sans CJK JP"/>
                <a:cs typeface="Noto Sans CJK JP"/>
              </a:rPr>
              <a:t>右裾が最も</a:t>
            </a:r>
            <a:r>
              <a:rPr lang="ja-JP" altLang="en-US" sz="923" b="0" dirty="0">
                <a:solidFill>
                  <a:srgbClr val="111827"/>
                </a:solidFill>
                <a:latin typeface="Noto Sans CJK JP"/>
                <a:ea typeface="Noto Sans CJK JP"/>
                <a:cs typeface="Noto Sans CJK JP"/>
              </a:rPr>
              <a:t>大きく、上振れを獲得</a:t>
            </a:r>
            <a:endParaRPr sz="923" b="0" dirty="0">
              <a:solidFill>
                <a:srgbClr val="111827"/>
              </a:solidFill>
              <a:latin typeface="Noto Sans CJK JP"/>
              <a:ea typeface="Noto Sans CJK JP"/>
              <a:cs typeface="Noto Sans CJK JP"/>
            </a:endParaRPr>
          </a:p>
        </p:txBody>
      </p:sp>
      <p:sp>
        <p:nvSpPr>
          <p:cNvPr id="34" name="s10-bottom">
            <a:extLst>
              <a:ext uri="{FF2B5EF4-FFF2-40B4-BE49-F238E27FC236}">
                <a16:creationId xmlns:a16="http://schemas.microsoft.com/office/drawing/2014/main" id="{570425C7-2D48-47AC-97B7-F4CC37130211}"/>
              </a:ext>
            </a:extLst>
          </p:cNvPr>
          <p:cNvSpPr>
            <a:spLocks noGrp="1"/>
          </p:cNvSpPr>
          <p:nvPr/>
        </p:nvSpPr>
        <p:spPr>
          <a:xfrm>
            <a:off x="1210617" y="4552950"/>
            <a:ext cx="5810250" cy="228600"/>
          </a:xfrm>
          <a:prstGeom prst="rect">
            <a:avLst/>
          </a:prstGeom>
          <a:noFill/>
          <a:ln w="0">
            <a:noFill/>
            <a:prstDash val="solid"/>
          </a:ln>
        </p:spPr>
        <p:txBody>
          <a:bodyPr wrap="square" lIns="0" tIns="0" rIns="0" bIns="0" anchor="ctr">
            <a:normAutofit/>
          </a:bodyPr>
          <a:lstStyle/>
          <a:p>
            <a:pPr algn="l">
              <a:defRPr sz="1163" b="1">
                <a:solidFill>
                  <a:srgbClr val="215FB4"/>
                </a:solidFill>
                <a:latin typeface="Noto Sans CJK JP"/>
                <a:ea typeface="Noto Sans CJK JP"/>
                <a:cs typeface="Noto Sans CJK JP"/>
              </a:defRPr>
            </a:pPr>
            <a:r>
              <a:rPr sz="1163" b="1" dirty="0" err="1">
                <a:solidFill>
                  <a:srgbClr val="215FB4"/>
                </a:solidFill>
                <a:latin typeface="Noto Sans CJK JP"/>
                <a:ea typeface="Noto Sans CJK JP"/>
                <a:cs typeface="Noto Sans CJK JP"/>
              </a:rPr>
              <a:t>同じ平均でも</a:t>
            </a:r>
            <a:r>
              <a:rPr sz="1163" b="1" dirty="0">
                <a:solidFill>
                  <a:srgbClr val="215FB4"/>
                </a:solidFill>
                <a:latin typeface="Noto Sans CJK JP"/>
                <a:ea typeface="Noto Sans CJK JP"/>
                <a:cs typeface="Noto Sans CJK JP"/>
              </a:rPr>
              <a:t>、</a:t>
            </a:r>
            <a:r>
              <a:rPr lang="ja-JP" altLang="en-US" sz="1163" b="1" dirty="0">
                <a:solidFill>
                  <a:srgbClr val="215FB4"/>
                </a:solidFill>
                <a:latin typeface="Noto Sans CJK JP"/>
                <a:ea typeface="Noto Sans CJK JP"/>
                <a:cs typeface="Noto Sans CJK JP"/>
              </a:rPr>
              <a:t>得られる分布は</a:t>
            </a:r>
            <a:r>
              <a:rPr sz="1163" b="1" dirty="0" err="1">
                <a:solidFill>
                  <a:srgbClr val="215FB4"/>
                </a:solidFill>
                <a:latin typeface="Noto Sans CJK JP"/>
                <a:ea typeface="Noto Sans CJK JP"/>
                <a:cs typeface="Noto Sans CJK JP"/>
              </a:rPr>
              <a:t>異なる</a:t>
            </a:r>
            <a:endParaRPr sz="1163" b="1" dirty="0">
              <a:solidFill>
                <a:srgbClr val="215FB4"/>
              </a:solidFill>
              <a:latin typeface="Noto Sans CJK JP"/>
              <a:ea typeface="Noto Sans CJK JP"/>
              <a:cs typeface="Noto Sans CJK JP"/>
            </a:endParaRPr>
          </a:p>
        </p:txBody>
      </p:sp>
      <p:sp>
        <p:nvSpPr>
          <p:cNvPr id="35" name="s10-bottom-icon">
            <a:extLst>
              <a:ext uri="{FF2B5EF4-FFF2-40B4-BE49-F238E27FC236}">
                <a16:creationId xmlns:a16="http://schemas.microsoft.com/office/drawing/2014/main" id="{1B12CC13-DEC3-4EC4-A0C9-D796D681FB06}"/>
              </a:ext>
            </a:extLst>
          </p:cNvPr>
          <p:cNvSpPr>
            <a:spLocks noGrp="1"/>
          </p:cNvSpPr>
          <p:nvPr/>
        </p:nvSpPr>
        <p:spPr>
          <a:xfrm>
            <a:off x="943917" y="4562475"/>
            <a:ext cx="190500" cy="190500"/>
          </a:xfrm>
          <a:prstGeom prst="ellipse">
            <a:avLst/>
          </a:prstGeom>
          <a:solidFill>
            <a:srgbClr val="215FB4"/>
          </a:solidFill>
          <a:ln w="0">
            <a:noFill/>
            <a:prstDash val="solid"/>
          </a:ln>
        </p:spPr>
      </p:sp>
      <p:sp>
        <p:nvSpPr>
          <p:cNvPr id="36" name="s10-bottom-arrow">
            <a:extLst>
              <a:ext uri="{FF2B5EF4-FFF2-40B4-BE49-F238E27FC236}">
                <a16:creationId xmlns:a16="http://schemas.microsoft.com/office/drawing/2014/main" id="{5C4C02AB-481F-4307-9B52-3BB118E4CC5F}"/>
              </a:ext>
            </a:extLst>
          </p:cNvPr>
          <p:cNvSpPr>
            <a:spLocks noGrp="1"/>
          </p:cNvSpPr>
          <p:nvPr/>
        </p:nvSpPr>
        <p:spPr>
          <a:xfrm>
            <a:off x="943917" y="4552950"/>
            <a:ext cx="190500" cy="190500"/>
          </a:xfrm>
          <a:prstGeom prst="rect">
            <a:avLst/>
          </a:prstGeom>
          <a:noFill/>
          <a:ln w="0">
            <a:noFill/>
            <a:prstDash val="solid"/>
          </a:ln>
        </p:spPr>
        <p:txBody>
          <a:bodyPr wrap="square" lIns="0" tIns="0" rIns="0" bIns="0" anchor="ctr">
            <a:normAutofit/>
          </a:bodyPr>
          <a:lstStyle/>
          <a:p>
            <a:pPr algn="ctr">
              <a:defRPr sz="1050" b="1">
                <a:solidFill>
                  <a:srgbClr val="FFFFFF"/>
                </a:solidFill>
                <a:latin typeface="Noto Sans CJK JP"/>
                <a:ea typeface="Noto Sans CJK JP"/>
                <a:cs typeface="Noto Sans CJK JP"/>
              </a:defRPr>
            </a:pPr>
            <a:r>
              <a:rPr sz="1050" b="1" dirty="0">
                <a:solidFill>
                  <a:srgbClr val="FFFFFF"/>
                </a:solidFill>
                <a:latin typeface="Noto Sans CJK JP"/>
                <a:ea typeface="Noto Sans CJK JP"/>
                <a:cs typeface="Noto Sans CJK JP"/>
              </a:rPr>
              <a:t>→</a:t>
            </a:r>
          </a:p>
        </p:txBody>
      </p:sp>
      <p:cxnSp>
        <p:nvCxnSpPr>
          <p:cNvPr id="8" name="直線コネクタ 7">
            <a:extLst>
              <a:ext uri="{FF2B5EF4-FFF2-40B4-BE49-F238E27FC236}">
                <a16:creationId xmlns:a16="http://schemas.microsoft.com/office/drawing/2014/main" id="{77BF9C00-4424-52C1-1584-18F4D4C6145C}"/>
              </a:ext>
            </a:extLst>
          </p:cNvPr>
          <p:cNvCxnSpPr>
            <a:cxnSpLocks/>
          </p:cNvCxnSpPr>
          <p:nvPr/>
        </p:nvCxnSpPr>
        <p:spPr>
          <a:xfrm>
            <a:off x="4400550" y="1975265"/>
            <a:ext cx="1116000" cy="0"/>
          </a:xfrm>
          <a:prstGeom prst="line">
            <a:avLst/>
          </a:prstGeom>
          <a:ln>
            <a:solidFill>
              <a:srgbClr val="D94138"/>
            </a:solidFill>
            <a:prstDash val="dash"/>
          </a:ln>
        </p:spPr>
        <p:style>
          <a:lnRef idx="1">
            <a:schemeClr val="accent1"/>
          </a:lnRef>
          <a:fillRef idx="0">
            <a:schemeClr val="accent1"/>
          </a:fillRef>
          <a:effectRef idx="0">
            <a:schemeClr val="accent1"/>
          </a:effectRef>
          <a:fontRef idx="minor">
            <a:schemeClr val="tx1"/>
          </a:fontRef>
        </p:style>
      </p:cxnSp>
      <p:sp>
        <p:nvSpPr>
          <p:cNvPr id="11" name="s10-call-dot-2">
            <a:extLst>
              <a:ext uri="{FF2B5EF4-FFF2-40B4-BE49-F238E27FC236}">
                <a16:creationId xmlns:a16="http://schemas.microsoft.com/office/drawing/2014/main" id="{EF4700B5-9732-C823-9935-A08A1057DE8B}"/>
              </a:ext>
            </a:extLst>
          </p:cNvPr>
          <p:cNvSpPr>
            <a:spLocks noGrp="1"/>
          </p:cNvSpPr>
          <p:nvPr/>
        </p:nvSpPr>
        <p:spPr>
          <a:xfrm>
            <a:off x="4305300" y="1932346"/>
            <a:ext cx="95250" cy="95250"/>
          </a:xfrm>
          <a:prstGeom prst="ellipse">
            <a:avLst/>
          </a:prstGeom>
          <a:solidFill>
            <a:srgbClr val="D94138"/>
          </a:solidFill>
          <a:ln w="0">
            <a:noFill/>
            <a:prstDash val="solid"/>
          </a:ln>
        </p:spPr>
      </p:sp>
      <p:cxnSp>
        <p:nvCxnSpPr>
          <p:cNvPr id="12" name="直線コネクタ 11">
            <a:extLst>
              <a:ext uri="{FF2B5EF4-FFF2-40B4-BE49-F238E27FC236}">
                <a16:creationId xmlns:a16="http://schemas.microsoft.com/office/drawing/2014/main" id="{639CA62B-0C1F-DFF6-639F-B55D6B6FA20E}"/>
              </a:ext>
            </a:extLst>
          </p:cNvPr>
          <p:cNvCxnSpPr>
            <a:cxnSpLocks/>
          </p:cNvCxnSpPr>
          <p:nvPr/>
        </p:nvCxnSpPr>
        <p:spPr>
          <a:xfrm>
            <a:off x="3012843" y="3040573"/>
            <a:ext cx="2484000" cy="0"/>
          </a:xfrm>
          <a:prstGeom prst="line">
            <a:avLst/>
          </a:prstGeom>
          <a:ln>
            <a:solidFill>
              <a:srgbClr val="215FB4"/>
            </a:solidFill>
            <a:prstDash val="dash"/>
          </a:ln>
        </p:spPr>
        <p:style>
          <a:lnRef idx="1">
            <a:schemeClr val="accent1"/>
          </a:lnRef>
          <a:fillRef idx="0">
            <a:schemeClr val="accent1"/>
          </a:fillRef>
          <a:effectRef idx="0">
            <a:schemeClr val="accent1"/>
          </a:effectRef>
          <a:fontRef idx="minor">
            <a:schemeClr val="tx1"/>
          </a:fontRef>
        </p:style>
      </p:cxnSp>
      <p:sp>
        <p:nvSpPr>
          <p:cNvPr id="13" name="s10-call-dot-2">
            <a:extLst>
              <a:ext uri="{FF2B5EF4-FFF2-40B4-BE49-F238E27FC236}">
                <a16:creationId xmlns:a16="http://schemas.microsoft.com/office/drawing/2014/main" id="{EABDFD71-E5AE-DC87-1933-2B14ABE6FB50}"/>
              </a:ext>
            </a:extLst>
          </p:cNvPr>
          <p:cNvSpPr>
            <a:spLocks noGrp="1"/>
          </p:cNvSpPr>
          <p:nvPr/>
        </p:nvSpPr>
        <p:spPr>
          <a:xfrm>
            <a:off x="2965218" y="2997165"/>
            <a:ext cx="95250" cy="95250"/>
          </a:xfrm>
          <a:prstGeom prst="ellipse">
            <a:avLst/>
          </a:prstGeom>
          <a:solidFill>
            <a:srgbClr val="215FB4"/>
          </a:solidFill>
          <a:ln w="0">
            <a:solidFill>
              <a:srgbClr val="215FB4"/>
            </a:solidFill>
            <a:prstDash val="solid"/>
          </a:ln>
        </p:spPr>
      </p:sp>
      <p:sp>
        <p:nvSpPr>
          <p:cNvPr id="20" name="s10-call-line-2">
            <a:extLst>
              <a:ext uri="{FF2B5EF4-FFF2-40B4-BE49-F238E27FC236}">
                <a16:creationId xmlns:a16="http://schemas.microsoft.com/office/drawing/2014/main" id="{E1F7785F-2D72-D59C-9ED0-8DA98E599E6A}"/>
              </a:ext>
            </a:extLst>
          </p:cNvPr>
          <p:cNvSpPr>
            <a:spLocks noGrp="1"/>
          </p:cNvSpPr>
          <p:nvPr/>
        </p:nvSpPr>
        <p:spPr>
          <a:xfrm>
            <a:off x="5497718" y="3035262"/>
            <a:ext cx="1080000" cy="9525"/>
          </a:xfrm>
          <a:prstGeom prst="rect">
            <a:avLst/>
          </a:prstGeom>
          <a:solidFill>
            <a:srgbClr val="215FB4"/>
          </a:solidFill>
          <a:ln w="0">
            <a:solidFill>
              <a:srgbClr val="215FB4"/>
            </a:solidFill>
            <a:prstDash val="solid"/>
          </a:ln>
        </p:spPr>
      </p:sp>
      <p:cxnSp>
        <p:nvCxnSpPr>
          <p:cNvPr id="37" name="直線コネクタ 36">
            <a:extLst>
              <a:ext uri="{FF2B5EF4-FFF2-40B4-BE49-F238E27FC236}">
                <a16:creationId xmlns:a16="http://schemas.microsoft.com/office/drawing/2014/main" id="{BF56810C-6DEE-1163-3527-9FF19586ECEF}"/>
              </a:ext>
            </a:extLst>
          </p:cNvPr>
          <p:cNvCxnSpPr>
            <a:cxnSpLocks/>
          </p:cNvCxnSpPr>
          <p:nvPr/>
        </p:nvCxnSpPr>
        <p:spPr>
          <a:xfrm>
            <a:off x="2142571" y="4125553"/>
            <a:ext cx="3348000" cy="0"/>
          </a:xfrm>
          <a:prstGeom prst="line">
            <a:avLst/>
          </a:prstGeom>
          <a:ln>
            <a:solidFill>
              <a:srgbClr val="16875C"/>
            </a:solidFill>
            <a:prstDash val="dash"/>
          </a:ln>
        </p:spPr>
        <p:style>
          <a:lnRef idx="1">
            <a:schemeClr val="accent1"/>
          </a:lnRef>
          <a:fillRef idx="0">
            <a:schemeClr val="accent1"/>
          </a:fillRef>
          <a:effectRef idx="0">
            <a:schemeClr val="accent1"/>
          </a:effectRef>
          <a:fontRef idx="minor">
            <a:schemeClr val="tx1"/>
          </a:fontRef>
        </p:style>
      </p:cxnSp>
      <p:sp>
        <p:nvSpPr>
          <p:cNvPr id="38" name="s10-call-dot-2">
            <a:extLst>
              <a:ext uri="{FF2B5EF4-FFF2-40B4-BE49-F238E27FC236}">
                <a16:creationId xmlns:a16="http://schemas.microsoft.com/office/drawing/2014/main" id="{CC3C597F-0EC0-CBE8-1E6A-BB06CC49DD83}"/>
              </a:ext>
            </a:extLst>
          </p:cNvPr>
          <p:cNvSpPr>
            <a:spLocks noGrp="1"/>
          </p:cNvSpPr>
          <p:nvPr/>
        </p:nvSpPr>
        <p:spPr>
          <a:xfrm>
            <a:off x="2037003" y="4087453"/>
            <a:ext cx="95250" cy="95250"/>
          </a:xfrm>
          <a:prstGeom prst="ellipse">
            <a:avLst/>
          </a:prstGeom>
          <a:solidFill>
            <a:srgbClr val="16875C"/>
          </a:solidFill>
          <a:ln w="0">
            <a:solidFill>
              <a:srgbClr val="215FB4"/>
            </a:solidFill>
            <a:prstDash val="solid"/>
          </a:ln>
        </p:spPr>
      </p:sp>
      <p:sp>
        <p:nvSpPr>
          <p:cNvPr id="40" name="s10-call-line-2">
            <a:extLst>
              <a:ext uri="{FF2B5EF4-FFF2-40B4-BE49-F238E27FC236}">
                <a16:creationId xmlns:a16="http://schemas.microsoft.com/office/drawing/2014/main" id="{61C4A740-7D48-823D-D9E7-9AFE5379DFB3}"/>
              </a:ext>
            </a:extLst>
          </p:cNvPr>
          <p:cNvSpPr>
            <a:spLocks noGrp="1"/>
          </p:cNvSpPr>
          <p:nvPr/>
        </p:nvSpPr>
        <p:spPr>
          <a:xfrm>
            <a:off x="5503680" y="4120790"/>
            <a:ext cx="1080000" cy="9525"/>
          </a:xfrm>
          <a:prstGeom prst="rect">
            <a:avLst/>
          </a:prstGeom>
          <a:solidFill>
            <a:srgbClr val="16875C"/>
          </a:solidFill>
          <a:ln w="0">
            <a:solidFill>
              <a:srgbClr val="16875C"/>
            </a:solidFill>
            <a:prstDash val="solid"/>
          </a:ln>
        </p:spPr>
      </p:sp>
    </p:spTree>
    <p:extLst>
      <p:ext uri="{BB962C8B-B14F-4D97-AF65-F5344CB8AC3E}">
        <p14:creationId xmlns:p14="http://schemas.microsoft.com/office/powerpoint/2010/main" val="875397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AA716-86E1-E4FF-4CA7-833FF019AC78}"/>
            </a:ext>
          </a:extLst>
        </p:cNvPr>
        <p:cNvGrpSpPr/>
        <p:nvPr/>
      </p:nvGrpSpPr>
      <p:grpSpPr>
        <a:xfrm>
          <a:off x="0" y="0"/>
          <a:ext cx="0" cy="0"/>
          <a:chOff x="0" y="0"/>
          <a:chExt cx="0" cy="0"/>
        </a:xfrm>
      </p:grpSpPr>
      <p:pic>
        <p:nvPicPr>
          <p:cNvPr id="86" name="図 85" descr="CP除外版">
            <a:extLst>
              <a:ext uri="{FF2B5EF4-FFF2-40B4-BE49-F238E27FC236}">
                <a16:creationId xmlns:a16="http://schemas.microsoft.com/office/drawing/2014/main" id="{4B7D0D47-3233-45C9-8196-5C1AFA7EC9C6}"/>
              </a:ext>
            </a:extLst>
          </p:cNvPr>
          <p:cNvPicPr>
            <a:picLocks noChangeAspect="1"/>
          </p:cNvPicPr>
          <p:nvPr/>
        </p:nvPicPr>
        <p:blipFill>
          <a:blip r:embed="rId3"/>
          <a:stretch>
            <a:fillRect/>
          </a:stretch>
        </p:blipFill>
        <p:spPr>
          <a:xfrm>
            <a:off x="544785" y="1692059"/>
            <a:ext cx="5394880" cy="3282565"/>
          </a:xfrm>
          <a:prstGeom prst="rect">
            <a:avLst/>
          </a:prstGeom>
        </p:spPr>
      </p:pic>
      <p:sp>
        <p:nvSpPr>
          <p:cNvPr id="2" name="Title 1">
            <a:extLst>
              <a:ext uri="{FF2B5EF4-FFF2-40B4-BE49-F238E27FC236}">
                <a16:creationId xmlns:a16="http://schemas.microsoft.com/office/drawing/2014/main" id="{07A6D024-971E-BB70-78F3-3724EB051127}"/>
              </a:ext>
            </a:extLst>
          </p:cNvPr>
          <p:cNvSpPr>
            <a:spLocks noGrp="1"/>
          </p:cNvSpPr>
          <p:nvPr>
            <p:ph type="title"/>
          </p:nvPr>
        </p:nvSpPr>
        <p:spPr>
          <a:xfrm>
            <a:off x="457200" y="990600"/>
            <a:ext cx="8229600" cy="609600"/>
          </a:xfrm>
        </p:spPr>
        <p:txBody>
          <a:bodyPr wrap="none" lIns="0" tIns="0" rIns="0" bIns="0" anchor="ctr">
            <a:normAutofit/>
          </a:bodyPr>
          <a:lstStyle/>
          <a:p>
            <a:pPr algn="l">
              <a:buNone/>
              <a:defRPr sz="2175" b="1">
                <a:solidFill>
                  <a:srgbClr val="111827"/>
                </a:solidFill>
                <a:latin typeface="Noto Sans CJK JP"/>
                <a:ea typeface="Noto Sans CJK JP"/>
                <a:cs typeface="Noto Sans CJK JP"/>
              </a:defRPr>
            </a:pPr>
            <a:r>
              <a:rPr lang="ja-JP" altLang="en-US" sz="2175" b="1" dirty="0">
                <a:solidFill>
                  <a:srgbClr val="111827"/>
                </a:solidFill>
                <a:latin typeface="Noto Sans CJK JP"/>
                <a:ea typeface="Noto Sans CJK JP"/>
                <a:cs typeface="Noto Sans CJK JP"/>
              </a:rPr>
              <a:t>（参考）定年時点での残高分布</a:t>
            </a:r>
            <a:endParaRPr sz="2175" b="1" dirty="0">
              <a:solidFill>
                <a:srgbClr val="111827"/>
              </a:solidFill>
              <a:latin typeface="Noto Sans CJK JP"/>
              <a:ea typeface="Noto Sans CJK JP"/>
              <a:cs typeface="Noto Sans CJK JP"/>
            </a:endParaRPr>
          </a:p>
        </p:txBody>
      </p:sp>
      <p:sp>
        <p:nvSpPr>
          <p:cNvPr id="3" name="title-divider">
            <a:extLst>
              <a:ext uri="{FF2B5EF4-FFF2-40B4-BE49-F238E27FC236}">
                <a16:creationId xmlns:a16="http://schemas.microsoft.com/office/drawing/2014/main" id="{9986D19F-0EBB-7105-B43B-686E8F3B0646}"/>
              </a:ext>
            </a:extLst>
          </p:cNvPr>
          <p:cNvSpPr>
            <a:spLocks noGrp="1"/>
          </p:cNvSpPr>
          <p:nvPr/>
        </p:nvSpPr>
        <p:spPr>
          <a:xfrm>
            <a:off x="457200" y="1676400"/>
            <a:ext cx="8229600" cy="9525"/>
          </a:xfrm>
          <a:prstGeom prst="rect">
            <a:avLst/>
          </a:prstGeom>
          <a:solidFill>
            <a:srgbClr val="E5EAF0"/>
          </a:solidFill>
          <a:ln w="0">
            <a:noFill/>
            <a:prstDash val="solid"/>
          </a:ln>
        </p:spPr>
      </p:sp>
      <p:sp>
        <p:nvSpPr>
          <p:cNvPr id="4" name="title-accent">
            <a:extLst>
              <a:ext uri="{FF2B5EF4-FFF2-40B4-BE49-F238E27FC236}">
                <a16:creationId xmlns:a16="http://schemas.microsoft.com/office/drawing/2014/main" id="{69396FA3-8196-E6E2-5A2D-83318786143D}"/>
              </a:ext>
            </a:extLst>
          </p:cNvPr>
          <p:cNvSpPr>
            <a:spLocks noGrp="1"/>
          </p:cNvSpPr>
          <p:nvPr/>
        </p:nvSpPr>
        <p:spPr>
          <a:xfrm>
            <a:off x="457200" y="1666875"/>
            <a:ext cx="552450" cy="38100"/>
          </a:xfrm>
          <a:prstGeom prst="rect">
            <a:avLst/>
          </a:prstGeom>
          <a:solidFill>
            <a:srgbClr val="4A90E2"/>
          </a:solidFill>
          <a:ln w="0">
            <a:noFill/>
            <a:prstDash val="solid"/>
          </a:ln>
        </p:spPr>
      </p:sp>
      <p:sp>
        <p:nvSpPr>
          <p:cNvPr id="15" name="chapter-tab-1">
            <a:extLst>
              <a:ext uri="{FF2B5EF4-FFF2-40B4-BE49-F238E27FC236}">
                <a16:creationId xmlns:a16="http://schemas.microsoft.com/office/drawing/2014/main" id="{6FF6753C-45A2-23AD-6163-D8FC308F5F24}"/>
              </a:ext>
            </a:extLst>
          </p:cNvPr>
          <p:cNvSpPr>
            <a:spLocks noGrp="1"/>
          </p:cNvSpPr>
          <p:nvPr/>
        </p:nvSpPr>
        <p:spPr>
          <a:xfrm>
            <a:off x="457200" y="4857750"/>
            <a:ext cx="2057400" cy="238125"/>
          </a:xfrm>
          <a:prstGeom prst="parallelogram">
            <a:avLst/>
          </a:prstGeom>
          <a:solidFill>
            <a:srgbClr val="FFFFFF"/>
          </a:solidFill>
          <a:ln w="10001">
            <a:solidFill>
              <a:srgbClr val="4A90E2"/>
            </a:solidFill>
            <a:prstDash val="solid"/>
          </a:ln>
        </p:spPr>
        <p:txBody>
          <a:bodyPr wrap="none" lIns="76200" tIns="0" rIns="76200" bIns="0" anchor="ctr">
            <a:normAutofit/>
          </a:bodyPr>
          <a:lstStyle/>
          <a:p>
            <a:pPr algn="ctr">
              <a:buNone/>
              <a:defRPr sz="998" b="1">
                <a:solidFill>
                  <a:srgbClr val="4A90E2"/>
                </a:solidFill>
                <a:latin typeface="Noto Sans CJK JP"/>
                <a:ea typeface="Noto Sans CJK JP"/>
                <a:cs typeface="Noto Sans CJK JP"/>
              </a:defRPr>
            </a:pPr>
            <a:r>
              <a:rPr sz="998" b="1">
                <a:solidFill>
                  <a:srgbClr val="4A90E2"/>
                </a:solidFill>
                <a:latin typeface="Noto Sans CJK JP"/>
                <a:ea typeface="Noto Sans CJK JP"/>
                <a:cs typeface="Noto Sans CJK JP"/>
              </a:rPr>
              <a:t>1 前提</a:t>
            </a:r>
          </a:p>
        </p:txBody>
      </p:sp>
      <p:sp>
        <p:nvSpPr>
          <p:cNvPr id="16" name="chapter-tab-2">
            <a:extLst>
              <a:ext uri="{FF2B5EF4-FFF2-40B4-BE49-F238E27FC236}">
                <a16:creationId xmlns:a16="http://schemas.microsoft.com/office/drawing/2014/main" id="{C966B368-EEE1-9C90-867B-660164B906E3}"/>
              </a:ext>
            </a:extLst>
          </p:cNvPr>
          <p:cNvSpPr>
            <a:spLocks noGrp="1"/>
          </p:cNvSpPr>
          <p:nvPr/>
        </p:nvSpPr>
        <p:spPr>
          <a:xfrm>
            <a:off x="2428875" y="4857750"/>
            <a:ext cx="2057400" cy="238125"/>
          </a:xfrm>
          <a:prstGeom prst="parallelogram">
            <a:avLst/>
          </a:prstGeom>
          <a:solidFill>
            <a:srgbClr val="FFFFFF"/>
          </a:solidFill>
          <a:ln w="10001">
            <a:solidFill>
              <a:srgbClr val="2F73B7"/>
            </a:solidFill>
            <a:prstDash val="solid"/>
          </a:ln>
        </p:spPr>
        <p:txBody>
          <a:bodyPr wrap="none" lIns="76200" tIns="0" rIns="76200" bIns="0" anchor="ctr">
            <a:normAutofit/>
          </a:bodyPr>
          <a:lstStyle/>
          <a:p>
            <a:pPr algn="ctr">
              <a:buNone/>
              <a:defRPr sz="998" b="1">
                <a:solidFill>
                  <a:srgbClr val="2F73B7"/>
                </a:solidFill>
                <a:latin typeface="Noto Sans CJK JP"/>
                <a:ea typeface="Noto Sans CJK JP"/>
                <a:cs typeface="Noto Sans CJK JP"/>
              </a:defRPr>
            </a:pPr>
            <a:r>
              <a:rPr sz="998" b="1">
                <a:solidFill>
                  <a:srgbClr val="2F73B7"/>
                </a:solidFill>
                <a:latin typeface="Noto Sans CJK JP"/>
                <a:ea typeface="Noto Sans CJK JP"/>
                <a:cs typeface="Noto Sans CJK JP"/>
              </a:rPr>
              <a:t>2 数理理論</a:t>
            </a:r>
          </a:p>
        </p:txBody>
      </p:sp>
      <p:sp>
        <p:nvSpPr>
          <p:cNvPr id="17" name="chapter-tab-3">
            <a:extLst>
              <a:ext uri="{FF2B5EF4-FFF2-40B4-BE49-F238E27FC236}">
                <a16:creationId xmlns:a16="http://schemas.microsoft.com/office/drawing/2014/main" id="{F7EEA356-D739-4E5A-CF1A-FA1CB2102B53}"/>
              </a:ext>
            </a:extLst>
          </p:cNvPr>
          <p:cNvSpPr>
            <a:spLocks noGrp="1"/>
          </p:cNvSpPr>
          <p:nvPr/>
        </p:nvSpPr>
        <p:spPr>
          <a:xfrm>
            <a:off x="4400550" y="4857750"/>
            <a:ext cx="2057400" cy="238125"/>
          </a:xfrm>
          <a:prstGeom prst="parallelogram">
            <a:avLst/>
          </a:prstGeom>
          <a:solidFill>
            <a:srgbClr val="2A8F6A"/>
          </a:solidFill>
          <a:ln w="11430">
            <a:solidFill>
              <a:srgbClr val="2A8F6A"/>
            </a:solidFill>
            <a:prstDash val="solid"/>
          </a:ln>
        </p:spPr>
        <p:txBody>
          <a:bodyPr wrap="none" lIns="76200" tIns="0" rIns="76200" bIns="0" anchor="ctr">
            <a:normAutofit/>
          </a:bodyPr>
          <a:lstStyle/>
          <a:p>
            <a:pPr algn="ctr">
              <a:buNone/>
              <a:defRPr sz="998" b="1">
                <a:solidFill>
                  <a:srgbClr val="FFFFFF"/>
                </a:solidFill>
                <a:latin typeface="Noto Sans CJK JP"/>
                <a:ea typeface="Noto Sans CJK JP"/>
                <a:cs typeface="Noto Sans CJK JP"/>
              </a:defRPr>
            </a:pPr>
            <a:r>
              <a:rPr sz="998" b="1">
                <a:solidFill>
                  <a:srgbClr val="FFFFFF"/>
                </a:solidFill>
                <a:latin typeface="Noto Sans CJK JP"/>
                <a:ea typeface="Noto Sans CJK JP"/>
                <a:cs typeface="Noto Sans CJK JP"/>
              </a:rPr>
              <a:t>3 シミュレーション</a:t>
            </a:r>
          </a:p>
        </p:txBody>
      </p:sp>
      <p:sp>
        <p:nvSpPr>
          <p:cNvPr id="18" name="chapter-tab-4">
            <a:extLst>
              <a:ext uri="{FF2B5EF4-FFF2-40B4-BE49-F238E27FC236}">
                <a16:creationId xmlns:a16="http://schemas.microsoft.com/office/drawing/2014/main" id="{2C1EE185-5E3B-DE63-4469-FE0459341682}"/>
              </a:ext>
            </a:extLst>
          </p:cNvPr>
          <p:cNvSpPr>
            <a:spLocks noGrp="1"/>
          </p:cNvSpPr>
          <p:nvPr/>
        </p:nvSpPr>
        <p:spPr>
          <a:xfrm>
            <a:off x="6372225" y="4857750"/>
            <a:ext cx="2057400" cy="238125"/>
          </a:xfrm>
          <a:prstGeom prst="parallelogram">
            <a:avLst/>
          </a:prstGeom>
          <a:solidFill>
            <a:srgbClr val="FFFFFF"/>
          </a:solidFill>
          <a:ln w="10001">
            <a:solidFill>
              <a:srgbClr val="C9534B"/>
            </a:solidFill>
            <a:prstDash val="solid"/>
          </a:ln>
        </p:spPr>
        <p:txBody>
          <a:bodyPr wrap="none" lIns="76200" tIns="0" rIns="76200" bIns="0" anchor="ctr">
            <a:normAutofit/>
          </a:bodyPr>
          <a:lstStyle/>
          <a:p>
            <a:pPr algn="ctr">
              <a:buNone/>
              <a:defRPr sz="998" b="1">
                <a:solidFill>
                  <a:srgbClr val="C9534B"/>
                </a:solidFill>
                <a:latin typeface="Noto Sans CJK JP"/>
                <a:ea typeface="Noto Sans CJK JP"/>
                <a:cs typeface="Noto Sans CJK JP"/>
              </a:defRPr>
            </a:pPr>
            <a:r>
              <a:rPr sz="998" b="1">
                <a:solidFill>
                  <a:srgbClr val="C9534B"/>
                </a:solidFill>
                <a:latin typeface="Noto Sans CJK JP"/>
                <a:ea typeface="Noto Sans CJK JP"/>
                <a:cs typeface="Noto Sans CJK JP"/>
              </a:rPr>
              <a:t>4 結論</a:t>
            </a:r>
          </a:p>
        </p:txBody>
      </p:sp>
      <p:sp>
        <p:nvSpPr>
          <p:cNvPr id="67" name="s10-rail">
            <a:extLst>
              <a:ext uri="{FF2B5EF4-FFF2-40B4-BE49-F238E27FC236}">
                <a16:creationId xmlns:a16="http://schemas.microsoft.com/office/drawing/2014/main" id="{98998FBC-F8E8-F283-6760-1E5ACA830B70}"/>
              </a:ext>
            </a:extLst>
          </p:cNvPr>
          <p:cNvSpPr>
            <a:spLocks noGrp="1"/>
          </p:cNvSpPr>
          <p:nvPr/>
        </p:nvSpPr>
        <p:spPr>
          <a:xfrm>
            <a:off x="6572250" y="1857375"/>
            <a:ext cx="11430" cy="2381250"/>
          </a:xfrm>
          <a:prstGeom prst="rect">
            <a:avLst/>
          </a:prstGeom>
          <a:solidFill>
            <a:srgbClr val="DDE4EC"/>
          </a:solidFill>
          <a:ln w="0">
            <a:noFill/>
            <a:prstDash val="solid"/>
          </a:ln>
        </p:spPr>
      </p:sp>
      <p:sp>
        <p:nvSpPr>
          <p:cNvPr id="69" name="s10-call-dot-0">
            <a:extLst>
              <a:ext uri="{FF2B5EF4-FFF2-40B4-BE49-F238E27FC236}">
                <a16:creationId xmlns:a16="http://schemas.microsoft.com/office/drawing/2014/main" id="{A7440436-01E6-67E5-AF22-505F7FFF21B1}"/>
              </a:ext>
            </a:extLst>
          </p:cNvPr>
          <p:cNvSpPr>
            <a:spLocks noGrp="1"/>
          </p:cNvSpPr>
          <p:nvPr/>
        </p:nvSpPr>
        <p:spPr>
          <a:xfrm>
            <a:off x="6515100" y="3001925"/>
            <a:ext cx="95250" cy="95250"/>
          </a:xfrm>
          <a:prstGeom prst="ellipse">
            <a:avLst/>
          </a:prstGeom>
          <a:solidFill>
            <a:srgbClr val="215FB4"/>
          </a:solidFill>
          <a:ln w="0">
            <a:noFill/>
            <a:prstDash val="solid"/>
          </a:ln>
        </p:spPr>
      </p:sp>
      <p:sp>
        <p:nvSpPr>
          <p:cNvPr id="71" name="s10-call-code-0">
            <a:extLst>
              <a:ext uri="{FF2B5EF4-FFF2-40B4-BE49-F238E27FC236}">
                <a16:creationId xmlns:a16="http://schemas.microsoft.com/office/drawing/2014/main" id="{DCDBC5B4-8906-52C1-A461-C7F3EB79ACE5}"/>
              </a:ext>
            </a:extLst>
          </p:cNvPr>
          <p:cNvSpPr>
            <a:spLocks noGrp="1"/>
          </p:cNvSpPr>
          <p:nvPr/>
        </p:nvSpPr>
        <p:spPr>
          <a:xfrm>
            <a:off x="6677025" y="2924702"/>
            <a:ext cx="1143000" cy="219075"/>
          </a:xfrm>
          <a:prstGeom prst="rect">
            <a:avLst/>
          </a:prstGeom>
          <a:noFill/>
          <a:ln w="0">
            <a:noFill/>
            <a:prstDash val="solid"/>
          </a:ln>
        </p:spPr>
        <p:txBody>
          <a:bodyPr wrap="square" lIns="0" tIns="0" rIns="0" bIns="0" anchor="ctr">
            <a:normAutofit/>
          </a:bodyPr>
          <a:lstStyle/>
          <a:p>
            <a:pPr algn="l">
              <a:defRPr sz="1200" b="1">
                <a:solidFill>
                  <a:srgbClr val="215FB4"/>
                </a:solidFill>
                <a:latin typeface="Arial"/>
                <a:ea typeface="Arial"/>
                <a:cs typeface="Arial"/>
              </a:defRPr>
            </a:pPr>
            <a:r>
              <a:rPr sz="1200" b="1" dirty="0">
                <a:solidFill>
                  <a:srgbClr val="215FB4"/>
                </a:solidFill>
                <a:latin typeface="Arial"/>
                <a:ea typeface="Arial"/>
                <a:cs typeface="Arial"/>
              </a:rPr>
              <a:t>PCMV</a:t>
            </a:r>
          </a:p>
        </p:txBody>
      </p:sp>
      <p:sp>
        <p:nvSpPr>
          <p:cNvPr id="73" name="s10-call-text-0">
            <a:extLst>
              <a:ext uri="{FF2B5EF4-FFF2-40B4-BE49-F238E27FC236}">
                <a16:creationId xmlns:a16="http://schemas.microsoft.com/office/drawing/2014/main" id="{93708F9E-2772-8CF4-F436-B96A73CDEB18}"/>
              </a:ext>
            </a:extLst>
          </p:cNvPr>
          <p:cNvSpPr>
            <a:spLocks noGrp="1"/>
          </p:cNvSpPr>
          <p:nvPr/>
        </p:nvSpPr>
        <p:spPr>
          <a:xfrm>
            <a:off x="6677025" y="3162827"/>
            <a:ext cx="1571625" cy="533400"/>
          </a:xfrm>
          <a:prstGeom prst="rect">
            <a:avLst/>
          </a:prstGeom>
          <a:noFill/>
          <a:ln w="0">
            <a:noFill/>
            <a:prstDash val="solid"/>
          </a:ln>
        </p:spPr>
        <p:txBody>
          <a:bodyPr wrap="square" lIns="0" tIns="0" rIns="0" bIns="0" anchor="ctr">
            <a:normAutofit/>
          </a:bodyPr>
          <a:lstStyle/>
          <a:p>
            <a:pPr algn="l">
              <a:defRPr sz="923" b="0">
                <a:solidFill>
                  <a:srgbClr val="111827"/>
                </a:solidFill>
                <a:latin typeface="Noto Sans CJK JP"/>
                <a:ea typeface="Noto Sans CJK JP"/>
                <a:cs typeface="Noto Sans CJK JP"/>
              </a:defRPr>
            </a:pPr>
            <a:r>
              <a:rPr sz="923" b="0" dirty="0">
                <a:solidFill>
                  <a:srgbClr val="111827"/>
                </a:solidFill>
                <a:latin typeface="Noto Sans CJK JP"/>
                <a:ea typeface="Noto Sans CJK JP"/>
                <a:cs typeface="Noto Sans CJK JP"/>
              </a:rPr>
              <a:t>SD 22.96</a:t>
            </a:r>
          </a:p>
          <a:p>
            <a:pPr algn="l">
              <a:defRPr sz="923" b="0">
                <a:solidFill>
                  <a:srgbClr val="111827"/>
                </a:solidFill>
                <a:latin typeface="Noto Sans CJK JP"/>
                <a:ea typeface="Noto Sans CJK JP"/>
                <a:cs typeface="Noto Sans CJK JP"/>
              </a:defRPr>
            </a:pPr>
            <a:r>
              <a:rPr sz="923" b="0" dirty="0" err="1">
                <a:solidFill>
                  <a:srgbClr val="111827"/>
                </a:solidFill>
                <a:latin typeface="Noto Sans CJK JP"/>
                <a:ea typeface="Noto Sans CJK JP"/>
                <a:cs typeface="Noto Sans CJK JP"/>
              </a:rPr>
              <a:t>中央値</a:t>
            </a:r>
            <a:r>
              <a:rPr sz="923" b="0" dirty="0">
                <a:solidFill>
                  <a:srgbClr val="111827"/>
                </a:solidFill>
                <a:latin typeface="Noto Sans CJK JP"/>
                <a:ea typeface="Noto Sans CJK JP"/>
                <a:cs typeface="Noto Sans CJK JP"/>
              </a:rPr>
              <a:t> 92.71</a:t>
            </a:r>
          </a:p>
          <a:p>
            <a:pPr algn="l">
              <a:defRPr sz="923" b="0">
                <a:solidFill>
                  <a:srgbClr val="111827"/>
                </a:solidFill>
                <a:latin typeface="Noto Sans CJK JP"/>
                <a:ea typeface="Noto Sans CJK JP"/>
                <a:cs typeface="Noto Sans CJK JP"/>
              </a:defRPr>
            </a:pPr>
            <a:r>
              <a:rPr lang="ja-JP" altLang="en-US" sz="923" b="0" dirty="0">
                <a:solidFill>
                  <a:srgbClr val="111827"/>
                </a:solidFill>
                <a:latin typeface="Noto Sans CJK JP"/>
                <a:ea typeface="Noto Sans CJK JP"/>
                <a:cs typeface="Noto Sans CJK JP"/>
              </a:rPr>
              <a:t>負の歪度</a:t>
            </a:r>
            <a:endParaRPr sz="923" b="0" dirty="0">
              <a:solidFill>
                <a:srgbClr val="111827"/>
              </a:solidFill>
              <a:latin typeface="Noto Sans CJK JP"/>
              <a:ea typeface="Noto Sans CJK JP"/>
              <a:cs typeface="Noto Sans CJK JP"/>
            </a:endParaRPr>
          </a:p>
        </p:txBody>
      </p:sp>
      <p:sp>
        <p:nvSpPr>
          <p:cNvPr id="75" name="s10-call-dot-1">
            <a:extLst>
              <a:ext uri="{FF2B5EF4-FFF2-40B4-BE49-F238E27FC236}">
                <a16:creationId xmlns:a16="http://schemas.microsoft.com/office/drawing/2014/main" id="{255CC2E4-E55F-72F5-9FE4-3A78202A4D21}"/>
              </a:ext>
            </a:extLst>
          </p:cNvPr>
          <p:cNvSpPr>
            <a:spLocks noGrp="1"/>
          </p:cNvSpPr>
          <p:nvPr/>
        </p:nvSpPr>
        <p:spPr>
          <a:xfrm>
            <a:off x="6515100" y="4086144"/>
            <a:ext cx="95250" cy="95250"/>
          </a:xfrm>
          <a:prstGeom prst="ellipse">
            <a:avLst/>
          </a:prstGeom>
          <a:solidFill>
            <a:srgbClr val="16875C"/>
          </a:solidFill>
          <a:ln w="0">
            <a:noFill/>
            <a:prstDash val="solid"/>
          </a:ln>
        </p:spPr>
      </p:sp>
      <p:sp>
        <p:nvSpPr>
          <p:cNvPr id="77" name="s10-call-code-1">
            <a:extLst>
              <a:ext uri="{FF2B5EF4-FFF2-40B4-BE49-F238E27FC236}">
                <a16:creationId xmlns:a16="http://schemas.microsoft.com/office/drawing/2014/main" id="{8BA13DAB-06A8-79E3-6A32-5C23D8455288}"/>
              </a:ext>
            </a:extLst>
          </p:cNvPr>
          <p:cNvSpPr>
            <a:spLocks noGrp="1"/>
          </p:cNvSpPr>
          <p:nvPr/>
        </p:nvSpPr>
        <p:spPr>
          <a:xfrm>
            <a:off x="6677025" y="4043362"/>
            <a:ext cx="1143000" cy="219075"/>
          </a:xfrm>
          <a:prstGeom prst="rect">
            <a:avLst/>
          </a:prstGeom>
          <a:noFill/>
          <a:ln w="0">
            <a:noFill/>
            <a:prstDash val="solid"/>
          </a:ln>
        </p:spPr>
        <p:txBody>
          <a:bodyPr wrap="square" lIns="0" tIns="0" rIns="0" bIns="0" anchor="ctr">
            <a:normAutofit/>
          </a:bodyPr>
          <a:lstStyle/>
          <a:p>
            <a:pPr algn="l">
              <a:defRPr sz="1200" b="1">
                <a:solidFill>
                  <a:srgbClr val="16875C"/>
                </a:solidFill>
                <a:latin typeface="Arial"/>
                <a:ea typeface="Arial"/>
                <a:cs typeface="Arial"/>
              </a:defRPr>
            </a:pPr>
            <a:r>
              <a:rPr sz="1200" b="1" dirty="0" err="1">
                <a:solidFill>
                  <a:srgbClr val="16875C"/>
                </a:solidFill>
                <a:latin typeface="Arial"/>
                <a:ea typeface="Arial"/>
                <a:cs typeface="Arial"/>
              </a:rPr>
              <a:t>cTCMV</a:t>
            </a:r>
            <a:endParaRPr sz="1200" b="1" dirty="0">
              <a:solidFill>
                <a:srgbClr val="16875C"/>
              </a:solidFill>
              <a:latin typeface="Arial"/>
              <a:ea typeface="Arial"/>
              <a:cs typeface="Arial"/>
            </a:endParaRPr>
          </a:p>
        </p:txBody>
      </p:sp>
      <p:sp>
        <p:nvSpPr>
          <p:cNvPr id="79" name="s10-call-text-1">
            <a:extLst>
              <a:ext uri="{FF2B5EF4-FFF2-40B4-BE49-F238E27FC236}">
                <a16:creationId xmlns:a16="http://schemas.microsoft.com/office/drawing/2014/main" id="{872F201E-B336-721F-CF21-6CFAAE26AA59}"/>
              </a:ext>
            </a:extLst>
          </p:cNvPr>
          <p:cNvSpPr>
            <a:spLocks noGrp="1"/>
          </p:cNvSpPr>
          <p:nvPr/>
        </p:nvSpPr>
        <p:spPr>
          <a:xfrm>
            <a:off x="6677025" y="4281487"/>
            <a:ext cx="2009775" cy="361950"/>
          </a:xfrm>
          <a:prstGeom prst="rect">
            <a:avLst/>
          </a:prstGeom>
          <a:noFill/>
          <a:ln w="0">
            <a:noFill/>
            <a:prstDash val="solid"/>
          </a:ln>
        </p:spPr>
        <p:txBody>
          <a:bodyPr wrap="square" lIns="0" tIns="0" rIns="0" bIns="0" anchor="ctr">
            <a:normAutofit fontScale="92500"/>
          </a:bodyPr>
          <a:lstStyle/>
          <a:p>
            <a:pPr algn="l">
              <a:defRPr sz="923" b="0">
                <a:solidFill>
                  <a:srgbClr val="111827"/>
                </a:solidFill>
                <a:latin typeface="Noto Sans CJK JP"/>
                <a:ea typeface="Noto Sans CJK JP"/>
                <a:cs typeface="Noto Sans CJK JP"/>
              </a:defRPr>
            </a:pPr>
            <a:r>
              <a:rPr sz="923" b="0" dirty="0">
                <a:solidFill>
                  <a:srgbClr val="111827"/>
                </a:solidFill>
                <a:latin typeface="Noto Sans CJK JP"/>
                <a:ea typeface="Noto Sans CJK JP"/>
                <a:cs typeface="Noto Sans CJK JP"/>
              </a:rPr>
              <a:t>q05 42.16</a:t>
            </a:r>
          </a:p>
          <a:p>
            <a:pPr algn="l">
              <a:defRPr sz="923" b="0">
                <a:solidFill>
                  <a:srgbClr val="111827"/>
                </a:solidFill>
                <a:latin typeface="Noto Sans CJK JP"/>
                <a:ea typeface="Noto Sans CJK JP"/>
                <a:cs typeface="Noto Sans CJK JP"/>
              </a:defRPr>
            </a:pPr>
            <a:r>
              <a:rPr lang="en-US" altLang="ja-JP" sz="923" b="0" dirty="0">
                <a:solidFill>
                  <a:srgbClr val="111827"/>
                </a:solidFill>
                <a:latin typeface="Noto Sans CJK JP"/>
                <a:ea typeface="Noto Sans CJK JP"/>
                <a:cs typeface="Noto Sans CJK JP"/>
              </a:rPr>
              <a:t>5</a:t>
            </a:r>
            <a:r>
              <a:rPr lang="ja-JP" altLang="en-US" sz="923" b="0" dirty="0">
                <a:solidFill>
                  <a:srgbClr val="111827"/>
                </a:solidFill>
                <a:latin typeface="Noto Sans CJK JP"/>
                <a:ea typeface="Noto Sans CJK JP"/>
                <a:cs typeface="Noto Sans CJK JP"/>
              </a:rPr>
              <a:t>％タイル点</a:t>
            </a:r>
            <a:r>
              <a:rPr sz="923" b="0" dirty="0" err="1">
                <a:solidFill>
                  <a:srgbClr val="111827"/>
                </a:solidFill>
                <a:latin typeface="Noto Sans CJK JP"/>
                <a:ea typeface="Noto Sans CJK JP"/>
                <a:cs typeface="Noto Sans CJK JP"/>
              </a:rPr>
              <a:t>が最も</a:t>
            </a:r>
            <a:r>
              <a:rPr lang="ja-JP" altLang="en-US" sz="923" b="0" dirty="0">
                <a:solidFill>
                  <a:srgbClr val="111827"/>
                </a:solidFill>
                <a:latin typeface="Noto Sans CJK JP"/>
                <a:ea typeface="Noto Sans CJK JP"/>
                <a:cs typeface="Noto Sans CJK JP"/>
              </a:rPr>
              <a:t>大きく、下落を死守</a:t>
            </a:r>
            <a:endParaRPr sz="923" b="0" dirty="0">
              <a:solidFill>
                <a:srgbClr val="111827"/>
              </a:solidFill>
              <a:latin typeface="Noto Sans CJK JP"/>
              <a:ea typeface="Noto Sans CJK JP"/>
              <a:cs typeface="Noto Sans CJK JP"/>
            </a:endParaRPr>
          </a:p>
        </p:txBody>
      </p:sp>
      <p:sp>
        <p:nvSpPr>
          <p:cNvPr id="81" name="s10-call-dot-2">
            <a:extLst>
              <a:ext uri="{FF2B5EF4-FFF2-40B4-BE49-F238E27FC236}">
                <a16:creationId xmlns:a16="http://schemas.microsoft.com/office/drawing/2014/main" id="{C412CED7-46F2-FEC5-43F6-8A5ED6349624}"/>
              </a:ext>
            </a:extLst>
          </p:cNvPr>
          <p:cNvSpPr>
            <a:spLocks noGrp="1"/>
          </p:cNvSpPr>
          <p:nvPr/>
        </p:nvSpPr>
        <p:spPr>
          <a:xfrm>
            <a:off x="6524625" y="1937238"/>
            <a:ext cx="95250" cy="95250"/>
          </a:xfrm>
          <a:prstGeom prst="ellipse">
            <a:avLst/>
          </a:prstGeom>
          <a:solidFill>
            <a:srgbClr val="D94138"/>
          </a:solidFill>
          <a:ln w="0">
            <a:noFill/>
            <a:prstDash val="solid"/>
          </a:ln>
        </p:spPr>
      </p:sp>
      <p:sp>
        <p:nvSpPr>
          <p:cNvPr id="83" name="s10-call-code-2">
            <a:extLst>
              <a:ext uri="{FF2B5EF4-FFF2-40B4-BE49-F238E27FC236}">
                <a16:creationId xmlns:a16="http://schemas.microsoft.com/office/drawing/2014/main" id="{4A886D7F-66EF-3CC2-CD56-79F38EF860B2}"/>
              </a:ext>
            </a:extLst>
          </p:cNvPr>
          <p:cNvSpPr>
            <a:spLocks noGrp="1"/>
          </p:cNvSpPr>
          <p:nvPr/>
        </p:nvSpPr>
        <p:spPr>
          <a:xfrm>
            <a:off x="6677025" y="1870741"/>
            <a:ext cx="1143000" cy="219075"/>
          </a:xfrm>
          <a:prstGeom prst="rect">
            <a:avLst/>
          </a:prstGeom>
          <a:noFill/>
          <a:ln w="0">
            <a:noFill/>
            <a:prstDash val="solid"/>
          </a:ln>
        </p:spPr>
        <p:txBody>
          <a:bodyPr wrap="square" lIns="0" tIns="0" rIns="0" bIns="0" anchor="ctr">
            <a:normAutofit/>
          </a:bodyPr>
          <a:lstStyle/>
          <a:p>
            <a:pPr algn="l">
              <a:defRPr sz="1200" b="1">
                <a:solidFill>
                  <a:srgbClr val="D94138"/>
                </a:solidFill>
                <a:latin typeface="Arial"/>
                <a:ea typeface="Arial"/>
                <a:cs typeface="Arial"/>
              </a:defRPr>
            </a:pPr>
            <a:r>
              <a:rPr sz="1200" b="1" dirty="0" err="1">
                <a:solidFill>
                  <a:srgbClr val="D94138"/>
                </a:solidFill>
                <a:latin typeface="Arial"/>
                <a:ea typeface="Arial"/>
                <a:cs typeface="Arial"/>
              </a:rPr>
              <a:t>dTCMV</a:t>
            </a:r>
            <a:endParaRPr sz="1200" b="1" dirty="0">
              <a:solidFill>
                <a:srgbClr val="D94138"/>
              </a:solidFill>
              <a:latin typeface="Arial"/>
              <a:ea typeface="Arial"/>
              <a:cs typeface="Arial"/>
            </a:endParaRPr>
          </a:p>
        </p:txBody>
      </p:sp>
      <p:sp>
        <p:nvSpPr>
          <p:cNvPr id="85" name="s10-call-text-2">
            <a:extLst>
              <a:ext uri="{FF2B5EF4-FFF2-40B4-BE49-F238E27FC236}">
                <a16:creationId xmlns:a16="http://schemas.microsoft.com/office/drawing/2014/main" id="{0D59150E-4BE5-72EE-DACD-EC7245BA7134}"/>
              </a:ext>
            </a:extLst>
          </p:cNvPr>
          <p:cNvSpPr>
            <a:spLocks noGrp="1"/>
          </p:cNvSpPr>
          <p:nvPr/>
        </p:nvSpPr>
        <p:spPr>
          <a:xfrm>
            <a:off x="6677025" y="2108866"/>
            <a:ext cx="2129620" cy="361950"/>
          </a:xfrm>
          <a:prstGeom prst="rect">
            <a:avLst/>
          </a:prstGeom>
          <a:noFill/>
          <a:ln w="0">
            <a:noFill/>
            <a:prstDash val="solid"/>
          </a:ln>
        </p:spPr>
        <p:txBody>
          <a:bodyPr wrap="square" lIns="0" tIns="0" rIns="0" bIns="0" anchor="ctr">
            <a:normAutofit/>
          </a:bodyPr>
          <a:lstStyle/>
          <a:p>
            <a:pPr algn="l">
              <a:defRPr sz="923" b="0">
                <a:solidFill>
                  <a:srgbClr val="111827"/>
                </a:solidFill>
                <a:latin typeface="Noto Sans CJK JP"/>
                <a:ea typeface="Noto Sans CJK JP"/>
                <a:cs typeface="Noto Sans CJK JP"/>
              </a:defRPr>
            </a:pPr>
            <a:r>
              <a:rPr sz="923" b="0" dirty="0">
                <a:solidFill>
                  <a:srgbClr val="111827"/>
                </a:solidFill>
                <a:latin typeface="Noto Sans CJK JP"/>
                <a:ea typeface="Noto Sans CJK JP"/>
                <a:cs typeface="Noto Sans CJK JP"/>
              </a:rPr>
              <a:t>q95 164.41</a:t>
            </a:r>
          </a:p>
          <a:p>
            <a:pPr algn="l">
              <a:defRPr sz="923" b="0">
                <a:solidFill>
                  <a:srgbClr val="111827"/>
                </a:solidFill>
                <a:latin typeface="Noto Sans CJK JP"/>
                <a:ea typeface="Noto Sans CJK JP"/>
                <a:cs typeface="Noto Sans CJK JP"/>
              </a:defRPr>
            </a:pPr>
            <a:r>
              <a:rPr sz="923" b="0" dirty="0" err="1">
                <a:solidFill>
                  <a:srgbClr val="111827"/>
                </a:solidFill>
                <a:latin typeface="Noto Sans CJK JP"/>
                <a:ea typeface="Noto Sans CJK JP"/>
                <a:cs typeface="Noto Sans CJK JP"/>
              </a:rPr>
              <a:t>右裾が最も</a:t>
            </a:r>
            <a:r>
              <a:rPr lang="ja-JP" altLang="en-US" sz="923" b="0" dirty="0">
                <a:solidFill>
                  <a:srgbClr val="111827"/>
                </a:solidFill>
                <a:latin typeface="Noto Sans CJK JP"/>
                <a:ea typeface="Noto Sans CJK JP"/>
                <a:cs typeface="Noto Sans CJK JP"/>
              </a:rPr>
              <a:t>大きく、上振れを獲得</a:t>
            </a:r>
            <a:endParaRPr sz="923" b="0" dirty="0">
              <a:solidFill>
                <a:srgbClr val="111827"/>
              </a:solidFill>
              <a:latin typeface="Noto Sans CJK JP"/>
              <a:ea typeface="Noto Sans CJK JP"/>
              <a:cs typeface="Noto Sans CJK JP"/>
            </a:endParaRPr>
          </a:p>
        </p:txBody>
      </p:sp>
    </p:spTree>
    <p:extLst>
      <p:ext uri="{BB962C8B-B14F-4D97-AF65-F5344CB8AC3E}">
        <p14:creationId xmlns:p14="http://schemas.microsoft.com/office/powerpoint/2010/main" val="2406262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図 38"/>
          <p:cNvPicPr>
            <a:picLocks noChangeAspect="1"/>
          </p:cNvPicPr>
          <p:nvPr/>
        </p:nvPicPr>
        <p:blipFill>
          <a:blip r:embed="rId3"/>
          <a:stretch/>
        </p:blipFill>
        <p:spPr>
          <a:xfrm>
            <a:off x="1195156" y="1847850"/>
            <a:ext cx="4696288" cy="2857500"/>
          </a:xfrm>
          <a:prstGeom prst="rect">
            <a:avLst/>
          </a:prstGeom>
        </p:spPr>
      </p:pic>
      <p:sp>
        <p:nvSpPr>
          <p:cNvPr id="2" name="Title 1">
            <a:extLst>
              <a:ext uri="{FF2B5EF4-FFF2-40B4-BE49-F238E27FC236}">
                <a16:creationId xmlns:a16="http://schemas.microsoft.com/office/drawing/2014/main" id="{D2EB5FB2-DE08-01C4-4B0F-3D45E31A046E}"/>
              </a:ext>
            </a:extLst>
          </p:cNvPr>
          <p:cNvSpPr>
            <a:spLocks noGrp="1"/>
          </p:cNvSpPr>
          <p:nvPr>
            <p:ph type="title"/>
          </p:nvPr>
        </p:nvSpPr>
        <p:spPr>
          <a:xfrm>
            <a:off x="457200" y="990600"/>
            <a:ext cx="8229600" cy="609600"/>
          </a:xfrm>
        </p:spPr>
        <p:txBody>
          <a:bodyPr wrap="none" lIns="0" tIns="0" rIns="0" bIns="0" anchor="ctr">
            <a:normAutofit/>
          </a:bodyPr>
          <a:lstStyle/>
          <a:p>
            <a:pPr algn="l">
              <a:buNone/>
              <a:defRPr sz="2175" b="1">
                <a:solidFill>
                  <a:srgbClr val="111827"/>
                </a:solidFill>
                <a:latin typeface="Noto Sans CJK JP"/>
                <a:ea typeface="Noto Sans CJK JP"/>
                <a:cs typeface="Noto Sans CJK JP"/>
              </a:defRPr>
            </a:pPr>
            <a:r>
              <a:rPr sz="2175" b="1" dirty="0" err="1">
                <a:solidFill>
                  <a:srgbClr val="111827"/>
                </a:solidFill>
                <a:latin typeface="Noto Sans CJK JP"/>
                <a:ea typeface="Noto Sans CJK JP"/>
                <a:cs typeface="Noto Sans CJK JP"/>
              </a:rPr>
              <a:t>dTCMVはU字型</a:t>
            </a:r>
            <a:r>
              <a:rPr sz="2175" b="1" dirty="0">
                <a:solidFill>
                  <a:srgbClr val="111827"/>
                </a:solidFill>
                <a:latin typeface="Noto Sans CJK JP"/>
                <a:ea typeface="Noto Sans CJK JP"/>
                <a:cs typeface="Noto Sans CJK JP"/>
              </a:rPr>
              <a:t>、</a:t>
            </a:r>
            <a:r>
              <a:rPr lang="ja-JP" altLang="en-US" sz="2175" dirty="0">
                <a:solidFill>
                  <a:srgbClr val="111827"/>
                </a:solidFill>
                <a:latin typeface="Noto Sans CJK JP"/>
                <a:ea typeface="Noto Sans CJK JP"/>
                <a:cs typeface="Noto Sans CJK JP"/>
              </a:rPr>
              <a:t>他</a:t>
            </a:r>
            <a:r>
              <a:rPr sz="2175" b="1" dirty="0" err="1">
                <a:solidFill>
                  <a:srgbClr val="111827"/>
                </a:solidFill>
                <a:latin typeface="Noto Sans CJK JP"/>
                <a:ea typeface="Noto Sans CJK JP"/>
                <a:cs typeface="Noto Sans CJK JP"/>
              </a:rPr>
              <a:t>の戦略は概ね</a:t>
            </a:r>
            <a:r>
              <a:rPr lang="ja-JP" altLang="en-US" sz="2175" dirty="0">
                <a:solidFill>
                  <a:srgbClr val="111827"/>
                </a:solidFill>
                <a:latin typeface="Noto Sans CJK JP"/>
                <a:ea typeface="Noto Sans CJK JP"/>
                <a:cs typeface="Noto Sans CJK JP"/>
              </a:rPr>
              <a:t>単調減少</a:t>
            </a:r>
            <a:endParaRPr sz="2175" b="1" dirty="0">
              <a:solidFill>
                <a:srgbClr val="111827"/>
              </a:solidFill>
              <a:latin typeface="Noto Sans CJK JP"/>
              <a:ea typeface="Noto Sans CJK JP"/>
              <a:cs typeface="Noto Sans CJK JP"/>
            </a:endParaRPr>
          </a:p>
        </p:txBody>
      </p:sp>
      <p:sp>
        <p:nvSpPr>
          <p:cNvPr id="3" name="title-divider">
            <a:extLst>
              <a:ext uri="{FF2B5EF4-FFF2-40B4-BE49-F238E27FC236}">
                <a16:creationId xmlns:a16="http://schemas.microsoft.com/office/drawing/2014/main" id="{40BD031C-1EF5-4355-9338-7E8A47B0495A}"/>
              </a:ext>
            </a:extLst>
          </p:cNvPr>
          <p:cNvSpPr>
            <a:spLocks noGrp="1"/>
          </p:cNvSpPr>
          <p:nvPr/>
        </p:nvSpPr>
        <p:spPr>
          <a:xfrm>
            <a:off x="457200" y="1676400"/>
            <a:ext cx="8229600" cy="9525"/>
          </a:xfrm>
          <a:prstGeom prst="rect">
            <a:avLst/>
          </a:prstGeom>
          <a:solidFill>
            <a:srgbClr val="E5EAF0"/>
          </a:solidFill>
          <a:ln w="0">
            <a:noFill/>
            <a:prstDash val="solid"/>
          </a:ln>
        </p:spPr>
      </p:sp>
      <p:sp>
        <p:nvSpPr>
          <p:cNvPr id="4" name="title-accent">
            <a:extLst>
              <a:ext uri="{FF2B5EF4-FFF2-40B4-BE49-F238E27FC236}">
                <a16:creationId xmlns:a16="http://schemas.microsoft.com/office/drawing/2014/main" id="{E7C4C53A-F4FF-4A62-B81E-168BBD25A43A}"/>
              </a:ext>
            </a:extLst>
          </p:cNvPr>
          <p:cNvSpPr>
            <a:spLocks noGrp="1"/>
          </p:cNvSpPr>
          <p:nvPr/>
        </p:nvSpPr>
        <p:spPr>
          <a:xfrm>
            <a:off x="457200" y="1666875"/>
            <a:ext cx="552450" cy="38100"/>
          </a:xfrm>
          <a:prstGeom prst="rect">
            <a:avLst/>
          </a:prstGeom>
          <a:solidFill>
            <a:srgbClr val="4A90E2"/>
          </a:solidFill>
          <a:ln w="0">
            <a:noFill/>
            <a:prstDash val="solid"/>
          </a:ln>
        </p:spPr>
      </p:sp>
      <p:sp>
        <p:nvSpPr>
          <p:cNvPr id="12" name="chapter-tab-1">
            <a:extLst>
              <a:ext uri="{FF2B5EF4-FFF2-40B4-BE49-F238E27FC236}">
                <a16:creationId xmlns:a16="http://schemas.microsoft.com/office/drawing/2014/main" id="{F481A1B8-C5EC-4A57-BE2B-162F59F1B256}"/>
              </a:ext>
            </a:extLst>
          </p:cNvPr>
          <p:cNvSpPr>
            <a:spLocks noGrp="1"/>
          </p:cNvSpPr>
          <p:nvPr/>
        </p:nvSpPr>
        <p:spPr>
          <a:xfrm>
            <a:off x="457200" y="4857750"/>
            <a:ext cx="2057400" cy="238125"/>
          </a:xfrm>
          <a:prstGeom prst="parallelogram">
            <a:avLst/>
          </a:prstGeom>
          <a:solidFill>
            <a:srgbClr val="FFFFFF"/>
          </a:solidFill>
          <a:ln w="10001">
            <a:solidFill>
              <a:srgbClr val="4A90E2"/>
            </a:solidFill>
            <a:prstDash val="solid"/>
          </a:ln>
        </p:spPr>
        <p:txBody>
          <a:bodyPr wrap="none" lIns="76200" tIns="0" rIns="76200" bIns="0" anchor="ctr">
            <a:normAutofit/>
          </a:bodyPr>
          <a:lstStyle/>
          <a:p>
            <a:pPr algn="ctr">
              <a:buNone/>
              <a:defRPr sz="998" b="1">
                <a:solidFill>
                  <a:srgbClr val="4A90E2"/>
                </a:solidFill>
                <a:latin typeface="Noto Sans CJK JP"/>
                <a:ea typeface="Noto Sans CJK JP"/>
                <a:cs typeface="Noto Sans CJK JP"/>
              </a:defRPr>
            </a:pPr>
            <a:r>
              <a:rPr sz="998" b="1">
                <a:solidFill>
                  <a:srgbClr val="4A90E2"/>
                </a:solidFill>
                <a:latin typeface="Noto Sans CJK JP"/>
                <a:ea typeface="Noto Sans CJK JP"/>
                <a:cs typeface="Noto Sans CJK JP"/>
              </a:rPr>
              <a:t>1 前提</a:t>
            </a:r>
          </a:p>
        </p:txBody>
      </p:sp>
      <p:sp>
        <p:nvSpPr>
          <p:cNvPr id="13" name="chapter-tab-2">
            <a:extLst>
              <a:ext uri="{FF2B5EF4-FFF2-40B4-BE49-F238E27FC236}">
                <a16:creationId xmlns:a16="http://schemas.microsoft.com/office/drawing/2014/main" id="{7F24D9EC-3E8D-4CEB-9E34-BA294212E52A}"/>
              </a:ext>
            </a:extLst>
          </p:cNvPr>
          <p:cNvSpPr>
            <a:spLocks noGrp="1"/>
          </p:cNvSpPr>
          <p:nvPr/>
        </p:nvSpPr>
        <p:spPr>
          <a:xfrm>
            <a:off x="2428875" y="4857750"/>
            <a:ext cx="2057400" cy="238125"/>
          </a:xfrm>
          <a:prstGeom prst="parallelogram">
            <a:avLst/>
          </a:prstGeom>
          <a:solidFill>
            <a:srgbClr val="FFFFFF"/>
          </a:solidFill>
          <a:ln w="10001">
            <a:solidFill>
              <a:srgbClr val="2F73B7"/>
            </a:solidFill>
            <a:prstDash val="solid"/>
          </a:ln>
        </p:spPr>
        <p:txBody>
          <a:bodyPr wrap="none" lIns="76200" tIns="0" rIns="76200" bIns="0" anchor="ctr">
            <a:normAutofit/>
          </a:bodyPr>
          <a:lstStyle/>
          <a:p>
            <a:pPr algn="ctr">
              <a:buNone/>
              <a:defRPr sz="998" b="1">
                <a:solidFill>
                  <a:srgbClr val="2F73B7"/>
                </a:solidFill>
                <a:latin typeface="Noto Sans CJK JP"/>
                <a:ea typeface="Noto Sans CJK JP"/>
                <a:cs typeface="Noto Sans CJK JP"/>
              </a:defRPr>
            </a:pPr>
            <a:r>
              <a:rPr sz="998" b="1">
                <a:solidFill>
                  <a:srgbClr val="2F73B7"/>
                </a:solidFill>
                <a:latin typeface="Noto Sans CJK JP"/>
                <a:ea typeface="Noto Sans CJK JP"/>
                <a:cs typeface="Noto Sans CJK JP"/>
              </a:rPr>
              <a:t>2 数理理論</a:t>
            </a:r>
          </a:p>
        </p:txBody>
      </p:sp>
      <p:sp>
        <p:nvSpPr>
          <p:cNvPr id="14" name="chapter-tab-3">
            <a:extLst>
              <a:ext uri="{FF2B5EF4-FFF2-40B4-BE49-F238E27FC236}">
                <a16:creationId xmlns:a16="http://schemas.microsoft.com/office/drawing/2014/main" id="{153BAE89-A597-4176-9E4C-1774122DCB7C}"/>
              </a:ext>
            </a:extLst>
          </p:cNvPr>
          <p:cNvSpPr>
            <a:spLocks noGrp="1"/>
          </p:cNvSpPr>
          <p:nvPr/>
        </p:nvSpPr>
        <p:spPr>
          <a:xfrm>
            <a:off x="4400550" y="4857750"/>
            <a:ext cx="2057400" cy="238125"/>
          </a:xfrm>
          <a:prstGeom prst="parallelogram">
            <a:avLst/>
          </a:prstGeom>
          <a:solidFill>
            <a:srgbClr val="2A8F6A"/>
          </a:solidFill>
          <a:ln w="11430">
            <a:solidFill>
              <a:srgbClr val="2A8F6A"/>
            </a:solidFill>
            <a:prstDash val="solid"/>
          </a:ln>
        </p:spPr>
        <p:txBody>
          <a:bodyPr wrap="none" lIns="76200" tIns="0" rIns="76200" bIns="0" anchor="ctr">
            <a:normAutofit/>
          </a:bodyPr>
          <a:lstStyle/>
          <a:p>
            <a:pPr algn="ctr">
              <a:buNone/>
              <a:defRPr sz="998" b="1">
                <a:solidFill>
                  <a:srgbClr val="FFFFFF"/>
                </a:solidFill>
                <a:latin typeface="Noto Sans CJK JP"/>
                <a:ea typeface="Noto Sans CJK JP"/>
                <a:cs typeface="Noto Sans CJK JP"/>
              </a:defRPr>
            </a:pPr>
            <a:r>
              <a:rPr sz="998" b="1">
                <a:solidFill>
                  <a:srgbClr val="FFFFFF"/>
                </a:solidFill>
                <a:latin typeface="Noto Sans CJK JP"/>
                <a:ea typeface="Noto Sans CJK JP"/>
                <a:cs typeface="Noto Sans CJK JP"/>
              </a:rPr>
              <a:t>3 シミュレーション</a:t>
            </a:r>
          </a:p>
        </p:txBody>
      </p:sp>
      <p:sp>
        <p:nvSpPr>
          <p:cNvPr id="15" name="chapter-tab-4">
            <a:extLst>
              <a:ext uri="{FF2B5EF4-FFF2-40B4-BE49-F238E27FC236}">
                <a16:creationId xmlns:a16="http://schemas.microsoft.com/office/drawing/2014/main" id="{3A44EA7C-5924-4B9F-B158-03847B02DD44}"/>
              </a:ext>
            </a:extLst>
          </p:cNvPr>
          <p:cNvSpPr>
            <a:spLocks noGrp="1"/>
          </p:cNvSpPr>
          <p:nvPr/>
        </p:nvSpPr>
        <p:spPr>
          <a:xfrm>
            <a:off x="6372225" y="4857750"/>
            <a:ext cx="2057400" cy="238125"/>
          </a:xfrm>
          <a:prstGeom prst="parallelogram">
            <a:avLst/>
          </a:prstGeom>
          <a:solidFill>
            <a:srgbClr val="FFFFFF"/>
          </a:solidFill>
          <a:ln w="10001">
            <a:solidFill>
              <a:srgbClr val="C9534B"/>
            </a:solidFill>
            <a:prstDash val="solid"/>
          </a:ln>
        </p:spPr>
        <p:txBody>
          <a:bodyPr wrap="none" lIns="76200" tIns="0" rIns="76200" bIns="0" anchor="ctr">
            <a:normAutofit/>
          </a:bodyPr>
          <a:lstStyle/>
          <a:p>
            <a:pPr algn="ctr">
              <a:buNone/>
              <a:defRPr sz="998" b="1">
                <a:solidFill>
                  <a:srgbClr val="C9534B"/>
                </a:solidFill>
                <a:latin typeface="Noto Sans CJK JP"/>
                <a:ea typeface="Noto Sans CJK JP"/>
                <a:cs typeface="Noto Sans CJK JP"/>
              </a:defRPr>
            </a:pPr>
            <a:r>
              <a:rPr sz="998" b="1">
                <a:solidFill>
                  <a:srgbClr val="C9534B"/>
                </a:solidFill>
                <a:latin typeface="Noto Sans CJK JP"/>
                <a:ea typeface="Noto Sans CJK JP"/>
                <a:cs typeface="Noto Sans CJK JP"/>
              </a:rPr>
              <a:t>4 結論</a:t>
            </a:r>
          </a:p>
        </p:txBody>
      </p:sp>
      <p:sp>
        <p:nvSpPr>
          <p:cNvPr id="17" name="s11-initial-shape">
            <a:extLst>
              <a:ext uri="{FF2B5EF4-FFF2-40B4-BE49-F238E27FC236}">
                <a16:creationId xmlns:a16="http://schemas.microsoft.com/office/drawing/2014/main" id="{B942BDDF-7797-4EEC-945D-BFB3C738C502}"/>
              </a:ext>
            </a:extLst>
          </p:cNvPr>
          <p:cNvSpPr>
            <a:spLocks noGrp="1"/>
          </p:cNvSpPr>
          <p:nvPr/>
        </p:nvSpPr>
        <p:spPr>
          <a:xfrm>
            <a:off x="1095375" y="2133600"/>
            <a:ext cx="523875" cy="476250"/>
          </a:xfrm>
          <a:prstGeom prst="roundRect">
            <a:avLst>
              <a:gd name="adj" fmla="val 12000"/>
            </a:avLst>
          </a:prstGeom>
          <a:solidFill>
            <a:srgbClr val="FFFFFF"/>
          </a:solidFill>
          <a:ln w="9525">
            <a:solidFill>
              <a:srgbClr val="D94138"/>
            </a:solidFill>
            <a:prstDash val="solid"/>
          </a:ln>
        </p:spPr>
      </p:sp>
      <p:sp>
        <p:nvSpPr>
          <p:cNvPr id="18" name="s11-initial-text">
            <a:extLst>
              <a:ext uri="{FF2B5EF4-FFF2-40B4-BE49-F238E27FC236}">
                <a16:creationId xmlns:a16="http://schemas.microsoft.com/office/drawing/2014/main" id="{2995358E-70EE-468E-BC4B-83D3569CAA87}"/>
              </a:ext>
            </a:extLst>
          </p:cNvPr>
          <p:cNvSpPr>
            <a:spLocks noGrp="1"/>
          </p:cNvSpPr>
          <p:nvPr/>
        </p:nvSpPr>
        <p:spPr>
          <a:xfrm>
            <a:off x="1095375" y="2133600"/>
            <a:ext cx="523875" cy="476250"/>
          </a:xfrm>
          <a:prstGeom prst="rect">
            <a:avLst/>
          </a:prstGeom>
          <a:noFill/>
          <a:ln w="0">
            <a:noFill/>
            <a:prstDash val="solid"/>
          </a:ln>
        </p:spPr>
        <p:txBody>
          <a:bodyPr wrap="square" lIns="0" tIns="0" rIns="0" bIns="0" anchor="ctr">
            <a:normAutofit/>
          </a:bodyPr>
          <a:lstStyle/>
          <a:p>
            <a:pPr algn="ctr">
              <a:defRPr sz="938" b="1">
                <a:solidFill>
                  <a:srgbClr val="D94138"/>
                </a:solidFill>
                <a:latin typeface="Noto Sans CJK JP"/>
                <a:ea typeface="Noto Sans CJK JP"/>
                <a:cs typeface="Noto Sans CJK JP"/>
              </a:defRPr>
            </a:pPr>
            <a:r>
              <a:rPr sz="938" b="1">
                <a:solidFill>
                  <a:srgbClr val="D94138"/>
                </a:solidFill>
                <a:latin typeface="Noto Sans CJK JP"/>
                <a:ea typeface="Noto Sans CJK JP"/>
                <a:cs typeface="Noto Sans CJK JP"/>
              </a:rPr>
              <a:t>初期</a:t>
            </a:r>
          </a:p>
          <a:p>
            <a:pPr algn="ctr">
              <a:defRPr sz="938" b="1">
                <a:solidFill>
                  <a:srgbClr val="D94138"/>
                </a:solidFill>
                <a:latin typeface="Noto Sans CJK JP"/>
                <a:ea typeface="Noto Sans CJK JP"/>
                <a:cs typeface="Noto Sans CJK JP"/>
              </a:defRPr>
            </a:pPr>
            <a:r>
              <a:rPr sz="938" b="1">
                <a:solidFill>
                  <a:srgbClr val="D94138"/>
                </a:solidFill>
                <a:latin typeface="Noto Sans CJK JP"/>
                <a:ea typeface="Noto Sans CJK JP"/>
                <a:cs typeface="Noto Sans CJK JP"/>
              </a:rPr>
              <a:t>100%</a:t>
            </a:r>
          </a:p>
        </p:txBody>
      </p:sp>
      <p:sp>
        <p:nvSpPr>
          <p:cNvPr id="19" name="s11-initial-leader">
            <a:extLst>
              <a:ext uri="{FF2B5EF4-FFF2-40B4-BE49-F238E27FC236}">
                <a16:creationId xmlns:a16="http://schemas.microsoft.com/office/drawing/2014/main" id="{A4BA43D1-0C64-43C1-B023-9FB9F43734B0}"/>
              </a:ext>
            </a:extLst>
          </p:cNvPr>
          <p:cNvSpPr>
            <a:spLocks noGrp="1"/>
          </p:cNvSpPr>
          <p:nvPr/>
        </p:nvSpPr>
        <p:spPr>
          <a:xfrm>
            <a:off x="1619250" y="2047875"/>
            <a:ext cx="99781" cy="323850"/>
          </a:xfrm>
          <a:custGeom>
            <a:avLst/>
            <a:gdLst/>
            <a:ahLst/>
            <a:cxnLst/>
            <a:rect l="0" t="0" r="0" b="0"/>
            <a:pathLst>
              <a:path w="66675" h="238125">
                <a:moveTo>
                  <a:pt x="66675" y="0"/>
                </a:moveTo>
                <a:lnTo>
                  <a:pt x="0" y="238125"/>
                </a:lnTo>
              </a:path>
            </a:pathLst>
          </a:custGeom>
          <a:noFill/>
          <a:ln w="9525">
            <a:solidFill>
              <a:srgbClr val="D94138"/>
            </a:solidFill>
            <a:prstDash val="solid"/>
          </a:ln>
        </p:spPr>
      </p:sp>
      <p:sp>
        <p:nvSpPr>
          <p:cNvPr id="20" name="s11-middle-shape">
            <a:extLst>
              <a:ext uri="{FF2B5EF4-FFF2-40B4-BE49-F238E27FC236}">
                <a16:creationId xmlns:a16="http://schemas.microsoft.com/office/drawing/2014/main" id="{F8EB079C-5E53-4B8E-BF09-1D2ABF0DADF8}"/>
              </a:ext>
            </a:extLst>
          </p:cNvPr>
          <p:cNvSpPr>
            <a:spLocks noGrp="1"/>
          </p:cNvSpPr>
          <p:nvPr/>
        </p:nvSpPr>
        <p:spPr>
          <a:xfrm>
            <a:off x="2768600" y="3344460"/>
            <a:ext cx="552450" cy="457200"/>
          </a:xfrm>
          <a:prstGeom prst="roundRect">
            <a:avLst>
              <a:gd name="adj" fmla="val 12500"/>
            </a:avLst>
          </a:prstGeom>
          <a:solidFill>
            <a:srgbClr val="FFFFFF"/>
          </a:solidFill>
          <a:ln w="9525">
            <a:solidFill>
              <a:srgbClr val="D94138"/>
            </a:solidFill>
            <a:prstDash val="solid"/>
          </a:ln>
        </p:spPr>
      </p:sp>
      <p:sp>
        <p:nvSpPr>
          <p:cNvPr id="21" name="s11-middle-text">
            <a:extLst>
              <a:ext uri="{FF2B5EF4-FFF2-40B4-BE49-F238E27FC236}">
                <a16:creationId xmlns:a16="http://schemas.microsoft.com/office/drawing/2014/main" id="{F980F764-FC69-474C-B17D-018628071E91}"/>
              </a:ext>
            </a:extLst>
          </p:cNvPr>
          <p:cNvSpPr>
            <a:spLocks noGrp="1"/>
          </p:cNvSpPr>
          <p:nvPr/>
        </p:nvSpPr>
        <p:spPr>
          <a:xfrm>
            <a:off x="2755900" y="3357160"/>
            <a:ext cx="552450" cy="457200"/>
          </a:xfrm>
          <a:prstGeom prst="rect">
            <a:avLst/>
          </a:prstGeom>
          <a:noFill/>
          <a:ln w="0">
            <a:noFill/>
            <a:prstDash val="solid"/>
          </a:ln>
        </p:spPr>
        <p:txBody>
          <a:bodyPr wrap="square" lIns="0" tIns="0" rIns="0" bIns="0" anchor="ctr">
            <a:normAutofit/>
          </a:bodyPr>
          <a:lstStyle/>
          <a:p>
            <a:pPr algn="ctr">
              <a:defRPr sz="915" b="1">
                <a:solidFill>
                  <a:srgbClr val="D94138"/>
                </a:solidFill>
                <a:latin typeface="Noto Sans CJK JP"/>
                <a:ea typeface="Noto Sans CJK JP"/>
                <a:cs typeface="Noto Sans CJK JP"/>
              </a:defRPr>
            </a:pPr>
            <a:r>
              <a:rPr sz="915" b="1" dirty="0" err="1">
                <a:solidFill>
                  <a:srgbClr val="D94138"/>
                </a:solidFill>
                <a:latin typeface="Noto Sans CJK JP"/>
                <a:ea typeface="Noto Sans CJK JP"/>
                <a:cs typeface="Noto Sans CJK JP"/>
              </a:rPr>
              <a:t>中盤</a:t>
            </a:r>
            <a:endParaRPr sz="915" b="1" dirty="0">
              <a:solidFill>
                <a:srgbClr val="D94138"/>
              </a:solidFill>
              <a:latin typeface="Noto Sans CJK JP"/>
              <a:ea typeface="Noto Sans CJK JP"/>
              <a:cs typeface="Noto Sans CJK JP"/>
            </a:endParaRPr>
          </a:p>
          <a:p>
            <a:pPr algn="ctr">
              <a:defRPr sz="915" b="1">
                <a:solidFill>
                  <a:srgbClr val="D94138"/>
                </a:solidFill>
                <a:latin typeface="Noto Sans CJK JP"/>
                <a:ea typeface="Noto Sans CJK JP"/>
                <a:cs typeface="Noto Sans CJK JP"/>
              </a:defRPr>
            </a:pPr>
            <a:r>
              <a:rPr sz="915" b="1" dirty="0">
                <a:solidFill>
                  <a:srgbClr val="D94138"/>
                </a:solidFill>
                <a:latin typeface="Noto Sans CJK JP"/>
                <a:ea typeface="Noto Sans CJK JP"/>
                <a:cs typeface="Noto Sans CJK JP"/>
              </a:rPr>
              <a:t>約12%</a:t>
            </a:r>
          </a:p>
        </p:txBody>
      </p:sp>
      <p:sp>
        <p:nvSpPr>
          <p:cNvPr id="23" name="s11-end-shape">
            <a:extLst>
              <a:ext uri="{FF2B5EF4-FFF2-40B4-BE49-F238E27FC236}">
                <a16:creationId xmlns:a16="http://schemas.microsoft.com/office/drawing/2014/main" id="{9F066E03-559F-43BF-B1A8-15CB2A8C4FDB}"/>
              </a:ext>
            </a:extLst>
          </p:cNvPr>
          <p:cNvSpPr>
            <a:spLocks noGrp="1"/>
          </p:cNvSpPr>
          <p:nvPr/>
        </p:nvSpPr>
        <p:spPr>
          <a:xfrm>
            <a:off x="5727700" y="2209800"/>
            <a:ext cx="523875" cy="457200"/>
          </a:xfrm>
          <a:prstGeom prst="roundRect">
            <a:avLst>
              <a:gd name="adj" fmla="val 12500"/>
            </a:avLst>
          </a:prstGeom>
          <a:solidFill>
            <a:srgbClr val="FFFFFF"/>
          </a:solidFill>
          <a:ln w="9525">
            <a:solidFill>
              <a:srgbClr val="D94138"/>
            </a:solidFill>
            <a:prstDash val="solid"/>
          </a:ln>
        </p:spPr>
      </p:sp>
      <p:sp>
        <p:nvSpPr>
          <p:cNvPr id="24" name="s11-end-text">
            <a:extLst>
              <a:ext uri="{FF2B5EF4-FFF2-40B4-BE49-F238E27FC236}">
                <a16:creationId xmlns:a16="http://schemas.microsoft.com/office/drawing/2014/main" id="{7616F340-3FD2-42D9-A88E-484CAEB340A3}"/>
              </a:ext>
            </a:extLst>
          </p:cNvPr>
          <p:cNvSpPr>
            <a:spLocks noGrp="1"/>
          </p:cNvSpPr>
          <p:nvPr/>
        </p:nvSpPr>
        <p:spPr>
          <a:xfrm>
            <a:off x="5727700" y="2209800"/>
            <a:ext cx="523875" cy="457200"/>
          </a:xfrm>
          <a:prstGeom prst="rect">
            <a:avLst/>
          </a:prstGeom>
          <a:noFill/>
          <a:ln w="0">
            <a:noFill/>
            <a:prstDash val="solid"/>
          </a:ln>
        </p:spPr>
        <p:txBody>
          <a:bodyPr wrap="square" lIns="0" tIns="0" rIns="0" bIns="0" anchor="ctr">
            <a:normAutofit/>
          </a:bodyPr>
          <a:lstStyle/>
          <a:p>
            <a:pPr algn="ctr">
              <a:defRPr sz="915" b="1">
                <a:solidFill>
                  <a:srgbClr val="D94138"/>
                </a:solidFill>
                <a:latin typeface="Noto Sans CJK JP"/>
                <a:ea typeface="Noto Sans CJK JP"/>
                <a:cs typeface="Noto Sans CJK JP"/>
              </a:defRPr>
            </a:pPr>
            <a:r>
              <a:rPr lang="en-US" sz="915" b="1" dirty="0">
                <a:solidFill>
                  <a:srgbClr val="D94138"/>
                </a:solidFill>
                <a:latin typeface="Noto Sans CJK JP"/>
                <a:ea typeface="Noto Sans CJK JP"/>
                <a:cs typeface="Noto Sans CJK JP"/>
              </a:rPr>
              <a:t>40</a:t>
            </a:r>
            <a:r>
              <a:rPr sz="915" b="1" dirty="0">
                <a:solidFill>
                  <a:srgbClr val="D94138"/>
                </a:solidFill>
                <a:latin typeface="Noto Sans CJK JP"/>
                <a:ea typeface="Noto Sans CJK JP"/>
                <a:cs typeface="Noto Sans CJK JP"/>
              </a:rPr>
              <a:t>年</a:t>
            </a:r>
          </a:p>
          <a:p>
            <a:pPr algn="ctr">
              <a:defRPr sz="915" b="1">
                <a:solidFill>
                  <a:srgbClr val="D94138"/>
                </a:solidFill>
                <a:latin typeface="Noto Sans CJK JP"/>
                <a:ea typeface="Noto Sans CJK JP"/>
                <a:cs typeface="Noto Sans CJK JP"/>
              </a:defRPr>
            </a:pPr>
            <a:r>
              <a:rPr sz="915" b="1" dirty="0">
                <a:solidFill>
                  <a:srgbClr val="D94138"/>
                </a:solidFill>
                <a:latin typeface="Noto Sans CJK JP"/>
                <a:ea typeface="Noto Sans CJK JP"/>
                <a:cs typeface="Noto Sans CJK JP"/>
              </a:rPr>
              <a:t>93%</a:t>
            </a:r>
          </a:p>
        </p:txBody>
      </p:sp>
      <p:sp>
        <p:nvSpPr>
          <p:cNvPr id="25" name="s11-end-leader">
            <a:extLst>
              <a:ext uri="{FF2B5EF4-FFF2-40B4-BE49-F238E27FC236}">
                <a16:creationId xmlns:a16="http://schemas.microsoft.com/office/drawing/2014/main" id="{21D9DE6A-A4DB-460A-8824-8E4720CDBE1D}"/>
              </a:ext>
            </a:extLst>
          </p:cNvPr>
          <p:cNvSpPr>
            <a:spLocks noGrp="1"/>
          </p:cNvSpPr>
          <p:nvPr/>
        </p:nvSpPr>
        <p:spPr>
          <a:xfrm flipV="1">
            <a:off x="5621569" y="2060574"/>
            <a:ext cx="103505" cy="371475"/>
          </a:xfrm>
          <a:custGeom>
            <a:avLst/>
            <a:gdLst/>
            <a:ahLst/>
            <a:cxnLst/>
            <a:rect l="0" t="0" r="0" b="0"/>
            <a:pathLst>
              <a:path w="114300" h="257175">
                <a:moveTo>
                  <a:pt x="114300" y="0"/>
                </a:moveTo>
                <a:lnTo>
                  <a:pt x="0" y="257175"/>
                </a:lnTo>
              </a:path>
            </a:pathLst>
          </a:custGeom>
          <a:noFill/>
          <a:ln w="9525">
            <a:solidFill>
              <a:srgbClr val="D94138"/>
            </a:solidFill>
            <a:prstDash val="solid"/>
          </a:ln>
        </p:spPr>
      </p:sp>
      <p:sp>
        <p:nvSpPr>
          <p:cNvPr id="26" name="s11-rail">
            <a:extLst>
              <a:ext uri="{FF2B5EF4-FFF2-40B4-BE49-F238E27FC236}">
                <a16:creationId xmlns:a16="http://schemas.microsoft.com/office/drawing/2014/main" id="{D750C8AE-3A4C-466C-B332-733560FE750E}"/>
              </a:ext>
            </a:extLst>
          </p:cNvPr>
          <p:cNvSpPr>
            <a:spLocks noGrp="1"/>
          </p:cNvSpPr>
          <p:nvPr/>
        </p:nvSpPr>
        <p:spPr>
          <a:xfrm>
            <a:off x="6819900" y="1866900"/>
            <a:ext cx="11430" cy="2209800"/>
          </a:xfrm>
          <a:prstGeom prst="rect">
            <a:avLst/>
          </a:prstGeom>
          <a:solidFill>
            <a:srgbClr val="DDE4EC"/>
          </a:solidFill>
          <a:ln w="0">
            <a:noFill/>
            <a:prstDash val="solid"/>
          </a:ln>
        </p:spPr>
      </p:sp>
      <p:sp>
        <p:nvSpPr>
          <p:cNvPr id="27" name="s11-rail-head">
            <a:extLst>
              <a:ext uri="{FF2B5EF4-FFF2-40B4-BE49-F238E27FC236}">
                <a16:creationId xmlns:a16="http://schemas.microsoft.com/office/drawing/2014/main" id="{6046BCF1-519D-47A9-90E2-1061CA0D3D09}"/>
              </a:ext>
            </a:extLst>
          </p:cNvPr>
          <p:cNvSpPr>
            <a:spLocks noGrp="1"/>
          </p:cNvSpPr>
          <p:nvPr/>
        </p:nvSpPr>
        <p:spPr>
          <a:xfrm>
            <a:off x="7124700" y="1971674"/>
            <a:ext cx="1741982" cy="376639"/>
          </a:xfrm>
          <a:prstGeom prst="rect">
            <a:avLst/>
          </a:prstGeom>
          <a:noFill/>
          <a:ln w="0">
            <a:noFill/>
            <a:prstDash val="solid"/>
          </a:ln>
        </p:spPr>
        <p:txBody>
          <a:bodyPr wrap="square" lIns="0" tIns="0" rIns="0" bIns="0" anchor="ctr">
            <a:normAutofit lnSpcReduction="10000"/>
          </a:bodyPr>
          <a:lstStyle/>
          <a:p>
            <a:pPr algn="l">
              <a:defRPr sz="1275" b="1">
                <a:solidFill>
                  <a:srgbClr val="D94138"/>
                </a:solidFill>
                <a:latin typeface="Noto Sans CJK JP"/>
                <a:ea typeface="Noto Sans CJK JP"/>
                <a:cs typeface="Noto Sans CJK JP"/>
              </a:defRPr>
            </a:pPr>
            <a:r>
              <a:rPr sz="1275" b="1" dirty="0" err="1">
                <a:solidFill>
                  <a:srgbClr val="D94138"/>
                </a:solidFill>
                <a:latin typeface="Noto Sans CJK JP"/>
                <a:ea typeface="Noto Sans CJK JP"/>
                <a:cs typeface="Noto Sans CJK JP"/>
              </a:rPr>
              <a:t>U字を生む競合</a:t>
            </a:r>
            <a:endParaRPr lang="en-US" sz="1275" b="1" dirty="0">
              <a:solidFill>
                <a:srgbClr val="D94138"/>
              </a:solidFill>
              <a:latin typeface="Noto Sans CJK JP"/>
              <a:ea typeface="Noto Sans CJK JP"/>
              <a:cs typeface="Noto Sans CJK JP"/>
            </a:endParaRPr>
          </a:p>
          <a:p>
            <a:pPr algn="l">
              <a:defRPr sz="1275" b="1">
                <a:solidFill>
                  <a:srgbClr val="D94138"/>
                </a:solidFill>
                <a:latin typeface="Noto Sans CJK JP"/>
                <a:ea typeface="Noto Sans CJK JP"/>
                <a:cs typeface="Noto Sans CJK JP"/>
              </a:defRPr>
            </a:pPr>
            <a:r>
              <a:rPr lang="pt-BR" sz="1275" b="1" dirty="0">
                <a:solidFill>
                  <a:srgbClr val="D94138"/>
                </a:solidFill>
                <a:latin typeface="Noto Sans CJK JP"/>
                <a:ea typeface="Noto Sans CJK JP"/>
                <a:cs typeface="Noto Sans CJK JP"/>
              </a:rPr>
              <a:t>glide-path= θ*(1+ H/X)</a:t>
            </a:r>
          </a:p>
        </p:txBody>
      </p:sp>
      <p:sp>
        <p:nvSpPr>
          <p:cNvPr id="28" name="s11-rail-body">
            <a:extLst>
              <a:ext uri="{FF2B5EF4-FFF2-40B4-BE49-F238E27FC236}">
                <a16:creationId xmlns:a16="http://schemas.microsoft.com/office/drawing/2014/main" id="{EB7CBC0C-4678-43CD-BB35-81D8CAE8D363}"/>
              </a:ext>
            </a:extLst>
          </p:cNvPr>
          <p:cNvSpPr>
            <a:spLocks noGrp="1"/>
          </p:cNvSpPr>
          <p:nvPr/>
        </p:nvSpPr>
        <p:spPr>
          <a:xfrm>
            <a:off x="7124700" y="2340469"/>
            <a:ext cx="1619250" cy="1219200"/>
          </a:xfrm>
          <a:prstGeom prst="rect">
            <a:avLst/>
          </a:prstGeom>
          <a:noFill/>
          <a:ln w="0">
            <a:noFill/>
            <a:prstDash val="solid"/>
          </a:ln>
        </p:spPr>
        <p:txBody>
          <a:bodyPr wrap="square" lIns="0" tIns="0" rIns="0" bIns="0" anchor="ctr">
            <a:normAutofit/>
          </a:bodyPr>
          <a:lstStyle/>
          <a:p>
            <a:pPr algn="l">
              <a:defRPr sz="1050" b="0">
                <a:solidFill>
                  <a:srgbClr val="111827"/>
                </a:solidFill>
                <a:latin typeface="Noto Sans CJK JP"/>
                <a:ea typeface="Noto Sans CJK JP"/>
                <a:cs typeface="Noto Sans CJK JP"/>
              </a:defRPr>
            </a:pPr>
            <a:r>
              <a:rPr sz="1050" b="0" dirty="0" err="1">
                <a:solidFill>
                  <a:srgbClr val="111827"/>
                </a:solidFill>
                <a:latin typeface="Noto Sans CJK JP"/>
                <a:ea typeface="Noto Sans CJK JP"/>
                <a:cs typeface="Noto Sans CJK JP"/>
              </a:rPr>
              <a:t>背景富比</a:t>
            </a:r>
            <a:r>
              <a:rPr sz="1050" b="0" dirty="0">
                <a:solidFill>
                  <a:srgbClr val="111827"/>
                </a:solidFill>
                <a:latin typeface="Noto Sans CJK JP"/>
                <a:ea typeface="Noto Sans CJK JP"/>
                <a:cs typeface="Noto Sans CJK JP"/>
              </a:rPr>
              <a:t> H/X　↓</a:t>
            </a:r>
            <a:endParaRPr lang="en-US" sz="1050" b="0" dirty="0">
              <a:solidFill>
                <a:srgbClr val="111827"/>
              </a:solidFill>
              <a:latin typeface="Noto Sans CJK JP"/>
              <a:ea typeface="Noto Sans CJK JP"/>
              <a:cs typeface="Noto Sans CJK JP"/>
            </a:endParaRPr>
          </a:p>
          <a:p>
            <a:pPr algn="l">
              <a:defRPr sz="1050" b="0">
                <a:solidFill>
                  <a:srgbClr val="111827"/>
                </a:solidFill>
                <a:latin typeface="Noto Sans CJK JP"/>
                <a:ea typeface="Noto Sans CJK JP"/>
                <a:cs typeface="Noto Sans CJK JP"/>
              </a:defRPr>
            </a:pPr>
            <a:endParaRPr sz="1050" b="0" dirty="0">
              <a:solidFill>
                <a:srgbClr val="111827"/>
              </a:solidFill>
              <a:latin typeface="Noto Sans CJK JP"/>
              <a:ea typeface="Noto Sans CJK JP"/>
              <a:cs typeface="Noto Sans CJK JP"/>
            </a:endParaRPr>
          </a:p>
          <a:p>
            <a:pPr algn="l">
              <a:defRPr sz="1050" b="0">
                <a:solidFill>
                  <a:srgbClr val="111827"/>
                </a:solidFill>
                <a:latin typeface="Noto Sans CJK JP"/>
                <a:ea typeface="Noto Sans CJK JP"/>
                <a:cs typeface="Noto Sans CJK JP"/>
              </a:defRPr>
            </a:pPr>
            <a:r>
              <a:rPr sz="1050" b="0" dirty="0" err="1">
                <a:solidFill>
                  <a:srgbClr val="111827"/>
                </a:solidFill>
                <a:latin typeface="Noto Sans CJK JP"/>
                <a:ea typeface="Noto Sans CJK JP"/>
                <a:cs typeface="Noto Sans CJK JP"/>
              </a:rPr>
              <a:t>均衡係数</a:t>
            </a:r>
            <a:r>
              <a:rPr lang="en-US" altLang="ja-JP" sz="1050" b="0" dirty="0" err="1">
                <a:solidFill>
                  <a:srgbClr val="111827"/>
                </a:solidFill>
                <a:latin typeface="Noto Sans CJK JP"/>
                <a:ea typeface="Noto Sans CJK JP"/>
                <a:cs typeface="Noto Sans CJK JP"/>
              </a:rPr>
              <a:t>θ</a:t>
            </a:r>
            <a:r>
              <a:rPr sz="1050" b="0" dirty="0">
                <a:solidFill>
                  <a:srgbClr val="111827"/>
                </a:solidFill>
                <a:latin typeface="Noto Sans CJK JP"/>
                <a:ea typeface="Noto Sans CJK JP"/>
                <a:cs typeface="Noto Sans CJK JP"/>
              </a:rPr>
              <a:t>　　 ↑</a:t>
            </a:r>
          </a:p>
          <a:p>
            <a:endParaRPr lang="en-US" sz="1050" b="0" dirty="0">
              <a:solidFill>
                <a:srgbClr val="111827"/>
              </a:solidFill>
              <a:latin typeface="Noto Sans CJK JP"/>
              <a:ea typeface="Noto Sans CJK JP"/>
              <a:cs typeface="Noto Sans CJK JP"/>
            </a:endParaRPr>
          </a:p>
          <a:p>
            <a:endParaRPr sz="1050" b="0" dirty="0">
              <a:solidFill>
                <a:srgbClr val="111827"/>
              </a:solidFill>
              <a:latin typeface="Noto Sans CJK JP"/>
              <a:ea typeface="Noto Sans CJK JP"/>
              <a:cs typeface="Noto Sans CJK JP"/>
            </a:endParaRPr>
          </a:p>
          <a:p>
            <a:pPr algn="l">
              <a:defRPr sz="1050" b="0">
                <a:solidFill>
                  <a:srgbClr val="111827"/>
                </a:solidFill>
                <a:latin typeface="Noto Sans CJK JP"/>
                <a:ea typeface="Noto Sans CJK JP"/>
                <a:cs typeface="Noto Sans CJK JP"/>
              </a:defRPr>
            </a:pPr>
            <a:r>
              <a:rPr sz="1050" b="0" dirty="0" err="1">
                <a:solidFill>
                  <a:srgbClr val="111827"/>
                </a:solidFill>
                <a:latin typeface="Noto Sans CJK JP"/>
                <a:ea typeface="Noto Sans CJK JP"/>
                <a:cs typeface="Noto Sans CJK JP"/>
              </a:rPr>
              <a:t>後半は後者が優勢</a:t>
            </a:r>
            <a:endParaRPr sz="1050" b="0" dirty="0">
              <a:solidFill>
                <a:srgbClr val="111827"/>
              </a:solidFill>
              <a:latin typeface="Noto Sans CJK JP"/>
              <a:ea typeface="Noto Sans CJK JP"/>
              <a:cs typeface="Noto Sans CJK JP"/>
            </a:endParaRPr>
          </a:p>
        </p:txBody>
      </p:sp>
      <p:sp>
        <p:nvSpPr>
          <p:cNvPr id="29" name="s11-bottom-icon">
            <a:extLst>
              <a:ext uri="{FF2B5EF4-FFF2-40B4-BE49-F238E27FC236}">
                <a16:creationId xmlns:a16="http://schemas.microsoft.com/office/drawing/2014/main" id="{60050B16-74C1-495E-9884-FF3679107B2D}"/>
              </a:ext>
            </a:extLst>
          </p:cNvPr>
          <p:cNvSpPr>
            <a:spLocks noGrp="1"/>
          </p:cNvSpPr>
          <p:nvPr/>
        </p:nvSpPr>
        <p:spPr>
          <a:xfrm>
            <a:off x="6953250" y="3833410"/>
            <a:ext cx="190500" cy="190500"/>
          </a:xfrm>
          <a:prstGeom prst="ellipse">
            <a:avLst/>
          </a:prstGeom>
          <a:solidFill>
            <a:srgbClr val="215FB4"/>
          </a:solidFill>
          <a:ln w="0">
            <a:noFill/>
            <a:prstDash val="solid"/>
          </a:ln>
        </p:spPr>
      </p:sp>
      <p:sp>
        <p:nvSpPr>
          <p:cNvPr id="30" name="s11-bottom-arrow">
            <a:extLst>
              <a:ext uri="{FF2B5EF4-FFF2-40B4-BE49-F238E27FC236}">
                <a16:creationId xmlns:a16="http://schemas.microsoft.com/office/drawing/2014/main" id="{074E15B1-697A-4B0E-BDE4-293BF6378F1E}"/>
              </a:ext>
            </a:extLst>
          </p:cNvPr>
          <p:cNvSpPr>
            <a:spLocks noGrp="1"/>
          </p:cNvSpPr>
          <p:nvPr/>
        </p:nvSpPr>
        <p:spPr>
          <a:xfrm>
            <a:off x="6953250" y="3823885"/>
            <a:ext cx="190500" cy="190500"/>
          </a:xfrm>
          <a:prstGeom prst="rect">
            <a:avLst/>
          </a:prstGeom>
          <a:noFill/>
          <a:ln w="0">
            <a:noFill/>
            <a:prstDash val="solid"/>
          </a:ln>
        </p:spPr>
        <p:txBody>
          <a:bodyPr wrap="square" lIns="0" tIns="0" rIns="0" bIns="0" anchor="ctr">
            <a:normAutofit/>
          </a:bodyPr>
          <a:lstStyle/>
          <a:p>
            <a:pPr algn="ctr">
              <a:defRPr sz="1050" b="1">
                <a:solidFill>
                  <a:srgbClr val="FFFFFF"/>
                </a:solidFill>
                <a:latin typeface="Noto Sans CJK JP"/>
                <a:ea typeface="Noto Sans CJK JP"/>
                <a:cs typeface="Noto Sans CJK JP"/>
              </a:defRPr>
            </a:pPr>
            <a:r>
              <a:rPr sz="1050" b="1">
                <a:solidFill>
                  <a:srgbClr val="FFFFFF"/>
                </a:solidFill>
                <a:latin typeface="Noto Sans CJK JP"/>
                <a:ea typeface="Noto Sans CJK JP"/>
                <a:cs typeface="Noto Sans CJK JP"/>
              </a:rPr>
              <a:t>→</a:t>
            </a:r>
          </a:p>
        </p:txBody>
      </p:sp>
      <p:sp>
        <p:nvSpPr>
          <p:cNvPr id="31" name="s11-bottom">
            <a:extLst>
              <a:ext uri="{FF2B5EF4-FFF2-40B4-BE49-F238E27FC236}">
                <a16:creationId xmlns:a16="http://schemas.microsoft.com/office/drawing/2014/main" id="{D0B310ED-0093-4C64-AF4E-BACB7AF77F46}"/>
              </a:ext>
            </a:extLst>
          </p:cNvPr>
          <p:cNvSpPr>
            <a:spLocks noGrp="1"/>
          </p:cNvSpPr>
          <p:nvPr/>
        </p:nvSpPr>
        <p:spPr>
          <a:xfrm>
            <a:off x="7219950" y="3738160"/>
            <a:ext cx="1803468" cy="457200"/>
          </a:xfrm>
          <a:prstGeom prst="rect">
            <a:avLst/>
          </a:prstGeom>
          <a:noFill/>
          <a:ln w="0">
            <a:noFill/>
            <a:prstDash val="solid"/>
          </a:ln>
        </p:spPr>
        <p:txBody>
          <a:bodyPr wrap="square" lIns="0" tIns="0" rIns="0" bIns="0" anchor="ctr">
            <a:normAutofit/>
          </a:bodyPr>
          <a:lstStyle/>
          <a:p>
            <a:pPr algn="l">
              <a:defRPr sz="990" b="1">
                <a:solidFill>
                  <a:srgbClr val="215FB4"/>
                </a:solidFill>
                <a:latin typeface="Noto Sans CJK JP"/>
                <a:ea typeface="Noto Sans CJK JP"/>
                <a:cs typeface="Noto Sans CJK JP"/>
              </a:defRPr>
            </a:pPr>
            <a:r>
              <a:rPr sz="990" b="1" dirty="0" err="1">
                <a:solidFill>
                  <a:srgbClr val="215FB4"/>
                </a:solidFill>
                <a:latin typeface="Noto Sans CJK JP"/>
                <a:ea typeface="Noto Sans CJK JP"/>
                <a:cs typeface="Noto Sans CJK JP"/>
              </a:rPr>
              <a:t>年齢だけの右下がり曲線では</a:t>
            </a:r>
            <a:r>
              <a:rPr sz="990" b="1" dirty="0">
                <a:solidFill>
                  <a:srgbClr val="215FB4"/>
                </a:solidFill>
                <a:latin typeface="Noto Sans CJK JP"/>
                <a:ea typeface="Noto Sans CJK JP"/>
                <a:cs typeface="Noto Sans CJK JP"/>
              </a:rPr>
              <a:t>、</a:t>
            </a:r>
          </a:p>
          <a:p>
            <a:pPr algn="l">
              <a:defRPr sz="990" b="1">
                <a:solidFill>
                  <a:srgbClr val="215FB4"/>
                </a:solidFill>
                <a:latin typeface="Noto Sans CJK JP"/>
                <a:ea typeface="Noto Sans CJK JP"/>
                <a:cs typeface="Noto Sans CJK JP"/>
              </a:defRPr>
            </a:pPr>
            <a:r>
              <a:rPr sz="990" b="1" dirty="0" err="1">
                <a:solidFill>
                  <a:srgbClr val="215FB4"/>
                </a:solidFill>
                <a:latin typeface="Noto Sans CJK JP"/>
                <a:ea typeface="Noto Sans CJK JP"/>
                <a:cs typeface="Noto Sans CJK JP"/>
              </a:rPr>
              <a:t>この状態依存性を表せない</a:t>
            </a:r>
            <a:endParaRPr sz="990" b="1" dirty="0">
              <a:solidFill>
                <a:srgbClr val="215FB4"/>
              </a:solidFill>
              <a:latin typeface="Noto Sans CJK JP"/>
              <a:ea typeface="Noto Sans CJK JP"/>
              <a:cs typeface="Noto Sans CJK JP"/>
            </a:endParaRPr>
          </a:p>
        </p:txBody>
      </p:sp>
      <p:cxnSp>
        <p:nvCxnSpPr>
          <p:cNvPr id="5" name="直線コネクタ 4">
            <a:extLst>
              <a:ext uri="{FF2B5EF4-FFF2-40B4-BE49-F238E27FC236}">
                <a16:creationId xmlns:a16="http://schemas.microsoft.com/office/drawing/2014/main" id="{F9FAF875-285B-439D-7D11-34B414B70D2F}"/>
              </a:ext>
            </a:extLst>
          </p:cNvPr>
          <p:cNvCxnSpPr>
            <a:cxnSpLocks/>
          </p:cNvCxnSpPr>
          <p:nvPr/>
        </p:nvCxnSpPr>
        <p:spPr>
          <a:xfrm rot="16200000">
            <a:off x="7736700" y="2516489"/>
            <a:ext cx="0" cy="1224000"/>
          </a:xfrm>
          <a:prstGeom prst="line">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7" name="s8-time0">
            <a:extLst>
              <a:ext uri="{FF2B5EF4-FFF2-40B4-BE49-F238E27FC236}">
                <a16:creationId xmlns:a16="http://schemas.microsoft.com/office/drawing/2014/main" id="{CA1C5C51-28B1-3C2C-D1A6-586682DE9B70}"/>
              </a:ext>
            </a:extLst>
          </p:cNvPr>
          <p:cNvSpPr>
            <a:spLocks noGrp="1"/>
          </p:cNvSpPr>
          <p:nvPr/>
        </p:nvSpPr>
        <p:spPr>
          <a:xfrm>
            <a:off x="1687281" y="1997074"/>
            <a:ext cx="72000" cy="72000"/>
          </a:xfrm>
          <a:prstGeom prst="ellipse">
            <a:avLst/>
          </a:prstGeom>
          <a:solidFill>
            <a:srgbClr val="D94138"/>
          </a:solidFill>
          <a:ln w="0">
            <a:noFill/>
            <a:prstDash val="solid"/>
          </a:ln>
        </p:spPr>
      </p:sp>
      <p:sp>
        <p:nvSpPr>
          <p:cNvPr id="9" name="s8-time0">
            <a:extLst>
              <a:ext uri="{FF2B5EF4-FFF2-40B4-BE49-F238E27FC236}">
                <a16:creationId xmlns:a16="http://schemas.microsoft.com/office/drawing/2014/main" id="{B8A50729-AC64-D76A-648A-73DDFA7EF555}"/>
              </a:ext>
            </a:extLst>
          </p:cNvPr>
          <p:cNvSpPr>
            <a:spLocks noGrp="1"/>
          </p:cNvSpPr>
          <p:nvPr/>
        </p:nvSpPr>
        <p:spPr>
          <a:xfrm>
            <a:off x="5577119" y="1991750"/>
            <a:ext cx="72000" cy="72000"/>
          </a:xfrm>
          <a:prstGeom prst="ellipse">
            <a:avLst/>
          </a:prstGeom>
          <a:solidFill>
            <a:srgbClr val="D94138"/>
          </a:solidFill>
          <a:ln w="0">
            <a:noFill/>
            <a:prstDash val="solid"/>
          </a:ln>
        </p:spPr>
      </p:sp>
      <p:sp>
        <p:nvSpPr>
          <p:cNvPr id="11" name="s11-initial-leader">
            <a:extLst>
              <a:ext uri="{FF2B5EF4-FFF2-40B4-BE49-F238E27FC236}">
                <a16:creationId xmlns:a16="http://schemas.microsoft.com/office/drawing/2014/main" id="{68C0AEE5-08ED-8F17-DCD5-CABED2DAC038}"/>
              </a:ext>
            </a:extLst>
          </p:cNvPr>
          <p:cNvSpPr>
            <a:spLocks noGrp="1"/>
          </p:cNvSpPr>
          <p:nvPr/>
        </p:nvSpPr>
        <p:spPr>
          <a:xfrm flipV="1">
            <a:off x="3155950" y="3803649"/>
            <a:ext cx="99781" cy="323850"/>
          </a:xfrm>
          <a:custGeom>
            <a:avLst/>
            <a:gdLst/>
            <a:ahLst/>
            <a:cxnLst/>
            <a:rect l="0" t="0" r="0" b="0"/>
            <a:pathLst>
              <a:path w="66675" h="238125">
                <a:moveTo>
                  <a:pt x="66675" y="0"/>
                </a:moveTo>
                <a:lnTo>
                  <a:pt x="0" y="238125"/>
                </a:lnTo>
              </a:path>
            </a:pathLst>
          </a:custGeom>
          <a:noFill/>
          <a:ln w="9525">
            <a:solidFill>
              <a:srgbClr val="D94138"/>
            </a:solidFill>
            <a:prstDash val="solid"/>
          </a:ln>
        </p:spPr>
      </p:sp>
      <p:sp>
        <p:nvSpPr>
          <p:cNvPr id="32" name="s8-time0">
            <a:extLst>
              <a:ext uri="{FF2B5EF4-FFF2-40B4-BE49-F238E27FC236}">
                <a16:creationId xmlns:a16="http://schemas.microsoft.com/office/drawing/2014/main" id="{0C69EE33-47B7-D967-17DB-32D49463CFC0}"/>
              </a:ext>
            </a:extLst>
          </p:cNvPr>
          <p:cNvSpPr>
            <a:spLocks noGrp="1"/>
          </p:cNvSpPr>
          <p:nvPr/>
        </p:nvSpPr>
        <p:spPr>
          <a:xfrm flipV="1">
            <a:off x="3223981" y="4079874"/>
            <a:ext cx="72000" cy="72000"/>
          </a:xfrm>
          <a:prstGeom prst="ellipse">
            <a:avLst/>
          </a:prstGeom>
          <a:solidFill>
            <a:srgbClr val="D94138"/>
          </a:solidFill>
          <a:ln w="0">
            <a:noFill/>
            <a:prstDash val="solid"/>
          </a:ln>
        </p:spPr>
      </p:sp>
    </p:spTree>
    <p:extLst>
      <p:ext uri="{BB962C8B-B14F-4D97-AF65-F5344CB8AC3E}">
        <p14:creationId xmlns:p14="http://schemas.microsoft.com/office/powerpoint/2010/main" val="875397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B5FB2-DE08-01C4-4B0F-3D45E31A046E}"/>
              </a:ext>
            </a:extLst>
          </p:cNvPr>
          <p:cNvSpPr>
            <a:spLocks noGrp="1"/>
          </p:cNvSpPr>
          <p:nvPr>
            <p:ph type="title"/>
          </p:nvPr>
        </p:nvSpPr>
        <p:spPr>
          <a:xfrm>
            <a:off x="457200" y="990600"/>
            <a:ext cx="8229600" cy="609600"/>
          </a:xfrm>
        </p:spPr>
        <p:txBody>
          <a:bodyPr wrap="none" lIns="0" tIns="0" rIns="0" bIns="0" anchor="ctr">
            <a:normAutofit/>
          </a:bodyPr>
          <a:lstStyle/>
          <a:p>
            <a:pPr algn="l">
              <a:buNone/>
              <a:defRPr sz="2100" b="1">
                <a:solidFill>
                  <a:srgbClr val="111827"/>
                </a:solidFill>
                <a:latin typeface="Noto Sans CJK JP"/>
                <a:ea typeface="Noto Sans CJK JP"/>
                <a:cs typeface="Noto Sans CJK JP"/>
              </a:defRPr>
            </a:pPr>
            <a:r>
              <a:rPr sz="2100" b="1">
                <a:solidFill>
                  <a:srgbClr val="111827"/>
                </a:solidFill>
                <a:latin typeface="Noto Sans CJK JP"/>
                <a:ea typeface="Noto Sans CJK JP"/>
                <a:cs typeface="Noto Sans CJK JP"/>
              </a:rPr>
              <a:t>clipの近似精度は解概念に依存する</a:t>
            </a:r>
          </a:p>
        </p:txBody>
      </p:sp>
      <p:sp>
        <p:nvSpPr>
          <p:cNvPr id="3" name="title-divider">
            <a:extLst>
              <a:ext uri="{FF2B5EF4-FFF2-40B4-BE49-F238E27FC236}">
                <a16:creationId xmlns:a16="http://schemas.microsoft.com/office/drawing/2014/main" id="{96F93640-86E8-42D1-97C8-8948592FF60A}"/>
              </a:ext>
            </a:extLst>
          </p:cNvPr>
          <p:cNvSpPr>
            <a:spLocks noGrp="1"/>
          </p:cNvSpPr>
          <p:nvPr/>
        </p:nvSpPr>
        <p:spPr>
          <a:xfrm>
            <a:off x="457200" y="1676400"/>
            <a:ext cx="8229600" cy="9525"/>
          </a:xfrm>
          <a:prstGeom prst="rect">
            <a:avLst/>
          </a:prstGeom>
          <a:solidFill>
            <a:srgbClr val="E5EAF0"/>
          </a:solidFill>
          <a:ln w="0">
            <a:noFill/>
            <a:prstDash val="solid"/>
          </a:ln>
        </p:spPr>
      </p:sp>
      <p:sp>
        <p:nvSpPr>
          <p:cNvPr id="4" name="title-accent">
            <a:extLst>
              <a:ext uri="{FF2B5EF4-FFF2-40B4-BE49-F238E27FC236}">
                <a16:creationId xmlns:a16="http://schemas.microsoft.com/office/drawing/2014/main" id="{4EC55582-4C4C-4E8A-9B67-D65EAC3C5315}"/>
              </a:ext>
            </a:extLst>
          </p:cNvPr>
          <p:cNvSpPr>
            <a:spLocks noGrp="1"/>
          </p:cNvSpPr>
          <p:nvPr/>
        </p:nvSpPr>
        <p:spPr>
          <a:xfrm>
            <a:off x="457200" y="1666875"/>
            <a:ext cx="552450" cy="38100"/>
          </a:xfrm>
          <a:prstGeom prst="rect">
            <a:avLst/>
          </a:prstGeom>
          <a:solidFill>
            <a:srgbClr val="4A90E2"/>
          </a:solidFill>
          <a:ln w="0">
            <a:noFill/>
            <a:prstDash val="solid"/>
          </a:ln>
        </p:spPr>
      </p:sp>
      <p:graphicFrame>
        <p:nvGraphicFramePr>
          <p:cNvPr id="18" name="strict-clip-gap-chart"/>
          <p:cNvGraphicFramePr/>
          <p:nvPr>
            <p:extLst>
              <p:ext uri="{D42A27DB-BD31-4B8C-83A1-F6EECF244321}">
                <p14:modId xmlns:p14="http://schemas.microsoft.com/office/powerpoint/2010/main" val="2681959657"/>
              </p:ext>
            </p:extLst>
          </p:nvPr>
        </p:nvGraphicFramePr>
        <p:xfrm>
          <a:off x="552450" y="2273710"/>
          <a:ext cx="5715000" cy="2476500"/>
        </p:xfrm>
        <a:graphic>
          <a:graphicData uri="http://schemas.openxmlformats.org/drawingml/2006/chart">
            <c:chart xmlns:c="http://schemas.openxmlformats.org/drawingml/2006/chart" xmlns:r="http://schemas.openxmlformats.org/officeDocument/2006/relationships" r:id="rId3"/>
          </a:graphicData>
        </a:graphic>
      </p:graphicFrame>
      <p:sp>
        <p:nvSpPr>
          <p:cNvPr id="6" name="clip-gap-side-divider">
            <a:extLst>
              <a:ext uri="{FF2B5EF4-FFF2-40B4-BE49-F238E27FC236}">
                <a16:creationId xmlns:a16="http://schemas.microsoft.com/office/drawing/2014/main" id="{9D6B23CD-0635-4309-816F-54176C9B51E6}"/>
              </a:ext>
            </a:extLst>
          </p:cNvPr>
          <p:cNvSpPr>
            <a:spLocks noGrp="1"/>
          </p:cNvSpPr>
          <p:nvPr/>
        </p:nvSpPr>
        <p:spPr>
          <a:xfrm>
            <a:off x="6429375" y="2359435"/>
            <a:ext cx="9525" cy="2209800"/>
          </a:xfrm>
          <a:prstGeom prst="rect">
            <a:avLst/>
          </a:prstGeom>
          <a:solidFill>
            <a:srgbClr val="E5EAF0"/>
          </a:solidFill>
          <a:ln w="0">
            <a:noFill/>
            <a:prstDash val="solid"/>
          </a:ln>
        </p:spPr>
      </p:sp>
      <p:sp>
        <p:nvSpPr>
          <p:cNvPr id="7" name="ctcmv-gap-heading">
            <a:extLst>
              <a:ext uri="{FF2B5EF4-FFF2-40B4-BE49-F238E27FC236}">
                <a16:creationId xmlns:a16="http://schemas.microsoft.com/office/drawing/2014/main" id="{BEDFC389-541E-4B68-BCBC-DD7CE9E4FBBF}"/>
              </a:ext>
            </a:extLst>
          </p:cNvPr>
          <p:cNvSpPr>
            <a:spLocks noGrp="1"/>
          </p:cNvSpPr>
          <p:nvPr/>
        </p:nvSpPr>
        <p:spPr>
          <a:xfrm>
            <a:off x="6667500" y="2340385"/>
            <a:ext cx="1943100" cy="266700"/>
          </a:xfrm>
          <a:prstGeom prst="rect">
            <a:avLst/>
          </a:prstGeom>
          <a:noFill/>
          <a:ln w="0">
            <a:noFill/>
            <a:prstDash val="solid"/>
          </a:ln>
        </p:spPr>
        <p:txBody>
          <a:bodyPr wrap="square" lIns="28575" tIns="19050" rIns="28575" bIns="19050" anchor="ctr">
            <a:normAutofit/>
          </a:bodyPr>
          <a:lstStyle/>
          <a:p>
            <a:pPr algn="l">
              <a:buNone/>
              <a:defRPr sz="1275" b="1">
                <a:solidFill>
                  <a:srgbClr val="2F8F73"/>
                </a:solidFill>
                <a:latin typeface="Century Gothic"/>
                <a:ea typeface="Century Gothic"/>
                <a:cs typeface="Century Gothic"/>
              </a:defRPr>
            </a:pPr>
            <a:r>
              <a:rPr sz="1275" b="1" dirty="0" err="1">
                <a:solidFill>
                  <a:srgbClr val="2F8F73"/>
                </a:solidFill>
                <a:latin typeface="Century Gothic"/>
                <a:ea typeface="Century Gothic"/>
                <a:cs typeface="Century Gothic"/>
              </a:rPr>
              <a:t>cTCMV</a:t>
            </a:r>
            <a:r>
              <a:rPr sz="1275" b="1" dirty="0">
                <a:solidFill>
                  <a:srgbClr val="2F8F73"/>
                </a:solidFill>
                <a:latin typeface="Century Gothic"/>
                <a:ea typeface="Century Gothic"/>
                <a:cs typeface="Century Gothic"/>
              </a:rPr>
              <a:t>｜</a:t>
            </a:r>
            <a:r>
              <a:rPr lang="ja-JP" altLang="en-US" sz="1275" b="1" dirty="0">
                <a:solidFill>
                  <a:srgbClr val="2F8F73"/>
                </a:solidFill>
                <a:latin typeface="Century Gothic"/>
                <a:ea typeface="Century Gothic"/>
                <a:cs typeface="Century Gothic"/>
              </a:rPr>
              <a:t>差の平均</a:t>
            </a:r>
            <a:r>
              <a:rPr sz="1275" b="1" dirty="0">
                <a:solidFill>
                  <a:srgbClr val="2F8F73"/>
                </a:solidFill>
                <a:latin typeface="Century Gothic"/>
                <a:ea typeface="Century Gothic"/>
                <a:cs typeface="Century Gothic"/>
              </a:rPr>
              <a:t> 0.006</a:t>
            </a:r>
          </a:p>
        </p:txBody>
      </p:sp>
      <p:sp>
        <p:nvSpPr>
          <p:cNvPr id="8" name="ctcmv-gap-body">
            <a:extLst>
              <a:ext uri="{FF2B5EF4-FFF2-40B4-BE49-F238E27FC236}">
                <a16:creationId xmlns:a16="http://schemas.microsoft.com/office/drawing/2014/main" id="{1235C87E-624E-4944-990A-D05AF1894AC8}"/>
              </a:ext>
            </a:extLst>
          </p:cNvPr>
          <p:cNvSpPr>
            <a:spLocks noGrp="1"/>
          </p:cNvSpPr>
          <p:nvPr/>
        </p:nvSpPr>
        <p:spPr>
          <a:xfrm>
            <a:off x="6667500" y="2626135"/>
            <a:ext cx="1943100" cy="495300"/>
          </a:xfrm>
          <a:prstGeom prst="rect">
            <a:avLst/>
          </a:prstGeom>
          <a:noFill/>
          <a:ln w="0">
            <a:noFill/>
            <a:prstDash val="solid"/>
          </a:ln>
        </p:spPr>
        <p:txBody>
          <a:bodyPr wrap="square" lIns="28575" tIns="19050" rIns="28575" bIns="19050" anchor="ctr">
            <a:normAutofit fontScale="92500"/>
          </a:bodyPr>
          <a:lstStyle/>
          <a:p>
            <a:pPr algn="l">
              <a:buNone/>
              <a:defRPr sz="1125" b="0">
                <a:solidFill>
                  <a:srgbClr val="111827"/>
                </a:solidFill>
                <a:latin typeface="Noto Sans CJK JP"/>
                <a:ea typeface="Noto Sans CJK JP"/>
                <a:cs typeface="Noto Sans CJK JP"/>
              </a:defRPr>
            </a:pPr>
            <a:r>
              <a:rPr lang="ja-JP" altLang="en-US" sz="1125" dirty="0">
                <a:solidFill>
                  <a:srgbClr val="111827"/>
                </a:solidFill>
                <a:latin typeface="Noto Sans CJK JP"/>
                <a:ea typeface="Noto Sans CJK JP"/>
                <a:cs typeface="Noto Sans CJK JP"/>
              </a:rPr>
              <a:t>容易に解ける</a:t>
            </a:r>
            <a:r>
              <a:rPr lang="en-US" sz="1125" dirty="0">
                <a:solidFill>
                  <a:srgbClr val="111827"/>
                </a:solidFill>
                <a:latin typeface="Noto Sans CJK JP"/>
                <a:ea typeface="Noto Sans CJK JP"/>
                <a:cs typeface="Noto Sans CJK JP"/>
              </a:rPr>
              <a:t>c</a:t>
            </a:r>
            <a:r>
              <a:rPr lang="en-US" sz="1125" b="0" dirty="0">
                <a:solidFill>
                  <a:srgbClr val="111827"/>
                </a:solidFill>
                <a:latin typeface="Noto Sans CJK JP"/>
                <a:ea typeface="Noto Sans CJK JP"/>
                <a:cs typeface="Noto Sans CJK JP"/>
              </a:rPr>
              <a:t>lip</a:t>
            </a:r>
            <a:r>
              <a:rPr lang="ja-JP" altLang="en-US" sz="1125" b="0" dirty="0">
                <a:solidFill>
                  <a:srgbClr val="111827"/>
                </a:solidFill>
                <a:latin typeface="Noto Sans CJK JP"/>
                <a:ea typeface="Noto Sans CJK JP"/>
                <a:cs typeface="Noto Sans CJK JP"/>
              </a:rPr>
              <a:t>解で、</a:t>
            </a:r>
            <a:endParaRPr lang="en-US" altLang="ja-JP" sz="1125" b="0" dirty="0">
              <a:solidFill>
                <a:srgbClr val="111827"/>
              </a:solidFill>
              <a:latin typeface="Noto Sans CJK JP"/>
              <a:ea typeface="Noto Sans CJK JP"/>
              <a:cs typeface="Noto Sans CJK JP"/>
            </a:endParaRPr>
          </a:p>
          <a:p>
            <a:pPr algn="l">
              <a:buNone/>
              <a:defRPr sz="1125" b="0">
                <a:solidFill>
                  <a:srgbClr val="111827"/>
                </a:solidFill>
                <a:latin typeface="Noto Sans CJK JP"/>
                <a:ea typeface="Noto Sans CJK JP"/>
                <a:cs typeface="Noto Sans CJK JP"/>
              </a:defRPr>
            </a:pPr>
            <a:r>
              <a:rPr lang="en-US" sz="1125" dirty="0">
                <a:solidFill>
                  <a:srgbClr val="111827"/>
                </a:solidFill>
                <a:latin typeface="Noto Sans CJK JP"/>
                <a:ea typeface="Noto Sans CJK JP"/>
                <a:cs typeface="Noto Sans CJK JP"/>
              </a:rPr>
              <a:t>strict</a:t>
            </a:r>
            <a:r>
              <a:rPr lang="ja-JP" altLang="en-US" sz="1125" dirty="0">
                <a:solidFill>
                  <a:srgbClr val="111827"/>
                </a:solidFill>
                <a:latin typeface="Noto Sans CJK JP"/>
                <a:ea typeface="Noto Sans CJK JP"/>
                <a:cs typeface="Noto Sans CJK JP"/>
              </a:rPr>
              <a:t>解を十分に近似できている</a:t>
            </a:r>
            <a:endParaRPr sz="1125" b="0" dirty="0">
              <a:solidFill>
                <a:srgbClr val="111827"/>
              </a:solidFill>
              <a:latin typeface="Noto Sans CJK JP"/>
              <a:ea typeface="Noto Sans CJK JP"/>
              <a:cs typeface="Noto Sans CJK JP"/>
            </a:endParaRPr>
          </a:p>
        </p:txBody>
      </p:sp>
      <p:sp>
        <p:nvSpPr>
          <p:cNvPr id="9" name="domv-gap-heading">
            <a:extLst>
              <a:ext uri="{FF2B5EF4-FFF2-40B4-BE49-F238E27FC236}">
                <a16:creationId xmlns:a16="http://schemas.microsoft.com/office/drawing/2014/main" id="{7229935E-85AE-4849-9475-0151A292B8AF}"/>
              </a:ext>
            </a:extLst>
          </p:cNvPr>
          <p:cNvSpPr>
            <a:spLocks noGrp="1"/>
          </p:cNvSpPr>
          <p:nvPr/>
        </p:nvSpPr>
        <p:spPr>
          <a:xfrm>
            <a:off x="6667500" y="3273835"/>
            <a:ext cx="1943100" cy="266700"/>
          </a:xfrm>
          <a:prstGeom prst="rect">
            <a:avLst/>
          </a:prstGeom>
          <a:noFill/>
          <a:ln w="0">
            <a:noFill/>
            <a:prstDash val="solid"/>
          </a:ln>
        </p:spPr>
        <p:txBody>
          <a:bodyPr wrap="square" lIns="28575" tIns="19050" rIns="28575" bIns="19050" anchor="ctr">
            <a:normAutofit/>
          </a:bodyPr>
          <a:lstStyle/>
          <a:p>
            <a:pPr algn="l">
              <a:buNone/>
              <a:defRPr sz="1275" b="1">
                <a:solidFill>
                  <a:srgbClr val="C9534B"/>
                </a:solidFill>
                <a:latin typeface="Century Gothic"/>
                <a:ea typeface="Century Gothic"/>
                <a:cs typeface="Century Gothic"/>
              </a:defRPr>
            </a:pPr>
            <a:r>
              <a:rPr sz="1275" b="1" dirty="0">
                <a:solidFill>
                  <a:srgbClr val="FF6B5E"/>
                </a:solidFill>
                <a:latin typeface="Century Gothic"/>
                <a:ea typeface="Century Gothic"/>
                <a:cs typeface="Century Gothic"/>
              </a:rPr>
              <a:t>DOMV｜</a:t>
            </a:r>
            <a:r>
              <a:rPr lang="ja-JP" altLang="en-US" sz="1275" b="1" dirty="0">
                <a:solidFill>
                  <a:srgbClr val="FF6B5E"/>
                </a:solidFill>
                <a:latin typeface="Century Gothic"/>
                <a:ea typeface="Century Gothic"/>
                <a:cs typeface="Century Gothic"/>
              </a:rPr>
              <a:t>差の平均</a:t>
            </a:r>
            <a:r>
              <a:rPr sz="1275" b="1" dirty="0">
                <a:solidFill>
                  <a:srgbClr val="FF6B5E"/>
                </a:solidFill>
                <a:latin typeface="Century Gothic"/>
                <a:ea typeface="Century Gothic"/>
                <a:cs typeface="Century Gothic"/>
              </a:rPr>
              <a:t> 0.</a:t>
            </a:r>
            <a:r>
              <a:rPr lang="en-US" sz="1275" b="1" dirty="0">
                <a:solidFill>
                  <a:srgbClr val="FF6B5E"/>
                </a:solidFill>
                <a:latin typeface="Century Gothic"/>
                <a:ea typeface="Century Gothic"/>
                <a:cs typeface="Century Gothic"/>
              </a:rPr>
              <a:t>078</a:t>
            </a:r>
            <a:endParaRPr sz="1275" b="1" dirty="0">
              <a:solidFill>
                <a:srgbClr val="FF6B5E"/>
              </a:solidFill>
              <a:latin typeface="Century Gothic"/>
              <a:ea typeface="Century Gothic"/>
              <a:cs typeface="Century Gothic"/>
            </a:endParaRPr>
          </a:p>
        </p:txBody>
      </p:sp>
      <p:sp>
        <p:nvSpPr>
          <p:cNvPr id="11" name="dtcmv-gap-heading">
            <a:extLst>
              <a:ext uri="{FF2B5EF4-FFF2-40B4-BE49-F238E27FC236}">
                <a16:creationId xmlns:a16="http://schemas.microsoft.com/office/drawing/2014/main" id="{EEDCF691-E9AA-4190-B02F-0E9CF76F8781}"/>
              </a:ext>
            </a:extLst>
          </p:cNvPr>
          <p:cNvSpPr>
            <a:spLocks noGrp="1"/>
          </p:cNvSpPr>
          <p:nvPr/>
        </p:nvSpPr>
        <p:spPr>
          <a:xfrm>
            <a:off x="6667500" y="3540535"/>
            <a:ext cx="1943100" cy="266700"/>
          </a:xfrm>
          <a:prstGeom prst="rect">
            <a:avLst/>
          </a:prstGeom>
          <a:noFill/>
          <a:ln w="0">
            <a:noFill/>
            <a:prstDash val="solid"/>
          </a:ln>
        </p:spPr>
        <p:txBody>
          <a:bodyPr wrap="square" lIns="28575" tIns="19050" rIns="28575" bIns="19050" anchor="ctr">
            <a:normAutofit/>
          </a:bodyPr>
          <a:lstStyle/>
          <a:p>
            <a:pPr>
              <a:defRPr sz="1275" b="1">
                <a:solidFill>
                  <a:srgbClr val="C9534B"/>
                </a:solidFill>
                <a:latin typeface="Century Gothic"/>
                <a:ea typeface="Century Gothic"/>
                <a:cs typeface="Century Gothic"/>
              </a:defRPr>
            </a:pPr>
            <a:r>
              <a:rPr sz="1275" b="1" dirty="0" err="1">
                <a:solidFill>
                  <a:srgbClr val="C9534B"/>
                </a:solidFill>
                <a:latin typeface="Century Gothic"/>
                <a:ea typeface="Century Gothic"/>
                <a:cs typeface="Century Gothic"/>
              </a:rPr>
              <a:t>dTCMV</a:t>
            </a:r>
            <a:r>
              <a:rPr sz="1275" b="1" dirty="0">
                <a:solidFill>
                  <a:srgbClr val="C9534B"/>
                </a:solidFill>
                <a:latin typeface="Century Gothic"/>
                <a:ea typeface="Century Gothic"/>
                <a:cs typeface="Century Gothic"/>
              </a:rPr>
              <a:t>｜</a:t>
            </a:r>
            <a:r>
              <a:rPr lang="ja-JP" altLang="en-US" sz="1275" b="1" dirty="0">
                <a:solidFill>
                  <a:srgbClr val="C9534B"/>
                </a:solidFill>
                <a:latin typeface="Century Gothic"/>
                <a:ea typeface="Century Gothic"/>
                <a:cs typeface="Century Gothic"/>
              </a:rPr>
              <a:t>差の平均 </a:t>
            </a:r>
            <a:r>
              <a:rPr lang="en-US" altLang="ja-JP" sz="1275" b="1" dirty="0">
                <a:solidFill>
                  <a:srgbClr val="C9534B"/>
                </a:solidFill>
                <a:latin typeface="Century Gothic"/>
                <a:ea typeface="Century Gothic"/>
                <a:cs typeface="Century Gothic"/>
              </a:rPr>
              <a:t>0.069</a:t>
            </a:r>
            <a:endParaRPr lang="ja-JP" altLang="en-US" sz="1275" b="1" dirty="0">
              <a:solidFill>
                <a:srgbClr val="C9534B"/>
              </a:solidFill>
              <a:latin typeface="Century Gothic"/>
              <a:ea typeface="Century Gothic"/>
              <a:cs typeface="Century Gothic"/>
            </a:endParaRPr>
          </a:p>
        </p:txBody>
      </p:sp>
      <p:sp>
        <p:nvSpPr>
          <p:cNvPr id="23" name="s13-code-0">
            <a:extLst>
              <a:ext uri="{FF2B5EF4-FFF2-40B4-BE49-F238E27FC236}">
                <a16:creationId xmlns:a16="http://schemas.microsoft.com/office/drawing/2014/main" id="{4403D8AC-C2FB-4456-2C18-E41BC51D5311}"/>
              </a:ext>
            </a:extLst>
          </p:cNvPr>
          <p:cNvSpPr>
            <a:spLocks noGrp="1"/>
          </p:cNvSpPr>
          <p:nvPr/>
        </p:nvSpPr>
        <p:spPr>
          <a:xfrm>
            <a:off x="471487" y="3788185"/>
            <a:ext cx="504000" cy="266700"/>
          </a:xfrm>
          <a:prstGeom prst="rect">
            <a:avLst/>
          </a:prstGeom>
          <a:solidFill>
            <a:schemeClr val="bg1"/>
          </a:solidFill>
          <a:ln w="0">
            <a:noFill/>
            <a:prstDash val="solid"/>
          </a:ln>
        </p:spPr>
        <p:txBody>
          <a:bodyPr wrap="square" lIns="0" tIns="0" rIns="0" bIns="0" anchor="ctr">
            <a:normAutofit/>
          </a:bodyPr>
          <a:lstStyle/>
          <a:p>
            <a:pPr algn="l">
              <a:defRPr sz="1163" b="1">
                <a:solidFill>
                  <a:srgbClr val="215FB4"/>
                </a:solidFill>
                <a:latin typeface="Arial"/>
                <a:ea typeface="Arial"/>
                <a:cs typeface="Arial"/>
              </a:defRPr>
            </a:pPr>
            <a:r>
              <a:rPr sz="1163" b="1" dirty="0">
                <a:solidFill>
                  <a:srgbClr val="215FB4"/>
                </a:solidFill>
                <a:latin typeface="Arial"/>
                <a:ea typeface="Arial"/>
                <a:cs typeface="Arial"/>
              </a:rPr>
              <a:t>PCMV</a:t>
            </a:r>
          </a:p>
        </p:txBody>
      </p:sp>
      <p:sp>
        <p:nvSpPr>
          <p:cNvPr id="25" name="s13-code-1">
            <a:extLst>
              <a:ext uri="{FF2B5EF4-FFF2-40B4-BE49-F238E27FC236}">
                <a16:creationId xmlns:a16="http://schemas.microsoft.com/office/drawing/2014/main" id="{197466CE-A618-7054-259F-E355E3A9EF05}"/>
              </a:ext>
            </a:extLst>
          </p:cNvPr>
          <p:cNvSpPr>
            <a:spLocks noGrp="1"/>
          </p:cNvSpPr>
          <p:nvPr/>
        </p:nvSpPr>
        <p:spPr>
          <a:xfrm>
            <a:off x="471487" y="3367498"/>
            <a:ext cx="504000" cy="266700"/>
          </a:xfrm>
          <a:prstGeom prst="rect">
            <a:avLst/>
          </a:prstGeom>
          <a:solidFill>
            <a:schemeClr val="bg1"/>
          </a:solidFill>
          <a:ln w="0">
            <a:noFill/>
            <a:prstDash val="solid"/>
          </a:ln>
        </p:spPr>
        <p:txBody>
          <a:bodyPr wrap="square" lIns="0" tIns="0" rIns="0" bIns="0" anchor="ctr">
            <a:normAutofit/>
          </a:bodyPr>
          <a:lstStyle/>
          <a:p>
            <a:pPr algn="l">
              <a:defRPr sz="1163" b="1">
                <a:solidFill>
                  <a:srgbClr val="FF6B5E"/>
                </a:solidFill>
                <a:latin typeface="Arial"/>
                <a:ea typeface="Arial"/>
                <a:cs typeface="Arial"/>
              </a:defRPr>
            </a:pPr>
            <a:r>
              <a:rPr sz="1163" b="1" dirty="0">
                <a:solidFill>
                  <a:srgbClr val="FF6B5E"/>
                </a:solidFill>
                <a:latin typeface="Arial"/>
                <a:ea typeface="Arial"/>
                <a:cs typeface="Arial"/>
              </a:rPr>
              <a:t>DOMV</a:t>
            </a:r>
          </a:p>
        </p:txBody>
      </p:sp>
      <p:sp>
        <p:nvSpPr>
          <p:cNvPr id="27" name="s13-code-2">
            <a:extLst>
              <a:ext uri="{FF2B5EF4-FFF2-40B4-BE49-F238E27FC236}">
                <a16:creationId xmlns:a16="http://schemas.microsoft.com/office/drawing/2014/main" id="{D224FA47-F6B9-38E3-7B55-C07AA7FF8179}"/>
              </a:ext>
            </a:extLst>
          </p:cNvPr>
          <p:cNvSpPr>
            <a:spLocks noGrp="1"/>
          </p:cNvSpPr>
          <p:nvPr/>
        </p:nvSpPr>
        <p:spPr>
          <a:xfrm>
            <a:off x="471487" y="2926173"/>
            <a:ext cx="504000" cy="266700"/>
          </a:xfrm>
          <a:prstGeom prst="rect">
            <a:avLst/>
          </a:prstGeom>
          <a:solidFill>
            <a:schemeClr val="bg1"/>
          </a:solidFill>
          <a:ln w="0">
            <a:noFill/>
            <a:prstDash val="solid"/>
          </a:ln>
        </p:spPr>
        <p:txBody>
          <a:bodyPr wrap="square" lIns="0" tIns="0" rIns="0" bIns="0" anchor="ctr">
            <a:normAutofit/>
          </a:bodyPr>
          <a:lstStyle/>
          <a:p>
            <a:pPr algn="l">
              <a:defRPr sz="1163" b="1">
                <a:solidFill>
                  <a:srgbClr val="16875C"/>
                </a:solidFill>
                <a:latin typeface="Arial"/>
                <a:ea typeface="Arial"/>
                <a:cs typeface="Arial"/>
              </a:defRPr>
            </a:pPr>
            <a:r>
              <a:rPr sz="1163" b="1" dirty="0" err="1">
                <a:solidFill>
                  <a:srgbClr val="16875C"/>
                </a:solidFill>
                <a:latin typeface="Arial"/>
                <a:ea typeface="Arial"/>
                <a:cs typeface="Arial"/>
              </a:rPr>
              <a:t>cTCMV</a:t>
            </a:r>
            <a:endParaRPr sz="1163" b="1" dirty="0">
              <a:solidFill>
                <a:srgbClr val="16875C"/>
              </a:solidFill>
              <a:latin typeface="Arial"/>
              <a:ea typeface="Arial"/>
              <a:cs typeface="Arial"/>
            </a:endParaRPr>
          </a:p>
        </p:txBody>
      </p:sp>
      <p:sp>
        <p:nvSpPr>
          <p:cNvPr id="29" name="s13-code-3">
            <a:extLst>
              <a:ext uri="{FF2B5EF4-FFF2-40B4-BE49-F238E27FC236}">
                <a16:creationId xmlns:a16="http://schemas.microsoft.com/office/drawing/2014/main" id="{A7F107AB-1487-EDE2-E4B0-210848A68127}"/>
              </a:ext>
            </a:extLst>
          </p:cNvPr>
          <p:cNvSpPr>
            <a:spLocks noGrp="1"/>
          </p:cNvSpPr>
          <p:nvPr/>
        </p:nvSpPr>
        <p:spPr>
          <a:xfrm>
            <a:off x="471487" y="2488023"/>
            <a:ext cx="504000" cy="266700"/>
          </a:xfrm>
          <a:prstGeom prst="rect">
            <a:avLst/>
          </a:prstGeom>
          <a:solidFill>
            <a:schemeClr val="bg1"/>
          </a:solidFill>
          <a:ln w="0">
            <a:noFill/>
            <a:prstDash val="solid"/>
          </a:ln>
        </p:spPr>
        <p:txBody>
          <a:bodyPr wrap="square" lIns="0" tIns="0" rIns="0" bIns="0" anchor="ctr">
            <a:normAutofit fontScale="92500"/>
          </a:bodyPr>
          <a:lstStyle/>
          <a:p>
            <a:pPr algn="l">
              <a:defRPr sz="1163" b="1">
                <a:solidFill>
                  <a:srgbClr val="D94138"/>
                </a:solidFill>
                <a:latin typeface="Arial"/>
                <a:ea typeface="Arial"/>
                <a:cs typeface="Arial"/>
              </a:defRPr>
            </a:pPr>
            <a:r>
              <a:rPr sz="1163" b="1" dirty="0" err="1">
                <a:solidFill>
                  <a:srgbClr val="D94138"/>
                </a:solidFill>
                <a:latin typeface="Arial"/>
                <a:ea typeface="Arial"/>
                <a:cs typeface="Arial"/>
              </a:rPr>
              <a:t>dTCMV</a:t>
            </a:r>
            <a:endParaRPr sz="1163" b="1" dirty="0">
              <a:solidFill>
                <a:srgbClr val="D94138"/>
              </a:solidFill>
              <a:latin typeface="Arial"/>
              <a:ea typeface="Arial"/>
              <a:cs typeface="Arial"/>
            </a:endParaRPr>
          </a:p>
        </p:txBody>
      </p:sp>
      <p:sp>
        <p:nvSpPr>
          <p:cNvPr id="31" name="s13-code-0">
            <a:extLst>
              <a:ext uri="{FF2B5EF4-FFF2-40B4-BE49-F238E27FC236}">
                <a16:creationId xmlns:a16="http://schemas.microsoft.com/office/drawing/2014/main" id="{6D560F44-0BBC-62AA-0C04-31A703A67705}"/>
              </a:ext>
            </a:extLst>
          </p:cNvPr>
          <p:cNvSpPr>
            <a:spLocks noGrp="1"/>
          </p:cNvSpPr>
          <p:nvPr/>
        </p:nvSpPr>
        <p:spPr>
          <a:xfrm>
            <a:off x="3589337" y="4435885"/>
            <a:ext cx="504000" cy="266700"/>
          </a:xfrm>
          <a:prstGeom prst="rect">
            <a:avLst/>
          </a:prstGeom>
          <a:solidFill>
            <a:schemeClr val="bg1"/>
          </a:solidFill>
          <a:ln w="0">
            <a:noFill/>
            <a:prstDash val="solid"/>
          </a:ln>
        </p:spPr>
        <p:txBody>
          <a:bodyPr wrap="square" lIns="0" tIns="0" rIns="0" bIns="0" anchor="ctr">
            <a:normAutofit/>
          </a:bodyPr>
          <a:lstStyle/>
          <a:p>
            <a:pPr algn="l">
              <a:defRPr sz="1163" b="1">
                <a:solidFill>
                  <a:srgbClr val="215FB4"/>
                </a:solidFill>
                <a:latin typeface="Arial"/>
                <a:ea typeface="Arial"/>
                <a:cs typeface="Arial"/>
              </a:defRPr>
            </a:pPr>
            <a:r>
              <a:rPr lang="ja-JP" altLang="en-US" sz="800" dirty="0">
                <a:solidFill>
                  <a:srgbClr val="64748B"/>
                </a:solidFill>
                <a:latin typeface="Arial"/>
                <a:ea typeface="Arial"/>
                <a:cs typeface="Arial"/>
              </a:rPr>
              <a:t>差の平均</a:t>
            </a:r>
            <a:endParaRPr sz="800" dirty="0">
              <a:solidFill>
                <a:srgbClr val="64748B"/>
              </a:solidFill>
              <a:latin typeface="Arial"/>
              <a:ea typeface="Arial"/>
              <a:cs typeface="Arial"/>
            </a:endParaRPr>
          </a:p>
        </p:txBody>
      </p:sp>
      <mc:AlternateContent xmlns:mc="http://schemas.openxmlformats.org/markup-compatibility/2006" xmlns:a14="http://schemas.microsoft.com/office/drawing/2010/main">
        <mc:Choice Requires="a14">
          <p:sp>
            <p:nvSpPr>
              <p:cNvPr id="33" name="テキスト ボックス 32">
                <a:extLst>
                  <a:ext uri="{FF2B5EF4-FFF2-40B4-BE49-F238E27FC236}">
                    <a16:creationId xmlns:a16="http://schemas.microsoft.com/office/drawing/2014/main" id="{ADC7FF14-4C4B-BB23-EA04-D38E4F7EA046}"/>
                  </a:ext>
                </a:extLst>
              </p:cNvPr>
              <p:cNvSpPr txBox="1"/>
              <p:nvPr/>
            </p:nvSpPr>
            <p:spPr>
              <a:xfrm>
                <a:off x="390525" y="1927222"/>
                <a:ext cx="4572000" cy="338554"/>
              </a:xfrm>
              <a:prstGeom prst="rect">
                <a:avLst/>
              </a:prstGeom>
              <a:noFill/>
            </p:spPr>
            <p:txBody>
              <a:bodyPr wrap="square">
                <a:spAutoFit/>
              </a:bodyPr>
              <a:lstStyle/>
              <a:p>
                <a:r>
                  <a:rPr lang="ja-JP" altLang="en-US" sz="1600" b="0" dirty="0">
                    <a:solidFill>
                      <a:schemeClr val="tx1"/>
                    </a:solidFill>
                    <a:ea typeface="Noto Sans CJK JP"/>
                    <a:cs typeface="Noto Sans CJK JP"/>
                  </a:rPr>
                  <a:t>グライドパス</a:t>
                </a:r>
                <a14:m>
                  <m:oMath xmlns:m="http://schemas.openxmlformats.org/officeDocument/2006/math">
                    <m:r>
                      <a:rPr lang="en-US" altLang="ja-JP" sz="1600" b="0" i="1" smtClean="0">
                        <a:solidFill>
                          <a:schemeClr val="tx1"/>
                        </a:solidFill>
                        <a:latin typeface="Cambria Math" panose="02040503050406030204" pitchFamily="18" charset="0"/>
                        <a:ea typeface="Noto Sans CJK JP"/>
                        <a:cs typeface="Noto Sans CJK JP"/>
                      </a:rPr>
                      <m:t>𝑔</m:t>
                    </m:r>
                    <m:r>
                      <a:rPr lang="en-US" altLang="ja-JP" sz="1600" b="0" i="1">
                        <a:solidFill>
                          <a:schemeClr val="tx1"/>
                        </a:solidFill>
                        <a:latin typeface="Cambria Math" panose="02040503050406030204" pitchFamily="18" charset="0"/>
                        <a:ea typeface="Noto Sans CJK JP"/>
                        <a:cs typeface="Noto Sans CJK JP"/>
                      </a:rPr>
                      <m:t>∈[0,</m:t>
                    </m:r>
                    <m:r>
                      <a:rPr lang="en-US" altLang="ja-JP" sz="1600" b="0" i="1" smtClean="0">
                        <a:solidFill>
                          <a:schemeClr val="tx1"/>
                        </a:solidFill>
                        <a:latin typeface="Cambria Math" panose="02040503050406030204" pitchFamily="18" charset="0"/>
                        <a:ea typeface="Noto Sans CJK JP"/>
                        <a:cs typeface="Noto Sans CJK JP"/>
                      </a:rPr>
                      <m:t>1]</m:t>
                    </m:r>
                    <m:r>
                      <a:rPr lang="ja-JP" altLang="en-US" sz="1600" i="1" smtClean="0">
                        <a:solidFill>
                          <a:schemeClr val="tx1"/>
                        </a:solidFill>
                        <a:latin typeface="Cambria Math" panose="02040503050406030204" pitchFamily="18" charset="0"/>
                        <a:ea typeface="Noto Sans CJK JP"/>
                        <a:cs typeface="Noto Sans CJK JP"/>
                      </a:rPr>
                      <m:t>における</m:t>
                    </m:r>
                    <m:r>
                      <a:rPr lang="en-US" altLang="ja-JP" sz="1600" i="1">
                        <a:solidFill>
                          <a:schemeClr val="tx1"/>
                        </a:solidFill>
                        <a:latin typeface="Cambria Math" panose="02040503050406030204" pitchFamily="18" charset="0"/>
                        <a:ea typeface="Noto Sans CJK JP"/>
                        <a:cs typeface="Noto Sans CJK JP"/>
                      </a:rPr>
                      <m:t>𝑐𝑙𝑖𝑝</m:t>
                    </m:r>
                    <m:r>
                      <a:rPr lang="en-US" altLang="ja-JP" sz="1600" i="1">
                        <a:solidFill>
                          <a:schemeClr val="tx1"/>
                        </a:solidFill>
                        <a:latin typeface="Cambria Math" panose="02040503050406030204" pitchFamily="18" charset="0"/>
                        <a:ea typeface="Noto Sans CJK JP"/>
                        <a:cs typeface="Noto Sans CJK JP"/>
                      </a:rPr>
                      <m:t>−</m:t>
                    </m:r>
                    <m:r>
                      <a:rPr lang="en-US" altLang="ja-JP" sz="1600" i="1">
                        <a:solidFill>
                          <a:schemeClr val="tx1"/>
                        </a:solidFill>
                        <a:latin typeface="Cambria Math" panose="02040503050406030204" pitchFamily="18" charset="0"/>
                        <a:ea typeface="Noto Sans CJK JP"/>
                        <a:cs typeface="Noto Sans CJK JP"/>
                      </a:rPr>
                      <m:t>𝑠𝑡𝑟𝑖𝑐𝑡</m:t>
                    </m:r>
                    <m:r>
                      <a:rPr lang="ja-JP" altLang="en-US" sz="1600" i="1">
                        <a:solidFill>
                          <a:schemeClr val="tx1"/>
                        </a:solidFill>
                        <a:latin typeface="Cambria Math" panose="02040503050406030204" pitchFamily="18" charset="0"/>
                        <a:ea typeface="Noto Sans CJK JP"/>
                        <a:cs typeface="Noto Sans CJK JP"/>
                      </a:rPr>
                      <m:t>の差</m:t>
                    </m:r>
                  </m:oMath>
                </a14:m>
                <a:endParaRPr lang="ja-JP" altLang="en-US" dirty="0">
                  <a:solidFill>
                    <a:schemeClr val="tx1"/>
                  </a:solidFill>
                </a:endParaRPr>
              </a:p>
            </p:txBody>
          </p:sp>
        </mc:Choice>
        <mc:Fallback xmlns="">
          <p:sp>
            <p:nvSpPr>
              <p:cNvPr id="33" name="テキスト ボックス 32">
                <a:extLst>
                  <a:ext uri="{FF2B5EF4-FFF2-40B4-BE49-F238E27FC236}">
                    <a16:creationId xmlns:a16="http://schemas.microsoft.com/office/drawing/2014/main" id="{ADC7FF14-4C4B-BB23-EA04-D38E4F7EA046}"/>
                  </a:ext>
                </a:extLst>
              </p:cNvPr>
              <p:cNvSpPr txBox="1">
                <a:spLocks noRot="1" noChangeAspect="1" noMove="1" noResize="1" noEditPoints="1" noAdjustHandles="1" noChangeArrowheads="1" noChangeShapeType="1" noTextEdit="1"/>
              </p:cNvSpPr>
              <p:nvPr/>
            </p:nvSpPr>
            <p:spPr>
              <a:xfrm>
                <a:off x="390525" y="1927222"/>
                <a:ext cx="4572000" cy="338554"/>
              </a:xfrm>
              <a:prstGeom prst="rect">
                <a:avLst/>
              </a:prstGeom>
              <a:blipFill>
                <a:blip r:embed="rId4"/>
                <a:stretch>
                  <a:fillRect l="-667" t="-8929" b="-17857"/>
                </a:stretch>
              </a:blipFill>
            </p:spPr>
            <p:txBody>
              <a:bodyPr/>
              <a:lstStyle/>
              <a:p>
                <a:r>
                  <a:rPr lang="ja-JP" altLang="en-US">
                    <a:noFill/>
                  </a:rPr>
                  <a:t> </a:t>
                </a:r>
              </a:p>
            </p:txBody>
          </p:sp>
        </mc:Fallback>
      </mc:AlternateContent>
      <p:sp>
        <p:nvSpPr>
          <p:cNvPr id="35" name="s12-left-head-rule">
            <a:extLst>
              <a:ext uri="{FF2B5EF4-FFF2-40B4-BE49-F238E27FC236}">
                <a16:creationId xmlns:a16="http://schemas.microsoft.com/office/drawing/2014/main" id="{B515A2F7-7C7C-E3B6-91D6-C53912256286}"/>
              </a:ext>
            </a:extLst>
          </p:cNvPr>
          <p:cNvSpPr>
            <a:spLocks noGrp="1"/>
          </p:cNvSpPr>
          <p:nvPr/>
        </p:nvSpPr>
        <p:spPr>
          <a:xfrm>
            <a:off x="471487" y="2280696"/>
            <a:ext cx="3524250" cy="11430"/>
          </a:xfrm>
          <a:prstGeom prst="rect">
            <a:avLst/>
          </a:prstGeom>
          <a:solidFill>
            <a:srgbClr val="16875C"/>
          </a:solidFill>
          <a:ln w="0">
            <a:noFill/>
            <a:prstDash val="solid"/>
          </a:ln>
        </p:spPr>
      </p:sp>
      <p:sp>
        <p:nvSpPr>
          <p:cNvPr id="37" name="ctcmv-gap-body">
            <a:extLst>
              <a:ext uri="{FF2B5EF4-FFF2-40B4-BE49-F238E27FC236}">
                <a16:creationId xmlns:a16="http://schemas.microsoft.com/office/drawing/2014/main" id="{B079B958-809C-A0A8-7F08-70ECDA3B2FB6}"/>
              </a:ext>
            </a:extLst>
          </p:cNvPr>
          <p:cNvSpPr>
            <a:spLocks noGrp="1"/>
          </p:cNvSpPr>
          <p:nvPr/>
        </p:nvSpPr>
        <p:spPr>
          <a:xfrm>
            <a:off x="6667500" y="3788328"/>
            <a:ext cx="1943100" cy="495300"/>
          </a:xfrm>
          <a:prstGeom prst="rect">
            <a:avLst/>
          </a:prstGeom>
          <a:noFill/>
          <a:ln w="0">
            <a:noFill/>
            <a:prstDash val="solid"/>
          </a:ln>
        </p:spPr>
        <p:txBody>
          <a:bodyPr wrap="square" lIns="28575" tIns="19050" rIns="28575" bIns="19050" anchor="ctr">
            <a:normAutofit/>
          </a:bodyPr>
          <a:lstStyle/>
          <a:p>
            <a:pPr algn="l">
              <a:buNone/>
              <a:defRPr sz="1125" b="0">
                <a:solidFill>
                  <a:srgbClr val="111827"/>
                </a:solidFill>
                <a:latin typeface="Noto Sans CJK JP"/>
                <a:ea typeface="Noto Sans CJK JP"/>
                <a:cs typeface="Noto Sans CJK JP"/>
              </a:defRPr>
            </a:pPr>
            <a:r>
              <a:rPr lang="ja-JP" altLang="en-US" sz="1125" dirty="0">
                <a:solidFill>
                  <a:srgbClr val="111827"/>
                </a:solidFill>
                <a:latin typeface="Noto Sans CJK JP"/>
                <a:ea typeface="Noto Sans CJK JP"/>
                <a:cs typeface="Noto Sans CJK JP"/>
              </a:rPr>
              <a:t>容易に解ける</a:t>
            </a:r>
            <a:r>
              <a:rPr lang="en-US" sz="1125" dirty="0">
                <a:solidFill>
                  <a:srgbClr val="111827"/>
                </a:solidFill>
                <a:latin typeface="Noto Sans CJK JP"/>
                <a:ea typeface="Noto Sans CJK JP"/>
                <a:cs typeface="Noto Sans CJK JP"/>
              </a:rPr>
              <a:t>c</a:t>
            </a:r>
            <a:r>
              <a:rPr lang="en-US" sz="1125" b="0" dirty="0">
                <a:solidFill>
                  <a:srgbClr val="111827"/>
                </a:solidFill>
                <a:latin typeface="Noto Sans CJK JP"/>
                <a:ea typeface="Noto Sans CJK JP"/>
                <a:cs typeface="Noto Sans CJK JP"/>
              </a:rPr>
              <a:t>lip</a:t>
            </a:r>
            <a:r>
              <a:rPr lang="ja-JP" altLang="en-US" sz="1125" b="0" dirty="0">
                <a:solidFill>
                  <a:srgbClr val="111827"/>
                </a:solidFill>
                <a:latin typeface="Noto Sans CJK JP"/>
                <a:ea typeface="Noto Sans CJK JP"/>
                <a:cs typeface="Noto Sans CJK JP"/>
              </a:rPr>
              <a:t>解では、</a:t>
            </a:r>
            <a:endParaRPr lang="en-US" altLang="ja-JP" sz="1125" b="0" dirty="0">
              <a:solidFill>
                <a:srgbClr val="111827"/>
              </a:solidFill>
              <a:latin typeface="Noto Sans CJK JP"/>
              <a:ea typeface="Noto Sans CJK JP"/>
              <a:cs typeface="Noto Sans CJK JP"/>
            </a:endParaRPr>
          </a:p>
          <a:p>
            <a:pPr algn="l">
              <a:buNone/>
              <a:defRPr sz="1125" b="0">
                <a:solidFill>
                  <a:srgbClr val="111827"/>
                </a:solidFill>
                <a:latin typeface="Noto Sans CJK JP"/>
                <a:ea typeface="Noto Sans CJK JP"/>
                <a:cs typeface="Noto Sans CJK JP"/>
              </a:defRPr>
            </a:pPr>
            <a:r>
              <a:rPr lang="en-US" sz="1125" dirty="0">
                <a:solidFill>
                  <a:srgbClr val="111827"/>
                </a:solidFill>
                <a:latin typeface="Noto Sans CJK JP"/>
                <a:ea typeface="Noto Sans CJK JP"/>
                <a:cs typeface="Noto Sans CJK JP"/>
              </a:rPr>
              <a:t>strict</a:t>
            </a:r>
            <a:r>
              <a:rPr lang="ja-JP" altLang="en-US" sz="1125" dirty="0">
                <a:solidFill>
                  <a:srgbClr val="111827"/>
                </a:solidFill>
                <a:latin typeface="Noto Sans CJK JP"/>
                <a:ea typeface="Noto Sans CJK JP"/>
                <a:cs typeface="Noto Sans CJK JP"/>
              </a:rPr>
              <a:t>解を再現できていない</a:t>
            </a:r>
            <a:endParaRPr sz="1125" b="0" dirty="0">
              <a:solidFill>
                <a:srgbClr val="111827"/>
              </a:solidFill>
              <a:latin typeface="Noto Sans CJK JP"/>
              <a:ea typeface="Noto Sans CJK JP"/>
              <a:cs typeface="Noto Sans CJK JP"/>
            </a:endParaRPr>
          </a:p>
        </p:txBody>
      </p:sp>
      <p:sp>
        <p:nvSpPr>
          <p:cNvPr id="40" name="chapter-tab-1">
            <a:extLst>
              <a:ext uri="{FF2B5EF4-FFF2-40B4-BE49-F238E27FC236}">
                <a16:creationId xmlns:a16="http://schemas.microsoft.com/office/drawing/2014/main" id="{4F1EA917-0C13-C887-5ADC-BBC51C8CD859}"/>
              </a:ext>
            </a:extLst>
          </p:cNvPr>
          <p:cNvSpPr>
            <a:spLocks noGrp="1"/>
          </p:cNvSpPr>
          <p:nvPr/>
        </p:nvSpPr>
        <p:spPr>
          <a:xfrm>
            <a:off x="457200" y="4857750"/>
            <a:ext cx="2057400" cy="238125"/>
          </a:xfrm>
          <a:prstGeom prst="parallelogram">
            <a:avLst/>
          </a:prstGeom>
          <a:solidFill>
            <a:srgbClr val="FFFFFF"/>
          </a:solidFill>
          <a:ln w="10001">
            <a:solidFill>
              <a:srgbClr val="4A90E2"/>
            </a:solidFill>
            <a:prstDash val="solid"/>
          </a:ln>
        </p:spPr>
        <p:txBody>
          <a:bodyPr wrap="none" lIns="76200" tIns="0" rIns="76200" bIns="0" anchor="ctr">
            <a:normAutofit/>
          </a:bodyPr>
          <a:lstStyle/>
          <a:p>
            <a:pPr algn="ctr">
              <a:buNone/>
              <a:defRPr sz="998" b="1">
                <a:solidFill>
                  <a:srgbClr val="4A90E2"/>
                </a:solidFill>
                <a:latin typeface="Noto Sans CJK JP"/>
                <a:ea typeface="Noto Sans CJK JP"/>
                <a:cs typeface="Noto Sans CJK JP"/>
              </a:defRPr>
            </a:pPr>
            <a:r>
              <a:rPr sz="998" b="1">
                <a:solidFill>
                  <a:srgbClr val="4A90E2"/>
                </a:solidFill>
                <a:latin typeface="Noto Sans CJK JP"/>
                <a:ea typeface="Noto Sans CJK JP"/>
                <a:cs typeface="Noto Sans CJK JP"/>
              </a:rPr>
              <a:t>1 前提</a:t>
            </a:r>
          </a:p>
        </p:txBody>
      </p:sp>
      <p:sp>
        <p:nvSpPr>
          <p:cNvPr id="42" name="chapter-tab-2">
            <a:extLst>
              <a:ext uri="{FF2B5EF4-FFF2-40B4-BE49-F238E27FC236}">
                <a16:creationId xmlns:a16="http://schemas.microsoft.com/office/drawing/2014/main" id="{34DE7E58-350F-D8B4-3674-F93FD81F9F8F}"/>
              </a:ext>
            </a:extLst>
          </p:cNvPr>
          <p:cNvSpPr>
            <a:spLocks noGrp="1"/>
          </p:cNvSpPr>
          <p:nvPr/>
        </p:nvSpPr>
        <p:spPr>
          <a:xfrm>
            <a:off x="2428875" y="4857750"/>
            <a:ext cx="2057400" cy="238125"/>
          </a:xfrm>
          <a:prstGeom prst="parallelogram">
            <a:avLst/>
          </a:prstGeom>
          <a:solidFill>
            <a:srgbClr val="FFFFFF"/>
          </a:solidFill>
          <a:ln w="10001">
            <a:solidFill>
              <a:srgbClr val="2F73B7"/>
            </a:solidFill>
            <a:prstDash val="solid"/>
          </a:ln>
        </p:spPr>
        <p:txBody>
          <a:bodyPr wrap="none" lIns="76200" tIns="0" rIns="76200" bIns="0" anchor="ctr">
            <a:normAutofit/>
          </a:bodyPr>
          <a:lstStyle/>
          <a:p>
            <a:pPr algn="ctr">
              <a:buNone/>
              <a:defRPr sz="998" b="1">
                <a:solidFill>
                  <a:srgbClr val="2F73B7"/>
                </a:solidFill>
                <a:latin typeface="Noto Sans CJK JP"/>
                <a:ea typeface="Noto Sans CJK JP"/>
                <a:cs typeface="Noto Sans CJK JP"/>
              </a:defRPr>
            </a:pPr>
            <a:r>
              <a:rPr sz="998" b="1">
                <a:solidFill>
                  <a:srgbClr val="2F73B7"/>
                </a:solidFill>
                <a:latin typeface="Noto Sans CJK JP"/>
                <a:ea typeface="Noto Sans CJK JP"/>
                <a:cs typeface="Noto Sans CJK JP"/>
              </a:rPr>
              <a:t>2 数理理論</a:t>
            </a:r>
          </a:p>
        </p:txBody>
      </p:sp>
      <p:sp>
        <p:nvSpPr>
          <p:cNvPr id="44" name="chapter-tab-3">
            <a:extLst>
              <a:ext uri="{FF2B5EF4-FFF2-40B4-BE49-F238E27FC236}">
                <a16:creationId xmlns:a16="http://schemas.microsoft.com/office/drawing/2014/main" id="{3951B595-86EC-3EFB-2F92-4FE1775A5C46}"/>
              </a:ext>
            </a:extLst>
          </p:cNvPr>
          <p:cNvSpPr>
            <a:spLocks noGrp="1"/>
          </p:cNvSpPr>
          <p:nvPr/>
        </p:nvSpPr>
        <p:spPr>
          <a:xfrm>
            <a:off x="4400550" y="4857750"/>
            <a:ext cx="2057400" cy="238125"/>
          </a:xfrm>
          <a:prstGeom prst="parallelogram">
            <a:avLst/>
          </a:prstGeom>
          <a:solidFill>
            <a:srgbClr val="2A8F6A"/>
          </a:solidFill>
          <a:ln w="11430">
            <a:solidFill>
              <a:srgbClr val="2A8F6A"/>
            </a:solidFill>
            <a:prstDash val="solid"/>
          </a:ln>
        </p:spPr>
        <p:txBody>
          <a:bodyPr wrap="none" lIns="76200" tIns="0" rIns="76200" bIns="0" anchor="ctr">
            <a:normAutofit/>
          </a:bodyPr>
          <a:lstStyle/>
          <a:p>
            <a:pPr algn="ctr">
              <a:buNone/>
              <a:defRPr sz="998" b="1">
                <a:solidFill>
                  <a:srgbClr val="FFFFFF"/>
                </a:solidFill>
                <a:latin typeface="Noto Sans CJK JP"/>
                <a:ea typeface="Noto Sans CJK JP"/>
                <a:cs typeface="Noto Sans CJK JP"/>
              </a:defRPr>
            </a:pPr>
            <a:r>
              <a:rPr sz="998" b="1">
                <a:solidFill>
                  <a:srgbClr val="FFFFFF"/>
                </a:solidFill>
                <a:latin typeface="Noto Sans CJK JP"/>
                <a:ea typeface="Noto Sans CJK JP"/>
                <a:cs typeface="Noto Sans CJK JP"/>
              </a:rPr>
              <a:t>3 シミュレーション</a:t>
            </a:r>
          </a:p>
        </p:txBody>
      </p:sp>
      <p:sp>
        <p:nvSpPr>
          <p:cNvPr id="46" name="chapter-tab-4">
            <a:extLst>
              <a:ext uri="{FF2B5EF4-FFF2-40B4-BE49-F238E27FC236}">
                <a16:creationId xmlns:a16="http://schemas.microsoft.com/office/drawing/2014/main" id="{B9FD83AF-A5A5-3C1D-2669-945E164AE66E}"/>
              </a:ext>
            </a:extLst>
          </p:cNvPr>
          <p:cNvSpPr>
            <a:spLocks noGrp="1"/>
          </p:cNvSpPr>
          <p:nvPr/>
        </p:nvSpPr>
        <p:spPr>
          <a:xfrm>
            <a:off x="6372225" y="4857750"/>
            <a:ext cx="2057400" cy="238125"/>
          </a:xfrm>
          <a:prstGeom prst="parallelogram">
            <a:avLst/>
          </a:prstGeom>
          <a:solidFill>
            <a:srgbClr val="FFFFFF"/>
          </a:solidFill>
          <a:ln w="10001">
            <a:solidFill>
              <a:srgbClr val="C9534B"/>
            </a:solidFill>
            <a:prstDash val="solid"/>
          </a:ln>
        </p:spPr>
        <p:txBody>
          <a:bodyPr wrap="none" lIns="76200" tIns="0" rIns="76200" bIns="0" anchor="ctr">
            <a:normAutofit/>
          </a:bodyPr>
          <a:lstStyle/>
          <a:p>
            <a:pPr algn="ctr">
              <a:buNone/>
              <a:defRPr sz="998" b="1">
                <a:solidFill>
                  <a:srgbClr val="C9534B"/>
                </a:solidFill>
                <a:latin typeface="Noto Sans CJK JP"/>
                <a:ea typeface="Noto Sans CJK JP"/>
                <a:cs typeface="Noto Sans CJK JP"/>
              </a:defRPr>
            </a:pPr>
            <a:r>
              <a:rPr sz="998" b="1">
                <a:solidFill>
                  <a:srgbClr val="C9534B"/>
                </a:solidFill>
                <a:latin typeface="Noto Sans CJK JP"/>
                <a:ea typeface="Noto Sans CJK JP"/>
                <a:cs typeface="Noto Sans CJK JP"/>
              </a:rPr>
              <a:t>4 結論</a:t>
            </a:r>
          </a:p>
        </p:txBody>
      </p:sp>
    </p:spTree>
    <p:extLst>
      <p:ext uri="{BB962C8B-B14F-4D97-AF65-F5344CB8AC3E}">
        <p14:creationId xmlns:p14="http://schemas.microsoft.com/office/powerpoint/2010/main" val="16386006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1932C-5613-916D-49D4-FAB5CCB9D90D}"/>
            </a:ext>
          </a:extLst>
        </p:cNvPr>
        <p:cNvGrpSpPr/>
        <p:nvPr/>
      </p:nvGrpSpPr>
      <p:grpSpPr>
        <a:xfrm>
          <a:off x="0" y="0"/>
          <a:ext cx="0" cy="0"/>
          <a:chOff x="0" y="0"/>
          <a:chExt cx="0" cy="0"/>
        </a:xfrm>
      </p:grpSpPr>
      <p:pic>
        <p:nvPicPr>
          <p:cNvPr id="24" name="グラフィックス 23">
            <a:extLst>
              <a:ext uri="{FF2B5EF4-FFF2-40B4-BE49-F238E27FC236}">
                <a16:creationId xmlns:a16="http://schemas.microsoft.com/office/drawing/2014/main" id="{D9D79F9D-BF51-1AFE-46C3-261A09B9F07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98158" y="1704975"/>
            <a:ext cx="4368199" cy="3000379"/>
          </a:xfrm>
          <a:prstGeom prst="rect">
            <a:avLst/>
          </a:prstGeom>
        </p:spPr>
      </p:pic>
      <p:pic>
        <p:nvPicPr>
          <p:cNvPr id="28" name="グラフィックス 27">
            <a:extLst>
              <a:ext uri="{FF2B5EF4-FFF2-40B4-BE49-F238E27FC236}">
                <a16:creationId xmlns:a16="http://schemas.microsoft.com/office/drawing/2014/main" id="{D6165612-ACD3-6FB8-C30D-E4C22BDACBD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655792" y="1704975"/>
            <a:ext cx="4350176" cy="2988000"/>
          </a:xfrm>
          <a:prstGeom prst="rect">
            <a:avLst/>
          </a:prstGeom>
        </p:spPr>
      </p:pic>
      <p:sp>
        <p:nvSpPr>
          <p:cNvPr id="2" name="Title 1">
            <a:extLst>
              <a:ext uri="{FF2B5EF4-FFF2-40B4-BE49-F238E27FC236}">
                <a16:creationId xmlns:a16="http://schemas.microsoft.com/office/drawing/2014/main" id="{E48C2FC7-9E57-E46E-4DE4-370FCC594B08}"/>
              </a:ext>
            </a:extLst>
          </p:cNvPr>
          <p:cNvSpPr>
            <a:spLocks noGrp="1"/>
          </p:cNvSpPr>
          <p:nvPr>
            <p:ph type="title"/>
          </p:nvPr>
        </p:nvSpPr>
        <p:spPr>
          <a:xfrm>
            <a:off x="457200" y="990600"/>
            <a:ext cx="8229600" cy="609600"/>
          </a:xfrm>
        </p:spPr>
        <p:txBody>
          <a:bodyPr wrap="none" lIns="0" tIns="0" rIns="0" bIns="0" anchor="ctr">
            <a:normAutofit/>
          </a:bodyPr>
          <a:lstStyle/>
          <a:p>
            <a:pPr algn="l">
              <a:defRPr sz="2100" b="1">
                <a:solidFill>
                  <a:srgbClr val="111827"/>
                </a:solidFill>
                <a:latin typeface="Noto Sans CJK JP"/>
                <a:ea typeface="Noto Sans CJK JP"/>
                <a:cs typeface="Noto Sans CJK JP"/>
              </a:defRPr>
            </a:pPr>
            <a:r>
              <a:rPr lang="ja-JP" altLang="en-US" sz="2100" b="1" dirty="0">
                <a:solidFill>
                  <a:srgbClr val="111827"/>
                </a:solidFill>
                <a:latin typeface="Noto Sans CJK JP"/>
                <a:ea typeface="Noto Sans CJK JP"/>
                <a:cs typeface="Noto Sans CJK JP"/>
              </a:rPr>
              <a:t>（参考）感応度　</a:t>
            </a:r>
            <a:r>
              <a:rPr lang="en-US" altLang="ja-JP" sz="2100" b="1" dirty="0">
                <a:solidFill>
                  <a:srgbClr val="111827"/>
                </a:solidFill>
                <a:latin typeface="Noto Sans CJK JP"/>
                <a:ea typeface="Noto Sans CJK JP"/>
                <a:cs typeface="Noto Sans CJK JP"/>
              </a:rPr>
              <a:t>–</a:t>
            </a:r>
            <a:r>
              <a:rPr lang="ja-JP" altLang="en-US" sz="2100" b="1" dirty="0">
                <a:solidFill>
                  <a:srgbClr val="111827"/>
                </a:solidFill>
                <a:latin typeface="Noto Sans CJK JP"/>
                <a:ea typeface="Noto Sans CJK JP"/>
                <a:cs typeface="Noto Sans CJK JP"/>
              </a:rPr>
              <a:t>安全利回り</a:t>
            </a:r>
            <a:r>
              <a:rPr lang="en-US" altLang="ja-JP" sz="2100" b="1" dirty="0">
                <a:solidFill>
                  <a:srgbClr val="111827"/>
                </a:solidFill>
                <a:latin typeface="Noto Sans CJK JP"/>
                <a:ea typeface="Noto Sans CJK JP"/>
                <a:cs typeface="Noto Sans CJK JP"/>
              </a:rPr>
              <a:t>r  &amp; </a:t>
            </a:r>
            <a:r>
              <a:rPr lang="ja-JP" altLang="en-US" sz="2100" b="1" dirty="0">
                <a:solidFill>
                  <a:srgbClr val="111827"/>
                </a:solidFill>
                <a:latin typeface="Noto Sans CJK JP"/>
                <a:ea typeface="Noto Sans CJK JP"/>
                <a:cs typeface="Noto Sans CJK JP"/>
              </a:rPr>
              <a:t>リスク資産利回り</a:t>
            </a:r>
            <a:r>
              <a:rPr lang="en-US" altLang="ja-JP" sz="2100" dirty="0">
                <a:solidFill>
                  <a:srgbClr val="111827"/>
                </a:solidFill>
                <a:latin typeface="Noto Sans CJK JP"/>
                <a:ea typeface="Noto Sans CJK JP"/>
                <a:cs typeface="Noto Sans CJK JP"/>
              </a:rPr>
              <a:t>mu –</a:t>
            </a:r>
            <a:endParaRPr sz="2100" b="1" dirty="0">
              <a:solidFill>
                <a:srgbClr val="111827"/>
              </a:solidFill>
              <a:latin typeface="Noto Sans CJK JP"/>
              <a:ea typeface="Noto Sans CJK JP"/>
              <a:cs typeface="Noto Sans CJK JP"/>
            </a:endParaRPr>
          </a:p>
        </p:txBody>
      </p:sp>
      <p:sp>
        <p:nvSpPr>
          <p:cNvPr id="3" name="title-divider">
            <a:extLst>
              <a:ext uri="{FF2B5EF4-FFF2-40B4-BE49-F238E27FC236}">
                <a16:creationId xmlns:a16="http://schemas.microsoft.com/office/drawing/2014/main" id="{620968EA-FA83-18C9-8652-C89471E49750}"/>
              </a:ext>
            </a:extLst>
          </p:cNvPr>
          <p:cNvSpPr>
            <a:spLocks noGrp="1"/>
          </p:cNvSpPr>
          <p:nvPr/>
        </p:nvSpPr>
        <p:spPr>
          <a:xfrm>
            <a:off x="457200" y="1676400"/>
            <a:ext cx="8229600" cy="9525"/>
          </a:xfrm>
          <a:prstGeom prst="rect">
            <a:avLst/>
          </a:prstGeom>
          <a:solidFill>
            <a:srgbClr val="E5EAF0"/>
          </a:solidFill>
          <a:ln w="0">
            <a:noFill/>
            <a:prstDash val="solid"/>
          </a:ln>
        </p:spPr>
      </p:sp>
      <p:sp>
        <p:nvSpPr>
          <p:cNvPr id="4" name="title-accent">
            <a:extLst>
              <a:ext uri="{FF2B5EF4-FFF2-40B4-BE49-F238E27FC236}">
                <a16:creationId xmlns:a16="http://schemas.microsoft.com/office/drawing/2014/main" id="{CFD230A5-C72B-6589-5FDB-1FA19F6E977D}"/>
              </a:ext>
            </a:extLst>
          </p:cNvPr>
          <p:cNvSpPr>
            <a:spLocks noGrp="1"/>
          </p:cNvSpPr>
          <p:nvPr/>
        </p:nvSpPr>
        <p:spPr>
          <a:xfrm>
            <a:off x="457200" y="1666875"/>
            <a:ext cx="552450" cy="38100"/>
          </a:xfrm>
          <a:prstGeom prst="rect">
            <a:avLst/>
          </a:prstGeom>
          <a:solidFill>
            <a:srgbClr val="4A90E2"/>
          </a:solidFill>
          <a:ln w="0">
            <a:noFill/>
            <a:prstDash val="solid"/>
          </a:ln>
        </p:spPr>
      </p:sp>
      <p:sp>
        <p:nvSpPr>
          <p:cNvPr id="10" name="chapter-tab-1">
            <a:extLst>
              <a:ext uri="{FF2B5EF4-FFF2-40B4-BE49-F238E27FC236}">
                <a16:creationId xmlns:a16="http://schemas.microsoft.com/office/drawing/2014/main" id="{100F1213-F432-729A-6028-B7C5DF5F1FE7}"/>
              </a:ext>
            </a:extLst>
          </p:cNvPr>
          <p:cNvSpPr>
            <a:spLocks noGrp="1"/>
          </p:cNvSpPr>
          <p:nvPr/>
        </p:nvSpPr>
        <p:spPr>
          <a:xfrm>
            <a:off x="457200" y="4857750"/>
            <a:ext cx="2057400" cy="238125"/>
          </a:xfrm>
          <a:prstGeom prst="parallelogram">
            <a:avLst/>
          </a:prstGeom>
          <a:solidFill>
            <a:srgbClr val="FFFFFF"/>
          </a:solidFill>
          <a:ln w="10001">
            <a:solidFill>
              <a:srgbClr val="4A90E2"/>
            </a:solidFill>
            <a:prstDash val="solid"/>
          </a:ln>
        </p:spPr>
        <p:txBody>
          <a:bodyPr wrap="none" lIns="76200" tIns="0" rIns="76200" bIns="0" anchor="ctr">
            <a:normAutofit/>
          </a:bodyPr>
          <a:lstStyle/>
          <a:p>
            <a:pPr algn="ctr">
              <a:buNone/>
              <a:defRPr sz="998" b="1">
                <a:solidFill>
                  <a:srgbClr val="4A90E2"/>
                </a:solidFill>
                <a:latin typeface="Noto Sans CJK JP"/>
                <a:ea typeface="Noto Sans CJK JP"/>
                <a:cs typeface="Noto Sans CJK JP"/>
              </a:defRPr>
            </a:pPr>
            <a:r>
              <a:rPr sz="998" b="1">
                <a:solidFill>
                  <a:srgbClr val="4A90E2"/>
                </a:solidFill>
                <a:latin typeface="Noto Sans CJK JP"/>
                <a:ea typeface="Noto Sans CJK JP"/>
                <a:cs typeface="Noto Sans CJK JP"/>
              </a:rPr>
              <a:t>1 前提</a:t>
            </a:r>
          </a:p>
        </p:txBody>
      </p:sp>
      <p:sp>
        <p:nvSpPr>
          <p:cNvPr id="13" name="chapter-tab-2">
            <a:extLst>
              <a:ext uri="{FF2B5EF4-FFF2-40B4-BE49-F238E27FC236}">
                <a16:creationId xmlns:a16="http://schemas.microsoft.com/office/drawing/2014/main" id="{A1B7B6F8-56C5-8765-A693-6269D3B52A46}"/>
              </a:ext>
            </a:extLst>
          </p:cNvPr>
          <p:cNvSpPr>
            <a:spLocks noGrp="1"/>
          </p:cNvSpPr>
          <p:nvPr/>
        </p:nvSpPr>
        <p:spPr>
          <a:xfrm>
            <a:off x="2428875" y="4857750"/>
            <a:ext cx="2057400" cy="238125"/>
          </a:xfrm>
          <a:prstGeom prst="parallelogram">
            <a:avLst/>
          </a:prstGeom>
          <a:solidFill>
            <a:srgbClr val="FFFFFF"/>
          </a:solidFill>
          <a:ln w="10001">
            <a:solidFill>
              <a:srgbClr val="2F73B7"/>
            </a:solidFill>
            <a:prstDash val="solid"/>
          </a:ln>
        </p:spPr>
        <p:txBody>
          <a:bodyPr wrap="none" lIns="76200" tIns="0" rIns="76200" bIns="0" anchor="ctr">
            <a:normAutofit/>
          </a:bodyPr>
          <a:lstStyle/>
          <a:p>
            <a:pPr algn="ctr">
              <a:buNone/>
              <a:defRPr sz="998" b="1">
                <a:solidFill>
                  <a:srgbClr val="2F73B7"/>
                </a:solidFill>
                <a:latin typeface="Noto Sans CJK JP"/>
                <a:ea typeface="Noto Sans CJK JP"/>
                <a:cs typeface="Noto Sans CJK JP"/>
              </a:defRPr>
            </a:pPr>
            <a:r>
              <a:rPr sz="998" b="1">
                <a:solidFill>
                  <a:srgbClr val="2F73B7"/>
                </a:solidFill>
                <a:latin typeface="Noto Sans CJK JP"/>
                <a:ea typeface="Noto Sans CJK JP"/>
                <a:cs typeface="Noto Sans CJK JP"/>
              </a:rPr>
              <a:t>2 数理理論</a:t>
            </a:r>
          </a:p>
        </p:txBody>
      </p:sp>
      <p:sp>
        <p:nvSpPr>
          <p:cNvPr id="15" name="chapter-tab-3">
            <a:extLst>
              <a:ext uri="{FF2B5EF4-FFF2-40B4-BE49-F238E27FC236}">
                <a16:creationId xmlns:a16="http://schemas.microsoft.com/office/drawing/2014/main" id="{931597FD-ECA9-928A-BD89-E50EA7674329}"/>
              </a:ext>
            </a:extLst>
          </p:cNvPr>
          <p:cNvSpPr>
            <a:spLocks noGrp="1"/>
          </p:cNvSpPr>
          <p:nvPr/>
        </p:nvSpPr>
        <p:spPr>
          <a:xfrm>
            <a:off x="4400550" y="4857750"/>
            <a:ext cx="2057400" cy="238125"/>
          </a:xfrm>
          <a:prstGeom prst="parallelogram">
            <a:avLst/>
          </a:prstGeom>
          <a:solidFill>
            <a:srgbClr val="2A8F6A"/>
          </a:solidFill>
          <a:ln w="11430">
            <a:solidFill>
              <a:srgbClr val="2A8F6A"/>
            </a:solidFill>
            <a:prstDash val="solid"/>
          </a:ln>
        </p:spPr>
        <p:txBody>
          <a:bodyPr wrap="none" lIns="76200" tIns="0" rIns="76200" bIns="0" anchor="ctr">
            <a:normAutofit/>
          </a:bodyPr>
          <a:lstStyle/>
          <a:p>
            <a:pPr algn="ctr">
              <a:buNone/>
              <a:defRPr sz="998" b="1">
                <a:solidFill>
                  <a:srgbClr val="FFFFFF"/>
                </a:solidFill>
                <a:latin typeface="Noto Sans CJK JP"/>
                <a:ea typeface="Noto Sans CJK JP"/>
                <a:cs typeface="Noto Sans CJK JP"/>
              </a:defRPr>
            </a:pPr>
            <a:r>
              <a:rPr sz="998" b="1">
                <a:solidFill>
                  <a:srgbClr val="FFFFFF"/>
                </a:solidFill>
                <a:latin typeface="Noto Sans CJK JP"/>
                <a:ea typeface="Noto Sans CJK JP"/>
                <a:cs typeface="Noto Sans CJK JP"/>
              </a:rPr>
              <a:t>3 シミュレーション</a:t>
            </a:r>
          </a:p>
        </p:txBody>
      </p:sp>
      <p:sp>
        <p:nvSpPr>
          <p:cNvPr id="17" name="chapter-tab-4">
            <a:extLst>
              <a:ext uri="{FF2B5EF4-FFF2-40B4-BE49-F238E27FC236}">
                <a16:creationId xmlns:a16="http://schemas.microsoft.com/office/drawing/2014/main" id="{7A6269A8-43E4-00D0-2AB9-2F8D043065F6}"/>
              </a:ext>
            </a:extLst>
          </p:cNvPr>
          <p:cNvSpPr>
            <a:spLocks noGrp="1"/>
          </p:cNvSpPr>
          <p:nvPr/>
        </p:nvSpPr>
        <p:spPr>
          <a:xfrm>
            <a:off x="6372225" y="4857750"/>
            <a:ext cx="2057400" cy="238125"/>
          </a:xfrm>
          <a:prstGeom prst="parallelogram">
            <a:avLst/>
          </a:prstGeom>
          <a:solidFill>
            <a:srgbClr val="FFFFFF"/>
          </a:solidFill>
          <a:ln w="10001">
            <a:solidFill>
              <a:srgbClr val="C9534B"/>
            </a:solidFill>
            <a:prstDash val="solid"/>
          </a:ln>
        </p:spPr>
        <p:txBody>
          <a:bodyPr wrap="none" lIns="76200" tIns="0" rIns="76200" bIns="0" anchor="ctr">
            <a:normAutofit/>
          </a:bodyPr>
          <a:lstStyle/>
          <a:p>
            <a:pPr algn="ctr">
              <a:buNone/>
              <a:defRPr sz="998" b="1">
                <a:solidFill>
                  <a:srgbClr val="C9534B"/>
                </a:solidFill>
                <a:latin typeface="Noto Sans CJK JP"/>
                <a:ea typeface="Noto Sans CJK JP"/>
                <a:cs typeface="Noto Sans CJK JP"/>
              </a:defRPr>
            </a:pPr>
            <a:r>
              <a:rPr sz="998" b="1">
                <a:solidFill>
                  <a:srgbClr val="C9534B"/>
                </a:solidFill>
                <a:latin typeface="Noto Sans CJK JP"/>
                <a:ea typeface="Noto Sans CJK JP"/>
                <a:cs typeface="Noto Sans CJK JP"/>
              </a:rPr>
              <a:t>4 結論</a:t>
            </a:r>
          </a:p>
        </p:txBody>
      </p:sp>
      <p:cxnSp>
        <p:nvCxnSpPr>
          <p:cNvPr id="21" name="直線コネクタ 20">
            <a:extLst>
              <a:ext uri="{FF2B5EF4-FFF2-40B4-BE49-F238E27FC236}">
                <a16:creationId xmlns:a16="http://schemas.microsoft.com/office/drawing/2014/main" id="{83E6AF83-ABE0-9251-94CB-88796EA03944}"/>
              </a:ext>
            </a:extLst>
          </p:cNvPr>
          <p:cNvCxnSpPr>
            <a:cxnSpLocks/>
          </p:cNvCxnSpPr>
          <p:nvPr/>
        </p:nvCxnSpPr>
        <p:spPr>
          <a:xfrm>
            <a:off x="4637770" y="1806822"/>
            <a:ext cx="0" cy="2808000"/>
          </a:xfrm>
          <a:prstGeom prst="line">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2481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A634A-49CC-9FAF-AEA8-C2A34350AC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D8926-9B7F-CC4F-6B5E-749010A0D5FE}"/>
              </a:ext>
            </a:extLst>
          </p:cNvPr>
          <p:cNvSpPr>
            <a:spLocks noGrp="1"/>
          </p:cNvSpPr>
          <p:nvPr>
            <p:ph type="title"/>
          </p:nvPr>
        </p:nvSpPr>
        <p:spPr>
          <a:xfrm>
            <a:off x="457200" y="990600"/>
            <a:ext cx="8229600" cy="609600"/>
          </a:xfrm>
        </p:spPr>
        <p:txBody>
          <a:bodyPr wrap="none" lIns="0" tIns="0" rIns="0" bIns="0" anchor="ctr">
            <a:normAutofit/>
          </a:bodyPr>
          <a:lstStyle/>
          <a:p>
            <a:pPr algn="l">
              <a:defRPr sz="2100" b="1">
                <a:solidFill>
                  <a:srgbClr val="111827"/>
                </a:solidFill>
                <a:latin typeface="Noto Sans CJK JP"/>
                <a:ea typeface="Noto Sans CJK JP"/>
                <a:cs typeface="Noto Sans CJK JP"/>
              </a:defRPr>
            </a:pPr>
            <a:r>
              <a:rPr lang="ja-JP" altLang="en-US" sz="2100" dirty="0">
                <a:solidFill>
                  <a:srgbClr val="111827"/>
                </a:solidFill>
                <a:latin typeface="Noto Sans CJK JP"/>
                <a:ea typeface="Noto Sans CJK JP"/>
                <a:cs typeface="Noto Sans CJK JP"/>
              </a:rPr>
              <a:t>（参考）感応度　</a:t>
            </a:r>
            <a:r>
              <a:rPr lang="en-US" altLang="ja-JP" sz="2100" dirty="0">
                <a:solidFill>
                  <a:srgbClr val="111827"/>
                </a:solidFill>
                <a:latin typeface="Noto Sans CJK JP"/>
                <a:ea typeface="Noto Sans CJK JP"/>
                <a:cs typeface="Noto Sans CJK JP"/>
              </a:rPr>
              <a:t>–</a:t>
            </a:r>
            <a:r>
              <a:rPr lang="ja-JP" altLang="en-US" sz="2100" dirty="0">
                <a:solidFill>
                  <a:srgbClr val="111827"/>
                </a:solidFill>
                <a:latin typeface="Noto Sans CJK JP"/>
                <a:ea typeface="Noto Sans CJK JP"/>
                <a:cs typeface="Noto Sans CJK JP"/>
              </a:rPr>
              <a:t>リスク資産ボラティリティ</a:t>
            </a:r>
            <a:r>
              <a:rPr lang="en-US" altLang="ja-JP" sz="2100" dirty="0">
                <a:solidFill>
                  <a:srgbClr val="111827"/>
                </a:solidFill>
                <a:latin typeface="Noto Sans CJK JP"/>
                <a:ea typeface="Noto Sans CJK JP"/>
                <a:cs typeface="Noto Sans CJK JP"/>
              </a:rPr>
              <a:t>sigma  &amp; </a:t>
            </a:r>
            <a:r>
              <a:rPr lang="ja-JP" altLang="en-US" sz="2100" dirty="0">
                <a:solidFill>
                  <a:srgbClr val="111827"/>
                </a:solidFill>
                <a:latin typeface="Noto Sans CJK JP"/>
                <a:ea typeface="Noto Sans CJK JP"/>
                <a:cs typeface="Noto Sans CJK JP"/>
              </a:rPr>
              <a:t>掛金</a:t>
            </a:r>
            <a:r>
              <a:rPr lang="en-US" altLang="ja-JP" sz="2100" dirty="0">
                <a:solidFill>
                  <a:srgbClr val="111827"/>
                </a:solidFill>
                <a:latin typeface="Noto Sans CJK JP"/>
                <a:ea typeface="Noto Sans CJK JP"/>
                <a:cs typeface="Noto Sans CJK JP"/>
              </a:rPr>
              <a:t>c –</a:t>
            </a:r>
            <a:endParaRPr sz="2100" b="1" dirty="0">
              <a:solidFill>
                <a:srgbClr val="111827"/>
              </a:solidFill>
              <a:latin typeface="Noto Sans CJK JP"/>
              <a:ea typeface="Noto Sans CJK JP"/>
              <a:cs typeface="Noto Sans CJK JP"/>
            </a:endParaRPr>
          </a:p>
        </p:txBody>
      </p:sp>
      <p:sp>
        <p:nvSpPr>
          <p:cNvPr id="3" name="title-divider">
            <a:extLst>
              <a:ext uri="{FF2B5EF4-FFF2-40B4-BE49-F238E27FC236}">
                <a16:creationId xmlns:a16="http://schemas.microsoft.com/office/drawing/2014/main" id="{46C5CD60-551A-CB2A-E58A-5162C0EA2C40}"/>
              </a:ext>
            </a:extLst>
          </p:cNvPr>
          <p:cNvSpPr>
            <a:spLocks noGrp="1"/>
          </p:cNvSpPr>
          <p:nvPr/>
        </p:nvSpPr>
        <p:spPr>
          <a:xfrm>
            <a:off x="457200" y="1676400"/>
            <a:ext cx="8229600" cy="9525"/>
          </a:xfrm>
          <a:prstGeom prst="rect">
            <a:avLst/>
          </a:prstGeom>
          <a:solidFill>
            <a:srgbClr val="E5EAF0"/>
          </a:solidFill>
          <a:ln w="0">
            <a:noFill/>
            <a:prstDash val="solid"/>
          </a:ln>
        </p:spPr>
      </p:sp>
      <p:sp>
        <p:nvSpPr>
          <p:cNvPr id="4" name="title-accent">
            <a:extLst>
              <a:ext uri="{FF2B5EF4-FFF2-40B4-BE49-F238E27FC236}">
                <a16:creationId xmlns:a16="http://schemas.microsoft.com/office/drawing/2014/main" id="{04FCC33C-22A5-784B-1504-FA2AA11A8EB3}"/>
              </a:ext>
            </a:extLst>
          </p:cNvPr>
          <p:cNvSpPr>
            <a:spLocks noGrp="1"/>
          </p:cNvSpPr>
          <p:nvPr/>
        </p:nvSpPr>
        <p:spPr>
          <a:xfrm>
            <a:off x="457200" y="1666875"/>
            <a:ext cx="552450" cy="38100"/>
          </a:xfrm>
          <a:prstGeom prst="rect">
            <a:avLst/>
          </a:prstGeom>
          <a:solidFill>
            <a:srgbClr val="4A90E2"/>
          </a:solidFill>
          <a:ln w="0">
            <a:noFill/>
            <a:prstDash val="solid"/>
          </a:ln>
        </p:spPr>
      </p:sp>
      <p:sp>
        <p:nvSpPr>
          <p:cNvPr id="10" name="chapter-tab-1">
            <a:extLst>
              <a:ext uri="{FF2B5EF4-FFF2-40B4-BE49-F238E27FC236}">
                <a16:creationId xmlns:a16="http://schemas.microsoft.com/office/drawing/2014/main" id="{789851EB-9C1E-81CA-B513-880ADB8A5B0C}"/>
              </a:ext>
            </a:extLst>
          </p:cNvPr>
          <p:cNvSpPr>
            <a:spLocks noGrp="1"/>
          </p:cNvSpPr>
          <p:nvPr/>
        </p:nvSpPr>
        <p:spPr>
          <a:xfrm>
            <a:off x="457200" y="4857750"/>
            <a:ext cx="2057400" cy="238125"/>
          </a:xfrm>
          <a:prstGeom prst="parallelogram">
            <a:avLst/>
          </a:prstGeom>
          <a:solidFill>
            <a:srgbClr val="FFFFFF"/>
          </a:solidFill>
          <a:ln w="10001">
            <a:solidFill>
              <a:srgbClr val="4A90E2"/>
            </a:solidFill>
            <a:prstDash val="solid"/>
          </a:ln>
        </p:spPr>
        <p:txBody>
          <a:bodyPr wrap="none" lIns="76200" tIns="0" rIns="76200" bIns="0" anchor="ctr">
            <a:normAutofit/>
          </a:bodyPr>
          <a:lstStyle/>
          <a:p>
            <a:pPr algn="ctr">
              <a:buNone/>
              <a:defRPr sz="998" b="1">
                <a:solidFill>
                  <a:srgbClr val="4A90E2"/>
                </a:solidFill>
                <a:latin typeface="Noto Sans CJK JP"/>
                <a:ea typeface="Noto Sans CJK JP"/>
                <a:cs typeface="Noto Sans CJK JP"/>
              </a:defRPr>
            </a:pPr>
            <a:r>
              <a:rPr sz="998" b="1">
                <a:solidFill>
                  <a:srgbClr val="4A90E2"/>
                </a:solidFill>
                <a:latin typeface="Noto Sans CJK JP"/>
                <a:ea typeface="Noto Sans CJK JP"/>
                <a:cs typeface="Noto Sans CJK JP"/>
              </a:rPr>
              <a:t>1 前提</a:t>
            </a:r>
          </a:p>
        </p:txBody>
      </p:sp>
      <p:sp>
        <p:nvSpPr>
          <p:cNvPr id="13" name="chapter-tab-2">
            <a:extLst>
              <a:ext uri="{FF2B5EF4-FFF2-40B4-BE49-F238E27FC236}">
                <a16:creationId xmlns:a16="http://schemas.microsoft.com/office/drawing/2014/main" id="{F30DA63B-91CB-77AF-B967-D9E07F470F8F}"/>
              </a:ext>
            </a:extLst>
          </p:cNvPr>
          <p:cNvSpPr>
            <a:spLocks noGrp="1"/>
          </p:cNvSpPr>
          <p:nvPr/>
        </p:nvSpPr>
        <p:spPr>
          <a:xfrm>
            <a:off x="2428875" y="4857750"/>
            <a:ext cx="2057400" cy="238125"/>
          </a:xfrm>
          <a:prstGeom prst="parallelogram">
            <a:avLst/>
          </a:prstGeom>
          <a:solidFill>
            <a:srgbClr val="FFFFFF"/>
          </a:solidFill>
          <a:ln w="10001">
            <a:solidFill>
              <a:srgbClr val="2F73B7"/>
            </a:solidFill>
            <a:prstDash val="solid"/>
          </a:ln>
        </p:spPr>
        <p:txBody>
          <a:bodyPr wrap="none" lIns="76200" tIns="0" rIns="76200" bIns="0" anchor="ctr">
            <a:normAutofit/>
          </a:bodyPr>
          <a:lstStyle/>
          <a:p>
            <a:pPr algn="ctr">
              <a:buNone/>
              <a:defRPr sz="998" b="1">
                <a:solidFill>
                  <a:srgbClr val="2F73B7"/>
                </a:solidFill>
                <a:latin typeface="Noto Sans CJK JP"/>
                <a:ea typeface="Noto Sans CJK JP"/>
                <a:cs typeface="Noto Sans CJK JP"/>
              </a:defRPr>
            </a:pPr>
            <a:r>
              <a:rPr sz="998" b="1">
                <a:solidFill>
                  <a:srgbClr val="2F73B7"/>
                </a:solidFill>
                <a:latin typeface="Noto Sans CJK JP"/>
                <a:ea typeface="Noto Sans CJK JP"/>
                <a:cs typeface="Noto Sans CJK JP"/>
              </a:rPr>
              <a:t>2 数理理論</a:t>
            </a:r>
          </a:p>
        </p:txBody>
      </p:sp>
      <p:sp>
        <p:nvSpPr>
          <p:cNvPr id="15" name="chapter-tab-3">
            <a:extLst>
              <a:ext uri="{FF2B5EF4-FFF2-40B4-BE49-F238E27FC236}">
                <a16:creationId xmlns:a16="http://schemas.microsoft.com/office/drawing/2014/main" id="{0C00B158-E371-E454-B377-10012B64A092}"/>
              </a:ext>
            </a:extLst>
          </p:cNvPr>
          <p:cNvSpPr>
            <a:spLocks noGrp="1"/>
          </p:cNvSpPr>
          <p:nvPr/>
        </p:nvSpPr>
        <p:spPr>
          <a:xfrm>
            <a:off x="4400550" y="4857750"/>
            <a:ext cx="2057400" cy="238125"/>
          </a:xfrm>
          <a:prstGeom prst="parallelogram">
            <a:avLst/>
          </a:prstGeom>
          <a:solidFill>
            <a:srgbClr val="2A8F6A"/>
          </a:solidFill>
          <a:ln w="11430">
            <a:solidFill>
              <a:srgbClr val="2A8F6A"/>
            </a:solidFill>
            <a:prstDash val="solid"/>
          </a:ln>
        </p:spPr>
        <p:txBody>
          <a:bodyPr wrap="none" lIns="76200" tIns="0" rIns="76200" bIns="0" anchor="ctr">
            <a:normAutofit/>
          </a:bodyPr>
          <a:lstStyle/>
          <a:p>
            <a:pPr algn="ctr">
              <a:buNone/>
              <a:defRPr sz="998" b="1">
                <a:solidFill>
                  <a:srgbClr val="FFFFFF"/>
                </a:solidFill>
                <a:latin typeface="Noto Sans CJK JP"/>
                <a:ea typeface="Noto Sans CJK JP"/>
                <a:cs typeface="Noto Sans CJK JP"/>
              </a:defRPr>
            </a:pPr>
            <a:r>
              <a:rPr sz="998" b="1">
                <a:solidFill>
                  <a:srgbClr val="FFFFFF"/>
                </a:solidFill>
                <a:latin typeface="Noto Sans CJK JP"/>
                <a:ea typeface="Noto Sans CJK JP"/>
                <a:cs typeface="Noto Sans CJK JP"/>
              </a:rPr>
              <a:t>3 シミュレーション</a:t>
            </a:r>
          </a:p>
        </p:txBody>
      </p:sp>
      <p:sp>
        <p:nvSpPr>
          <p:cNvPr id="17" name="chapter-tab-4">
            <a:extLst>
              <a:ext uri="{FF2B5EF4-FFF2-40B4-BE49-F238E27FC236}">
                <a16:creationId xmlns:a16="http://schemas.microsoft.com/office/drawing/2014/main" id="{7A323D6C-63A2-8AD7-8FE6-0AF7A563EEC0}"/>
              </a:ext>
            </a:extLst>
          </p:cNvPr>
          <p:cNvSpPr>
            <a:spLocks noGrp="1"/>
          </p:cNvSpPr>
          <p:nvPr/>
        </p:nvSpPr>
        <p:spPr>
          <a:xfrm>
            <a:off x="6372225" y="4857750"/>
            <a:ext cx="2057400" cy="238125"/>
          </a:xfrm>
          <a:prstGeom prst="parallelogram">
            <a:avLst/>
          </a:prstGeom>
          <a:solidFill>
            <a:srgbClr val="FFFFFF"/>
          </a:solidFill>
          <a:ln w="10001">
            <a:solidFill>
              <a:srgbClr val="C9534B"/>
            </a:solidFill>
            <a:prstDash val="solid"/>
          </a:ln>
        </p:spPr>
        <p:txBody>
          <a:bodyPr wrap="none" lIns="76200" tIns="0" rIns="76200" bIns="0" anchor="ctr">
            <a:normAutofit/>
          </a:bodyPr>
          <a:lstStyle/>
          <a:p>
            <a:pPr algn="ctr">
              <a:buNone/>
              <a:defRPr sz="998" b="1">
                <a:solidFill>
                  <a:srgbClr val="C9534B"/>
                </a:solidFill>
                <a:latin typeface="Noto Sans CJK JP"/>
                <a:ea typeface="Noto Sans CJK JP"/>
                <a:cs typeface="Noto Sans CJK JP"/>
              </a:defRPr>
            </a:pPr>
            <a:r>
              <a:rPr sz="998" b="1">
                <a:solidFill>
                  <a:srgbClr val="C9534B"/>
                </a:solidFill>
                <a:latin typeface="Noto Sans CJK JP"/>
                <a:ea typeface="Noto Sans CJK JP"/>
                <a:cs typeface="Noto Sans CJK JP"/>
              </a:rPr>
              <a:t>4 結論</a:t>
            </a:r>
          </a:p>
        </p:txBody>
      </p:sp>
      <p:pic>
        <p:nvPicPr>
          <p:cNvPr id="19" name="グラフィックス 18">
            <a:extLst>
              <a:ext uri="{FF2B5EF4-FFF2-40B4-BE49-F238E27FC236}">
                <a16:creationId xmlns:a16="http://schemas.microsoft.com/office/drawing/2014/main" id="{6733664F-07BA-9545-7E73-81858740FD5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98158" y="1704975"/>
            <a:ext cx="4368199" cy="3000380"/>
          </a:xfrm>
          <a:prstGeom prst="rect">
            <a:avLst/>
          </a:prstGeom>
        </p:spPr>
      </p:pic>
      <p:pic>
        <p:nvPicPr>
          <p:cNvPr id="20" name="グラフィックス 19">
            <a:extLst>
              <a:ext uri="{FF2B5EF4-FFF2-40B4-BE49-F238E27FC236}">
                <a16:creationId xmlns:a16="http://schemas.microsoft.com/office/drawing/2014/main" id="{39324DA1-A2CE-76DF-549C-54B0F6936744}"/>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655792" y="1704975"/>
            <a:ext cx="4350177" cy="2988000"/>
          </a:xfrm>
          <a:prstGeom prst="rect">
            <a:avLst/>
          </a:prstGeom>
        </p:spPr>
      </p:pic>
      <p:cxnSp>
        <p:nvCxnSpPr>
          <p:cNvPr id="6" name="直線コネクタ 5">
            <a:extLst>
              <a:ext uri="{FF2B5EF4-FFF2-40B4-BE49-F238E27FC236}">
                <a16:creationId xmlns:a16="http://schemas.microsoft.com/office/drawing/2014/main" id="{6D68CBEA-C3C9-3700-4A88-1B7AD3311CB1}"/>
              </a:ext>
            </a:extLst>
          </p:cNvPr>
          <p:cNvCxnSpPr>
            <a:cxnSpLocks/>
          </p:cNvCxnSpPr>
          <p:nvPr/>
        </p:nvCxnSpPr>
        <p:spPr>
          <a:xfrm>
            <a:off x="4637770" y="1806822"/>
            <a:ext cx="0" cy="2808000"/>
          </a:xfrm>
          <a:prstGeom prst="line">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4343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5D741-D0A4-6926-0956-CE16D77E8F8F}"/>
            </a:ext>
          </a:extLst>
        </p:cNvPr>
        <p:cNvGrpSpPr/>
        <p:nvPr/>
      </p:nvGrpSpPr>
      <p:grpSpPr>
        <a:xfrm>
          <a:off x="0" y="0"/>
          <a:ext cx="0" cy="0"/>
          <a:chOff x="0" y="0"/>
          <a:chExt cx="0" cy="0"/>
        </a:xfrm>
      </p:grpSpPr>
      <p:pic>
        <p:nvPicPr>
          <p:cNvPr id="19" name="グラフィックス 18">
            <a:extLst>
              <a:ext uri="{FF2B5EF4-FFF2-40B4-BE49-F238E27FC236}">
                <a16:creationId xmlns:a16="http://schemas.microsoft.com/office/drawing/2014/main" id="{819D0F04-C253-A9E8-4FCD-434065592A4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72568" y="1706040"/>
            <a:ext cx="4246770" cy="3170125"/>
          </a:xfrm>
          <a:prstGeom prst="rect">
            <a:avLst/>
          </a:prstGeom>
        </p:spPr>
      </p:pic>
      <p:sp>
        <p:nvSpPr>
          <p:cNvPr id="2" name="Title 1">
            <a:extLst>
              <a:ext uri="{FF2B5EF4-FFF2-40B4-BE49-F238E27FC236}">
                <a16:creationId xmlns:a16="http://schemas.microsoft.com/office/drawing/2014/main" id="{78B1E1CA-07AD-C9DB-1BCC-AEF24D325ED8}"/>
              </a:ext>
            </a:extLst>
          </p:cNvPr>
          <p:cNvSpPr>
            <a:spLocks noGrp="1"/>
          </p:cNvSpPr>
          <p:nvPr>
            <p:ph type="title"/>
          </p:nvPr>
        </p:nvSpPr>
        <p:spPr>
          <a:xfrm>
            <a:off x="457200" y="990600"/>
            <a:ext cx="8229600" cy="609600"/>
          </a:xfrm>
        </p:spPr>
        <p:txBody>
          <a:bodyPr wrap="none" lIns="0" tIns="0" rIns="0" bIns="0" anchor="ctr">
            <a:normAutofit/>
          </a:bodyPr>
          <a:lstStyle/>
          <a:p>
            <a:pPr algn="l">
              <a:defRPr sz="2100" b="1">
                <a:solidFill>
                  <a:srgbClr val="111827"/>
                </a:solidFill>
                <a:latin typeface="Noto Sans CJK JP"/>
                <a:ea typeface="Noto Sans CJK JP"/>
                <a:cs typeface="Noto Sans CJK JP"/>
              </a:defRPr>
            </a:pPr>
            <a:r>
              <a:rPr lang="ja-JP" altLang="en-US" sz="2100" dirty="0">
                <a:solidFill>
                  <a:srgbClr val="111827"/>
                </a:solidFill>
                <a:latin typeface="Noto Sans CJK JP"/>
                <a:ea typeface="Noto Sans CJK JP"/>
                <a:cs typeface="Noto Sans CJK JP"/>
              </a:rPr>
              <a:t>（参考）感応度　</a:t>
            </a:r>
            <a:r>
              <a:rPr lang="en-US" altLang="ja-JP" sz="2100" dirty="0">
                <a:solidFill>
                  <a:srgbClr val="111827"/>
                </a:solidFill>
                <a:latin typeface="Noto Sans CJK JP"/>
                <a:ea typeface="Noto Sans CJK JP"/>
                <a:cs typeface="Noto Sans CJK JP"/>
              </a:rPr>
              <a:t>–</a:t>
            </a:r>
            <a:r>
              <a:rPr lang="ja-JP" altLang="en-US" sz="2100" dirty="0">
                <a:solidFill>
                  <a:srgbClr val="FF0000"/>
                </a:solidFill>
                <a:latin typeface="Noto Sans CJK JP"/>
                <a:ea typeface="Noto Sans CJK JP"/>
                <a:cs typeface="Noto Sans CJK JP"/>
              </a:rPr>
              <a:t>総資産</a:t>
            </a:r>
            <a:r>
              <a:rPr lang="en-US" altLang="ja-JP" sz="2100" dirty="0">
                <a:solidFill>
                  <a:srgbClr val="FF0000"/>
                </a:solidFill>
                <a:latin typeface="Noto Sans CJK JP"/>
                <a:ea typeface="Noto Sans CJK JP"/>
                <a:cs typeface="Noto Sans CJK JP"/>
              </a:rPr>
              <a:t>D</a:t>
            </a:r>
            <a:r>
              <a:rPr lang="en-US" altLang="ja-JP" sz="2100" dirty="0">
                <a:solidFill>
                  <a:srgbClr val="111827"/>
                </a:solidFill>
                <a:latin typeface="Noto Sans CJK JP"/>
                <a:ea typeface="Noto Sans CJK JP"/>
                <a:cs typeface="Noto Sans CJK JP"/>
              </a:rPr>
              <a:t>–</a:t>
            </a:r>
            <a:endParaRPr sz="2100" b="1" dirty="0">
              <a:solidFill>
                <a:srgbClr val="111827"/>
              </a:solidFill>
              <a:latin typeface="Noto Sans CJK JP"/>
              <a:ea typeface="Noto Sans CJK JP"/>
              <a:cs typeface="Noto Sans CJK JP"/>
            </a:endParaRPr>
          </a:p>
        </p:txBody>
      </p:sp>
      <p:sp>
        <p:nvSpPr>
          <p:cNvPr id="3" name="title-divider">
            <a:extLst>
              <a:ext uri="{FF2B5EF4-FFF2-40B4-BE49-F238E27FC236}">
                <a16:creationId xmlns:a16="http://schemas.microsoft.com/office/drawing/2014/main" id="{5C994FD0-F429-75E7-F549-F0DB21988767}"/>
              </a:ext>
            </a:extLst>
          </p:cNvPr>
          <p:cNvSpPr>
            <a:spLocks noGrp="1"/>
          </p:cNvSpPr>
          <p:nvPr/>
        </p:nvSpPr>
        <p:spPr>
          <a:xfrm>
            <a:off x="457200" y="1676400"/>
            <a:ext cx="8229600" cy="9525"/>
          </a:xfrm>
          <a:prstGeom prst="rect">
            <a:avLst/>
          </a:prstGeom>
          <a:solidFill>
            <a:srgbClr val="E5EAF0"/>
          </a:solidFill>
          <a:ln w="0">
            <a:noFill/>
            <a:prstDash val="solid"/>
          </a:ln>
        </p:spPr>
      </p:sp>
      <p:sp>
        <p:nvSpPr>
          <p:cNvPr id="4" name="title-accent">
            <a:extLst>
              <a:ext uri="{FF2B5EF4-FFF2-40B4-BE49-F238E27FC236}">
                <a16:creationId xmlns:a16="http://schemas.microsoft.com/office/drawing/2014/main" id="{37449EB8-87FF-C114-76C4-95FE54946385}"/>
              </a:ext>
            </a:extLst>
          </p:cNvPr>
          <p:cNvSpPr>
            <a:spLocks noGrp="1"/>
          </p:cNvSpPr>
          <p:nvPr/>
        </p:nvSpPr>
        <p:spPr>
          <a:xfrm>
            <a:off x="457200" y="1666875"/>
            <a:ext cx="552450" cy="38100"/>
          </a:xfrm>
          <a:prstGeom prst="rect">
            <a:avLst/>
          </a:prstGeom>
          <a:solidFill>
            <a:srgbClr val="4A90E2"/>
          </a:solidFill>
          <a:ln w="0">
            <a:noFill/>
            <a:prstDash val="solid"/>
          </a:ln>
        </p:spPr>
      </p:sp>
      <p:sp>
        <p:nvSpPr>
          <p:cNvPr id="10" name="chapter-tab-1">
            <a:extLst>
              <a:ext uri="{FF2B5EF4-FFF2-40B4-BE49-F238E27FC236}">
                <a16:creationId xmlns:a16="http://schemas.microsoft.com/office/drawing/2014/main" id="{5D5F3346-7D9C-2338-374A-B7C24C0E17E9}"/>
              </a:ext>
            </a:extLst>
          </p:cNvPr>
          <p:cNvSpPr>
            <a:spLocks noGrp="1"/>
          </p:cNvSpPr>
          <p:nvPr/>
        </p:nvSpPr>
        <p:spPr>
          <a:xfrm>
            <a:off x="457200" y="4857750"/>
            <a:ext cx="2057400" cy="238125"/>
          </a:xfrm>
          <a:prstGeom prst="parallelogram">
            <a:avLst/>
          </a:prstGeom>
          <a:solidFill>
            <a:srgbClr val="FFFFFF"/>
          </a:solidFill>
          <a:ln w="10001">
            <a:solidFill>
              <a:srgbClr val="4A90E2"/>
            </a:solidFill>
            <a:prstDash val="solid"/>
          </a:ln>
        </p:spPr>
        <p:txBody>
          <a:bodyPr wrap="none" lIns="76200" tIns="0" rIns="76200" bIns="0" anchor="ctr">
            <a:normAutofit/>
          </a:bodyPr>
          <a:lstStyle/>
          <a:p>
            <a:pPr algn="ctr">
              <a:buNone/>
              <a:defRPr sz="998" b="1">
                <a:solidFill>
                  <a:srgbClr val="4A90E2"/>
                </a:solidFill>
                <a:latin typeface="Noto Sans CJK JP"/>
                <a:ea typeface="Noto Sans CJK JP"/>
                <a:cs typeface="Noto Sans CJK JP"/>
              </a:defRPr>
            </a:pPr>
            <a:r>
              <a:rPr sz="998" b="1">
                <a:solidFill>
                  <a:srgbClr val="4A90E2"/>
                </a:solidFill>
                <a:latin typeface="Noto Sans CJK JP"/>
                <a:ea typeface="Noto Sans CJK JP"/>
                <a:cs typeface="Noto Sans CJK JP"/>
              </a:rPr>
              <a:t>1 前提</a:t>
            </a:r>
          </a:p>
        </p:txBody>
      </p:sp>
      <p:sp>
        <p:nvSpPr>
          <p:cNvPr id="13" name="chapter-tab-2">
            <a:extLst>
              <a:ext uri="{FF2B5EF4-FFF2-40B4-BE49-F238E27FC236}">
                <a16:creationId xmlns:a16="http://schemas.microsoft.com/office/drawing/2014/main" id="{22EA332F-2101-1ED0-E058-8C71BD1D5489}"/>
              </a:ext>
            </a:extLst>
          </p:cNvPr>
          <p:cNvSpPr>
            <a:spLocks noGrp="1"/>
          </p:cNvSpPr>
          <p:nvPr/>
        </p:nvSpPr>
        <p:spPr>
          <a:xfrm>
            <a:off x="2428875" y="4857750"/>
            <a:ext cx="2057400" cy="238125"/>
          </a:xfrm>
          <a:prstGeom prst="parallelogram">
            <a:avLst/>
          </a:prstGeom>
          <a:solidFill>
            <a:srgbClr val="FFFFFF"/>
          </a:solidFill>
          <a:ln w="10001">
            <a:solidFill>
              <a:srgbClr val="2F73B7"/>
            </a:solidFill>
            <a:prstDash val="solid"/>
          </a:ln>
        </p:spPr>
        <p:txBody>
          <a:bodyPr wrap="none" lIns="76200" tIns="0" rIns="76200" bIns="0" anchor="ctr">
            <a:normAutofit/>
          </a:bodyPr>
          <a:lstStyle/>
          <a:p>
            <a:pPr algn="ctr">
              <a:buNone/>
              <a:defRPr sz="998" b="1">
                <a:solidFill>
                  <a:srgbClr val="2F73B7"/>
                </a:solidFill>
                <a:latin typeface="Noto Sans CJK JP"/>
                <a:ea typeface="Noto Sans CJK JP"/>
                <a:cs typeface="Noto Sans CJK JP"/>
              </a:defRPr>
            </a:pPr>
            <a:r>
              <a:rPr sz="998" b="1">
                <a:solidFill>
                  <a:srgbClr val="2F73B7"/>
                </a:solidFill>
                <a:latin typeface="Noto Sans CJK JP"/>
                <a:ea typeface="Noto Sans CJK JP"/>
                <a:cs typeface="Noto Sans CJK JP"/>
              </a:rPr>
              <a:t>2 数理理論</a:t>
            </a:r>
          </a:p>
        </p:txBody>
      </p:sp>
      <p:sp>
        <p:nvSpPr>
          <p:cNvPr id="15" name="chapter-tab-3">
            <a:extLst>
              <a:ext uri="{FF2B5EF4-FFF2-40B4-BE49-F238E27FC236}">
                <a16:creationId xmlns:a16="http://schemas.microsoft.com/office/drawing/2014/main" id="{90179555-EBDB-BC91-D7C9-8701522CFEB3}"/>
              </a:ext>
            </a:extLst>
          </p:cNvPr>
          <p:cNvSpPr>
            <a:spLocks noGrp="1"/>
          </p:cNvSpPr>
          <p:nvPr/>
        </p:nvSpPr>
        <p:spPr>
          <a:xfrm>
            <a:off x="4400550" y="4857750"/>
            <a:ext cx="2057400" cy="238125"/>
          </a:xfrm>
          <a:prstGeom prst="parallelogram">
            <a:avLst/>
          </a:prstGeom>
          <a:solidFill>
            <a:srgbClr val="2A8F6A"/>
          </a:solidFill>
          <a:ln w="11430">
            <a:solidFill>
              <a:srgbClr val="2A8F6A"/>
            </a:solidFill>
            <a:prstDash val="solid"/>
          </a:ln>
        </p:spPr>
        <p:txBody>
          <a:bodyPr wrap="none" lIns="76200" tIns="0" rIns="76200" bIns="0" anchor="ctr">
            <a:normAutofit/>
          </a:bodyPr>
          <a:lstStyle/>
          <a:p>
            <a:pPr algn="ctr">
              <a:buNone/>
              <a:defRPr sz="998" b="1">
                <a:solidFill>
                  <a:srgbClr val="FFFFFF"/>
                </a:solidFill>
                <a:latin typeface="Noto Sans CJK JP"/>
                <a:ea typeface="Noto Sans CJK JP"/>
                <a:cs typeface="Noto Sans CJK JP"/>
              </a:defRPr>
            </a:pPr>
            <a:r>
              <a:rPr sz="998" b="1">
                <a:solidFill>
                  <a:srgbClr val="FFFFFF"/>
                </a:solidFill>
                <a:latin typeface="Noto Sans CJK JP"/>
                <a:ea typeface="Noto Sans CJK JP"/>
                <a:cs typeface="Noto Sans CJK JP"/>
              </a:rPr>
              <a:t>3 シミュレーション</a:t>
            </a:r>
          </a:p>
        </p:txBody>
      </p:sp>
      <p:sp>
        <p:nvSpPr>
          <p:cNvPr id="17" name="chapter-tab-4">
            <a:extLst>
              <a:ext uri="{FF2B5EF4-FFF2-40B4-BE49-F238E27FC236}">
                <a16:creationId xmlns:a16="http://schemas.microsoft.com/office/drawing/2014/main" id="{DE6DCB3A-D7F9-9AAC-8E5B-4DEFDE4C9125}"/>
              </a:ext>
            </a:extLst>
          </p:cNvPr>
          <p:cNvSpPr>
            <a:spLocks noGrp="1"/>
          </p:cNvSpPr>
          <p:nvPr/>
        </p:nvSpPr>
        <p:spPr>
          <a:xfrm>
            <a:off x="6372225" y="4857750"/>
            <a:ext cx="2057400" cy="238125"/>
          </a:xfrm>
          <a:prstGeom prst="parallelogram">
            <a:avLst/>
          </a:prstGeom>
          <a:solidFill>
            <a:srgbClr val="FFFFFF"/>
          </a:solidFill>
          <a:ln w="10001">
            <a:solidFill>
              <a:srgbClr val="C9534B"/>
            </a:solidFill>
            <a:prstDash val="solid"/>
          </a:ln>
        </p:spPr>
        <p:txBody>
          <a:bodyPr wrap="none" lIns="76200" tIns="0" rIns="76200" bIns="0" anchor="ctr">
            <a:normAutofit/>
          </a:bodyPr>
          <a:lstStyle/>
          <a:p>
            <a:pPr algn="ctr">
              <a:buNone/>
              <a:defRPr sz="998" b="1">
                <a:solidFill>
                  <a:srgbClr val="C9534B"/>
                </a:solidFill>
                <a:latin typeface="Noto Sans CJK JP"/>
                <a:ea typeface="Noto Sans CJK JP"/>
                <a:cs typeface="Noto Sans CJK JP"/>
              </a:defRPr>
            </a:pPr>
            <a:r>
              <a:rPr sz="998" b="1">
                <a:solidFill>
                  <a:srgbClr val="C9534B"/>
                </a:solidFill>
                <a:latin typeface="Noto Sans CJK JP"/>
                <a:ea typeface="Noto Sans CJK JP"/>
                <a:cs typeface="Noto Sans CJK JP"/>
              </a:rPr>
              <a:t>4 結論</a:t>
            </a:r>
          </a:p>
        </p:txBody>
      </p:sp>
      <p:sp>
        <p:nvSpPr>
          <p:cNvPr id="5" name="s10-call-line-2">
            <a:extLst>
              <a:ext uri="{FF2B5EF4-FFF2-40B4-BE49-F238E27FC236}">
                <a16:creationId xmlns:a16="http://schemas.microsoft.com/office/drawing/2014/main" id="{9F0695B5-4CF1-2760-63F6-DBA3F6C398DB}"/>
              </a:ext>
            </a:extLst>
          </p:cNvPr>
          <p:cNvSpPr>
            <a:spLocks noGrp="1"/>
          </p:cNvSpPr>
          <p:nvPr/>
        </p:nvSpPr>
        <p:spPr>
          <a:xfrm>
            <a:off x="5216747" y="3414319"/>
            <a:ext cx="1080000" cy="9525"/>
          </a:xfrm>
          <a:prstGeom prst="rect">
            <a:avLst/>
          </a:prstGeom>
          <a:solidFill>
            <a:srgbClr val="D94138"/>
          </a:solidFill>
          <a:ln w="0">
            <a:noFill/>
            <a:prstDash val="solid"/>
          </a:ln>
        </p:spPr>
      </p:sp>
      <p:sp>
        <p:nvSpPr>
          <p:cNvPr id="7" name="s10-call-code-2">
            <a:extLst>
              <a:ext uri="{FF2B5EF4-FFF2-40B4-BE49-F238E27FC236}">
                <a16:creationId xmlns:a16="http://schemas.microsoft.com/office/drawing/2014/main" id="{4479CA77-5C70-EBB9-06FC-B0749DB4E8ED}"/>
              </a:ext>
            </a:extLst>
          </p:cNvPr>
          <p:cNvSpPr>
            <a:spLocks noGrp="1"/>
          </p:cNvSpPr>
          <p:nvPr/>
        </p:nvSpPr>
        <p:spPr>
          <a:xfrm>
            <a:off x="6377222" y="3309797"/>
            <a:ext cx="1143000" cy="219075"/>
          </a:xfrm>
          <a:prstGeom prst="rect">
            <a:avLst/>
          </a:prstGeom>
          <a:noFill/>
          <a:ln w="0">
            <a:noFill/>
            <a:prstDash val="solid"/>
          </a:ln>
        </p:spPr>
        <p:txBody>
          <a:bodyPr wrap="square" lIns="0" tIns="0" rIns="0" bIns="0" anchor="ctr">
            <a:normAutofit/>
          </a:bodyPr>
          <a:lstStyle/>
          <a:p>
            <a:pPr algn="l">
              <a:defRPr sz="1200" b="1">
                <a:solidFill>
                  <a:srgbClr val="D94138"/>
                </a:solidFill>
                <a:latin typeface="Arial"/>
                <a:ea typeface="Arial"/>
                <a:cs typeface="Arial"/>
              </a:defRPr>
            </a:pPr>
            <a:r>
              <a:rPr sz="1200" b="1" dirty="0" err="1">
                <a:solidFill>
                  <a:srgbClr val="D94138"/>
                </a:solidFill>
                <a:latin typeface="Arial"/>
                <a:ea typeface="Arial"/>
                <a:cs typeface="Arial"/>
              </a:rPr>
              <a:t>dTCMV</a:t>
            </a:r>
            <a:endParaRPr sz="1200" b="1" dirty="0">
              <a:solidFill>
                <a:srgbClr val="D94138"/>
              </a:solidFill>
              <a:latin typeface="Arial"/>
              <a:ea typeface="Arial"/>
              <a:cs typeface="Arial"/>
            </a:endParaRPr>
          </a:p>
        </p:txBody>
      </p:sp>
      <p:sp>
        <p:nvSpPr>
          <p:cNvPr id="8" name="s10-call-text-2">
            <a:extLst>
              <a:ext uri="{FF2B5EF4-FFF2-40B4-BE49-F238E27FC236}">
                <a16:creationId xmlns:a16="http://schemas.microsoft.com/office/drawing/2014/main" id="{4E003B3E-D5EE-AA67-2DCA-8B08C7E17971}"/>
              </a:ext>
            </a:extLst>
          </p:cNvPr>
          <p:cNvSpPr>
            <a:spLocks noGrp="1"/>
          </p:cNvSpPr>
          <p:nvPr/>
        </p:nvSpPr>
        <p:spPr>
          <a:xfrm>
            <a:off x="6377222" y="3547922"/>
            <a:ext cx="2129620" cy="361950"/>
          </a:xfrm>
          <a:prstGeom prst="rect">
            <a:avLst/>
          </a:prstGeom>
          <a:noFill/>
          <a:ln w="0">
            <a:noFill/>
            <a:prstDash val="solid"/>
          </a:ln>
        </p:spPr>
        <p:txBody>
          <a:bodyPr wrap="square" lIns="0" tIns="0" rIns="0" bIns="0" anchor="ctr">
            <a:normAutofit/>
          </a:bodyPr>
          <a:lstStyle/>
          <a:p>
            <a:pPr algn="l">
              <a:defRPr sz="923" b="0">
                <a:solidFill>
                  <a:srgbClr val="111827"/>
                </a:solidFill>
                <a:latin typeface="Noto Sans CJK JP"/>
                <a:ea typeface="Noto Sans CJK JP"/>
                <a:cs typeface="Noto Sans CJK JP"/>
              </a:defRPr>
            </a:pPr>
            <a:r>
              <a:rPr lang="ja-JP" altLang="en-US" sz="923" b="0" dirty="0">
                <a:solidFill>
                  <a:srgbClr val="111827"/>
                </a:solidFill>
                <a:latin typeface="Noto Sans CJK JP"/>
                <a:ea typeface="Noto Sans CJK JP"/>
                <a:cs typeface="Noto Sans CJK JP"/>
              </a:rPr>
              <a:t>総資産に基づくので、</a:t>
            </a:r>
            <a:r>
              <a:rPr lang="en-US" altLang="ja-JP" sz="923" b="0" dirty="0">
                <a:solidFill>
                  <a:srgbClr val="111827"/>
                </a:solidFill>
                <a:latin typeface="Noto Sans CJK JP"/>
                <a:ea typeface="Noto Sans CJK JP"/>
                <a:cs typeface="Noto Sans CJK JP"/>
              </a:rPr>
              <a:t>D</a:t>
            </a:r>
            <a:r>
              <a:rPr lang="en-US" altLang="ja-JP" sz="923" dirty="0">
                <a:solidFill>
                  <a:srgbClr val="111827"/>
                </a:solidFill>
                <a:latin typeface="Noto Sans CJK JP"/>
                <a:ea typeface="Noto Sans CJK JP"/>
                <a:cs typeface="Noto Sans CJK JP"/>
              </a:rPr>
              <a:t>&gt;0</a:t>
            </a:r>
            <a:r>
              <a:rPr lang="ja-JP" altLang="en-US" sz="923" dirty="0">
                <a:solidFill>
                  <a:srgbClr val="111827"/>
                </a:solidFill>
                <a:latin typeface="Noto Sans CJK JP"/>
                <a:ea typeface="Noto Sans CJK JP"/>
                <a:cs typeface="Noto Sans CJK JP"/>
              </a:rPr>
              <a:t>のとき、</a:t>
            </a:r>
            <a:endParaRPr lang="en-US" altLang="ja-JP" sz="923" dirty="0">
              <a:solidFill>
                <a:srgbClr val="111827"/>
              </a:solidFill>
              <a:latin typeface="Noto Sans CJK JP"/>
              <a:ea typeface="Noto Sans CJK JP"/>
              <a:cs typeface="Noto Sans CJK JP"/>
            </a:endParaRPr>
          </a:p>
          <a:p>
            <a:pPr algn="l">
              <a:defRPr sz="923" b="0">
                <a:solidFill>
                  <a:srgbClr val="111827"/>
                </a:solidFill>
                <a:latin typeface="Noto Sans CJK JP"/>
                <a:ea typeface="Noto Sans CJK JP"/>
                <a:cs typeface="Noto Sans CJK JP"/>
              </a:defRPr>
            </a:pPr>
            <a:r>
              <a:rPr lang="ja-JP" altLang="en-US" sz="923" b="1" dirty="0">
                <a:solidFill>
                  <a:srgbClr val="111827"/>
                </a:solidFill>
                <a:latin typeface="Noto Sans CJK JP"/>
                <a:ea typeface="Noto Sans CJK JP"/>
                <a:cs typeface="Noto Sans CJK JP"/>
              </a:rPr>
              <a:t>リスク許容度が増加</a:t>
            </a:r>
            <a:endParaRPr sz="923" b="1" dirty="0">
              <a:solidFill>
                <a:srgbClr val="111827"/>
              </a:solidFill>
              <a:latin typeface="Noto Sans CJK JP"/>
              <a:ea typeface="Noto Sans CJK JP"/>
              <a:cs typeface="Noto Sans CJK JP"/>
            </a:endParaRPr>
          </a:p>
        </p:txBody>
      </p:sp>
      <p:cxnSp>
        <p:nvCxnSpPr>
          <p:cNvPr id="9" name="直線コネクタ 8">
            <a:extLst>
              <a:ext uri="{FF2B5EF4-FFF2-40B4-BE49-F238E27FC236}">
                <a16:creationId xmlns:a16="http://schemas.microsoft.com/office/drawing/2014/main" id="{4B22233B-4887-070E-193D-E3F9DBEA7F52}"/>
              </a:ext>
            </a:extLst>
          </p:cNvPr>
          <p:cNvCxnSpPr>
            <a:cxnSpLocks/>
          </p:cNvCxnSpPr>
          <p:nvPr/>
        </p:nvCxnSpPr>
        <p:spPr>
          <a:xfrm>
            <a:off x="4100747" y="3414321"/>
            <a:ext cx="1116000" cy="0"/>
          </a:xfrm>
          <a:prstGeom prst="line">
            <a:avLst/>
          </a:prstGeom>
          <a:ln>
            <a:solidFill>
              <a:srgbClr val="D94138"/>
            </a:solidFill>
            <a:prstDash val="dash"/>
          </a:ln>
        </p:spPr>
        <p:style>
          <a:lnRef idx="1">
            <a:schemeClr val="accent1"/>
          </a:lnRef>
          <a:fillRef idx="0">
            <a:schemeClr val="accent1"/>
          </a:fillRef>
          <a:effectRef idx="0">
            <a:schemeClr val="accent1"/>
          </a:effectRef>
          <a:fontRef idx="minor">
            <a:schemeClr val="tx1"/>
          </a:fontRef>
        </p:style>
      </p:cxnSp>
      <p:sp>
        <p:nvSpPr>
          <p:cNvPr id="11" name="s10-call-dot-2">
            <a:extLst>
              <a:ext uri="{FF2B5EF4-FFF2-40B4-BE49-F238E27FC236}">
                <a16:creationId xmlns:a16="http://schemas.microsoft.com/office/drawing/2014/main" id="{0B101CB4-31D6-5138-10F6-BF8D3D9F5B6B}"/>
              </a:ext>
            </a:extLst>
          </p:cNvPr>
          <p:cNvSpPr>
            <a:spLocks noGrp="1"/>
          </p:cNvSpPr>
          <p:nvPr/>
        </p:nvSpPr>
        <p:spPr>
          <a:xfrm>
            <a:off x="4005497" y="3371402"/>
            <a:ext cx="95250" cy="95250"/>
          </a:xfrm>
          <a:prstGeom prst="ellipse">
            <a:avLst/>
          </a:prstGeom>
          <a:solidFill>
            <a:srgbClr val="D94138"/>
          </a:solidFill>
          <a:ln w="0">
            <a:noFill/>
            <a:prstDash val="solid"/>
          </a:ln>
        </p:spPr>
      </p:sp>
    </p:spTree>
    <p:extLst>
      <p:ext uri="{BB962C8B-B14F-4D97-AF65-F5344CB8AC3E}">
        <p14:creationId xmlns:p14="http://schemas.microsoft.com/office/powerpoint/2010/main" val="1912204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s14-formula-box">
            <a:extLst>
              <a:ext uri="{FF2B5EF4-FFF2-40B4-BE49-F238E27FC236}">
                <a16:creationId xmlns:a16="http://schemas.microsoft.com/office/drawing/2014/main" id="{B6FF6146-D472-4CB3-A40A-A7FC9C256F60}"/>
              </a:ext>
            </a:extLst>
          </p:cNvPr>
          <p:cNvSpPr>
            <a:spLocks noGrp="1"/>
          </p:cNvSpPr>
          <p:nvPr/>
        </p:nvSpPr>
        <p:spPr>
          <a:xfrm>
            <a:off x="816960" y="3382626"/>
            <a:ext cx="7525008" cy="1155321"/>
          </a:xfrm>
          <a:prstGeom prst="roundRect">
            <a:avLst>
              <a:gd name="adj" fmla="val 7216"/>
            </a:avLst>
          </a:prstGeom>
          <a:solidFill>
            <a:srgbClr val="F2FFFF"/>
          </a:solidFill>
          <a:ln w="7620">
            <a:solidFill>
              <a:srgbClr val="BFD5EC"/>
            </a:solidFill>
            <a:prstDash val="solid"/>
          </a:ln>
        </p:spPr>
      </p:sp>
      <p:sp>
        <p:nvSpPr>
          <p:cNvPr id="2" name="Title 1">
            <a:extLst>
              <a:ext uri="{FF2B5EF4-FFF2-40B4-BE49-F238E27FC236}">
                <a16:creationId xmlns:a16="http://schemas.microsoft.com/office/drawing/2014/main" id="{D2EB5FB2-DE08-01C4-4B0F-3D45E31A046E}"/>
              </a:ext>
            </a:extLst>
          </p:cNvPr>
          <p:cNvSpPr>
            <a:spLocks noGrp="1"/>
          </p:cNvSpPr>
          <p:nvPr>
            <p:ph type="title"/>
          </p:nvPr>
        </p:nvSpPr>
        <p:spPr>
          <a:xfrm>
            <a:off x="457200" y="990600"/>
            <a:ext cx="8229600" cy="609600"/>
          </a:xfrm>
        </p:spPr>
        <p:txBody>
          <a:bodyPr wrap="none" lIns="0" tIns="0" rIns="0" bIns="0" anchor="ctr">
            <a:normAutofit/>
          </a:bodyPr>
          <a:lstStyle/>
          <a:p>
            <a:pPr algn="l">
              <a:buNone/>
              <a:defRPr sz="1935" b="1">
                <a:solidFill>
                  <a:srgbClr val="111827"/>
                </a:solidFill>
                <a:latin typeface="Noto Sans CJK JP"/>
                <a:ea typeface="Noto Sans CJK JP"/>
                <a:cs typeface="Noto Sans CJK JP"/>
              </a:defRPr>
            </a:pPr>
            <a:r>
              <a:rPr lang="ja-JP" altLang="en-US" sz="1935" dirty="0">
                <a:solidFill>
                  <a:srgbClr val="111827"/>
                </a:solidFill>
                <a:latin typeface="Noto Sans CJK JP"/>
                <a:ea typeface="Noto Sans CJK JP"/>
                <a:cs typeface="Noto Sans CJK JP"/>
              </a:rPr>
              <a:t>なぜローリング評価</a:t>
            </a:r>
            <a:r>
              <a:rPr lang="en-US" altLang="ja-JP" sz="1935" dirty="0">
                <a:solidFill>
                  <a:srgbClr val="111827"/>
                </a:solidFill>
                <a:latin typeface="Noto Sans CJK JP"/>
                <a:ea typeface="Noto Sans CJK JP"/>
                <a:cs typeface="Noto Sans CJK JP"/>
              </a:rPr>
              <a:t>=</a:t>
            </a:r>
            <a:r>
              <a:rPr lang="ja-JP" altLang="en-US" sz="1935" dirty="0">
                <a:solidFill>
                  <a:srgbClr val="111827"/>
                </a:solidFill>
                <a:latin typeface="Noto Sans CJK JP"/>
                <a:ea typeface="Noto Sans CJK JP"/>
                <a:cs typeface="Noto Sans CJK JP"/>
              </a:rPr>
              <a:t>時点ごとのリスク再評価が必要か</a:t>
            </a:r>
            <a:endParaRPr sz="1935" b="1" dirty="0">
              <a:solidFill>
                <a:srgbClr val="111827"/>
              </a:solidFill>
              <a:latin typeface="Noto Sans CJK JP"/>
              <a:ea typeface="Noto Sans CJK JP"/>
              <a:cs typeface="Noto Sans CJK JP"/>
            </a:endParaRPr>
          </a:p>
        </p:txBody>
      </p:sp>
      <p:sp>
        <p:nvSpPr>
          <p:cNvPr id="3" name="title-divider">
            <a:extLst>
              <a:ext uri="{FF2B5EF4-FFF2-40B4-BE49-F238E27FC236}">
                <a16:creationId xmlns:a16="http://schemas.microsoft.com/office/drawing/2014/main" id="{374467B2-FDA8-4653-9F1E-7DA4EFD31251}"/>
              </a:ext>
            </a:extLst>
          </p:cNvPr>
          <p:cNvSpPr>
            <a:spLocks noGrp="1"/>
          </p:cNvSpPr>
          <p:nvPr/>
        </p:nvSpPr>
        <p:spPr>
          <a:xfrm>
            <a:off x="457200" y="1676400"/>
            <a:ext cx="8229600" cy="9525"/>
          </a:xfrm>
          <a:prstGeom prst="rect">
            <a:avLst/>
          </a:prstGeom>
          <a:solidFill>
            <a:srgbClr val="E5EAF0"/>
          </a:solidFill>
          <a:ln w="0">
            <a:noFill/>
            <a:prstDash val="solid"/>
          </a:ln>
        </p:spPr>
      </p:sp>
      <p:sp>
        <p:nvSpPr>
          <p:cNvPr id="4" name="title-accent">
            <a:extLst>
              <a:ext uri="{FF2B5EF4-FFF2-40B4-BE49-F238E27FC236}">
                <a16:creationId xmlns:a16="http://schemas.microsoft.com/office/drawing/2014/main" id="{E63BB589-DAFE-431B-8624-0FA3F1FAF86B}"/>
              </a:ext>
            </a:extLst>
          </p:cNvPr>
          <p:cNvSpPr>
            <a:spLocks noGrp="1"/>
          </p:cNvSpPr>
          <p:nvPr/>
        </p:nvSpPr>
        <p:spPr>
          <a:xfrm>
            <a:off x="457200" y="1666875"/>
            <a:ext cx="552450" cy="38100"/>
          </a:xfrm>
          <a:prstGeom prst="rect">
            <a:avLst/>
          </a:prstGeom>
          <a:solidFill>
            <a:srgbClr val="4A90E2"/>
          </a:solidFill>
          <a:ln w="0">
            <a:noFill/>
            <a:prstDash val="solid"/>
          </a:ln>
        </p:spPr>
      </p:sp>
      <p:sp>
        <p:nvSpPr>
          <p:cNvPr id="14" name="chapter-tab-1">
            <a:extLst>
              <a:ext uri="{FF2B5EF4-FFF2-40B4-BE49-F238E27FC236}">
                <a16:creationId xmlns:a16="http://schemas.microsoft.com/office/drawing/2014/main" id="{4C266DB5-D7ED-449C-B651-38C1C2AA374D}"/>
              </a:ext>
            </a:extLst>
          </p:cNvPr>
          <p:cNvSpPr>
            <a:spLocks noGrp="1"/>
          </p:cNvSpPr>
          <p:nvPr/>
        </p:nvSpPr>
        <p:spPr>
          <a:xfrm>
            <a:off x="457200" y="4857750"/>
            <a:ext cx="2057400" cy="238125"/>
          </a:xfrm>
          <a:prstGeom prst="parallelogram">
            <a:avLst/>
          </a:prstGeom>
          <a:solidFill>
            <a:srgbClr val="FFFFFF"/>
          </a:solidFill>
          <a:ln w="10001">
            <a:solidFill>
              <a:srgbClr val="4A90E2"/>
            </a:solidFill>
            <a:prstDash val="solid"/>
          </a:ln>
        </p:spPr>
        <p:txBody>
          <a:bodyPr wrap="none" lIns="76200" tIns="0" rIns="76200" bIns="0" anchor="ctr">
            <a:normAutofit/>
          </a:bodyPr>
          <a:lstStyle/>
          <a:p>
            <a:pPr algn="ctr">
              <a:buNone/>
              <a:defRPr sz="998" b="1">
                <a:solidFill>
                  <a:srgbClr val="4A90E2"/>
                </a:solidFill>
                <a:latin typeface="Noto Sans CJK JP"/>
                <a:ea typeface="Noto Sans CJK JP"/>
                <a:cs typeface="Noto Sans CJK JP"/>
              </a:defRPr>
            </a:pPr>
            <a:r>
              <a:rPr sz="998" b="1">
                <a:solidFill>
                  <a:srgbClr val="4A90E2"/>
                </a:solidFill>
                <a:latin typeface="Noto Sans CJK JP"/>
                <a:ea typeface="Noto Sans CJK JP"/>
                <a:cs typeface="Noto Sans CJK JP"/>
              </a:rPr>
              <a:t>1 前提</a:t>
            </a:r>
          </a:p>
        </p:txBody>
      </p:sp>
      <p:sp>
        <p:nvSpPr>
          <p:cNvPr id="15" name="chapter-tab-2">
            <a:extLst>
              <a:ext uri="{FF2B5EF4-FFF2-40B4-BE49-F238E27FC236}">
                <a16:creationId xmlns:a16="http://schemas.microsoft.com/office/drawing/2014/main" id="{20F32AF6-245D-4E77-B387-77D71FA2E321}"/>
              </a:ext>
            </a:extLst>
          </p:cNvPr>
          <p:cNvSpPr>
            <a:spLocks noGrp="1"/>
          </p:cNvSpPr>
          <p:nvPr/>
        </p:nvSpPr>
        <p:spPr>
          <a:xfrm>
            <a:off x="2428875" y="4857750"/>
            <a:ext cx="2057400" cy="238125"/>
          </a:xfrm>
          <a:prstGeom prst="parallelogram">
            <a:avLst/>
          </a:prstGeom>
          <a:solidFill>
            <a:srgbClr val="FFFFFF"/>
          </a:solidFill>
          <a:ln w="10001">
            <a:solidFill>
              <a:srgbClr val="2F73B7"/>
            </a:solidFill>
            <a:prstDash val="solid"/>
          </a:ln>
        </p:spPr>
        <p:txBody>
          <a:bodyPr wrap="none" lIns="76200" tIns="0" rIns="76200" bIns="0" anchor="ctr">
            <a:normAutofit/>
          </a:bodyPr>
          <a:lstStyle/>
          <a:p>
            <a:pPr algn="ctr">
              <a:buNone/>
              <a:defRPr sz="998" b="1">
                <a:solidFill>
                  <a:srgbClr val="2F73B7"/>
                </a:solidFill>
                <a:latin typeface="Noto Sans CJK JP"/>
                <a:ea typeface="Noto Sans CJK JP"/>
                <a:cs typeface="Noto Sans CJK JP"/>
              </a:defRPr>
            </a:pPr>
            <a:r>
              <a:rPr sz="998" b="1">
                <a:solidFill>
                  <a:srgbClr val="2F73B7"/>
                </a:solidFill>
                <a:latin typeface="Noto Sans CJK JP"/>
                <a:ea typeface="Noto Sans CJK JP"/>
                <a:cs typeface="Noto Sans CJK JP"/>
              </a:rPr>
              <a:t>2 数理理論</a:t>
            </a:r>
          </a:p>
        </p:txBody>
      </p:sp>
      <p:sp>
        <p:nvSpPr>
          <p:cNvPr id="16" name="chapter-tab-3">
            <a:extLst>
              <a:ext uri="{FF2B5EF4-FFF2-40B4-BE49-F238E27FC236}">
                <a16:creationId xmlns:a16="http://schemas.microsoft.com/office/drawing/2014/main" id="{09C50CD5-1FFB-4CD0-BE80-E613D7B1DA73}"/>
              </a:ext>
            </a:extLst>
          </p:cNvPr>
          <p:cNvSpPr>
            <a:spLocks noGrp="1"/>
          </p:cNvSpPr>
          <p:nvPr/>
        </p:nvSpPr>
        <p:spPr>
          <a:xfrm>
            <a:off x="4400550" y="4857750"/>
            <a:ext cx="2057400" cy="238125"/>
          </a:xfrm>
          <a:prstGeom prst="parallelogram">
            <a:avLst/>
          </a:prstGeom>
          <a:solidFill>
            <a:srgbClr val="2A8F6A"/>
          </a:solidFill>
          <a:ln w="11430">
            <a:solidFill>
              <a:srgbClr val="2A8F6A"/>
            </a:solidFill>
            <a:prstDash val="solid"/>
          </a:ln>
        </p:spPr>
        <p:txBody>
          <a:bodyPr wrap="none" lIns="76200" tIns="0" rIns="76200" bIns="0" anchor="ctr">
            <a:normAutofit/>
          </a:bodyPr>
          <a:lstStyle/>
          <a:p>
            <a:pPr algn="ctr">
              <a:buNone/>
              <a:defRPr sz="998" b="1">
                <a:solidFill>
                  <a:srgbClr val="FFFFFF"/>
                </a:solidFill>
                <a:latin typeface="Noto Sans CJK JP"/>
                <a:ea typeface="Noto Sans CJK JP"/>
                <a:cs typeface="Noto Sans CJK JP"/>
              </a:defRPr>
            </a:pPr>
            <a:r>
              <a:rPr sz="998" b="1">
                <a:solidFill>
                  <a:srgbClr val="FFFFFF"/>
                </a:solidFill>
                <a:latin typeface="Noto Sans CJK JP"/>
                <a:ea typeface="Noto Sans CJK JP"/>
                <a:cs typeface="Noto Sans CJK JP"/>
              </a:rPr>
              <a:t>3 シミュレーション</a:t>
            </a:r>
          </a:p>
        </p:txBody>
      </p:sp>
      <p:sp>
        <p:nvSpPr>
          <p:cNvPr id="17" name="chapter-tab-4">
            <a:extLst>
              <a:ext uri="{FF2B5EF4-FFF2-40B4-BE49-F238E27FC236}">
                <a16:creationId xmlns:a16="http://schemas.microsoft.com/office/drawing/2014/main" id="{A45FE629-DBA3-4FAE-9143-4A2A0FEF6211}"/>
              </a:ext>
            </a:extLst>
          </p:cNvPr>
          <p:cNvSpPr>
            <a:spLocks noGrp="1"/>
          </p:cNvSpPr>
          <p:nvPr/>
        </p:nvSpPr>
        <p:spPr>
          <a:xfrm>
            <a:off x="6372225" y="4857750"/>
            <a:ext cx="2057400" cy="238125"/>
          </a:xfrm>
          <a:prstGeom prst="parallelogram">
            <a:avLst/>
          </a:prstGeom>
          <a:solidFill>
            <a:srgbClr val="FFFFFF"/>
          </a:solidFill>
          <a:ln w="10001">
            <a:solidFill>
              <a:srgbClr val="C9534B"/>
            </a:solidFill>
            <a:prstDash val="solid"/>
          </a:ln>
        </p:spPr>
        <p:txBody>
          <a:bodyPr wrap="none" lIns="76200" tIns="0" rIns="76200" bIns="0" anchor="ctr">
            <a:normAutofit/>
          </a:bodyPr>
          <a:lstStyle/>
          <a:p>
            <a:pPr algn="ctr">
              <a:buNone/>
              <a:defRPr sz="998" b="1">
                <a:solidFill>
                  <a:srgbClr val="C9534B"/>
                </a:solidFill>
                <a:latin typeface="Noto Sans CJK JP"/>
                <a:ea typeface="Noto Sans CJK JP"/>
                <a:cs typeface="Noto Sans CJK JP"/>
              </a:defRPr>
            </a:pPr>
            <a:r>
              <a:rPr sz="998" b="1">
                <a:solidFill>
                  <a:srgbClr val="C9534B"/>
                </a:solidFill>
                <a:latin typeface="Noto Sans CJK JP"/>
                <a:ea typeface="Noto Sans CJK JP"/>
                <a:cs typeface="Noto Sans CJK JP"/>
              </a:rPr>
              <a:t>4 結論</a:t>
            </a:r>
          </a:p>
        </p:txBody>
      </p:sp>
      <p:pic>
        <p:nvPicPr>
          <p:cNvPr id="12" name="図 11">
            <a:extLst>
              <a:ext uri="{FF2B5EF4-FFF2-40B4-BE49-F238E27FC236}">
                <a16:creationId xmlns:a16="http://schemas.microsoft.com/office/drawing/2014/main" id="{D6CACFDB-374E-9DF9-CFEF-15E59D3BBBED}"/>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5300"/>
                    </a14:imgEffect>
                  </a14:imgLayer>
                </a14:imgProps>
              </a:ext>
              <a:ext uri="{28A0092B-C50C-407E-A947-70E740481C1C}">
                <a14:useLocalDpi xmlns:a14="http://schemas.microsoft.com/office/drawing/2010/main" val="0"/>
              </a:ext>
            </a:extLst>
          </a:blip>
          <a:srcRect l="2822" t="31535" b="41494"/>
          <a:stretch>
            <a:fillRect/>
          </a:stretch>
        </p:blipFill>
        <p:spPr>
          <a:xfrm>
            <a:off x="2060391" y="3612893"/>
            <a:ext cx="5001805" cy="464017"/>
          </a:xfrm>
          <a:prstGeom prst="rect">
            <a:avLst/>
          </a:prstGeom>
        </p:spPr>
      </p:pic>
      <p:sp>
        <p:nvSpPr>
          <p:cNvPr id="53" name="s14-formula-head">
            <a:extLst>
              <a:ext uri="{FF2B5EF4-FFF2-40B4-BE49-F238E27FC236}">
                <a16:creationId xmlns:a16="http://schemas.microsoft.com/office/drawing/2014/main" id="{17DE5C56-F8E1-4951-B09C-BC1C76BD0708}"/>
              </a:ext>
            </a:extLst>
          </p:cNvPr>
          <p:cNvSpPr>
            <a:spLocks noGrp="1"/>
          </p:cNvSpPr>
          <p:nvPr/>
        </p:nvSpPr>
        <p:spPr>
          <a:xfrm>
            <a:off x="3771900" y="3431292"/>
            <a:ext cx="1428750" cy="190500"/>
          </a:xfrm>
          <a:prstGeom prst="rect">
            <a:avLst/>
          </a:prstGeom>
          <a:noFill/>
          <a:ln w="0">
            <a:noFill/>
            <a:prstDash val="solid"/>
          </a:ln>
        </p:spPr>
        <p:txBody>
          <a:bodyPr wrap="square" lIns="0" tIns="0" rIns="0" bIns="0" anchor="ctr">
            <a:normAutofit/>
          </a:bodyPr>
          <a:lstStyle/>
          <a:p>
            <a:pPr algn="ctr">
              <a:defRPr sz="938" b="1">
                <a:solidFill>
                  <a:srgbClr val="215FB4"/>
                </a:solidFill>
                <a:latin typeface="Noto Sans CJK JP"/>
                <a:ea typeface="Noto Sans CJK JP"/>
                <a:cs typeface="Noto Sans CJK JP"/>
              </a:defRPr>
            </a:pPr>
            <a:r>
              <a:rPr sz="1200" b="1" dirty="0" err="1">
                <a:solidFill>
                  <a:srgbClr val="215FB4"/>
                </a:solidFill>
                <a:latin typeface="Noto Sans CJK JP"/>
                <a:ea typeface="Noto Sans CJK JP"/>
                <a:cs typeface="Noto Sans CJK JP"/>
              </a:rPr>
              <a:t>全分散の</a:t>
            </a:r>
            <a:r>
              <a:rPr lang="ja-JP" altLang="en-US" sz="1200" b="1" dirty="0">
                <a:solidFill>
                  <a:srgbClr val="215FB4"/>
                </a:solidFill>
                <a:latin typeface="Noto Sans CJK JP"/>
                <a:ea typeface="Noto Sans CJK JP"/>
                <a:cs typeface="Noto Sans CJK JP"/>
              </a:rPr>
              <a:t>公式</a:t>
            </a:r>
            <a:endParaRPr sz="1200" b="1" dirty="0">
              <a:solidFill>
                <a:srgbClr val="215FB4"/>
              </a:solidFill>
              <a:latin typeface="Noto Sans CJK JP"/>
              <a:ea typeface="Noto Sans CJK JP"/>
              <a:cs typeface="Noto Sans CJK JP"/>
            </a:endParaRPr>
          </a:p>
        </p:txBody>
      </p:sp>
      <p:sp>
        <p:nvSpPr>
          <p:cNvPr id="7" name="s8-contribution">
            <a:extLst>
              <a:ext uri="{FF2B5EF4-FFF2-40B4-BE49-F238E27FC236}">
                <a16:creationId xmlns:a16="http://schemas.microsoft.com/office/drawing/2014/main" id="{AA734A3D-4238-12F6-EBFB-4A5C39F6BE52}"/>
              </a:ext>
            </a:extLst>
          </p:cNvPr>
          <p:cNvSpPr>
            <a:spLocks noGrp="1"/>
          </p:cNvSpPr>
          <p:nvPr/>
        </p:nvSpPr>
        <p:spPr>
          <a:xfrm>
            <a:off x="432478" y="798046"/>
            <a:ext cx="2183043" cy="232708"/>
          </a:xfrm>
          <a:prstGeom prst="rect">
            <a:avLst/>
          </a:prstGeom>
          <a:ln/>
        </p:spPr>
        <p:style>
          <a:lnRef idx="2">
            <a:schemeClr val="accent2"/>
          </a:lnRef>
          <a:fillRef idx="1">
            <a:schemeClr val="lt1"/>
          </a:fillRef>
          <a:effectRef idx="0">
            <a:schemeClr val="accent2"/>
          </a:effectRef>
          <a:fontRef idx="minor">
            <a:schemeClr val="dk1"/>
          </a:fontRef>
        </p:style>
        <p:txBody>
          <a:bodyPr wrap="square" lIns="0" tIns="0" rIns="0" bIns="0" anchor="ctr">
            <a:normAutofit/>
          </a:bodyPr>
          <a:lstStyle/>
          <a:p>
            <a:pPr algn="ctr">
              <a:defRPr sz="915" b="0">
                <a:solidFill>
                  <a:srgbClr val="64748B"/>
                </a:solidFill>
                <a:latin typeface="Noto Sans CJK JP"/>
                <a:ea typeface="Noto Sans CJK JP"/>
                <a:cs typeface="Noto Sans CJK JP"/>
              </a:defRPr>
            </a:pPr>
            <a:r>
              <a:rPr lang="ja-JP" altLang="en-US" sz="915" b="1" dirty="0">
                <a:solidFill>
                  <a:srgbClr val="C00000"/>
                </a:solidFill>
                <a:latin typeface="Noto Sans CJK JP"/>
                <a:ea typeface="Noto Sans CJK JP"/>
                <a:cs typeface="Noto Sans CJK JP"/>
              </a:rPr>
              <a:t>主結果②　</a:t>
            </a:r>
            <a:r>
              <a:rPr lang="en-US" sz="915" b="1" dirty="0">
                <a:solidFill>
                  <a:srgbClr val="C00000"/>
                </a:solidFill>
                <a:latin typeface="Noto Sans CJK JP"/>
                <a:ea typeface="Noto Sans CJK JP"/>
                <a:cs typeface="Noto Sans CJK JP"/>
              </a:rPr>
              <a:t>M</a:t>
            </a:r>
            <a:r>
              <a:rPr lang="en-US" altLang="ja-JP" sz="915" b="1" dirty="0">
                <a:solidFill>
                  <a:srgbClr val="C00000"/>
                </a:solidFill>
                <a:latin typeface="Noto Sans CJK JP"/>
                <a:ea typeface="Noto Sans CJK JP"/>
                <a:cs typeface="Noto Sans CJK JP"/>
              </a:rPr>
              <a:t>–</a:t>
            </a:r>
            <a:r>
              <a:rPr sz="915" b="1" dirty="0">
                <a:solidFill>
                  <a:srgbClr val="C00000"/>
                </a:solidFill>
                <a:latin typeface="Noto Sans CJK JP"/>
                <a:ea typeface="Noto Sans CJK JP"/>
                <a:cs typeface="Noto Sans CJK JP"/>
              </a:rPr>
              <a:t>G–H</a:t>
            </a:r>
            <a:r>
              <a:rPr lang="en-US" sz="915" b="1" dirty="0">
                <a:solidFill>
                  <a:srgbClr val="C00000"/>
                </a:solidFill>
                <a:latin typeface="Noto Sans CJK JP"/>
                <a:ea typeface="Noto Sans CJK JP"/>
                <a:cs typeface="Noto Sans CJK JP"/>
              </a:rPr>
              <a:t> Engine</a:t>
            </a:r>
            <a:r>
              <a:rPr lang="ja-JP" altLang="en-US" sz="915" b="1" dirty="0">
                <a:solidFill>
                  <a:srgbClr val="C00000"/>
                </a:solidFill>
                <a:latin typeface="Noto Sans CJK JP"/>
                <a:ea typeface="Noto Sans CJK JP"/>
                <a:cs typeface="Noto Sans CJK JP"/>
              </a:rPr>
              <a:t> </a:t>
            </a:r>
            <a:r>
              <a:rPr lang="en-US" altLang="ja-JP" sz="915" b="1" dirty="0">
                <a:solidFill>
                  <a:srgbClr val="C00000"/>
                </a:solidFill>
                <a:latin typeface="Noto Sans CJK JP"/>
                <a:ea typeface="Noto Sans CJK JP"/>
                <a:cs typeface="Noto Sans CJK JP"/>
              </a:rPr>
              <a:t>&amp;</a:t>
            </a:r>
            <a:r>
              <a:rPr lang="ja-JP" altLang="en-US" sz="915" b="1" dirty="0">
                <a:solidFill>
                  <a:srgbClr val="C00000"/>
                </a:solidFill>
                <a:latin typeface="Noto Sans CJK JP"/>
                <a:ea typeface="Noto Sans CJK JP"/>
                <a:cs typeface="Noto Sans CJK JP"/>
              </a:rPr>
              <a:t> </a:t>
            </a:r>
            <a:r>
              <a:rPr lang="en-US" altLang="ja-JP" sz="915" b="1" dirty="0" err="1">
                <a:solidFill>
                  <a:srgbClr val="C00000"/>
                </a:solidFill>
                <a:latin typeface="Noto Sans CJK JP"/>
                <a:ea typeface="Noto Sans CJK JP"/>
                <a:cs typeface="Noto Sans CJK JP"/>
              </a:rPr>
              <a:t>rollig</a:t>
            </a:r>
            <a:r>
              <a:rPr lang="ja-JP" altLang="en-US" sz="915" b="1" dirty="0">
                <a:solidFill>
                  <a:srgbClr val="C00000"/>
                </a:solidFill>
                <a:latin typeface="Noto Sans CJK JP"/>
                <a:ea typeface="Noto Sans CJK JP"/>
                <a:cs typeface="Noto Sans CJK JP"/>
              </a:rPr>
              <a:t>評価</a:t>
            </a:r>
            <a:endParaRPr sz="915" b="1" dirty="0">
              <a:solidFill>
                <a:srgbClr val="C00000"/>
              </a:solidFill>
              <a:latin typeface="Noto Sans CJK JP"/>
              <a:ea typeface="Noto Sans CJK JP"/>
              <a:cs typeface="Noto Sans CJK JP"/>
            </a:endParaRPr>
          </a:p>
        </p:txBody>
      </p:sp>
      <p:sp>
        <p:nvSpPr>
          <p:cNvPr id="64" name="右中かっこ 63">
            <a:extLst>
              <a:ext uri="{FF2B5EF4-FFF2-40B4-BE49-F238E27FC236}">
                <a16:creationId xmlns:a16="http://schemas.microsoft.com/office/drawing/2014/main" id="{4CFA7582-7FAF-C8A2-A303-7F41F05A1C3C}"/>
              </a:ext>
            </a:extLst>
          </p:cNvPr>
          <p:cNvSpPr/>
          <p:nvPr/>
        </p:nvSpPr>
        <p:spPr>
          <a:xfrm rot="5400000">
            <a:off x="4128265" y="3298695"/>
            <a:ext cx="192690" cy="1673666"/>
          </a:xfrm>
          <a:prstGeom prst="rightBrace">
            <a:avLst/>
          </a:prstGeom>
          <a:ln w="12700">
            <a:solidFill>
              <a:srgbClr val="05337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66" name="右中かっこ 65">
            <a:extLst>
              <a:ext uri="{FF2B5EF4-FFF2-40B4-BE49-F238E27FC236}">
                <a16:creationId xmlns:a16="http://schemas.microsoft.com/office/drawing/2014/main" id="{A62A3CD8-7D38-76C2-D4B3-B323FFF1C8FD}"/>
              </a:ext>
            </a:extLst>
          </p:cNvPr>
          <p:cNvSpPr/>
          <p:nvPr/>
        </p:nvSpPr>
        <p:spPr>
          <a:xfrm rot="5400000">
            <a:off x="6129018" y="3298693"/>
            <a:ext cx="192690" cy="1673666"/>
          </a:xfrm>
          <a:prstGeom prst="rightBrace">
            <a:avLst/>
          </a:prstGeom>
          <a:ln w="12700">
            <a:solidFill>
              <a:srgbClr val="04522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68" name="s14-formula-note">
                <a:extLst>
                  <a:ext uri="{FF2B5EF4-FFF2-40B4-BE49-F238E27FC236}">
                    <a16:creationId xmlns:a16="http://schemas.microsoft.com/office/drawing/2014/main" id="{D766E974-76EC-CF39-A703-AA1A0F3F45B7}"/>
                  </a:ext>
                </a:extLst>
              </p:cNvPr>
              <p:cNvSpPr>
                <a:spLocks noGrp="1"/>
              </p:cNvSpPr>
              <p:nvPr/>
            </p:nvSpPr>
            <p:spPr>
              <a:xfrm>
                <a:off x="3324078" y="4279797"/>
                <a:ext cx="1876572" cy="194784"/>
              </a:xfrm>
              <a:prstGeom prst="rect">
                <a:avLst/>
              </a:prstGeom>
              <a:noFill/>
              <a:ln w="0">
                <a:noFill/>
                <a:prstDash val="solid"/>
              </a:ln>
            </p:spPr>
            <p:txBody>
              <a:bodyPr wrap="square" lIns="0" tIns="0" rIns="0" bIns="0" anchor="ctr">
                <a:normAutofit/>
              </a:bodyPr>
              <a:lstStyle/>
              <a:p>
                <a:pPr algn="ctr">
                  <a:defRPr sz="788" b="0">
                    <a:solidFill>
                      <a:srgbClr val="215FB4"/>
                    </a:solidFill>
                    <a:latin typeface="Noto Sans CJK JP"/>
                    <a:ea typeface="Noto Sans CJK JP"/>
                    <a:cs typeface="Noto Sans CJK JP"/>
                  </a:defRPr>
                </a:pPr>
                <a:r>
                  <a:rPr lang="ja-JP" altLang="en-US" sz="1100" dirty="0">
                    <a:solidFill>
                      <a:srgbClr val="215FB4"/>
                    </a:solidFill>
                    <a:latin typeface="Noto Sans CJK JP"/>
                    <a:ea typeface="Noto Sans CJK JP"/>
                    <a:cs typeface="Noto Sans CJK JP"/>
                  </a:rPr>
                  <a:t>時点</a:t>
                </a:r>
                <a14:m>
                  <m:oMath xmlns:m="http://schemas.openxmlformats.org/officeDocument/2006/math">
                    <m:r>
                      <a:rPr lang="ja-JP" altLang="en-US" sz="1100" i="1">
                        <a:latin typeface="Cambria Math" panose="02040503050406030204" pitchFamily="18" charset="0"/>
                        <a:ea typeface="Noto Sans CJK JP"/>
                        <a:cs typeface="Noto Sans CJK JP"/>
                      </a:rPr>
                      <m:t>𝑡</m:t>
                    </m:r>
                  </m:oMath>
                </a14:m>
                <a:r>
                  <a:rPr lang="ja-JP" altLang="en-US" sz="1100" dirty="0">
                    <a:solidFill>
                      <a:srgbClr val="215FB4"/>
                    </a:solidFill>
                    <a:latin typeface="Noto Sans CJK JP"/>
                    <a:ea typeface="Noto Sans CJK JP"/>
                    <a:cs typeface="Noto Sans CJK JP"/>
                  </a:rPr>
                  <a:t>以降の将来リスク</a:t>
                </a:r>
                <a:endParaRPr sz="1100" b="0" dirty="0">
                  <a:solidFill>
                    <a:srgbClr val="215FB4"/>
                  </a:solidFill>
                  <a:latin typeface="Noto Sans CJK JP"/>
                  <a:ea typeface="Noto Sans CJK JP"/>
                  <a:cs typeface="Noto Sans CJK JP"/>
                </a:endParaRPr>
              </a:p>
            </p:txBody>
          </p:sp>
        </mc:Choice>
        <mc:Fallback xmlns="">
          <p:sp>
            <p:nvSpPr>
              <p:cNvPr id="68" name="s14-formula-note">
                <a:extLst>
                  <a:ext uri="{FF2B5EF4-FFF2-40B4-BE49-F238E27FC236}">
                    <a16:creationId xmlns:a16="http://schemas.microsoft.com/office/drawing/2014/main" id="{D766E974-76EC-CF39-A703-AA1A0F3F45B7}"/>
                  </a:ext>
                </a:extLst>
              </p:cNvPr>
              <p:cNvSpPr>
                <a:spLocks noGrp="1" noRot="1" noChangeAspect="1" noMove="1" noResize="1" noEditPoints="1" noAdjustHandles="1" noChangeArrowheads="1" noChangeShapeType="1" noTextEdit="1"/>
              </p:cNvSpPr>
              <p:nvPr/>
            </p:nvSpPr>
            <p:spPr>
              <a:xfrm>
                <a:off x="3324078" y="4279797"/>
                <a:ext cx="1876572" cy="194784"/>
              </a:xfrm>
              <a:prstGeom prst="rect">
                <a:avLst/>
              </a:prstGeom>
              <a:blipFill>
                <a:blip r:embed="rId7"/>
                <a:stretch>
                  <a:fillRect t="-21875" b="-34375"/>
                </a:stretch>
              </a:blipFill>
              <a:ln w="0">
                <a:noFill/>
                <a:prstDash val="solid"/>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0" name="s14-formula-note">
                <a:extLst>
                  <a:ext uri="{FF2B5EF4-FFF2-40B4-BE49-F238E27FC236}">
                    <a16:creationId xmlns:a16="http://schemas.microsoft.com/office/drawing/2014/main" id="{5DB5FB0E-C047-72E2-FFCB-081FC10BCF25}"/>
                  </a:ext>
                </a:extLst>
              </p:cNvPr>
              <p:cNvSpPr>
                <a:spLocks noGrp="1"/>
              </p:cNvSpPr>
              <p:nvPr/>
            </p:nvSpPr>
            <p:spPr>
              <a:xfrm>
                <a:off x="5287077" y="4279795"/>
                <a:ext cx="1876572" cy="194784"/>
              </a:xfrm>
              <a:prstGeom prst="rect">
                <a:avLst/>
              </a:prstGeom>
              <a:noFill/>
              <a:ln w="0">
                <a:noFill/>
                <a:prstDash val="solid"/>
              </a:ln>
            </p:spPr>
            <p:txBody>
              <a:bodyPr wrap="square" lIns="0" tIns="0" rIns="0" bIns="0" anchor="ctr">
                <a:normAutofit/>
              </a:bodyPr>
              <a:lstStyle/>
              <a:p>
                <a:pPr algn="ctr">
                  <a:defRPr sz="788" b="0">
                    <a:solidFill>
                      <a:srgbClr val="215FB4"/>
                    </a:solidFill>
                    <a:latin typeface="Noto Sans CJK JP"/>
                    <a:ea typeface="Noto Sans CJK JP"/>
                    <a:cs typeface="Noto Sans CJK JP"/>
                  </a:defRPr>
                </a:pPr>
                <a:r>
                  <a:rPr lang="ja-JP" altLang="en-US" sz="1100" dirty="0">
                    <a:solidFill>
                      <a:srgbClr val="045730"/>
                    </a:solidFill>
                    <a:latin typeface="Noto Sans CJK JP"/>
                    <a:ea typeface="Noto Sans CJK JP"/>
                    <a:cs typeface="Noto Sans CJK JP"/>
                  </a:rPr>
                  <a:t>時点</a:t>
                </a:r>
                <a14:m>
                  <m:oMath xmlns:m="http://schemas.openxmlformats.org/officeDocument/2006/math">
                    <m:r>
                      <a:rPr lang="ja-JP" altLang="en-US" sz="1100" i="1">
                        <a:solidFill>
                          <a:srgbClr val="045730"/>
                        </a:solidFill>
                        <a:latin typeface="Cambria Math" panose="02040503050406030204" pitchFamily="18" charset="0"/>
                        <a:ea typeface="Noto Sans CJK JP"/>
                        <a:cs typeface="Noto Sans CJK JP"/>
                      </a:rPr>
                      <m:t>𝑡</m:t>
                    </m:r>
                    <m:r>
                      <a:rPr lang="ja-JP" altLang="en-US" sz="1100" i="1">
                        <a:solidFill>
                          <a:srgbClr val="045730"/>
                        </a:solidFill>
                        <a:latin typeface="Cambria Math" panose="02040503050406030204" pitchFamily="18" charset="0"/>
                        <a:ea typeface="Noto Sans CJK JP"/>
                        <a:cs typeface="Noto Sans CJK JP"/>
                      </a:rPr>
                      <m:t>までに</m:t>
                    </m:r>
                  </m:oMath>
                </a14:m>
                <a:r>
                  <a:rPr lang="ja-JP" altLang="en-US" sz="1100" b="0" dirty="0">
                    <a:solidFill>
                      <a:srgbClr val="045730"/>
                    </a:solidFill>
                    <a:latin typeface="Noto Sans CJK JP"/>
                    <a:ea typeface="Noto Sans CJK JP"/>
                    <a:cs typeface="Noto Sans CJK JP"/>
                  </a:rPr>
                  <a:t>生じた状態格差</a:t>
                </a:r>
              </a:p>
            </p:txBody>
          </p:sp>
        </mc:Choice>
        <mc:Fallback xmlns="">
          <p:sp>
            <p:nvSpPr>
              <p:cNvPr id="70" name="s14-formula-note">
                <a:extLst>
                  <a:ext uri="{FF2B5EF4-FFF2-40B4-BE49-F238E27FC236}">
                    <a16:creationId xmlns:a16="http://schemas.microsoft.com/office/drawing/2014/main" id="{5DB5FB0E-C047-72E2-FFCB-081FC10BCF25}"/>
                  </a:ext>
                </a:extLst>
              </p:cNvPr>
              <p:cNvSpPr>
                <a:spLocks noGrp="1" noRot="1" noChangeAspect="1" noMove="1" noResize="1" noEditPoints="1" noAdjustHandles="1" noChangeArrowheads="1" noChangeShapeType="1" noTextEdit="1"/>
              </p:cNvSpPr>
              <p:nvPr/>
            </p:nvSpPr>
            <p:spPr>
              <a:xfrm>
                <a:off x="5287077" y="4279795"/>
                <a:ext cx="1876572" cy="194784"/>
              </a:xfrm>
              <a:prstGeom prst="rect">
                <a:avLst/>
              </a:prstGeom>
              <a:blipFill>
                <a:blip r:embed="rId8"/>
                <a:stretch>
                  <a:fillRect l="-649" t="-21875" r="-974" b="-34375"/>
                </a:stretch>
              </a:blipFill>
              <a:ln w="0">
                <a:noFill/>
                <a:prstDash val="solid"/>
              </a:ln>
            </p:spPr>
            <p:txBody>
              <a:bodyPr/>
              <a:lstStyle/>
              <a:p>
                <a:r>
                  <a:rPr lang="ja-JP" altLang="en-US">
                    <a:noFill/>
                  </a:rPr>
                  <a:t> </a:t>
                </a:r>
              </a:p>
            </p:txBody>
          </p:sp>
        </mc:Fallback>
      </mc:AlternateContent>
      <p:sp>
        <p:nvSpPr>
          <p:cNvPr id="72" name="s14-bottom">
            <a:extLst>
              <a:ext uri="{FF2B5EF4-FFF2-40B4-BE49-F238E27FC236}">
                <a16:creationId xmlns:a16="http://schemas.microsoft.com/office/drawing/2014/main" id="{2BABFE82-00E4-D7D0-6F83-7DF837D8201F}"/>
              </a:ext>
            </a:extLst>
          </p:cNvPr>
          <p:cNvSpPr>
            <a:spLocks noGrp="1"/>
          </p:cNvSpPr>
          <p:nvPr/>
        </p:nvSpPr>
        <p:spPr>
          <a:xfrm>
            <a:off x="1045147" y="4572000"/>
            <a:ext cx="7239000" cy="266700"/>
          </a:xfrm>
          <a:prstGeom prst="rect">
            <a:avLst/>
          </a:prstGeom>
          <a:noFill/>
          <a:ln w="0">
            <a:noFill/>
            <a:prstDash val="solid"/>
          </a:ln>
        </p:spPr>
        <p:txBody>
          <a:bodyPr wrap="square" lIns="0" tIns="0" rIns="0" bIns="0" anchor="ctr">
            <a:normAutofit/>
          </a:bodyPr>
          <a:lstStyle/>
          <a:p>
            <a:pPr>
              <a:defRPr sz="1238" b="1">
                <a:solidFill>
                  <a:srgbClr val="215FB4"/>
                </a:solidFill>
                <a:latin typeface="Noto Sans CJK JP"/>
                <a:ea typeface="Noto Sans CJK JP"/>
                <a:cs typeface="Noto Sans CJK JP"/>
              </a:defRPr>
            </a:pPr>
            <a:r>
              <a:rPr lang="ja-JP" altLang="en-US" sz="1238" b="1" dirty="0">
                <a:solidFill>
                  <a:srgbClr val="215FB4"/>
                </a:solidFill>
                <a:latin typeface="Noto Sans CJK JP"/>
                <a:ea typeface="Noto Sans CJK JP"/>
                <a:cs typeface="Noto Sans CJK JP"/>
              </a:rPr>
              <a:t>中間残高で条件つけることで、運用期間中の残高変動を起点とした新たなリスク評価を可能とする</a:t>
            </a:r>
          </a:p>
        </p:txBody>
      </p:sp>
      <p:sp>
        <p:nvSpPr>
          <p:cNvPr id="74" name="s14-bottom-icon">
            <a:extLst>
              <a:ext uri="{FF2B5EF4-FFF2-40B4-BE49-F238E27FC236}">
                <a16:creationId xmlns:a16="http://schemas.microsoft.com/office/drawing/2014/main" id="{85BBF254-C68F-FAED-615E-623F1FA3E765}"/>
              </a:ext>
            </a:extLst>
          </p:cNvPr>
          <p:cNvSpPr>
            <a:spLocks noGrp="1"/>
          </p:cNvSpPr>
          <p:nvPr/>
        </p:nvSpPr>
        <p:spPr>
          <a:xfrm>
            <a:off x="752803" y="4600575"/>
            <a:ext cx="190500" cy="190500"/>
          </a:xfrm>
          <a:prstGeom prst="ellipse">
            <a:avLst/>
          </a:prstGeom>
          <a:solidFill>
            <a:srgbClr val="215FB4"/>
          </a:solidFill>
          <a:ln w="0">
            <a:noFill/>
            <a:prstDash val="solid"/>
          </a:ln>
        </p:spPr>
      </p:sp>
      <p:sp>
        <p:nvSpPr>
          <p:cNvPr id="76" name="s14-bottom-arrow">
            <a:extLst>
              <a:ext uri="{FF2B5EF4-FFF2-40B4-BE49-F238E27FC236}">
                <a16:creationId xmlns:a16="http://schemas.microsoft.com/office/drawing/2014/main" id="{AB446BC2-2008-0394-2088-9844F3CC5779}"/>
              </a:ext>
            </a:extLst>
          </p:cNvPr>
          <p:cNvSpPr>
            <a:spLocks noGrp="1"/>
          </p:cNvSpPr>
          <p:nvPr/>
        </p:nvSpPr>
        <p:spPr>
          <a:xfrm>
            <a:off x="752803" y="4591050"/>
            <a:ext cx="190500" cy="190500"/>
          </a:xfrm>
          <a:prstGeom prst="rect">
            <a:avLst/>
          </a:prstGeom>
          <a:noFill/>
          <a:ln w="0">
            <a:noFill/>
            <a:prstDash val="solid"/>
          </a:ln>
        </p:spPr>
        <p:txBody>
          <a:bodyPr wrap="square" lIns="0" tIns="0" rIns="0" bIns="0" anchor="ctr">
            <a:normAutofit/>
          </a:bodyPr>
          <a:lstStyle/>
          <a:p>
            <a:pPr algn="ctr">
              <a:defRPr sz="1050" b="1">
                <a:solidFill>
                  <a:srgbClr val="FFFFFF"/>
                </a:solidFill>
                <a:latin typeface="Noto Sans CJK JP"/>
                <a:ea typeface="Noto Sans CJK JP"/>
                <a:cs typeface="Noto Sans CJK JP"/>
              </a:defRPr>
            </a:pPr>
            <a:r>
              <a:rPr sz="1050" b="1" dirty="0">
                <a:solidFill>
                  <a:srgbClr val="FFFFFF"/>
                </a:solidFill>
                <a:latin typeface="Noto Sans CJK JP"/>
                <a:ea typeface="Noto Sans CJK JP"/>
                <a:cs typeface="Noto Sans CJK JP"/>
              </a:rPr>
              <a:t>→</a:t>
            </a:r>
          </a:p>
        </p:txBody>
      </p:sp>
      <p:sp>
        <p:nvSpPr>
          <p:cNvPr id="667" name="time0-panel">
            <a:extLst>
              <a:ext uri="{FF2B5EF4-FFF2-40B4-BE49-F238E27FC236}">
                <a16:creationId xmlns:a16="http://schemas.microsoft.com/office/drawing/2014/main" id="{CD5474B9-2799-BE89-C4CE-362273ADD048}"/>
              </a:ext>
            </a:extLst>
          </p:cNvPr>
          <p:cNvSpPr>
            <a:spLocks noGrp="1"/>
          </p:cNvSpPr>
          <p:nvPr/>
        </p:nvSpPr>
        <p:spPr>
          <a:xfrm>
            <a:off x="805937" y="1862172"/>
            <a:ext cx="3622952" cy="1411647"/>
          </a:xfrm>
          <a:prstGeom prst="roundRect">
            <a:avLst>
              <a:gd name="adj" fmla="val 7458"/>
            </a:avLst>
          </a:prstGeom>
          <a:solidFill>
            <a:srgbClr val="FFFFFF"/>
          </a:solidFill>
          <a:ln w="9025">
            <a:solidFill>
              <a:srgbClr val="8FB8F2"/>
            </a:solidFill>
            <a:prstDash val="solid"/>
          </a:ln>
        </p:spPr>
      </p:sp>
      <p:sp>
        <p:nvSpPr>
          <p:cNvPr id="669" name="time0-tab">
            <a:extLst>
              <a:ext uri="{FF2B5EF4-FFF2-40B4-BE49-F238E27FC236}">
                <a16:creationId xmlns:a16="http://schemas.microsoft.com/office/drawing/2014/main" id="{FC08D2F7-FFE4-889A-84EE-113452BF9BD5}"/>
              </a:ext>
            </a:extLst>
          </p:cNvPr>
          <p:cNvSpPr>
            <a:spLocks noGrp="1"/>
          </p:cNvSpPr>
          <p:nvPr/>
        </p:nvSpPr>
        <p:spPr>
          <a:xfrm>
            <a:off x="1777582" y="1749541"/>
            <a:ext cx="1491361" cy="232772"/>
          </a:xfrm>
          <a:prstGeom prst="roundRect">
            <a:avLst>
              <a:gd name="adj" fmla="val 50000"/>
            </a:avLst>
          </a:prstGeom>
          <a:solidFill>
            <a:srgbClr val="0B3D91"/>
          </a:solidFill>
          <a:ln w="7520">
            <a:solidFill>
              <a:srgbClr val="0B3D91"/>
            </a:solidFill>
            <a:prstDash val="solid"/>
          </a:ln>
        </p:spPr>
      </p:sp>
      <p:sp>
        <p:nvSpPr>
          <p:cNvPr id="671" name="time0-tab-label">
            <a:extLst>
              <a:ext uri="{FF2B5EF4-FFF2-40B4-BE49-F238E27FC236}">
                <a16:creationId xmlns:a16="http://schemas.microsoft.com/office/drawing/2014/main" id="{17C5D12B-CA4F-10AE-3A6D-B0BE8EC778DA}"/>
              </a:ext>
            </a:extLst>
          </p:cNvPr>
          <p:cNvSpPr>
            <a:spLocks noGrp="1"/>
          </p:cNvSpPr>
          <p:nvPr/>
        </p:nvSpPr>
        <p:spPr>
          <a:xfrm>
            <a:off x="1965885" y="1757105"/>
            <a:ext cx="1122287" cy="157684"/>
          </a:xfrm>
          <a:prstGeom prst="rect">
            <a:avLst/>
          </a:prstGeom>
          <a:noFill/>
          <a:ln w="0">
            <a:noFill/>
            <a:prstDash val="solid"/>
          </a:ln>
        </p:spPr>
        <p:txBody>
          <a:bodyPr/>
          <a:lstStyle/>
          <a:p>
            <a:pPr algn="ctr">
              <a:defRPr sz="947" b="1">
                <a:solidFill>
                  <a:srgbClr val="FFFFFF"/>
                </a:solidFill>
              </a:defRPr>
            </a:pPr>
            <a:r>
              <a:rPr sz="947" b="1" dirty="0">
                <a:solidFill>
                  <a:srgbClr val="FFFFFF"/>
                </a:solidFill>
              </a:rPr>
              <a:t>時点0での評価</a:t>
            </a:r>
          </a:p>
        </p:txBody>
      </p:sp>
      <p:sp>
        <p:nvSpPr>
          <p:cNvPr id="673" name="time0-caption">
            <a:extLst>
              <a:ext uri="{FF2B5EF4-FFF2-40B4-BE49-F238E27FC236}">
                <a16:creationId xmlns:a16="http://schemas.microsoft.com/office/drawing/2014/main" id="{B5D5F046-3DB7-38B6-5557-BC50453427AA}"/>
              </a:ext>
            </a:extLst>
          </p:cNvPr>
          <p:cNvSpPr>
            <a:spLocks noGrp="1"/>
          </p:cNvSpPr>
          <p:nvPr/>
        </p:nvSpPr>
        <p:spPr>
          <a:xfrm>
            <a:off x="1325654" y="2102452"/>
            <a:ext cx="1920692" cy="165193"/>
          </a:xfrm>
          <a:prstGeom prst="rect">
            <a:avLst/>
          </a:prstGeom>
          <a:noFill/>
          <a:ln w="0">
            <a:noFill/>
            <a:prstDash val="solid"/>
          </a:ln>
        </p:spPr>
        <p:txBody>
          <a:bodyPr/>
          <a:lstStyle/>
          <a:p>
            <a:pPr algn="ctr">
              <a:defRPr sz="770" b="1">
                <a:solidFill>
                  <a:srgbClr val="0B3D91"/>
                </a:solidFill>
              </a:defRPr>
            </a:pPr>
            <a:r>
              <a:rPr sz="800" b="1" dirty="0">
                <a:solidFill>
                  <a:srgbClr val="0B3D91"/>
                </a:solidFill>
              </a:rPr>
              <a:t>40年間の不確実性をまとめて評価</a:t>
            </a:r>
          </a:p>
        </p:txBody>
      </p:sp>
      <p:sp>
        <p:nvSpPr>
          <p:cNvPr id="675" name="time0-baseline">
            <a:extLst>
              <a:ext uri="{FF2B5EF4-FFF2-40B4-BE49-F238E27FC236}">
                <a16:creationId xmlns:a16="http://schemas.microsoft.com/office/drawing/2014/main" id="{E7784218-5195-1BC7-47B2-79011A6EB87A}"/>
              </a:ext>
            </a:extLst>
          </p:cNvPr>
          <p:cNvSpPr>
            <a:spLocks noGrp="1"/>
          </p:cNvSpPr>
          <p:nvPr/>
        </p:nvSpPr>
        <p:spPr>
          <a:xfrm>
            <a:off x="1009305" y="2530452"/>
            <a:ext cx="2327427" cy="3754"/>
          </a:xfrm>
          <a:prstGeom prst="line">
            <a:avLst/>
          </a:prstGeom>
          <a:noFill/>
          <a:ln w="18801">
            <a:solidFill>
              <a:srgbClr val="0B3D91"/>
            </a:solidFill>
            <a:prstDash val="solid"/>
          </a:ln>
        </p:spPr>
      </p:sp>
      <p:sp>
        <p:nvSpPr>
          <p:cNvPr id="677" name="time0-origin-point">
            <a:extLst>
              <a:ext uri="{FF2B5EF4-FFF2-40B4-BE49-F238E27FC236}">
                <a16:creationId xmlns:a16="http://schemas.microsoft.com/office/drawing/2014/main" id="{DEC075AD-4FE0-7973-A9DF-7D880A89CCC9}"/>
              </a:ext>
            </a:extLst>
          </p:cNvPr>
          <p:cNvSpPr>
            <a:spLocks noGrp="1"/>
          </p:cNvSpPr>
          <p:nvPr/>
        </p:nvSpPr>
        <p:spPr>
          <a:xfrm>
            <a:off x="971644" y="2492908"/>
            <a:ext cx="75321" cy="75088"/>
          </a:xfrm>
          <a:prstGeom prst="ellipse">
            <a:avLst/>
          </a:prstGeom>
          <a:solidFill>
            <a:srgbClr val="0B3D91"/>
          </a:solidFill>
          <a:ln w="7520">
            <a:solidFill>
              <a:srgbClr val="0B3D91"/>
            </a:solidFill>
            <a:prstDash val="solid"/>
          </a:ln>
        </p:spPr>
      </p:sp>
      <p:sp>
        <p:nvSpPr>
          <p:cNvPr id="679" name="time0-origin-label">
            <a:extLst>
              <a:ext uri="{FF2B5EF4-FFF2-40B4-BE49-F238E27FC236}">
                <a16:creationId xmlns:a16="http://schemas.microsoft.com/office/drawing/2014/main" id="{592E3B60-6F39-2634-95F9-6D7502453CCD}"/>
              </a:ext>
            </a:extLst>
          </p:cNvPr>
          <p:cNvSpPr>
            <a:spLocks noGrp="1"/>
          </p:cNvSpPr>
          <p:nvPr/>
        </p:nvSpPr>
        <p:spPr>
          <a:xfrm>
            <a:off x="949048" y="2230101"/>
            <a:ext cx="150643" cy="150175"/>
          </a:xfrm>
          <a:prstGeom prst="rect">
            <a:avLst/>
          </a:prstGeom>
          <a:noFill/>
          <a:ln w="0">
            <a:noFill/>
            <a:prstDash val="solid"/>
          </a:ln>
        </p:spPr>
        <p:txBody>
          <a:bodyPr/>
          <a:lstStyle/>
          <a:p>
            <a:pPr algn="ctr">
              <a:defRPr sz="770" b="0">
                <a:solidFill>
                  <a:srgbClr val="111827"/>
                </a:solidFill>
              </a:defRPr>
            </a:pPr>
            <a:r>
              <a:rPr sz="770" b="0">
                <a:solidFill>
                  <a:srgbClr val="111827"/>
                </a:solidFill>
              </a:rPr>
              <a:t>0</a:t>
            </a:r>
          </a:p>
        </p:txBody>
      </p:sp>
      <p:sp>
        <p:nvSpPr>
          <p:cNvPr id="681" name="time0-origin-guide-0">
            <a:extLst>
              <a:ext uri="{FF2B5EF4-FFF2-40B4-BE49-F238E27FC236}">
                <a16:creationId xmlns:a16="http://schemas.microsoft.com/office/drawing/2014/main" id="{2720FCCB-4F72-7AC2-0DE7-74E0555E1B5D}"/>
              </a:ext>
            </a:extLst>
          </p:cNvPr>
          <p:cNvSpPr>
            <a:spLocks noGrp="1"/>
          </p:cNvSpPr>
          <p:nvPr/>
        </p:nvSpPr>
        <p:spPr>
          <a:xfrm>
            <a:off x="1005539" y="2327715"/>
            <a:ext cx="7532" cy="30035"/>
          </a:xfrm>
          <a:prstGeom prst="rect">
            <a:avLst/>
          </a:prstGeom>
          <a:solidFill>
            <a:srgbClr val="6B7280"/>
          </a:solidFill>
          <a:ln w="0">
            <a:noFill/>
            <a:prstDash val="solid"/>
          </a:ln>
        </p:spPr>
      </p:sp>
      <p:sp>
        <p:nvSpPr>
          <p:cNvPr id="683" name="time0-origin-guide-1">
            <a:extLst>
              <a:ext uri="{FF2B5EF4-FFF2-40B4-BE49-F238E27FC236}">
                <a16:creationId xmlns:a16="http://schemas.microsoft.com/office/drawing/2014/main" id="{ECCC09A6-1161-A403-08DE-74407D0AE069}"/>
              </a:ext>
            </a:extLst>
          </p:cNvPr>
          <p:cNvSpPr>
            <a:spLocks noGrp="1"/>
          </p:cNvSpPr>
          <p:nvPr/>
        </p:nvSpPr>
        <p:spPr>
          <a:xfrm>
            <a:off x="1005539" y="2380277"/>
            <a:ext cx="7532" cy="30035"/>
          </a:xfrm>
          <a:prstGeom prst="rect">
            <a:avLst/>
          </a:prstGeom>
          <a:solidFill>
            <a:srgbClr val="6B7280"/>
          </a:solidFill>
          <a:ln w="0">
            <a:noFill/>
            <a:prstDash val="solid"/>
          </a:ln>
        </p:spPr>
      </p:sp>
      <p:sp>
        <p:nvSpPr>
          <p:cNvPr id="685" name="time0-origin-guide-2">
            <a:extLst>
              <a:ext uri="{FF2B5EF4-FFF2-40B4-BE49-F238E27FC236}">
                <a16:creationId xmlns:a16="http://schemas.microsoft.com/office/drawing/2014/main" id="{2A68BD7C-7573-4710-12B1-7A824F31A989}"/>
              </a:ext>
            </a:extLst>
          </p:cNvPr>
          <p:cNvSpPr>
            <a:spLocks noGrp="1"/>
          </p:cNvSpPr>
          <p:nvPr/>
        </p:nvSpPr>
        <p:spPr>
          <a:xfrm>
            <a:off x="1005539" y="2432838"/>
            <a:ext cx="7532" cy="30035"/>
          </a:xfrm>
          <a:prstGeom prst="rect">
            <a:avLst/>
          </a:prstGeom>
          <a:solidFill>
            <a:srgbClr val="6B7280"/>
          </a:solidFill>
          <a:ln w="0">
            <a:noFill/>
            <a:prstDash val="solid"/>
          </a:ln>
        </p:spPr>
      </p:sp>
      <p:sp>
        <p:nvSpPr>
          <p:cNvPr id="687" name="time0-origin-guide-3">
            <a:extLst>
              <a:ext uri="{FF2B5EF4-FFF2-40B4-BE49-F238E27FC236}">
                <a16:creationId xmlns:a16="http://schemas.microsoft.com/office/drawing/2014/main" id="{0DB4A4B8-7134-CD50-65B8-4349B584B897}"/>
              </a:ext>
            </a:extLst>
          </p:cNvPr>
          <p:cNvSpPr>
            <a:spLocks noGrp="1"/>
          </p:cNvSpPr>
          <p:nvPr/>
        </p:nvSpPr>
        <p:spPr>
          <a:xfrm>
            <a:off x="1005539" y="2485399"/>
            <a:ext cx="7532" cy="7509"/>
          </a:xfrm>
          <a:prstGeom prst="rect">
            <a:avLst/>
          </a:prstGeom>
          <a:solidFill>
            <a:srgbClr val="6B7280"/>
          </a:solidFill>
          <a:ln w="0">
            <a:noFill/>
            <a:prstDash val="solid"/>
          </a:ln>
        </p:spPr>
      </p:sp>
      <p:sp>
        <p:nvSpPr>
          <p:cNvPr id="689" name="time0-terminal-label">
            <a:extLst>
              <a:ext uri="{FF2B5EF4-FFF2-40B4-BE49-F238E27FC236}">
                <a16:creationId xmlns:a16="http://schemas.microsoft.com/office/drawing/2014/main" id="{59C7C548-B37A-DFF4-67B6-53B03DA686BE}"/>
              </a:ext>
            </a:extLst>
          </p:cNvPr>
          <p:cNvSpPr>
            <a:spLocks noGrp="1"/>
          </p:cNvSpPr>
          <p:nvPr/>
        </p:nvSpPr>
        <p:spPr>
          <a:xfrm>
            <a:off x="3276474" y="2117470"/>
            <a:ext cx="150643" cy="150175"/>
          </a:xfrm>
          <a:prstGeom prst="rect">
            <a:avLst/>
          </a:prstGeom>
          <a:noFill/>
          <a:ln w="0">
            <a:noFill/>
            <a:prstDash val="solid"/>
          </a:ln>
        </p:spPr>
        <p:txBody>
          <a:bodyPr/>
          <a:lstStyle/>
          <a:p>
            <a:pPr algn="ctr">
              <a:defRPr sz="888" b="0">
                <a:solidFill>
                  <a:srgbClr val="111827"/>
                </a:solidFill>
              </a:defRPr>
            </a:pPr>
            <a:r>
              <a:rPr sz="888" b="0">
                <a:solidFill>
                  <a:srgbClr val="111827"/>
                </a:solidFill>
              </a:rPr>
              <a:t>T</a:t>
            </a:r>
          </a:p>
        </p:txBody>
      </p:sp>
      <p:sp>
        <p:nvSpPr>
          <p:cNvPr id="691" name="time0-terminal-guide-0">
            <a:extLst>
              <a:ext uri="{FF2B5EF4-FFF2-40B4-BE49-F238E27FC236}">
                <a16:creationId xmlns:a16="http://schemas.microsoft.com/office/drawing/2014/main" id="{9EFB3222-910B-2C1A-8238-A8D3CCAE4E6D}"/>
              </a:ext>
            </a:extLst>
          </p:cNvPr>
          <p:cNvSpPr>
            <a:spLocks noGrp="1"/>
          </p:cNvSpPr>
          <p:nvPr/>
        </p:nvSpPr>
        <p:spPr>
          <a:xfrm>
            <a:off x="3332965" y="2260136"/>
            <a:ext cx="7532" cy="30035"/>
          </a:xfrm>
          <a:prstGeom prst="rect">
            <a:avLst/>
          </a:prstGeom>
          <a:solidFill>
            <a:srgbClr val="6B7280"/>
          </a:solidFill>
          <a:ln w="0">
            <a:noFill/>
            <a:prstDash val="solid"/>
          </a:ln>
        </p:spPr>
      </p:sp>
      <p:sp>
        <p:nvSpPr>
          <p:cNvPr id="693" name="time0-terminal-guide-1">
            <a:extLst>
              <a:ext uri="{FF2B5EF4-FFF2-40B4-BE49-F238E27FC236}">
                <a16:creationId xmlns:a16="http://schemas.microsoft.com/office/drawing/2014/main" id="{3ACAA41F-CDFC-2873-CA0E-EB7491F05AB4}"/>
              </a:ext>
            </a:extLst>
          </p:cNvPr>
          <p:cNvSpPr>
            <a:spLocks noGrp="1"/>
          </p:cNvSpPr>
          <p:nvPr/>
        </p:nvSpPr>
        <p:spPr>
          <a:xfrm>
            <a:off x="3332965" y="2312698"/>
            <a:ext cx="7532" cy="30035"/>
          </a:xfrm>
          <a:prstGeom prst="rect">
            <a:avLst/>
          </a:prstGeom>
          <a:solidFill>
            <a:srgbClr val="6B7280"/>
          </a:solidFill>
          <a:ln w="0">
            <a:noFill/>
            <a:prstDash val="solid"/>
          </a:ln>
        </p:spPr>
      </p:sp>
      <p:sp>
        <p:nvSpPr>
          <p:cNvPr id="695" name="time0-terminal-guide-2">
            <a:extLst>
              <a:ext uri="{FF2B5EF4-FFF2-40B4-BE49-F238E27FC236}">
                <a16:creationId xmlns:a16="http://schemas.microsoft.com/office/drawing/2014/main" id="{918A9846-C8C4-410A-0E69-1B052F33C8B9}"/>
              </a:ext>
            </a:extLst>
          </p:cNvPr>
          <p:cNvSpPr>
            <a:spLocks noGrp="1"/>
          </p:cNvSpPr>
          <p:nvPr/>
        </p:nvSpPr>
        <p:spPr>
          <a:xfrm>
            <a:off x="3332965" y="2365259"/>
            <a:ext cx="7532" cy="30035"/>
          </a:xfrm>
          <a:prstGeom prst="rect">
            <a:avLst/>
          </a:prstGeom>
          <a:solidFill>
            <a:srgbClr val="6B7280"/>
          </a:solidFill>
          <a:ln w="0">
            <a:noFill/>
            <a:prstDash val="solid"/>
          </a:ln>
        </p:spPr>
      </p:sp>
      <p:sp>
        <p:nvSpPr>
          <p:cNvPr id="697" name="time0-terminal-guide-3">
            <a:extLst>
              <a:ext uri="{FF2B5EF4-FFF2-40B4-BE49-F238E27FC236}">
                <a16:creationId xmlns:a16="http://schemas.microsoft.com/office/drawing/2014/main" id="{BD619698-2566-E962-6674-288E133D56C8}"/>
              </a:ext>
            </a:extLst>
          </p:cNvPr>
          <p:cNvSpPr>
            <a:spLocks noGrp="1"/>
          </p:cNvSpPr>
          <p:nvPr/>
        </p:nvSpPr>
        <p:spPr>
          <a:xfrm>
            <a:off x="3332965" y="2417820"/>
            <a:ext cx="7532" cy="30035"/>
          </a:xfrm>
          <a:prstGeom prst="rect">
            <a:avLst/>
          </a:prstGeom>
          <a:solidFill>
            <a:srgbClr val="6B7280"/>
          </a:solidFill>
          <a:ln w="0">
            <a:noFill/>
            <a:prstDash val="solid"/>
          </a:ln>
        </p:spPr>
      </p:sp>
      <p:sp>
        <p:nvSpPr>
          <p:cNvPr id="699" name="time0-terminal-guide-4">
            <a:extLst>
              <a:ext uri="{FF2B5EF4-FFF2-40B4-BE49-F238E27FC236}">
                <a16:creationId xmlns:a16="http://schemas.microsoft.com/office/drawing/2014/main" id="{BAD5159C-6332-B9D8-4F2A-454C7734162A}"/>
              </a:ext>
            </a:extLst>
          </p:cNvPr>
          <p:cNvSpPr>
            <a:spLocks noGrp="1"/>
          </p:cNvSpPr>
          <p:nvPr/>
        </p:nvSpPr>
        <p:spPr>
          <a:xfrm>
            <a:off x="3332965" y="2470382"/>
            <a:ext cx="7532" cy="30035"/>
          </a:xfrm>
          <a:prstGeom prst="rect">
            <a:avLst/>
          </a:prstGeom>
          <a:solidFill>
            <a:srgbClr val="6B7280"/>
          </a:solidFill>
          <a:ln w="0">
            <a:noFill/>
            <a:prstDash val="solid"/>
          </a:ln>
        </p:spPr>
      </p:sp>
      <p:sp>
        <p:nvSpPr>
          <p:cNvPr id="701" name="time0-terminal-guide-5">
            <a:extLst>
              <a:ext uri="{FF2B5EF4-FFF2-40B4-BE49-F238E27FC236}">
                <a16:creationId xmlns:a16="http://schemas.microsoft.com/office/drawing/2014/main" id="{AF7DF32E-3136-281D-A816-350088D8A1D5}"/>
              </a:ext>
            </a:extLst>
          </p:cNvPr>
          <p:cNvSpPr>
            <a:spLocks noGrp="1"/>
          </p:cNvSpPr>
          <p:nvPr/>
        </p:nvSpPr>
        <p:spPr>
          <a:xfrm>
            <a:off x="3332965" y="2522943"/>
            <a:ext cx="7532" cy="30035"/>
          </a:xfrm>
          <a:prstGeom prst="rect">
            <a:avLst/>
          </a:prstGeom>
          <a:solidFill>
            <a:srgbClr val="6B7280"/>
          </a:solidFill>
          <a:ln w="0">
            <a:noFill/>
            <a:prstDash val="solid"/>
          </a:ln>
        </p:spPr>
      </p:sp>
      <p:sp>
        <p:nvSpPr>
          <p:cNvPr id="703" name="time0-terminal-guide-6">
            <a:extLst>
              <a:ext uri="{FF2B5EF4-FFF2-40B4-BE49-F238E27FC236}">
                <a16:creationId xmlns:a16="http://schemas.microsoft.com/office/drawing/2014/main" id="{4233AD3B-D534-5FBB-184C-82D8FCA6D655}"/>
              </a:ext>
            </a:extLst>
          </p:cNvPr>
          <p:cNvSpPr>
            <a:spLocks noGrp="1"/>
          </p:cNvSpPr>
          <p:nvPr/>
        </p:nvSpPr>
        <p:spPr>
          <a:xfrm>
            <a:off x="3332965" y="2575504"/>
            <a:ext cx="7532" cy="30035"/>
          </a:xfrm>
          <a:prstGeom prst="rect">
            <a:avLst/>
          </a:prstGeom>
          <a:solidFill>
            <a:srgbClr val="6B7280"/>
          </a:solidFill>
          <a:ln w="0">
            <a:noFill/>
            <a:prstDash val="solid"/>
          </a:ln>
        </p:spPr>
      </p:sp>
      <p:sp>
        <p:nvSpPr>
          <p:cNvPr id="705" name="time0-terminal-guide-7">
            <a:extLst>
              <a:ext uri="{FF2B5EF4-FFF2-40B4-BE49-F238E27FC236}">
                <a16:creationId xmlns:a16="http://schemas.microsoft.com/office/drawing/2014/main" id="{51295761-B597-F086-8979-9AA2469DE13E}"/>
              </a:ext>
            </a:extLst>
          </p:cNvPr>
          <p:cNvSpPr>
            <a:spLocks noGrp="1"/>
          </p:cNvSpPr>
          <p:nvPr/>
        </p:nvSpPr>
        <p:spPr>
          <a:xfrm>
            <a:off x="3332965" y="2628066"/>
            <a:ext cx="7532" cy="30035"/>
          </a:xfrm>
          <a:prstGeom prst="rect">
            <a:avLst/>
          </a:prstGeom>
          <a:solidFill>
            <a:srgbClr val="6B7280"/>
          </a:solidFill>
          <a:ln w="0">
            <a:noFill/>
            <a:prstDash val="solid"/>
          </a:ln>
        </p:spPr>
      </p:sp>
      <p:sp>
        <p:nvSpPr>
          <p:cNvPr id="707" name="time0-terminal-guide-8">
            <a:extLst>
              <a:ext uri="{FF2B5EF4-FFF2-40B4-BE49-F238E27FC236}">
                <a16:creationId xmlns:a16="http://schemas.microsoft.com/office/drawing/2014/main" id="{489C89BD-8B41-CC86-93DC-390E142623FF}"/>
              </a:ext>
            </a:extLst>
          </p:cNvPr>
          <p:cNvSpPr>
            <a:spLocks noGrp="1"/>
          </p:cNvSpPr>
          <p:nvPr/>
        </p:nvSpPr>
        <p:spPr>
          <a:xfrm>
            <a:off x="3332965" y="2680627"/>
            <a:ext cx="7532" cy="30035"/>
          </a:xfrm>
          <a:prstGeom prst="rect">
            <a:avLst/>
          </a:prstGeom>
          <a:solidFill>
            <a:srgbClr val="6B7280"/>
          </a:solidFill>
          <a:ln w="0">
            <a:noFill/>
            <a:prstDash val="solid"/>
          </a:ln>
        </p:spPr>
      </p:sp>
      <p:sp>
        <p:nvSpPr>
          <p:cNvPr id="709" name="time0-terminal-guide-9">
            <a:extLst>
              <a:ext uri="{FF2B5EF4-FFF2-40B4-BE49-F238E27FC236}">
                <a16:creationId xmlns:a16="http://schemas.microsoft.com/office/drawing/2014/main" id="{FA53A1D8-7F61-EE37-30DC-041D86AA3FCB}"/>
              </a:ext>
            </a:extLst>
          </p:cNvPr>
          <p:cNvSpPr>
            <a:spLocks noGrp="1"/>
          </p:cNvSpPr>
          <p:nvPr/>
        </p:nvSpPr>
        <p:spPr>
          <a:xfrm>
            <a:off x="3332965" y="2733188"/>
            <a:ext cx="7532" cy="30035"/>
          </a:xfrm>
          <a:prstGeom prst="rect">
            <a:avLst/>
          </a:prstGeom>
          <a:solidFill>
            <a:srgbClr val="6B7280"/>
          </a:solidFill>
          <a:ln w="0">
            <a:noFill/>
            <a:prstDash val="solid"/>
          </a:ln>
        </p:spPr>
      </p:sp>
      <p:sp>
        <p:nvSpPr>
          <p:cNvPr id="711" name="time0-terminal-guide-10">
            <a:extLst>
              <a:ext uri="{FF2B5EF4-FFF2-40B4-BE49-F238E27FC236}">
                <a16:creationId xmlns:a16="http://schemas.microsoft.com/office/drawing/2014/main" id="{3B832D94-8C47-04C9-AAE8-839E0F31091F}"/>
              </a:ext>
            </a:extLst>
          </p:cNvPr>
          <p:cNvSpPr>
            <a:spLocks noGrp="1"/>
          </p:cNvSpPr>
          <p:nvPr/>
        </p:nvSpPr>
        <p:spPr>
          <a:xfrm>
            <a:off x="3332965" y="2785750"/>
            <a:ext cx="7532" cy="30035"/>
          </a:xfrm>
          <a:prstGeom prst="rect">
            <a:avLst/>
          </a:prstGeom>
          <a:solidFill>
            <a:srgbClr val="6B7280"/>
          </a:solidFill>
          <a:ln w="0">
            <a:noFill/>
            <a:prstDash val="solid"/>
          </a:ln>
        </p:spPr>
      </p:sp>
      <p:sp>
        <p:nvSpPr>
          <p:cNvPr id="713" name="time0-scenario-1">
            <a:extLst>
              <a:ext uri="{FF2B5EF4-FFF2-40B4-BE49-F238E27FC236}">
                <a16:creationId xmlns:a16="http://schemas.microsoft.com/office/drawing/2014/main" id="{8EF385E0-BBB2-624D-2C50-65086011A87C}"/>
              </a:ext>
            </a:extLst>
          </p:cNvPr>
          <p:cNvSpPr>
            <a:spLocks noGrp="1"/>
          </p:cNvSpPr>
          <p:nvPr/>
        </p:nvSpPr>
        <p:spPr>
          <a:xfrm flipV="1">
            <a:off x="1024369" y="2260136"/>
            <a:ext cx="2312362" cy="270315"/>
          </a:xfrm>
          <a:prstGeom prst="line">
            <a:avLst/>
          </a:prstGeom>
          <a:noFill/>
          <a:ln w="9777">
            <a:solidFill>
              <a:srgbClr val="477FDB"/>
            </a:solidFill>
            <a:prstDash val="solid"/>
          </a:ln>
        </p:spPr>
      </p:sp>
      <p:sp>
        <p:nvSpPr>
          <p:cNvPr id="715" name="time0-scenario-dash-1">
            <a:extLst>
              <a:ext uri="{FF2B5EF4-FFF2-40B4-BE49-F238E27FC236}">
                <a16:creationId xmlns:a16="http://schemas.microsoft.com/office/drawing/2014/main" id="{D7D9CF5B-E1AD-A5CD-2C6D-5C3CA13506D1}"/>
              </a:ext>
            </a:extLst>
          </p:cNvPr>
          <p:cNvSpPr>
            <a:spLocks noGrp="1"/>
          </p:cNvSpPr>
          <p:nvPr/>
        </p:nvSpPr>
        <p:spPr>
          <a:xfrm flipV="1">
            <a:off x="2184316" y="2260136"/>
            <a:ext cx="1152415" cy="133845"/>
          </a:xfrm>
          <a:prstGeom prst="line">
            <a:avLst/>
          </a:prstGeom>
          <a:noFill/>
          <a:ln w="6016">
            <a:solidFill>
              <a:srgbClr val="A9C5F2"/>
            </a:solidFill>
            <a:prstDash val="solid"/>
          </a:ln>
        </p:spPr>
      </p:sp>
      <p:sp>
        <p:nvSpPr>
          <p:cNvPr id="717" name="time0-scenario-2">
            <a:extLst>
              <a:ext uri="{FF2B5EF4-FFF2-40B4-BE49-F238E27FC236}">
                <a16:creationId xmlns:a16="http://schemas.microsoft.com/office/drawing/2014/main" id="{F4DFF95C-7A75-7A32-E640-C11E89DEB6FE}"/>
              </a:ext>
            </a:extLst>
          </p:cNvPr>
          <p:cNvSpPr>
            <a:spLocks noGrp="1"/>
          </p:cNvSpPr>
          <p:nvPr/>
        </p:nvSpPr>
        <p:spPr>
          <a:xfrm flipV="1">
            <a:off x="1024369" y="2312698"/>
            <a:ext cx="2312362" cy="217754"/>
          </a:xfrm>
          <a:prstGeom prst="line">
            <a:avLst/>
          </a:prstGeom>
          <a:noFill/>
          <a:ln w="6768">
            <a:solidFill>
              <a:srgbClr val="7EAAF3"/>
            </a:solidFill>
            <a:prstDash val="solid"/>
          </a:ln>
        </p:spPr>
      </p:sp>
      <p:sp>
        <p:nvSpPr>
          <p:cNvPr id="719" name="time0-scenario-3">
            <a:extLst>
              <a:ext uri="{FF2B5EF4-FFF2-40B4-BE49-F238E27FC236}">
                <a16:creationId xmlns:a16="http://schemas.microsoft.com/office/drawing/2014/main" id="{DBC59DEB-8A87-BF29-A817-F1EA7F17E35C}"/>
              </a:ext>
            </a:extLst>
          </p:cNvPr>
          <p:cNvSpPr>
            <a:spLocks noGrp="1"/>
          </p:cNvSpPr>
          <p:nvPr/>
        </p:nvSpPr>
        <p:spPr>
          <a:xfrm flipV="1">
            <a:off x="1024369" y="2365259"/>
            <a:ext cx="2312362" cy="165193"/>
          </a:xfrm>
          <a:prstGeom prst="line">
            <a:avLst/>
          </a:prstGeom>
          <a:noFill/>
          <a:ln w="6768">
            <a:solidFill>
              <a:srgbClr val="477FDB"/>
            </a:solidFill>
            <a:prstDash val="solid"/>
          </a:ln>
        </p:spPr>
      </p:sp>
      <p:sp>
        <p:nvSpPr>
          <p:cNvPr id="721" name="time0-scenario-dash-3">
            <a:extLst>
              <a:ext uri="{FF2B5EF4-FFF2-40B4-BE49-F238E27FC236}">
                <a16:creationId xmlns:a16="http://schemas.microsoft.com/office/drawing/2014/main" id="{BDD83D5A-3CF2-F795-1C95-2C6F43B34B22}"/>
              </a:ext>
            </a:extLst>
          </p:cNvPr>
          <p:cNvSpPr>
            <a:spLocks noGrp="1"/>
          </p:cNvSpPr>
          <p:nvPr/>
        </p:nvSpPr>
        <p:spPr>
          <a:xfrm flipV="1">
            <a:off x="2184316" y="2365259"/>
            <a:ext cx="1152415" cy="81794"/>
          </a:xfrm>
          <a:prstGeom prst="line">
            <a:avLst/>
          </a:prstGeom>
          <a:noFill/>
          <a:ln w="6016">
            <a:solidFill>
              <a:srgbClr val="A9C5F2"/>
            </a:solidFill>
            <a:prstDash val="solid"/>
          </a:ln>
        </p:spPr>
      </p:sp>
      <p:sp>
        <p:nvSpPr>
          <p:cNvPr id="723" name="time0-scenario-4">
            <a:extLst>
              <a:ext uri="{FF2B5EF4-FFF2-40B4-BE49-F238E27FC236}">
                <a16:creationId xmlns:a16="http://schemas.microsoft.com/office/drawing/2014/main" id="{343B3A2E-EB1B-5DFD-1263-E2771FC9B612}"/>
              </a:ext>
            </a:extLst>
          </p:cNvPr>
          <p:cNvSpPr>
            <a:spLocks noGrp="1"/>
          </p:cNvSpPr>
          <p:nvPr/>
        </p:nvSpPr>
        <p:spPr>
          <a:xfrm flipV="1">
            <a:off x="1024369" y="2417820"/>
            <a:ext cx="2312362" cy="112631"/>
          </a:xfrm>
          <a:prstGeom prst="line">
            <a:avLst/>
          </a:prstGeom>
          <a:noFill/>
          <a:ln w="9777">
            <a:solidFill>
              <a:srgbClr val="7EAAF3"/>
            </a:solidFill>
            <a:prstDash val="solid"/>
          </a:ln>
        </p:spPr>
      </p:sp>
      <p:sp>
        <p:nvSpPr>
          <p:cNvPr id="725" name="time0-scenario-5">
            <a:extLst>
              <a:ext uri="{FF2B5EF4-FFF2-40B4-BE49-F238E27FC236}">
                <a16:creationId xmlns:a16="http://schemas.microsoft.com/office/drawing/2014/main" id="{80763B50-04C7-68FF-61F2-994D58F7FC8C}"/>
              </a:ext>
            </a:extLst>
          </p:cNvPr>
          <p:cNvSpPr>
            <a:spLocks noGrp="1"/>
          </p:cNvSpPr>
          <p:nvPr/>
        </p:nvSpPr>
        <p:spPr>
          <a:xfrm flipV="1">
            <a:off x="1024369" y="2470382"/>
            <a:ext cx="2312362" cy="60070"/>
          </a:xfrm>
          <a:prstGeom prst="line">
            <a:avLst/>
          </a:prstGeom>
          <a:noFill/>
          <a:ln w="6768">
            <a:solidFill>
              <a:srgbClr val="477FDB"/>
            </a:solidFill>
            <a:prstDash val="solid"/>
          </a:ln>
        </p:spPr>
      </p:sp>
      <p:sp>
        <p:nvSpPr>
          <p:cNvPr id="727" name="time0-scenario-dash-5">
            <a:extLst>
              <a:ext uri="{FF2B5EF4-FFF2-40B4-BE49-F238E27FC236}">
                <a16:creationId xmlns:a16="http://schemas.microsoft.com/office/drawing/2014/main" id="{625ED816-166D-6911-1078-8D16E9F2B40D}"/>
              </a:ext>
            </a:extLst>
          </p:cNvPr>
          <p:cNvSpPr>
            <a:spLocks noGrp="1"/>
          </p:cNvSpPr>
          <p:nvPr/>
        </p:nvSpPr>
        <p:spPr>
          <a:xfrm flipV="1">
            <a:off x="2184316" y="2470382"/>
            <a:ext cx="1152415" cy="29743"/>
          </a:xfrm>
          <a:prstGeom prst="line">
            <a:avLst/>
          </a:prstGeom>
          <a:noFill/>
          <a:ln w="6016">
            <a:solidFill>
              <a:srgbClr val="A9C5F2"/>
            </a:solidFill>
            <a:prstDash val="solid"/>
          </a:ln>
        </p:spPr>
      </p:sp>
      <p:sp>
        <p:nvSpPr>
          <p:cNvPr id="729" name="time0-scenario-6">
            <a:extLst>
              <a:ext uri="{FF2B5EF4-FFF2-40B4-BE49-F238E27FC236}">
                <a16:creationId xmlns:a16="http://schemas.microsoft.com/office/drawing/2014/main" id="{D2634893-39C7-B339-EAA0-AB110B94B374}"/>
              </a:ext>
            </a:extLst>
          </p:cNvPr>
          <p:cNvSpPr>
            <a:spLocks noGrp="1"/>
          </p:cNvSpPr>
          <p:nvPr/>
        </p:nvSpPr>
        <p:spPr>
          <a:xfrm>
            <a:off x="1024369" y="2530452"/>
            <a:ext cx="2312362" cy="60070"/>
          </a:xfrm>
          <a:prstGeom prst="line">
            <a:avLst/>
          </a:prstGeom>
          <a:noFill/>
          <a:ln w="6768">
            <a:solidFill>
              <a:srgbClr val="7EAAF3"/>
            </a:solidFill>
            <a:prstDash val="solid"/>
          </a:ln>
        </p:spPr>
      </p:sp>
      <p:sp>
        <p:nvSpPr>
          <p:cNvPr id="731" name="time0-scenario-7">
            <a:extLst>
              <a:ext uri="{FF2B5EF4-FFF2-40B4-BE49-F238E27FC236}">
                <a16:creationId xmlns:a16="http://schemas.microsoft.com/office/drawing/2014/main" id="{65C67E93-5FE2-48FA-1D25-2A5CC407C116}"/>
              </a:ext>
            </a:extLst>
          </p:cNvPr>
          <p:cNvSpPr>
            <a:spLocks noGrp="1"/>
          </p:cNvSpPr>
          <p:nvPr/>
        </p:nvSpPr>
        <p:spPr>
          <a:xfrm>
            <a:off x="1024369" y="2530452"/>
            <a:ext cx="2312362" cy="112631"/>
          </a:xfrm>
          <a:prstGeom prst="line">
            <a:avLst/>
          </a:prstGeom>
          <a:noFill/>
          <a:ln w="9777">
            <a:solidFill>
              <a:srgbClr val="477FDB"/>
            </a:solidFill>
            <a:prstDash val="solid"/>
          </a:ln>
        </p:spPr>
      </p:sp>
      <p:sp>
        <p:nvSpPr>
          <p:cNvPr id="733" name="time0-scenario-dash-7">
            <a:extLst>
              <a:ext uri="{FF2B5EF4-FFF2-40B4-BE49-F238E27FC236}">
                <a16:creationId xmlns:a16="http://schemas.microsoft.com/office/drawing/2014/main" id="{E330FC30-8A00-FE0F-A9AC-3A957CC54137}"/>
              </a:ext>
            </a:extLst>
          </p:cNvPr>
          <p:cNvSpPr>
            <a:spLocks noGrp="1"/>
          </p:cNvSpPr>
          <p:nvPr/>
        </p:nvSpPr>
        <p:spPr>
          <a:xfrm>
            <a:off x="2184316" y="2587314"/>
            <a:ext cx="1152415" cy="55769"/>
          </a:xfrm>
          <a:prstGeom prst="line">
            <a:avLst/>
          </a:prstGeom>
          <a:noFill/>
          <a:ln w="6016">
            <a:solidFill>
              <a:srgbClr val="A9C5F2"/>
            </a:solidFill>
            <a:prstDash val="solid"/>
          </a:ln>
        </p:spPr>
      </p:sp>
      <p:sp>
        <p:nvSpPr>
          <p:cNvPr id="735" name="time0-scenario-8">
            <a:extLst>
              <a:ext uri="{FF2B5EF4-FFF2-40B4-BE49-F238E27FC236}">
                <a16:creationId xmlns:a16="http://schemas.microsoft.com/office/drawing/2014/main" id="{30147D2B-C940-D8BF-B397-26BB8D8A4E4B}"/>
              </a:ext>
            </a:extLst>
          </p:cNvPr>
          <p:cNvSpPr>
            <a:spLocks noGrp="1"/>
          </p:cNvSpPr>
          <p:nvPr/>
        </p:nvSpPr>
        <p:spPr>
          <a:xfrm>
            <a:off x="1024369" y="2530452"/>
            <a:ext cx="2312362" cy="165193"/>
          </a:xfrm>
          <a:prstGeom prst="line">
            <a:avLst/>
          </a:prstGeom>
          <a:noFill/>
          <a:ln w="6768">
            <a:solidFill>
              <a:srgbClr val="7EAAF3"/>
            </a:solidFill>
            <a:prstDash val="solid"/>
          </a:ln>
        </p:spPr>
      </p:sp>
      <p:sp>
        <p:nvSpPr>
          <p:cNvPr id="737" name="time0-scenario-9">
            <a:extLst>
              <a:ext uri="{FF2B5EF4-FFF2-40B4-BE49-F238E27FC236}">
                <a16:creationId xmlns:a16="http://schemas.microsoft.com/office/drawing/2014/main" id="{6D90D53A-D5F8-D801-59DE-ABCB9F70C598}"/>
              </a:ext>
            </a:extLst>
          </p:cNvPr>
          <p:cNvSpPr>
            <a:spLocks noGrp="1"/>
          </p:cNvSpPr>
          <p:nvPr/>
        </p:nvSpPr>
        <p:spPr>
          <a:xfrm>
            <a:off x="1024369" y="2530452"/>
            <a:ext cx="2312362" cy="217754"/>
          </a:xfrm>
          <a:prstGeom prst="line">
            <a:avLst/>
          </a:prstGeom>
          <a:noFill/>
          <a:ln w="6768">
            <a:solidFill>
              <a:srgbClr val="477FDB"/>
            </a:solidFill>
            <a:prstDash val="solid"/>
          </a:ln>
        </p:spPr>
      </p:sp>
      <p:sp>
        <p:nvSpPr>
          <p:cNvPr id="739" name="time0-scenario-dash-9">
            <a:extLst>
              <a:ext uri="{FF2B5EF4-FFF2-40B4-BE49-F238E27FC236}">
                <a16:creationId xmlns:a16="http://schemas.microsoft.com/office/drawing/2014/main" id="{B68BF74A-4F72-82B2-0E1C-5F98635B8B0E}"/>
              </a:ext>
            </a:extLst>
          </p:cNvPr>
          <p:cNvSpPr>
            <a:spLocks noGrp="1"/>
          </p:cNvSpPr>
          <p:nvPr/>
        </p:nvSpPr>
        <p:spPr>
          <a:xfrm>
            <a:off x="2184316" y="2640386"/>
            <a:ext cx="1152415" cy="107820"/>
          </a:xfrm>
          <a:prstGeom prst="line">
            <a:avLst/>
          </a:prstGeom>
          <a:noFill/>
          <a:ln w="6016">
            <a:solidFill>
              <a:srgbClr val="A9C5F2"/>
            </a:solidFill>
            <a:prstDash val="solid"/>
          </a:ln>
        </p:spPr>
      </p:sp>
      <p:sp>
        <p:nvSpPr>
          <p:cNvPr id="741" name="time0-scenario-10">
            <a:extLst>
              <a:ext uri="{FF2B5EF4-FFF2-40B4-BE49-F238E27FC236}">
                <a16:creationId xmlns:a16="http://schemas.microsoft.com/office/drawing/2014/main" id="{23A90C9E-E4F5-728F-B248-93AB0DF00F0A}"/>
              </a:ext>
            </a:extLst>
          </p:cNvPr>
          <p:cNvSpPr>
            <a:spLocks noGrp="1"/>
          </p:cNvSpPr>
          <p:nvPr/>
        </p:nvSpPr>
        <p:spPr>
          <a:xfrm>
            <a:off x="1024369" y="2530452"/>
            <a:ext cx="2312362" cy="270315"/>
          </a:xfrm>
          <a:prstGeom prst="line">
            <a:avLst/>
          </a:prstGeom>
          <a:noFill/>
          <a:ln w="9777">
            <a:solidFill>
              <a:srgbClr val="7EAAF3"/>
            </a:solidFill>
            <a:prstDash val="solid"/>
          </a:ln>
        </p:spPr>
      </p:sp>
      <p:sp>
        <p:nvSpPr>
          <p:cNvPr id="743" name="distribution-arrow">
            <a:extLst>
              <a:ext uri="{FF2B5EF4-FFF2-40B4-BE49-F238E27FC236}">
                <a16:creationId xmlns:a16="http://schemas.microsoft.com/office/drawing/2014/main" id="{30BDFBFE-71E1-0F1F-01A9-A22A01E71FA3}"/>
              </a:ext>
            </a:extLst>
          </p:cNvPr>
          <p:cNvSpPr>
            <a:spLocks noGrp="1"/>
          </p:cNvSpPr>
          <p:nvPr/>
        </p:nvSpPr>
        <p:spPr>
          <a:xfrm>
            <a:off x="3457245" y="2477891"/>
            <a:ext cx="203367" cy="135158"/>
          </a:xfrm>
          <a:prstGeom prst="rightArrow">
            <a:avLst/>
          </a:prstGeom>
          <a:solidFill>
            <a:srgbClr val="B8B8B8"/>
          </a:solidFill>
          <a:ln w="7520">
            <a:solidFill>
              <a:srgbClr val="B8B8B8"/>
            </a:solidFill>
            <a:prstDash val="solid"/>
          </a:ln>
        </p:spPr>
      </p:sp>
      <p:sp>
        <p:nvSpPr>
          <p:cNvPr id="745" name="distribution-title">
            <a:extLst>
              <a:ext uri="{FF2B5EF4-FFF2-40B4-BE49-F238E27FC236}">
                <a16:creationId xmlns:a16="http://schemas.microsoft.com/office/drawing/2014/main" id="{F85B6975-D54A-0899-D122-E232653B1033}"/>
              </a:ext>
            </a:extLst>
          </p:cNvPr>
          <p:cNvSpPr>
            <a:spLocks noGrp="1"/>
          </p:cNvSpPr>
          <p:nvPr/>
        </p:nvSpPr>
        <p:spPr>
          <a:xfrm>
            <a:off x="3600355" y="2080030"/>
            <a:ext cx="790873" cy="150175"/>
          </a:xfrm>
          <a:prstGeom prst="rect">
            <a:avLst/>
          </a:prstGeom>
          <a:noFill/>
          <a:ln w="0">
            <a:noFill/>
            <a:prstDash val="solid"/>
          </a:ln>
        </p:spPr>
        <p:txBody>
          <a:bodyPr/>
          <a:lstStyle/>
          <a:p>
            <a:pPr algn="ctr">
              <a:defRPr sz="711" b="1">
                <a:solidFill>
                  <a:srgbClr val="1D3B6A"/>
                </a:solidFill>
              </a:defRPr>
            </a:pPr>
            <a:r>
              <a:rPr sz="711" b="1" dirty="0" err="1">
                <a:solidFill>
                  <a:srgbClr val="1D3B6A"/>
                </a:solidFill>
              </a:rPr>
              <a:t>終端の分布</a:t>
            </a:r>
            <a:endParaRPr sz="711" b="1" dirty="0">
              <a:solidFill>
                <a:srgbClr val="1D3B6A"/>
              </a:solidFill>
            </a:endParaRPr>
          </a:p>
        </p:txBody>
      </p:sp>
      <p:sp>
        <p:nvSpPr>
          <p:cNvPr id="747" name="distribution-axis">
            <a:extLst>
              <a:ext uri="{FF2B5EF4-FFF2-40B4-BE49-F238E27FC236}">
                <a16:creationId xmlns:a16="http://schemas.microsoft.com/office/drawing/2014/main" id="{27A384E6-866D-90EC-36E8-82FEA4B61E8F}"/>
              </a:ext>
            </a:extLst>
          </p:cNvPr>
          <p:cNvSpPr>
            <a:spLocks noGrp="1"/>
          </p:cNvSpPr>
          <p:nvPr/>
        </p:nvSpPr>
        <p:spPr>
          <a:xfrm>
            <a:off x="3668145" y="2740697"/>
            <a:ext cx="662827" cy="3754"/>
          </a:xfrm>
          <a:prstGeom prst="line">
            <a:avLst/>
          </a:prstGeom>
          <a:noFill/>
          <a:ln w="8272">
            <a:solidFill>
              <a:srgbClr val="1F2937"/>
            </a:solidFill>
            <a:prstDash val="solid"/>
          </a:ln>
        </p:spPr>
      </p:sp>
      <p:sp>
        <p:nvSpPr>
          <p:cNvPr id="749" name="distribution-arrow-head-1">
            <a:extLst>
              <a:ext uri="{FF2B5EF4-FFF2-40B4-BE49-F238E27FC236}">
                <a16:creationId xmlns:a16="http://schemas.microsoft.com/office/drawing/2014/main" id="{30B62145-15EE-42C4-E18C-5F8854E90FCB}"/>
              </a:ext>
            </a:extLst>
          </p:cNvPr>
          <p:cNvSpPr>
            <a:spLocks noGrp="1"/>
          </p:cNvSpPr>
          <p:nvPr/>
        </p:nvSpPr>
        <p:spPr>
          <a:xfrm flipH="1" flipV="1">
            <a:off x="4278247" y="2710662"/>
            <a:ext cx="52725" cy="30035"/>
          </a:xfrm>
          <a:prstGeom prst="line">
            <a:avLst/>
          </a:prstGeom>
          <a:noFill/>
          <a:ln w="8272">
            <a:solidFill>
              <a:srgbClr val="1F2937"/>
            </a:solidFill>
            <a:prstDash val="solid"/>
          </a:ln>
        </p:spPr>
      </p:sp>
      <p:sp>
        <p:nvSpPr>
          <p:cNvPr id="751" name="distribution-arrow-head-2">
            <a:extLst>
              <a:ext uri="{FF2B5EF4-FFF2-40B4-BE49-F238E27FC236}">
                <a16:creationId xmlns:a16="http://schemas.microsoft.com/office/drawing/2014/main" id="{AF95AA1F-F474-ADD6-764F-8159C516E2B6}"/>
              </a:ext>
            </a:extLst>
          </p:cNvPr>
          <p:cNvSpPr>
            <a:spLocks noGrp="1"/>
          </p:cNvSpPr>
          <p:nvPr/>
        </p:nvSpPr>
        <p:spPr>
          <a:xfrm flipH="1">
            <a:off x="4278247" y="2740697"/>
            <a:ext cx="52725" cy="30035"/>
          </a:xfrm>
          <a:prstGeom prst="line">
            <a:avLst/>
          </a:prstGeom>
          <a:noFill/>
          <a:ln w="8272">
            <a:solidFill>
              <a:srgbClr val="1F2937"/>
            </a:solidFill>
            <a:prstDash val="solid"/>
          </a:ln>
        </p:spPr>
      </p:sp>
      <p:sp>
        <p:nvSpPr>
          <p:cNvPr id="753" name="distribution-curve-1">
            <a:extLst>
              <a:ext uri="{FF2B5EF4-FFF2-40B4-BE49-F238E27FC236}">
                <a16:creationId xmlns:a16="http://schemas.microsoft.com/office/drawing/2014/main" id="{0A74BC5A-7259-F076-F8F7-C2BD5C5DC9D1}"/>
              </a:ext>
            </a:extLst>
          </p:cNvPr>
          <p:cNvSpPr>
            <a:spLocks noGrp="1"/>
          </p:cNvSpPr>
          <p:nvPr/>
        </p:nvSpPr>
        <p:spPr>
          <a:xfrm flipV="1">
            <a:off x="3675677" y="2695645"/>
            <a:ext cx="75321" cy="15018"/>
          </a:xfrm>
          <a:prstGeom prst="line">
            <a:avLst/>
          </a:prstGeom>
          <a:noFill/>
          <a:ln w="10529">
            <a:solidFill>
              <a:srgbClr val="477FDB"/>
            </a:solidFill>
            <a:prstDash val="solid"/>
          </a:ln>
        </p:spPr>
      </p:sp>
      <p:sp>
        <p:nvSpPr>
          <p:cNvPr id="755" name="distribution-curve-2">
            <a:extLst>
              <a:ext uri="{FF2B5EF4-FFF2-40B4-BE49-F238E27FC236}">
                <a16:creationId xmlns:a16="http://schemas.microsoft.com/office/drawing/2014/main" id="{73F51946-DDA0-1941-744F-BC877DB34B52}"/>
              </a:ext>
            </a:extLst>
          </p:cNvPr>
          <p:cNvSpPr>
            <a:spLocks noGrp="1"/>
          </p:cNvSpPr>
          <p:nvPr/>
        </p:nvSpPr>
        <p:spPr>
          <a:xfrm flipV="1">
            <a:off x="3750998" y="2643083"/>
            <a:ext cx="60257" cy="52561"/>
          </a:xfrm>
          <a:prstGeom prst="line">
            <a:avLst/>
          </a:prstGeom>
          <a:noFill/>
          <a:ln w="10529">
            <a:solidFill>
              <a:srgbClr val="477FDB"/>
            </a:solidFill>
            <a:prstDash val="solid"/>
          </a:ln>
        </p:spPr>
      </p:sp>
      <p:sp>
        <p:nvSpPr>
          <p:cNvPr id="757" name="distribution-curve-3">
            <a:extLst>
              <a:ext uri="{FF2B5EF4-FFF2-40B4-BE49-F238E27FC236}">
                <a16:creationId xmlns:a16="http://schemas.microsoft.com/office/drawing/2014/main" id="{BE90D474-E93B-00FD-3C70-9C543F0F1CC3}"/>
              </a:ext>
            </a:extLst>
          </p:cNvPr>
          <p:cNvSpPr>
            <a:spLocks noGrp="1"/>
          </p:cNvSpPr>
          <p:nvPr/>
        </p:nvSpPr>
        <p:spPr>
          <a:xfrm flipV="1">
            <a:off x="3811255" y="2515434"/>
            <a:ext cx="52725" cy="127649"/>
          </a:xfrm>
          <a:prstGeom prst="line">
            <a:avLst/>
          </a:prstGeom>
          <a:noFill/>
          <a:ln w="10529">
            <a:solidFill>
              <a:srgbClr val="477FDB"/>
            </a:solidFill>
            <a:prstDash val="solid"/>
          </a:ln>
        </p:spPr>
      </p:sp>
      <p:sp>
        <p:nvSpPr>
          <p:cNvPr id="759" name="distribution-curve-4">
            <a:extLst>
              <a:ext uri="{FF2B5EF4-FFF2-40B4-BE49-F238E27FC236}">
                <a16:creationId xmlns:a16="http://schemas.microsoft.com/office/drawing/2014/main" id="{6AF7D912-2830-AC24-962B-AD9C338F363A}"/>
              </a:ext>
            </a:extLst>
          </p:cNvPr>
          <p:cNvSpPr>
            <a:spLocks noGrp="1"/>
          </p:cNvSpPr>
          <p:nvPr/>
        </p:nvSpPr>
        <p:spPr>
          <a:xfrm flipV="1">
            <a:off x="3863980" y="2350242"/>
            <a:ext cx="52725" cy="165193"/>
          </a:xfrm>
          <a:prstGeom prst="line">
            <a:avLst/>
          </a:prstGeom>
          <a:noFill/>
          <a:ln w="10529">
            <a:solidFill>
              <a:srgbClr val="477FDB"/>
            </a:solidFill>
            <a:prstDash val="solid"/>
          </a:ln>
        </p:spPr>
      </p:sp>
      <p:sp>
        <p:nvSpPr>
          <p:cNvPr id="761" name="distribution-curve-5">
            <a:extLst>
              <a:ext uri="{FF2B5EF4-FFF2-40B4-BE49-F238E27FC236}">
                <a16:creationId xmlns:a16="http://schemas.microsoft.com/office/drawing/2014/main" id="{02F87D54-6677-FEA7-C512-DE69DD164C78}"/>
              </a:ext>
            </a:extLst>
          </p:cNvPr>
          <p:cNvSpPr>
            <a:spLocks noGrp="1"/>
          </p:cNvSpPr>
          <p:nvPr/>
        </p:nvSpPr>
        <p:spPr>
          <a:xfrm flipV="1">
            <a:off x="3916705" y="2267645"/>
            <a:ext cx="52725" cy="82596"/>
          </a:xfrm>
          <a:prstGeom prst="line">
            <a:avLst/>
          </a:prstGeom>
          <a:noFill/>
          <a:ln w="10529">
            <a:solidFill>
              <a:srgbClr val="477FDB"/>
            </a:solidFill>
            <a:prstDash val="solid"/>
          </a:ln>
        </p:spPr>
      </p:sp>
      <p:sp>
        <p:nvSpPr>
          <p:cNvPr id="763" name="distribution-curve-6">
            <a:extLst>
              <a:ext uri="{FF2B5EF4-FFF2-40B4-BE49-F238E27FC236}">
                <a16:creationId xmlns:a16="http://schemas.microsoft.com/office/drawing/2014/main" id="{1E184305-ABE2-B8DB-013D-F8905D4D0FB9}"/>
              </a:ext>
            </a:extLst>
          </p:cNvPr>
          <p:cNvSpPr>
            <a:spLocks noGrp="1"/>
          </p:cNvSpPr>
          <p:nvPr/>
        </p:nvSpPr>
        <p:spPr>
          <a:xfrm>
            <a:off x="3969430" y="2267645"/>
            <a:ext cx="52725" cy="112631"/>
          </a:xfrm>
          <a:prstGeom prst="line">
            <a:avLst/>
          </a:prstGeom>
          <a:noFill/>
          <a:ln w="10529">
            <a:solidFill>
              <a:srgbClr val="477FDB"/>
            </a:solidFill>
            <a:prstDash val="solid"/>
          </a:ln>
        </p:spPr>
      </p:sp>
      <p:sp>
        <p:nvSpPr>
          <p:cNvPr id="765" name="distribution-curve-7">
            <a:extLst>
              <a:ext uri="{FF2B5EF4-FFF2-40B4-BE49-F238E27FC236}">
                <a16:creationId xmlns:a16="http://schemas.microsoft.com/office/drawing/2014/main" id="{78945AEE-77C1-53AF-3FB6-7BEBD9C0D0A2}"/>
              </a:ext>
            </a:extLst>
          </p:cNvPr>
          <p:cNvSpPr>
            <a:spLocks noGrp="1"/>
          </p:cNvSpPr>
          <p:nvPr/>
        </p:nvSpPr>
        <p:spPr>
          <a:xfrm>
            <a:off x="4022155" y="2380277"/>
            <a:ext cx="52725" cy="180210"/>
          </a:xfrm>
          <a:prstGeom prst="line">
            <a:avLst/>
          </a:prstGeom>
          <a:noFill/>
          <a:ln w="10529">
            <a:solidFill>
              <a:srgbClr val="477FDB"/>
            </a:solidFill>
            <a:prstDash val="solid"/>
          </a:ln>
        </p:spPr>
      </p:sp>
      <p:sp>
        <p:nvSpPr>
          <p:cNvPr id="767" name="distribution-curve-8">
            <a:extLst>
              <a:ext uri="{FF2B5EF4-FFF2-40B4-BE49-F238E27FC236}">
                <a16:creationId xmlns:a16="http://schemas.microsoft.com/office/drawing/2014/main" id="{E33CE359-1B51-6F4E-598B-1DCA809A3ED7}"/>
              </a:ext>
            </a:extLst>
          </p:cNvPr>
          <p:cNvSpPr>
            <a:spLocks noGrp="1"/>
          </p:cNvSpPr>
          <p:nvPr/>
        </p:nvSpPr>
        <p:spPr>
          <a:xfrm>
            <a:off x="4074880" y="2560487"/>
            <a:ext cx="52725" cy="112631"/>
          </a:xfrm>
          <a:prstGeom prst="line">
            <a:avLst/>
          </a:prstGeom>
          <a:noFill/>
          <a:ln w="10529">
            <a:solidFill>
              <a:srgbClr val="477FDB"/>
            </a:solidFill>
            <a:prstDash val="solid"/>
          </a:ln>
        </p:spPr>
      </p:sp>
      <p:sp>
        <p:nvSpPr>
          <p:cNvPr id="769" name="distribution-curve-9">
            <a:extLst>
              <a:ext uri="{FF2B5EF4-FFF2-40B4-BE49-F238E27FC236}">
                <a16:creationId xmlns:a16="http://schemas.microsoft.com/office/drawing/2014/main" id="{C2B5D4E1-61A4-200E-6B35-632DE5631FAF}"/>
              </a:ext>
            </a:extLst>
          </p:cNvPr>
          <p:cNvSpPr>
            <a:spLocks noGrp="1"/>
          </p:cNvSpPr>
          <p:nvPr/>
        </p:nvSpPr>
        <p:spPr>
          <a:xfrm>
            <a:off x="4127605" y="2673118"/>
            <a:ext cx="75321" cy="45053"/>
          </a:xfrm>
          <a:prstGeom prst="line">
            <a:avLst/>
          </a:prstGeom>
          <a:noFill/>
          <a:ln w="10529">
            <a:solidFill>
              <a:srgbClr val="477FDB"/>
            </a:solidFill>
            <a:prstDash val="solid"/>
          </a:ln>
        </p:spPr>
      </p:sp>
      <p:sp>
        <p:nvSpPr>
          <p:cNvPr id="771" name="distribution-curve-10">
            <a:extLst>
              <a:ext uri="{FF2B5EF4-FFF2-40B4-BE49-F238E27FC236}">
                <a16:creationId xmlns:a16="http://schemas.microsoft.com/office/drawing/2014/main" id="{606FF329-D559-E133-FC25-D47364956BA2}"/>
              </a:ext>
            </a:extLst>
          </p:cNvPr>
          <p:cNvSpPr>
            <a:spLocks noGrp="1"/>
          </p:cNvSpPr>
          <p:nvPr/>
        </p:nvSpPr>
        <p:spPr>
          <a:xfrm>
            <a:off x="4202926" y="2718171"/>
            <a:ext cx="67789" cy="7509"/>
          </a:xfrm>
          <a:prstGeom prst="line">
            <a:avLst/>
          </a:prstGeom>
          <a:noFill/>
          <a:ln w="10529">
            <a:solidFill>
              <a:srgbClr val="477FDB"/>
            </a:solidFill>
            <a:prstDash val="solid"/>
          </a:ln>
        </p:spPr>
      </p:sp>
      <p:sp>
        <p:nvSpPr>
          <p:cNvPr id="773" name="distribution-mean-0">
            <a:extLst>
              <a:ext uri="{FF2B5EF4-FFF2-40B4-BE49-F238E27FC236}">
                <a16:creationId xmlns:a16="http://schemas.microsoft.com/office/drawing/2014/main" id="{6A70E64C-1FDF-3EF5-5B74-A416C7368CC9}"/>
              </a:ext>
            </a:extLst>
          </p:cNvPr>
          <p:cNvSpPr>
            <a:spLocks noGrp="1"/>
          </p:cNvSpPr>
          <p:nvPr/>
        </p:nvSpPr>
        <p:spPr>
          <a:xfrm>
            <a:off x="3973196" y="2282663"/>
            <a:ext cx="7532" cy="22526"/>
          </a:xfrm>
          <a:prstGeom prst="rect">
            <a:avLst/>
          </a:prstGeom>
          <a:solidFill>
            <a:srgbClr val="6B7280"/>
          </a:solidFill>
          <a:ln w="0">
            <a:noFill/>
            <a:prstDash val="solid"/>
          </a:ln>
        </p:spPr>
      </p:sp>
      <p:sp>
        <p:nvSpPr>
          <p:cNvPr id="775" name="distribution-mean-1">
            <a:extLst>
              <a:ext uri="{FF2B5EF4-FFF2-40B4-BE49-F238E27FC236}">
                <a16:creationId xmlns:a16="http://schemas.microsoft.com/office/drawing/2014/main" id="{8D775E6E-A684-66B9-AA21-F86E9FE2380F}"/>
              </a:ext>
            </a:extLst>
          </p:cNvPr>
          <p:cNvSpPr>
            <a:spLocks noGrp="1"/>
          </p:cNvSpPr>
          <p:nvPr/>
        </p:nvSpPr>
        <p:spPr>
          <a:xfrm>
            <a:off x="3973196" y="2327715"/>
            <a:ext cx="7532" cy="22526"/>
          </a:xfrm>
          <a:prstGeom prst="rect">
            <a:avLst/>
          </a:prstGeom>
          <a:solidFill>
            <a:srgbClr val="6B7280"/>
          </a:solidFill>
          <a:ln w="0">
            <a:noFill/>
            <a:prstDash val="solid"/>
          </a:ln>
        </p:spPr>
      </p:sp>
      <p:sp>
        <p:nvSpPr>
          <p:cNvPr id="777" name="distribution-mean-2">
            <a:extLst>
              <a:ext uri="{FF2B5EF4-FFF2-40B4-BE49-F238E27FC236}">
                <a16:creationId xmlns:a16="http://schemas.microsoft.com/office/drawing/2014/main" id="{9A260863-1E7B-944A-371D-14B5142DFD1D}"/>
              </a:ext>
            </a:extLst>
          </p:cNvPr>
          <p:cNvSpPr>
            <a:spLocks noGrp="1"/>
          </p:cNvSpPr>
          <p:nvPr/>
        </p:nvSpPr>
        <p:spPr>
          <a:xfrm>
            <a:off x="3973196" y="2372768"/>
            <a:ext cx="7532" cy="22526"/>
          </a:xfrm>
          <a:prstGeom prst="rect">
            <a:avLst/>
          </a:prstGeom>
          <a:solidFill>
            <a:srgbClr val="6B7280"/>
          </a:solidFill>
          <a:ln w="0">
            <a:noFill/>
            <a:prstDash val="solid"/>
          </a:ln>
        </p:spPr>
      </p:sp>
      <p:sp>
        <p:nvSpPr>
          <p:cNvPr id="779" name="distribution-mean-3">
            <a:extLst>
              <a:ext uri="{FF2B5EF4-FFF2-40B4-BE49-F238E27FC236}">
                <a16:creationId xmlns:a16="http://schemas.microsoft.com/office/drawing/2014/main" id="{4B8B5F4B-63DE-69BC-0ADB-9E701550FCE8}"/>
              </a:ext>
            </a:extLst>
          </p:cNvPr>
          <p:cNvSpPr>
            <a:spLocks noGrp="1"/>
          </p:cNvSpPr>
          <p:nvPr/>
        </p:nvSpPr>
        <p:spPr>
          <a:xfrm>
            <a:off x="3973196" y="2417820"/>
            <a:ext cx="7532" cy="22526"/>
          </a:xfrm>
          <a:prstGeom prst="rect">
            <a:avLst/>
          </a:prstGeom>
          <a:solidFill>
            <a:srgbClr val="6B7280"/>
          </a:solidFill>
          <a:ln w="0">
            <a:noFill/>
            <a:prstDash val="solid"/>
          </a:ln>
        </p:spPr>
      </p:sp>
      <p:sp>
        <p:nvSpPr>
          <p:cNvPr id="781" name="distribution-mean-4">
            <a:extLst>
              <a:ext uri="{FF2B5EF4-FFF2-40B4-BE49-F238E27FC236}">
                <a16:creationId xmlns:a16="http://schemas.microsoft.com/office/drawing/2014/main" id="{E7866240-64D8-44ED-B790-7152A2C0F292}"/>
              </a:ext>
            </a:extLst>
          </p:cNvPr>
          <p:cNvSpPr>
            <a:spLocks noGrp="1"/>
          </p:cNvSpPr>
          <p:nvPr/>
        </p:nvSpPr>
        <p:spPr>
          <a:xfrm>
            <a:off x="3973196" y="2462873"/>
            <a:ext cx="7532" cy="22526"/>
          </a:xfrm>
          <a:prstGeom prst="rect">
            <a:avLst/>
          </a:prstGeom>
          <a:solidFill>
            <a:srgbClr val="6B7280"/>
          </a:solidFill>
          <a:ln w="0">
            <a:noFill/>
            <a:prstDash val="solid"/>
          </a:ln>
        </p:spPr>
      </p:sp>
      <p:sp>
        <p:nvSpPr>
          <p:cNvPr id="783" name="distribution-mean-5">
            <a:extLst>
              <a:ext uri="{FF2B5EF4-FFF2-40B4-BE49-F238E27FC236}">
                <a16:creationId xmlns:a16="http://schemas.microsoft.com/office/drawing/2014/main" id="{B857D653-B9B2-4968-53FE-2A2846CF96C7}"/>
              </a:ext>
            </a:extLst>
          </p:cNvPr>
          <p:cNvSpPr>
            <a:spLocks noGrp="1"/>
          </p:cNvSpPr>
          <p:nvPr/>
        </p:nvSpPr>
        <p:spPr>
          <a:xfrm>
            <a:off x="3973196" y="2507926"/>
            <a:ext cx="7532" cy="22526"/>
          </a:xfrm>
          <a:prstGeom prst="rect">
            <a:avLst/>
          </a:prstGeom>
          <a:solidFill>
            <a:srgbClr val="6B7280"/>
          </a:solidFill>
          <a:ln w="0">
            <a:noFill/>
            <a:prstDash val="solid"/>
          </a:ln>
        </p:spPr>
      </p:sp>
      <p:sp>
        <p:nvSpPr>
          <p:cNvPr id="785" name="distribution-mean-6">
            <a:extLst>
              <a:ext uri="{FF2B5EF4-FFF2-40B4-BE49-F238E27FC236}">
                <a16:creationId xmlns:a16="http://schemas.microsoft.com/office/drawing/2014/main" id="{A4750F99-51EE-F355-7FD2-FDE5B69E5737}"/>
              </a:ext>
            </a:extLst>
          </p:cNvPr>
          <p:cNvSpPr>
            <a:spLocks noGrp="1"/>
          </p:cNvSpPr>
          <p:nvPr/>
        </p:nvSpPr>
        <p:spPr>
          <a:xfrm>
            <a:off x="3973196" y="2552978"/>
            <a:ext cx="7532" cy="22526"/>
          </a:xfrm>
          <a:prstGeom prst="rect">
            <a:avLst/>
          </a:prstGeom>
          <a:solidFill>
            <a:srgbClr val="6B7280"/>
          </a:solidFill>
          <a:ln w="0">
            <a:noFill/>
            <a:prstDash val="solid"/>
          </a:ln>
        </p:spPr>
      </p:sp>
      <p:sp>
        <p:nvSpPr>
          <p:cNvPr id="787" name="distribution-mean-7">
            <a:extLst>
              <a:ext uri="{FF2B5EF4-FFF2-40B4-BE49-F238E27FC236}">
                <a16:creationId xmlns:a16="http://schemas.microsoft.com/office/drawing/2014/main" id="{EC6F5F16-71BB-4E79-36D2-5FEA58526A87}"/>
              </a:ext>
            </a:extLst>
          </p:cNvPr>
          <p:cNvSpPr>
            <a:spLocks noGrp="1"/>
          </p:cNvSpPr>
          <p:nvPr/>
        </p:nvSpPr>
        <p:spPr>
          <a:xfrm>
            <a:off x="3973196" y="2598031"/>
            <a:ext cx="7532" cy="22526"/>
          </a:xfrm>
          <a:prstGeom prst="rect">
            <a:avLst/>
          </a:prstGeom>
          <a:solidFill>
            <a:srgbClr val="6B7280"/>
          </a:solidFill>
          <a:ln w="0">
            <a:noFill/>
            <a:prstDash val="solid"/>
          </a:ln>
        </p:spPr>
      </p:sp>
      <p:sp>
        <p:nvSpPr>
          <p:cNvPr id="789" name="distribution-mean-8">
            <a:extLst>
              <a:ext uri="{FF2B5EF4-FFF2-40B4-BE49-F238E27FC236}">
                <a16:creationId xmlns:a16="http://schemas.microsoft.com/office/drawing/2014/main" id="{12E8CF24-3947-AE86-3BF7-D4D39EFFF006}"/>
              </a:ext>
            </a:extLst>
          </p:cNvPr>
          <p:cNvSpPr>
            <a:spLocks noGrp="1"/>
          </p:cNvSpPr>
          <p:nvPr/>
        </p:nvSpPr>
        <p:spPr>
          <a:xfrm>
            <a:off x="3973196" y="2643083"/>
            <a:ext cx="7532" cy="22526"/>
          </a:xfrm>
          <a:prstGeom prst="rect">
            <a:avLst/>
          </a:prstGeom>
          <a:solidFill>
            <a:srgbClr val="6B7280"/>
          </a:solidFill>
          <a:ln w="0">
            <a:noFill/>
            <a:prstDash val="solid"/>
          </a:ln>
        </p:spPr>
      </p:sp>
      <p:sp>
        <p:nvSpPr>
          <p:cNvPr id="791" name="distribution-mean-9">
            <a:extLst>
              <a:ext uri="{FF2B5EF4-FFF2-40B4-BE49-F238E27FC236}">
                <a16:creationId xmlns:a16="http://schemas.microsoft.com/office/drawing/2014/main" id="{AD8E6F63-CEE2-9FF6-ADC8-5547FB1E2593}"/>
              </a:ext>
            </a:extLst>
          </p:cNvPr>
          <p:cNvSpPr>
            <a:spLocks noGrp="1"/>
          </p:cNvSpPr>
          <p:nvPr/>
        </p:nvSpPr>
        <p:spPr>
          <a:xfrm>
            <a:off x="3973196" y="2688136"/>
            <a:ext cx="7532" cy="22526"/>
          </a:xfrm>
          <a:prstGeom prst="rect">
            <a:avLst/>
          </a:prstGeom>
          <a:solidFill>
            <a:srgbClr val="6B7280"/>
          </a:solidFill>
          <a:ln w="0">
            <a:noFill/>
            <a:prstDash val="solid"/>
          </a:ln>
        </p:spPr>
      </p:sp>
      <p:sp>
        <p:nvSpPr>
          <p:cNvPr id="793" name="distribution-mean-10">
            <a:extLst>
              <a:ext uri="{FF2B5EF4-FFF2-40B4-BE49-F238E27FC236}">
                <a16:creationId xmlns:a16="http://schemas.microsoft.com/office/drawing/2014/main" id="{4F818427-79C1-075F-9534-C09A5EAF3CFA}"/>
              </a:ext>
            </a:extLst>
          </p:cNvPr>
          <p:cNvSpPr>
            <a:spLocks noGrp="1"/>
          </p:cNvSpPr>
          <p:nvPr/>
        </p:nvSpPr>
        <p:spPr>
          <a:xfrm>
            <a:off x="3973196" y="2733188"/>
            <a:ext cx="7532" cy="7509"/>
          </a:xfrm>
          <a:prstGeom prst="rect">
            <a:avLst/>
          </a:prstGeom>
          <a:solidFill>
            <a:srgbClr val="6B7280"/>
          </a:solidFill>
          <a:ln w="0">
            <a:noFill/>
            <a:prstDash val="solid"/>
          </a:ln>
        </p:spPr>
      </p:sp>
      <p:sp>
        <p:nvSpPr>
          <p:cNvPr id="795" name="time0-bullets">
            <a:extLst>
              <a:ext uri="{FF2B5EF4-FFF2-40B4-BE49-F238E27FC236}">
                <a16:creationId xmlns:a16="http://schemas.microsoft.com/office/drawing/2014/main" id="{D58A5BCA-3E6F-47B3-54AA-128747136521}"/>
              </a:ext>
            </a:extLst>
          </p:cNvPr>
          <p:cNvSpPr>
            <a:spLocks noGrp="1"/>
          </p:cNvSpPr>
          <p:nvPr/>
        </p:nvSpPr>
        <p:spPr>
          <a:xfrm>
            <a:off x="971644" y="2875855"/>
            <a:ext cx="3299071" cy="315368"/>
          </a:xfrm>
          <a:prstGeom prst="rect">
            <a:avLst/>
          </a:prstGeom>
          <a:noFill/>
          <a:ln w="0">
            <a:noFill/>
            <a:prstDash val="solid"/>
          </a:ln>
        </p:spPr>
        <p:txBody>
          <a:bodyPr/>
          <a:lstStyle/>
          <a:p>
            <a:pPr algn="l">
              <a:defRPr sz="711" b="1">
                <a:solidFill>
                  <a:srgbClr val="193A6B"/>
                </a:solidFill>
              </a:defRPr>
            </a:pPr>
            <a:r>
              <a:rPr sz="800" b="1">
                <a:solidFill>
                  <a:srgbClr val="193A6B"/>
                </a:solidFill>
              </a:rPr>
              <a:t>• 過去も未来も未実現</a:t>
            </a:r>
          </a:p>
          <a:p>
            <a:pPr algn="l">
              <a:defRPr sz="711" b="1">
                <a:solidFill>
                  <a:srgbClr val="193A6B"/>
                </a:solidFill>
              </a:defRPr>
            </a:pPr>
            <a:r>
              <a:rPr sz="800" b="1">
                <a:solidFill>
                  <a:srgbClr val="193A6B"/>
                </a:solidFill>
              </a:rPr>
              <a:t>• 終端分布の分散には、将来リスクと将来の状態差が混在</a:t>
            </a:r>
          </a:p>
        </p:txBody>
      </p:sp>
      <p:sp>
        <p:nvSpPr>
          <p:cNvPr id="797" name="rolling-panel">
            <a:extLst>
              <a:ext uri="{FF2B5EF4-FFF2-40B4-BE49-F238E27FC236}">
                <a16:creationId xmlns:a16="http://schemas.microsoft.com/office/drawing/2014/main" id="{70729DF2-AB7D-4D0F-D520-55127FCB3CD4}"/>
              </a:ext>
            </a:extLst>
          </p:cNvPr>
          <p:cNvSpPr>
            <a:spLocks noGrp="1"/>
          </p:cNvSpPr>
          <p:nvPr/>
        </p:nvSpPr>
        <p:spPr>
          <a:xfrm>
            <a:off x="4556936" y="1862172"/>
            <a:ext cx="3750998" cy="1411647"/>
          </a:xfrm>
          <a:prstGeom prst="roundRect">
            <a:avLst>
              <a:gd name="adj" fmla="val 7458"/>
            </a:avLst>
          </a:prstGeom>
          <a:solidFill>
            <a:srgbClr val="FFFFFF"/>
          </a:solidFill>
          <a:ln w="9025">
            <a:solidFill>
              <a:srgbClr val="69A985"/>
            </a:solidFill>
            <a:prstDash val="solid"/>
          </a:ln>
        </p:spPr>
      </p:sp>
      <p:sp>
        <p:nvSpPr>
          <p:cNvPr id="799" name="rolling-tab">
            <a:extLst>
              <a:ext uri="{FF2B5EF4-FFF2-40B4-BE49-F238E27FC236}">
                <a16:creationId xmlns:a16="http://schemas.microsoft.com/office/drawing/2014/main" id="{0C8E32BE-0210-8974-475C-34E536C65796}"/>
              </a:ext>
            </a:extLst>
          </p:cNvPr>
          <p:cNvSpPr>
            <a:spLocks noGrp="1"/>
          </p:cNvSpPr>
          <p:nvPr/>
        </p:nvSpPr>
        <p:spPr>
          <a:xfrm>
            <a:off x="5566241" y="1742032"/>
            <a:ext cx="1566682" cy="240280"/>
          </a:xfrm>
          <a:prstGeom prst="roundRect">
            <a:avLst>
              <a:gd name="adj" fmla="val 50000"/>
            </a:avLst>
          </a:prstGeom>
          <a:solidFill>
            <a:srgbClr val="007A43"/>
          </a:solidFill>
          <a:ln w="7520">
            <a:solidFill>
              <a:srgbClr val="007A43"/>
            </a:solidFill>
            <a:prstDash val="solid"/>
          </a:ln>
        </p:spPr>
      </p:sp>
      <p:sp>
        <p:nvSpPr>
          <p:cNvPr id="801" name="rolling-tab-label">
            <a:extLst>
              <a:ext uri="{FF2B5EF4-FFF2-40B4-BE49-F238E27FC236}">
                <a16:creationId xmlns:a16="http://schemas.microsoft.com/office/drawing/2014/main" id="{A60510E3-BFE0-56F3-D369-51EA21BD4868}"/>
              </a:ext>
            </a:extLst>
          </p:cNvPr>
          <p:cNvSpPr>
            <a:spLocks noGrp="1"/>
          </p:cNvSpPr>
          <p:nvPr/>
        </p:nvSpPr>
        <p:spPr>
          <a:xfrm>
            <a:off x="5671690" y="1749596"/>
            <a:ext cx="1355783" cy="157684"/>
          </a:xfrm>
          <a:prstGeom prst="rect">
            <a:avLst/>
          </a:prstGeom>
          <a:noFill/>
          <a:ln w="0">
            <a:noFill/>
            <a:prstDash val="solid"/>
          </a:ln>
        </p:spPr>
        <p:txBody>
          <a:bodyPr/>
          <a:lstStyle/>
          <a:p>
            <a:pPr algn="ctr">
              <a:defRPr sz="947" b="1">
                <a:solidFill>
                  <a:srgbClr val="FFFFFF"/>
                </a:solidFill>
              </a:defRPr>
            </a:pPr>
            <a:r>
              <a:rPr sz="947" b="1" dirty="0">
                <a:solidFill>
                  <a:srgbClr val="FFFFFF"/>
                </a:solidFill>
              </a:rPr>
              <a:t>30年後の rolling </a:t>
            </a:r>
            <a:r>
              <a:rPr sz="947" b="1" dirty="0" err="1">
                <a:solidFill>
                  <a:srgbClr val="FFFFFF"/>
                </a:solidFill>
              </a:rPr>
              <a:t>評価</a:t>
            </a:r>
            <a:endParaRPr sz="947" b="1" dirty="0">
              <a:solidFill>
                <a:srgbClr val="FFFFFF"/>
              </a:solidFill>
            </a:endParaRPr>
          </a:p>
        </p:txBody>
      </p:sp>
      <p:sp>
        <p:nvSpPr>
          <p:cNvPr id="803" name="known-balance-callout">
            <a:extLst>
              <a:ext uri="{FF2B5EF4-FFF2-40B4-BE49-F238E27FC236}">
                <a16:creationId xmlns:a16="http://schemas.microsoft.com/office/drawing/2014/main" id="{D4B15D3C-3D03-ABD9-E967-E51294B7A8A6}"/>
              </a:ext>
            </a:extLst>
          </p:cNvPr>
          <p:cNvSpPr>
            <a:spLocks noGrp="1"/>
          </p:cNvSpPr>
          <p:nvPr/>
        </p:nvSpPr>
        <p:spPr>
          <a:xfrm>
            <a:off x="5227295" y="2057400"/>
            <a:ext cx="1054498" cy="217754"/>
          </a:xfrm>
          <a:prstGeom prst="roundRect">
            <a:avLst>
              <a:gd name="adj" fmla="val 17268"/>
            </a:avLst>
          </a:prstGeom>
          <a:solidFill>
            <a:srgbClr val="F8FFF9"/>
          </a:solidFill>
          <a:ln w="7520">
            <a:solidFill>
              <a:srgbClr val="6BBE88"/>
            </a:solidFill>
            <a:prstDash val="solid"/>
          </a:ln>
        </p:spPr>
      </p:sp>
      <p:sp>
        <p:nvSpPr>
          <p:cNvPr id="805" name="known-balance-label">
            <a:extLst>
              <a:ext uri="{FF2B5EF4-FFF2-40B4-BE49-F238E27FC236}">
                <a16:creationId xmlns:a16="http://schemas.microsoft.com/office/drawing/2014/main" id="{CA62C1C0-8F47-4428-BA3C-9922444F560B}"/>
              </a:ext>
            </a:extLst>
          </p:cNvPr>
          <p:cNvSpPr>
            <a:spLocks noGrp="1"/>
          </p:cNvSpPr>
          <p:nvPr/>
        </p:nvSpPr>
        <p:spPr>
          <a:xfrm>
            <a:off x="5197166" y="2072522"/>
            <a:ext cx="1107224" cy="157683"/>
          </a:xfrm>
          <a:prstGeom prst="rect">
            <a:avLst/>
          </a:prstGeom>
          <a:noFill/>
          <a:ln w="0">
            <a:noFill/>
            <a:prstDash val="solid"/>
          </a:ln>
        </p:spPr>
        <p:txBody>
          <a:bodyPr/>
          <a:lstStyle/>
          <a:p>
            <a:pPr algn="ctr">
              <a:defRPr sz="711" b="1">
                <a:solidFill>
                  <a:srgbClr val="007A43"/>
                </a:solidFill>
              </a:defRPr>
            </a:pPr>
            <a:r>
              <a:rPr sz="800" b="1" dirty="0" err="1">
                <a:solidFill>
                  <a:srgbClr val="007A43"/>
                </a:solidFill>
              </a:rPr>
              <a:t>現在残高</a:t>
            </a:r>
            <a:r>
              <a:rPr sz="800" b="1" dirty="0">
                <a:solidFill>
                  <a:srgbClr val="007A43"/>
                </a:solidFill>
              </a:rPr>
              <a:t> Xₜ </a:t>
            </a:r>
            <a:r>
              <a:rPr sz="800" b="1" dirty="0" err="1">
                <a:solidFill>
                  <a:srgbClr val="007A43"/>
                </a:solidFill>
              </a:rPr>
              <a:t>は既知</a:t>
            </a:r>
            <a:endParaRPr sz="800" b="1" dirty="0">
              <a:solidFill>
                <a:srgbClr val="007A43"/>
              </a:solidFill>
            </a:endParaRPr>
          </a:p>
        </p:txBody>
      </p:sp>
      <p:sp>
        <p:nvSpPr>
          <p:cNvPr id="807" name="remaining-risk-label">
            <a:extLst>
              <a:ext uri="{FF2B5EF4-FFF2-40B4-BE49-F238E27FC236}">
                <a16:creationId xmlns:a16="http://schemas.microsoft.com/office/drawing/2014/main" id="{7D424339-A7CF-5862-D715-4F4A08EC4D4A}"/>
              </a:ext>
            </a:extLst>
          </p:cNvPr>
          <p:cNvSpPr>
            <a:spLocks noGrp="1"/>
          </p:cNvSpPr>
          <p:nvPr/>
        </p:nvSpPr>
        <p:spPr>
          <a:xfrm>
            <a:off x="6673463" y="2079926"/>
            <a:ext cx="1408507" cy="150175"/>
          </a:xfrm>
          <a:prstGeom prst="rect">
            <a:avLst/>
          </a:prstGeom>
          <a:noFill/>
          <a:ln w="0">
            <a:noFill/>
            <a:prstDash val="solid"/>
          </a:ln>
        </p:spPr>
        <p:txBody>
          <a:bodyPr/>
          <a:lstStyle/>
          <a:p>
            <a:pPr algn="ctr">
              <a:defRPr sz="711" b="1">
                <a:solidFill>
                  <a:srgbClr val="007A43"/>
                </a:solidFill>
              </a:defRPr>
            </a:pPr>
            <a:r>
              <a:rPr sz="711" b="1">
                <a:solidFill>
                  <a:srgbClr val="007A43"/>
                </a:solidFill>
              </a:rPr>
              <a:t>残りの期間の不確実性のみ</a:t>
            </a:r>
          </a:p>
        </p:txBody>
      </p:sp>
      <p:sp>
        <p:nvSpPr>
          <p:cNvPr id="809" name="rolling-history">
            <a:extLst>
              <a:ext uri="{FF2B5EF4-FFF2-40B4-BE49-F238E27FC236}">
                <a16:creationId xmlns:a16="http://schemas.microsoft.com/office/drawing/2014/main" id="{275C0257-0586-D149-33E0-07A2181436A8}"/>
              </a:ext>
            </a:extLst>
          </p:cNvPr>
          <p:cNvSpPr>
            <a:spLocks noGrp="1"/>
          </p:cNvSpPr>
          <p:nvPr/>
        </p:nvSpPr>
        <p:spPr>
          <a:xfrm>
            <a:off x="4775367" y="2583013"/>
            <a:ext cx="1611875" cy="3754"/>
          </a:xfrm>
          <a:prstGeom prst="line">
            <a:avLst/>
          </a:prstGeom>
          <a:noFill/>
          <a:ln w="22561">
            <a:solidFill>
              <a:srgbClr val="0B3D91"/>
            </a:solidFill>
            <a:prstDash val="solid"/>
          </a:ln>
        </p:spPr>
      </p:sp>
      <p:sp>
        <p:nvSpPr>
          <p:cNvPr id="811" name="rolling-origin-point">
            <a:extLst>
              <a:ext uri="{FF2B5EF4-FFF2-40B4-BE49-F238E27FC236}">
                <a16:creationId xmlns:a16="http://schemas.microsoft.com/office/drawing/2014/main" id="{D3F03D62-8D86-9B3D-8A1D-DDE68494C228}"/>
              </a:ext>
            </a:extLst>
          </p:cNvPr>
          <p:cNvSpPr>
            <a:spLocks noGrp="1"/>
          </p:cNvSpPr>
          <p:nvPr/>
        </p:nvSpPr>
        <p:spPr>
          <a:xfrm>
            <a:off x="4737707" y="2545469"/>
            <a:ext cx="75321" cy="75088"/>
          </a:xfrm>
          <a:prstGeom prst="ellipse">
            <a:avLst/>
          </a:prstGeom>
          <a:solidFill>
            <a:srgbClr val="0B3D91"/>
          </a:solidFill>
          <a:ln w="7520">
            <a:solidFill>
              <a:srgbClr val="0B3D91"/>
            </a:solidFill>
            <a:prstDash val="solid"/>
          </a:ln>
        </p:spPr>
      </p:sp>
      <p:sp>
        <p:nvSpPr>
          <p:cNvPr id="813" name="rolling-origin-label">
            <a:extLst>
              <a:ext uri="{FF2B5EF4-FFF2-40B4-BE49-F238E27FC236}">
                <a16:creationId xmlns:a16="http://schemas.microsoft.com/office/drawing/2014/main" id="{498BB7B1-6181-39FE-1989-2A2CE0717472}"/>
              </a:ext>
            </a:extLst>
          </p:cNvPr>
          <p:cNvSpPr>
            <a:spLocks noGrp="1"/>
          </p:cNvSpPr>
          <p:nvPr/>
        </p:nvSpPr>
        <p:spPr>
          <a:xfrm>
            <a:off x="4707578" y="2305189"/>
            <a:ext cx="150643" cy="150175"/>
          </a:xfrm>
          <a:prstGeom prst="rect">
            <a:avLst/>
          </a:prstGeom>
          <a:noFill/>
          <a:ln w="0">
            <a:noFill/>
            <a:prstDash val="solid"/>
          </a:ln>
        </p:spPr>
        <p:txBody>
          <a:bodyPr/>
          <a:lstStyle/>
          <a:p>
            <a:pPr algn="ctr">
              <a:defRPr sz="770" b="0">
                <a:solidFill>
                  <a:srgbClr val="111827"/>
                </a:solidFill>
              </a:defRPr>
            </a:pPr>
            <a:r>
              <a:rPr sz="770" b="0">
                <a:solidFill>
                  <a:srgbClr val="111827"/>
                </a:solidFill>
              </a:rPr>
              <a:t>0</a:t>
            </a:r>
          </a:p>
        </p:txBody>
      </p:sp>
      <p:sp>
        <p:nvSpPr>
          <p:cNvPr id="815" name="rolling-condition-point">
            <a:extLst>
              <a:ext uri="{FF2B5EF4-FFF2-40B4-BE49-F238E27FC236}">
                <a16:creationId xmlns:a16="http://schemas.microsoft.com/office/drawing/2014/main" id="{B85F1AF5-F42F-434A-C755-921C1C4DEB21}"/>
              </a:ext>
            </a:extLst>
          </p:cNvPr>
          <p:cNvSpPr>
            <a:spLocks noGrp="1"/>
          </p:cNvSpPr>
          <p:nvPr/>
        </p:nvSpPr>
        <p:spPr>
          <a:xfrm>
            <a:off x="6342049" y="2537961"/>
            <a:ext cx="90386" cy="90105"/>
          </a:xfrm>
          <a:prstGeom prst="ellipse">
            <a:avLst/>
          </a:prstGeom>
          <a:solidFill>
            <a:srgbClr val="007A43"/>
          </a:solidFill>
          <a:ln w="7520">
            <a:solidFill>
              <a:srgbClr val="007A43"/>
            </a:solidFill>
            <a:prstDash val="solid"/>
          </a:ln>
        </p:spPr>
      </p:sp>
      <p:sp>
        <p:nvSpPr>
          <p:cNvPr id="817" name="rolling-time30-label">
            <a:extLst>
              <a:ext uri="{FF2B5EF4-FFF2-40B4-BE49-F238E27FC236}">
                <a16:creationId xmlns:a16="http://schemas.microsoft.com/office/drawing/2014/main" id="{F1ED06B2-F0F7-6F40-0912-6EE8581A703C}"/>
              </a:ext>
            </a:extLst>
          </p:cNvPr>
          <p:cNvSpPr>
            <a:spLocks noGrp="1"/>
          </p:cNvSpPr>
          <p:nvPr/>
        </p:nvSpPr>
        <p:spPr>
          <a:xfrm>
            <a:off x="6280233" y="2350242"/>
            <a:ext cx="376606" cy="150175"/>
          </a:xfrm>
          <a:prstGeom prst="rect">
            <a:avLst/>
          </a:prstGeom>
          <a:noFill/>
          <a:ln w="0">
            <a:noFill/>
            <a:prstDash val="solid"/>
          </a:ln>
        </p:spPr>
        <p:txBody>
          <a:bodyPr/>
          <a:lstStyle/>
          <a:p>
            <a:pPr algn="ctr">
              <a:defRPr sz="770" b="0">
                <a:solidFill>
                  <a:srgbClr val="111827"/>
                </a:solidFill>
              </a:defRPr>
            </a:pPr>
            <a:r>
              <a:rPr sz="770" b="0" dirty="0">
                <a:solidFill>
                  <a:srgbClr val="111827"/>
                </a:solidFill>
              </a:rPr>
              <a:t>30</a:t>
            </a:r>
          </a:p>
        </p:txBody>
      </p:sp>
      <p:sp>
        <p:nvSpPr>
          <p:cNvPr id="819" name="rolling-time30-guide-0">
            <a:extLst>
              <a:ext uri="{FF2B5EF4-FFF2-40B4-BE49-F238E27FC236}">
                <a16:creationId xmlns:a16="http://schemas.microsoft.com/office/drawing/2014/main" id="{51678CC1-0E37-4301-B2DE-F0D6BEDB1FB6}"/>
              </a:ext>
            </a:extLst>
          </p:cNvPr>
          <p:cNvSpPr>
            <a:spLocks noGrp="1"/>
          </p:cNvSpPr>
          <p:nvPr/>
        </p:nvSpPr>
        <p:spPr>
          <a:xfrm>
            <a:off x="6383476" y="2380277"/>
            <a:ext cx="7532" cy="30035"/>
          </a:xfrm>
          <a:prstGeom prst="rect">
            <a:avLst/>
          </a:prstGeom>
          <a:solidFill>
            <a:srgbClr val="6B7280"/>
          </a:solidFill>
          <a:ln w="0">
            <a:noFill/>
            <a:prstDash val="solid"/>
          </a:ln>
        </p:spPr>
      </p:sp>
      <p:sp>
        <p:nvSpPr>
          <p:cNvPr id="821" name="rolling-time30-guide-1">
            <a:extLst>
              <a:ext uri="{FF2B5EF4-FFF2-40B4-BE49-F238E27FC236}">
                <a16:creationId xmlns:a16="http://schemas.microsoft.com/office/drawing/2014/main" id="{46B49D13-E8E4-7825-1ACE-BA9BA5D6D0E8}"/>
              </a:ext>
            </a:extLst>
          </p:cNvPr>
          <p:cNvSpPr>
            <a:spLocks noGrp="1"/>
          </p:cNvSpPr>
          <p:nvPr/>
        </p:nvSpPr>
        <p:spPr>
          <a:xfrm>
            <a:off x="6383476" y="2432838"/>
            <a:ext cx="7532" cy="30035"/>
          </a:xfrm>
          <a:prstGeom prst="rect">
            <a:avLst/>
          </a:prstGeom>
          <a:solidFill>
            <a:srgbClr val="6B7280"/>
          </a:solidFill>
          <a:ln w="0">
            <a:noFill/>
            <a:prstDash val="solid"/>
          </a:ln>
        </p:spPr>
      </p:sp>
      <p:sp>
        <p:nvSpPr>
          <p:cNvPr id="823" name="rolling-time30-guide-2">
            <a:extLst>
              <a:ext uri="{FF2B5EF4-FFF2-40B4-BE49-F238E27FC236}">
                <a16:creationId xmlns:a16="http://schemas.microsoft.com/office/drawing/2014/main" id="{9B04B4F5-5876-5BB4-004E-8735C0686CB9}"/>
              </a:ext>
            </a:extLst>
          </p:cNvPr>
          <p:cNvSpPr>
            <a:spLocks noGrp="1"/>
          </p:cNvSpPr>
          <p:nvPr/>
        </p:nvSpPr>
        <p:spPr>
          <a:xfrm>
            <a:off x="6383476" y="2485399"/>
            <a:ext cx="7532" cy="30035"/>
          </a:xfrm>
          <a:prstGeom prst="rect">
            <a:avLst/>
          </a:prstGeom>
          <a:solidFill>
            <a:srgbClr val="6B7280"/>
          </a:solidFill>
          <a:ln w="0">
            <a:noFill/>
            <a:prstDash val="solid"/>
          </a:ln>
        </p:spPr>
      </p:sp>
      <p:sp>
        <p:nvSpPr>
          <p:cNvPr id="825" name="rolling-time30-guide-3">
            <a:extLst>
              <a:ext uri="{FF2B5EF4-FFF2-40B4-BE49-F238E27FC236}">
                <a16:creationId xmlns:a16="http://schemas.microsoft.com/office/drawing/2014/main" id="{3E2A0F95-149E-AB07-14C7-91F2F6244680}"/>
              </a:ext>
            </a:extLst>
          </p:cNvPr>
          <p:cNvSpPr>
            <a:spLocks noGrp="1"/>
          </p:cNvSpPr>
          <p:nvPr/>
        </p:nvSpPr>
        <p:spPr>
          <a:xfrm>
            <a:off x="6383476" y="2537961"/>
            <a:ext cx="7532" cy="30035"/>
          </a:xfrm>
          <a:prstGeom prst="rect">
            <a:avLst/>
          </a:prstGeom>
          <a:solidFill>
            <a:srgbClr val="6B7280"/>
          </a:solidFill>
          <a:ln w="0">
            <a:noFill/>
            <a:prstDash val="solid"/>
          </a:ln>
        </p:spPr>
      </p:sp>
      <p:sp>
        <p:nvSpPr>
          <p:cNvPr id="827" name="rolling-time30-guide-4">
            <a:extLst>
              <a:ext uri="{FF2B5EF4-FFF2-40B4-BE49-F238E27FC236}">
                <a16:creationId xmlns:a16="http://schemas.microsoft.com/office/drawing/2014/main" id="{807F38E0-0B5B-FCE7-3E68-3CF97B379FBF}"/>
              </a:ext>
            </a:extLst>
          </p:cNvPr>
          <p:cNvSpPr>
            <a:spLocks noGrp="1"/>
          </p:cNvSpPr>
          <p:nvPr/>
        </p:nvSpPr>
        <p:spPr>
          <a:xfrm>
            <a:off x="6383476" y="2590522"/>
            <a:ext cx="7532" cy="30035"/>
          </a:xfrm>
          <a:prstGeom prst="rect">
            <a:avLst/>
          </a:prstGeom>
          <a:solidFill>
            <a:srgbClr val="6B7280"/>
          </a:solidFill>
          <a:ln w="0">
            <a:noFill/>
            <a:prstDash val="solid"/>
          </a:ln>
        </p:spPr>
      </p:sp>
      <p:sp>
        <p:nvSpPr>
          <p:cNvPr id="829" name="rolling-time30-guide-5">
            <a:extLst>
              <a:ext uri="{FF2B5EF4-FFF2-40B4-BE49-F238E27FC236}">
                <a16:creationId xmlns:a16="http://schemas.microsoft.com/office/drawing/2014/main" id="{2568111A-0B92-19A3-921D-37CA049021C4}"/>
              </a:ext>
            </a:extLst>
          </p:cNvPr>
          <p:cNvSpPr>
            <a:spLocks noGrp="1"/>
          </p:cNvSpPr>
          <p:nvPr/>
        </p:nvSpPr>
        <p:spPr>
          <a:xfrm>
            <a:off x="6383476" y="2643083"/>
            <a:ext cx="7532" cy="30035"/>
          </a:xfrm>
          <a:prstGeom prst="rect">
            <a:avLst/>
          </a:prstGeom>
          <a:solidFill>
            <a:srgbClr val="6B7280"/>
          </a:solidFill>
          <a:ln w="0">
            <a:noFill/>
            <a:prstDash val="solid"/>
          </a:ln>
        </p:spPr>
      </p:sp>
      <p:sp>
        <p:nvSpPr>
          <p:cNvPr id="831" name="rolling-time30-guide-6">
            <a:extLst>
              <a:ext uri="{FF2B5EF4-FFF2-40B4-BE49-F238E27FC236}">
                <a16:creationId xmlns:a16="http://schemas.microsoft.com/office/drawing/2014/main" id="{4F22AF88-F3E5-3F29-D2AF-097FCADD3B22}"/>
              </a:ext>
            </a:extLst>
          </p:cNvPr>
          <p:cNvSpPr>
            <a:spLocks noGrp="1"/>
          </p:cNvSpPr>
          <p:nvPr/>
        </p:nvSpPr>
        <p:spPr>
          <a:xfrm>
            <a:off x="6383476" y="2695645"/>
            <a:ext cx="7532" cy="30035"/>
          </a:xfrm>
          <a:prstGeom prst="rect">
            <a:avLst/>
          </a:prstGeom>
          <a:solidFill>
            <a:srgbClr val="6B7280"/>
          </a:solidFill>
          <a:ln w="0">
            <a:noFill/>
            <a:prstDash val="solid"/>
          </a:ln>
        </p:spPr>
      </p:sp>
      <p:sp>
        <p:nvSpPr>
          <p:cNvPr id="833" name="rolling-time30-guide-7">
            <a:extLst>
              <a:ext uri="{FF2B5EF4-FFF2-40B4-BE49-F238E27FC236}">
                <a16:creationId xmlns:a16="http://schemas.microsoft.com/office/drawing/2014/main" id="{339F6B85-3C2D-5A7F-E92A-5BCAB9A9029F}"/>
              </a:ext>
            </a:extLst>
          </p:cNvPr>
          <p:cNvSpPr>
            <a:spLocks noGrp="1"/>
          </p:cNvSpPr>
          <p:nvPr/>
        </p:nvSpPr>
        <p:spPr>
          <a:xfrm>
            <a:off x="6383476" y="2748206"/>
            <a:ext cx="7532" cy="30035"/>
          </a:xfrm>
          <a:prstGeom prst="rect">
            <a:avLst/>
          </a:prstGeom>
          <a:solidFill>
            <a:srgbClr val="6B7280"/>
          </a:solidFill>
          <a:ln w="0">
            <a:noFill/>
            <a:prstDash val="solid"/>
          </a:ln>
        </p:spPr>
      </p:sp>
      <p:sp>
        <p:nvSpPr>
          <p:cNvPr id="835" name="rolling-time30-guide-8">
            <a:extLst>
              <a:ext uri="{FF2B5EF4-FFF2-40B4-BE49-F238E27FC236}">
                <a16:creationId xmlns:a16="http://schemas.microsoft.com/office/drawing/2014/main" id="{0455FC99-2C96-DBCE-3812-6E5528CAAE9D}"/>
              </a:ext>
            </a:extLst>
          </p:cNvPr>
          <p:cNvSpPr>
            <a:spLocks noGrp="1"/>
          </p:cNvSpPr>
          <p:nvPr/>
        </p:nvSpPr>
        <p:spPr>
          <a:xfrm>
            <a:off x="6383476" y="2800767"/>
            <a:ext cx="7532" cy="30035"/>
          </a:xfrm>
          <a:prstGeom prst="rect">
            <a:avLst/>
          </a:prstGeom>
          <a:solidFill>
            <a:srgbClr val="6B7280"/>
          </a:solidFill>
          <a:ln w="0">
            <a:noFill/>
            <a:prstDash val="solid"/>
          </a:ln>
        </p:spPr>
      </p:sp>
      <p:sp>
        <p:nvSpPr>
          <p:cNvPr id="837" name="rolling-terminal-label">
            <a:extLst>
              <a:ext uri="{FF2B5EF4-FFF2-40B4-BE49-F238E27FC236}">
                <a16:creationId xmlns:a16="http://schemas.microsoft.com/office/drawing/2014/main" id="{11C86E00-AD62-32A5-2BDF-E39C230DC0A5}"/>
              </a:ext>
            </a:extLst>
          </p:cNvPr>
          <p:cNvSpPr>
            <a:spLocks noGrp="1"/>
          </p:cNvSpPr>
          <p:nvPr/>
        </p:nvSpPr>
        <p:spPr>
          <a:xfrm>
            <a:off x="8036778" y="2207575"/>
            <a:ext cx="150643" cy="150175"/>
          </a:xfrm>
          <a:prstGeom prst="rect">
            <a:avLst/>
          </a:prstGeom>
          <a:noFill/>
          <a:ln w="0">
            <a:noFill/>
            <a:prstDash val="solid"/>
          </a:ln>
        </p:spPr>
        <p:txBody>
          <a:bodyPr/>
          <a:lstStyle/>
          <a:p>
            <a:pPr algn="ctr">
              <a:defRPr sz="888" b="0">
                <a:solidFill>
                  <a:srgbClr val="111827"/>
                </a:solidFill>
              </a:defRPr>
            </a:pPr>
            <a:r>
              <a:rPr sz="888" b="0">
                <a:solidFill>
                  <a:srgbClr val="111827"/>
                </a:solidFill>
              </a:rPr>
              <a:t>T</a:t>
            </a:r>
          </a:p>
        </p:txBody>
      </p:sp>
      <p:sp>
        <p:nvSpPr>
          <p:cNvPr id="839" name="rolling-terminal-guide-0">
            <a:extLst>
              <a:ext uri="{FF2B5EF4-FFF2-40B4-BE49-F238E27FC236}">
                <a16:creationId xmlns:a16="http://schemas.microsoft.com/office/drawing/2014/main" id="{1692345B-3BF9-D3D1-578E-B6E940DB9C46}"/>
              </a:ext>
            </a:extLst>
          </p:cNvPr>
          <p:cNvSpPr>
            <a:spLocks noGrp="1"/>
          </p:cNvSpPr>
          <p:nvPr/>
        </p:nvSpPr>
        <p:spPr>
          <a:xfrm>
            <a:off x="8100801" y="2342733"/>
            <a:ext cx="7532" cy="30035"/>
          </a:xfrm>
          <a:prstGeom prst="rect">
            <a:avLst/>
          </a:prstGeom>
          <a:solidFill>
            <a:srgbClr val="6B7280"/>
          </a:solidFill>
          <a:ln w="0">
            <a:noFill/>
            <a:prstDash val="solid"/>
          </a:ln>
        </p:spPr>
      </p:sp>
      <p:sp>
        <p:nvSpPr>
          <p:cNvPr id="841" name="rolling-terminal-guide-1">
            <a:extLst>
              <a:ext uri="{FF2B5EF4-FFF2-40B4-BE49-F238E27FC236}">
                <a16:creationId xmlns:a16="http://schemas.microsoft.com/office/drawing/2014/main" id="{5B45B634-4DF1-71FD-A12A-0CCB7C147FBF}"/>
              </a:ext>
            </a:extLst>
          </p:cNvPr>
          <p:cNvSpPr>
            <a:spLocks noGrp="1"/>
          </p:cNvSpPr>
          <p:nvPr/>
        </p:nvSpPr>
        <p:spPr>
          <a:xfrm>
            <a:off x="8100801" y="2395294"/>
            <a:ext cx="7532" cy="30035"/>
          </a:xfrm>
          <a:prstGeom prst="rect">
            <a:avLst/>
          </a:prstGeom>
          <a:solidFill>
            <a:srgbClr val="6B7280"/>
          </a:solidFill>
          <a:ln w="0">
            <a:noFill/>
            <a:prstDash val="solid"/>
          </a:ln>
        </p:spPr>
      </p:sp>
      <p:sp>
        <p:nvSpPr>
          <p:cNvPr id="843" name="rolling-terminal-guide-2">
            <a:extLst>
              <a:ext uri="{FF2B5EF4-FFF2-40B4-BE49-F238E27FC236}">
                <a16:creationId xmlns:a16="http://schemas.microsoft.com/office/drawing/2014/main" id="{68394E74-3DE9-C2CC-1C4D-5ABAC51B462E}"/>
              </a:ext>
            </a:extLst>
          </p:cNvPr>
          <p:cNvSpPr>
            <a:spLocks noGrp="1"/>
          </p:cNvSpPr>
          <p:nvPr/>
        </p:nvSpPr>
        <p:spPr>
          <a:xfrm>
            <a:off x="8100801" y="2447855"/>
            <a:ext cx="7532" cy="30035"/>
          </a:xfrm>
          <a:prstGeom prst="rect">
            <a:avLst/>
          </a:prstGeom>
          <a:solidFill>
            <a:srgbClr val="6B7280"/>
          </a:solidFill>
          <a:ln w="0">
            <a:noFill/>
            <a:prstDash val="solid"/>
          </a:ln>
        </p:spPr>
      </p:sp>
      <p:sp>
        <p:nvSpPr>
          <p:cNvPr id="845" name="rolling-terminal-guide-3">
            <a:extLst>
              <a:ext uri="{FF2B5EF4-FFF2-40B4-BE49-F238E27FC236}">
                <a16:creationId xmlns:a16="http://schemas.microsoft.com/office/drawing/2014/main" id="{689BB601-C5B6-F88D-1384-B256AF5C14C9}"/>
              </a:ext>
            </a:extLst>
          </p:cNvPr>
          <p:cNvSpPr>
            <a:spLocks noGrp="1"/>
          </p:cNvSpPr>
          <p:nvPr/>
        </p:nvSpPr>
        <p:spPr>
          <a:xfrm>
            <a:off x="8100801" y="2500417"/>
            <a:ext cx="7532" cy="30035"/>
          </a:xfrm>
          <a:prstGeom prst="rect">
            <a:avLst/>
          </a:prstGeom>
          <a:solidFill>
            <a:srgbClr val="6B7280"/>
          </a:solidFill>
          <a:ln w="0">
            <a:noFill/>
            <a:prstDash val="solid"/>
          </a:ln>
        </p:spPr>
      </p:sp>
      <p:sp>
        <p:nvSpPr>
          <p:cNvPr id="847" name="rolling-terminal-guide-4">
            <a:extLst>
              <a:ext uri="{FF2B5EF4-FFF2-40B4-BE49-F238E27FC236}">
                <a16:creationId xmlns:a16="http://schemas.microsoft.com/office/drawing/2014/main" id="{A9FBB0E4-8C46-D177-F361-574C92BE16AC}"/>
              </a:ext>
            </a:extLst>
          </p:cNvPr>
          <p:cNvSpPr>
            <a:spLocks noGrp="1"/>
          </p:cNvSpPr>
          <p:nvPr/>
        </p:nvSpPr>
        <p:spPr>
          <a:xfrm>
            <a:off x="8100801" y="2552978"/>
            <a:ext cx="7532" cy="30035"/>
          </a:xfrm>
          <a:prstGeom prst="rect">
            <a:avLst/>
          </a:prstGeom>
          <a:solidFill>
            <a:srgbClr val="6B7280"/>
          </a:solidFill>
          <a:ln w="0">
            <a:noFill/>
            <a:prstDash val="solid"/>
          </a:ln>
        </p:spPr>
      </p:sp>
      <p:sp>
        <p:nvSpPr>
          <p:cNvPr id="849" name="rolling-terminal-guide-5">
            <a:extLst>
              <a:ext uri="{FF2B5EF4-FFF2-40B4-BE49-F238E27FC236}">
                <a16:creationId xmlns:a16="http://schemas.microsoft.com/office/drawing/2014/main" id="{79D4CB75-7F82-4F17-BD68-2DF73D30A903}"/>
              </a:ext>
            </a:extLst>
          </p:cNvPr>
          <p:cNvSpPr>
            <a:spLocks noGrp="1"/>
          </p:cNvSpPr>
          <p:nvPr/>
        </p:nvSpPr>
        <p:spPr>
          <a:xfrm>
            <a:off x="8100801" y="2605539"/>
            <a:ext cx="7532" cy="30035"/>
          </a:xfrm>
          <a:prstGeom prst="rect">
            <a:avLst/>
          </a:prstGeom>
          <a:solidFill>
            <a:srgbClr val="6B7280"/>
          </a:solidFill>
          <a:ln w="0">
            <a:noFill/>
            <a:prstDash val="solid"/>
          </a:ln>
        </p:spPr>
      </p:sp>
      <p:sp>
        <p:nvSpPr>
          <p:cNvPr id="851" name="rolling-terminal-guide-6">
            <a:extLst>
              <a:ext uri="{FF2B5EF4-FFF2-40B4-BE49-F238E27FC236}">
                <a16:creationId xmlns:a16="http://schemas.microsoft.com/office/drawing/2014/main" id="{CFC0C998-EBED-2C46-FBDF-44D092A8365D}"/>
              </a:ext>
            </a:extLst>
          </p:cNvPr>
          <p:cNvSpPr>
            <a:spLocks noGrp="1"/>
          </p:cNvSpPr>
          <p:nvPr/>
        </p:nvSpPr>
        <p:spPr>
          <a:xfrm>
            <a:off x="8100801" y="2658101"/>
            <a:ext cx="7532" cy="30035"/>
          </a:xfrm>
          <a:prstGeom prst="rect">
            <a:avLst/>
          </a:prstGeom>
          <a:solidFill>
            <a:srgbClr val="6B7280"/>
          </a:solidFill>
          <a:ln w="0">
            <a:noFill/>
            <a:prstDash val="solid"/>
          </a:ln>
        </p:spPr>
      </p:sp>
      <p:sp>
        <p:nvSpPr>
          <p:cNvPr id="853" name="rolling-terminal-guide-7">
            <a:extLst>
              <a:ext uri="{FF2B5EF4-FFF2-40B4-BE49-F238E27FC236}">
                <a16:creationId xmlns:a16="http://schemas.microsoft.com/office/drawing/2014/main" id="{9B98AB3C-747A-19C8-D804-99F02565BB79}"/>
              </a:ext>
            </a:extLst>
          </p:cNvPr>
          <p:cNvSpPr>
            <a:spLocks noGrp="1"/>
          </p:cNvSpPr>
          <p:nvPr/>
        </p:nvSpPr>
        <p:spPr>
          <a:xfrm>
            <a:off x="8100801" y="2710662"/>
            <a:ext cx="7532" cy="30035"/>
          </a:xfrm>
          <a:prstGeom prst="rect">
            <a:avLst/>
          </a:prstGeom>
          <a:solidFill>
            <a:srgbClr val="6B7280"/>
          </a:solidFill>
          <a:ln w="0">
            <a:noFill/>
            <a:prstDash val="solid"/>
          </a:ln>
        </p:spPr>
      </p:sp>
      <p:sp>
        <p:nvSpPr>
          <p:cNvPr id="855" name="rolling-terminal-guide-8">
            <a:extLst>
              <a:ext uri="{FF2B5EF4-FFF2-40B4-BE49-F238E27FC236}">
                <a16:creationId xmlns:a16="http://schemas.microsoft.com/office/drawing/2014/main" id="{B899E0D0-290C-CE6C-9F86-C91B58D5E9D2}"/>
              </a:ext>
            </a:extLst>
          </p:cNvPr>
          <p:cNvSpPr>
            <a:spLocks noGrp="1"/>
          </p:cNvSpPr>
          <p:nvPr/>
        </p:nvSpPr>
        <p:spPr>
          <a:xfrm>
            <a:off x="8100801" y="2763223"/>
            <a:ext cx="7532" cy="30035"/>
          </a:xfrm>
          <a:prstGeom prst="rect">
            <a:avLst/>
          </a:prstGeom>
          <a:solidFill>
            <a:srgbClr val="6B7280"/>
          </a:solidFill>
          <a:ln w="0">
            <a:noFill/>
            <a:prstDash val="solid"/>
          </a:ln>
        </p:spPr>
      </p:sp>
      <p:sp>
        <p:nvSpPr>
          <p:cNvPr id="857" name="rolling-terminal-guide-9">
            <a:extLst>
              <a:ext uri="{FF2B5EF4-FFF2-40B4-BE49-F238E27FC236}">
                <a16:creationId xmlns:a16="http://schemas.microsoft.com/office/drawing/2014/main" id="{DADED983-F02B-811A-0773-44505CC21B3A}"/>
              </a:ext>
            </a:extLst>
          </p:cNvPr>
          <p:cNvSpPr>
            <a:spLocks noGrp="1"/>
          </p:cNvSpPr>
          <p:nvPr/>
        </p:nvSpPr>
        <p:spPr>
          <a:xfrm>
            <a:off x="8100801" y="2815785"/>
            <a:ext cx="7532" cy="30035"/>
          </a:xfrm>
          <a:prstGeom prst="rect">
            <a:avLst/>
          </a:prstGeom>
          <a:solidFill>
            <a:srgbClr val="6B7280"/>
          </a:solidFill>
          <a:ln w="0">
            <a:noFill/>
            <a:prstDash val="solid"/>
          </a:ln>
        </p:spPr>
      </p:sp>
      <p:sp>
        <p:nvSpPr>
          <p:cNvPr id="859" name="known-callout-pointer">
            <a:extLst>
              <a:ext uri="{FF2B5EF4-FFF2-40B4-BE49-F238E27FC236}">
                <a16:creationId xmlns:a16="http://schemas.microsoft.com/office/drawing/2014/main" id="{6FFD4B44-9491-9C03-4DD8-DEC763DAA691}"/>
              </a:ext>
            </a:extLst>
          </p:cNvPr>
          <p:cNvSpPr>
            <a:spLocks noGrp="1"/>
          </p:cNvSpPr>
          <p:nvPr/>
        </p:nvSpPr>
        <p:spPr>
          <a:xfrm>
            <a:off x="6018168" y="2275154"/>
            <a:ext cx="331414" cy="270315"/>
          </a:xfrm>
          <a:prstGeom prst="line">
            <a:avLst/>
          </a:prstGeom>
          <a:noFill/>
          <a:ln w="9777">
            <a:solidFill>
              <a:srgbClr val="55A96F"/>
            </a:solidFill>
            <a:prstDash val="solid"/>
          </a:ln>
        </p:spPr>
      </p:sp>
      <p:sp>
        <p:nvSpPr>
          <p:cNvPr id="861" name="rolling-scenario-1">
            <a:extLst>
              <a:ext uri="{FF2B5EF4-FFF2-40B4-BE49-F238E27FC236}">
                <a16:creationId xmlns:a16="http://schemas.microsoft.com/office/drawing/2014/main" id="{747845C3-E409-DDA8-1DB3-919DCFEFC2EF}"/>
              </a:ext>
            </a:extLst>
          </p:cNvPr>
          <p:cNvSpPr>
            <a:spLocks noGrp="1"/>
          </p:cNvSpPr>
          <p:nvPr/>
        </p:nvSpPr>
        <p:spPr>
          <a:xfrm flipV="1">
            <a:off x="6402306" y="2350242"/>
            <a:ext cx="1702260" cy="232772"/>
          </a:xfrm>
          <a:prstGeom prst="line">
            <a:avLst/>
          </a:prstGeom>
          <a:noFill/>
          <a:ln w="9777">
            <a:solidFill>
              <a:srgbClr val="218B55"/>
            </a:solidFill>
            <a:prstDash val="solid"/>
          </a:ln>
        </p:spPr>
      </p:sp>
      <p:sp>
        <p:nvSpPr>
          <p:cNvPr id="863" name="rolling-scenario-2">
            <a:extLst>
              <a:ext uri="{FF2B5EF4-FFF2-40B4-BE49-F238E27FC236}">
                <a16:creationId xmlns:a16="http://schemas.microsoft.com/office/drawing/2014/main" id="{6F886C53-2B25-63BE-0899-E1DC6A0ED708}"/>
              </a:ext>
            </a:extLst>
          </p:cNvPr>
          <p:cNvSpPr>
            <a:spLocks noGrp="1"/>
          </p:cNvSpPr>
          <p:nvPr/>
        </p:nvSpPr>
        <p:spPr>
          <a:xfrm flipV="1">
            <a:off x="6402306" y="2402803"/>
            <a:ext cx="1702260" cy="180210"/>
          </a:xfrm>
          <a:prstGeom prst="line">
            <a:avLst/>
          </a:prstGeom>
          <a:noFill/>
          <a:ln w="6768">
            <a:solidFill>
              <a:srgbClr val="55A96F"/>
            </a:solidFill>
            <a:prstDash val="solid"/>
          </a:ln>
        </p:spPr>
      </p:sp>
      <p:sp>
        <p:nvSpPr>
          <p:cNvPr id="865" name="rolling-scenario-3">
            <a:extLst>
              <a:ext uri="{FF2B5EF4-FFF2-40B4-BE49-F238E27FC236}">
                <a16:creationId xmlns:a16="http://schemas.microsoft.com/office/drawing/2014/main" id="{1AB1A6F8-5B43-1BE0-361E-F5681A8E3945}"/>
              </a:ext>
            </a:extLst>
          </p:cNvPr>
          <p:cNvSpPr>
            <a:spLocks noGrp="1"/>
          </p:cNvSpPr>
          <p:nvPr/>
        </p:nvSpPr>
        <p:spPr>
          <a:xfrm flipV="1">
            <a:off x="6402306" y="2455364"/>
            <a:ext cx="1702260" cy="127649"/>
          </a:xfrm>
          <a:prstGeom prst="line">
            <a:avLst/>
          </a:prstGeom>
          <a:noFill/>
          <a:ln w="6768">
            <a:solidFill>
              <a:srgbClr val="218B55"/>
            </a:solidFill>
            <a:prstDash val="solid"/>
          </a:ln>
        </p:spPr>
      </p:sp>
      <p:sp>
        <p:nvSpPr>
          <p:cNvPr id="867" name="rolling-scenario-4">
            <a:extLst>
              <a:ext uri="{FF2B5EF4-FFF2-40B4-BE49-F238E27FC236}">
                <a16:creationId xmlns:a16="http://schemas.microsoft.com/office/drawing/2014/main" id="{FC13671F-774D-E038-1B80-4EF7CE0DDA2F}"/>
              </a:ext>
            </a:extLst>
          </p:cNvPr>
          <p:cNvSpPr>
            <a:spLocks noGrp="1"/>
          </p:cNvSpPr>
          <p:nvPr/>
        </p:nvSpPr>
        <p:spPr>
          <a:xfrm flipV="1">
            <a:off x="6402306" y="2507926"/>
            <a:ext cx="1702260" cy="75088"/>
          </a:xfrm>
          <a:prstGeom prst="line">
            <a:avLst/>
          </a:prstGeom>
          <a:noFill/>
          <a:ln w="9777">
            <a:solidFill>
              <a:srgbClr val="55A96F"/>
            </a:solidFill>
            <a:prstDash val="solid"/>
          </a:ln>
        </p:spPr>
      </p:sp>
      <p:sp>
        <p:nvSpPr>
          <p:cNvPr id="869" name="rolling-scenario-5">
            <a:extLst>
              <a:ext uri="{FF2B5EF4-FFF2-40B4-BE49-F238E27FC236}">
                <a16:creationId xmlns:a16="http://schemas.microsoft.com/office/drawing/2014/main" id="{6A7A6C87-E335-3C20-120B-1554AC3777EF}"/>
              </a:ext>
            </a:extLst>
          </p:cNvPr>
          <p:cNvSpPr>
            <a:spLocks noGrp="1"/>
          </p:cNvSpPr>
          <p:nvPr/>
        </p:nvSpPr>
        <p:spPr>
          <a:xfrm flipV="1">
            <a:off x="6402306" y="2552978"/>
            <a:ext cx="1702260" cy="30035"/>
          </a:xfrm>
          <a:prstGeom prst="line">
            <a:avLst/>
          </a:prstGeom>
          <a:noFill/>
          <a:ln w="6768">
            <a:solidFill>
              <a:srgbClr val="218B55"/>
            </a:solidFill>
            <a:prstDash val="solid"/>
          </a:ln>
        </p:spPr>
      </p:sp>
      <p:sp>
        <p:nvSpPr>
          <p:cNvPr id="871" name="rolling-scenario-6">
            <a:extLst>
              <a:ext uri="{FF2B5EF4-FFF2-40B4-BE49-F238E27FC236}">
                <a16:creationId xmlns:a16="http://schemas.microsoft.com/office/drawing/2014/main" id="{34F990DC-1F26-81DD-6508-842258A1B287}"/>
              </a:ext>
            </a:extLst>
          </p:cNvPr>
          <p:cNvSpPr>
            <a:spLocks noGrp="1"/>
          </p:cNvSpPr>
          <p:nvPr/>
        </p:nvSpPr>
        <p:spPr>
          <a:xfrm>
            <a:off x="6402306" y="2583013"/>
            <a:ext cx="1702260" cy="37544"/>
          </a:xfrm>
          <a:prstGeom prst="line">
            <a:avLst/>
          </a:prstGeom>
          <a:noFill/>
          <a:ln w="6768">
            <a:solidFill>
              <a:srgbClr val="55A96F"/>
            </a:solidFill>
            <a:prstDash val="solid"/>
          </a:ln>
        </p:spPr>
      </p:sp>
      <p:sp>
        <p:nvSpPr>
          <p:cNvPr id="873" name="rolling-scenario-7">
            <a:extLst>
              <a:ext uri="{FF2B5EF4-FFF2-40B4-BE49-F238E27FC236}">
                <a16:creationId xmlns:a16="http://schemas.microsoft.com/office/drawing/2014/main" id="{36B429B1-A78C-363C-7F3E-67B635B411C7}"/>
              </a:ext>
            </a:extLst>
          </p:cNvPr>
          <p:cNvSpPr>
            <a:spLocks noGrp="1"/>
          </p:cNvSpPr>
          <p:nvPr/>
        </p:nvSpPr>
        <p:spPr>
          <a:xfrm>
            <a:off x="6402306" y="2583013"/>
            <a:ext cx="1702260" cy="90105"/>
          </a:xfrm>
          <a:prstGeom prst="line">
            <a:avLst/>
          </a:prstGeom>
          <a:noFill/>
          <a:ln w="9777">
            <a:solidFill>
              <a:srgbClr val="218B55"/>
            </a:solidFill>
            <a:prstDash val="solid"/>
          </a:ln>
        </p:spPr>
      </p:sp>
      <p:sp>
        <p:nvSpPr>
          <p:cNvPr id="875" name="rolling-scenario-8">
            <a:extLst>
              <a:ext uri="{FF2B5EF4-FFF2-40B4-BE49-F238E27FC236}">
                <a16:creationId xmlns:a16="http://schemas.microsoft.com/office/drawing/2014/main" id="{77B76969-E2A4-6AB1-E1C8-B52DA93E82E1}"/>
              </a:ext>
            </a:extLst>
          </p:cNvPr>
          <p:cNvSpPr>
            <a:spLocks noGrp="1"/>
          </p:cNvSpPr>
          <p:nvPr/>
        </p:nvSpPr>
        <p:spPr>
          <a:xfrm>
            <a:off x="6402306" y="2583013"/>
            <a:ext cx="1702260" cy="142666"/>
          </a:xfrm>
          <a:prstGeom prst="line">
            <a:avLst/>
          </a:prstGeom>
          <a:noFill/>
          <a:ln w="6768">
            <a:solidFill>
              <a:srgbClr val="55A96F"/>
            </a:solidFill>
            <a:prstDash val="solid"/>
          </a:ln>
        </p:spPr>
      </p:sp>
      <p:sp>
        <p:nvSpPr>
          <p:cNvPr id="877" name="rolling-scenario-9">
            <a:extLst>
              <a:ext uri="{FF2B5EF4-FFF2-40B4-BE49-F238E27FC236}">
                <a16:creationId xmlns:a16="http://schemas.microsoft.com/office/drawing/2014/main" id="{019AC92E-147E-84E1-15BC-8055D99C7824}"/>
              </a:ext>
            </a:extLst>
          </p:cNvPr>
          <p:cNvSpPr>
            <a:spLocks noGrp="1"/>
          </p:cNvSpPr>
          <p:nvPr/>
        </p:nvSpPr>
        <p:spPr>
          <a:xfrm>
            <a:off x="6402306" y="2583013"/>
            <a:ext cx="1702260" cy="195228"/>
          </a:xfrm>
          <a:prstGeom prst="line">
            <a:avLst/>
          </a:prstGeom>
          <a:noFill/>
          <a:ln w="6768">
            <a:solidFill>
              <a:srgbClr val="218B55"/>
            </a:solidFill>
            <a:prstDash val="solid"/>
          </a:ln>
        </p:spPr>
      </p:sp>
      <p:sp>
        <p:nvSpPr>
          <p:cNvPr id="879" name="rolling-scenario-10">
            <a:extLst>
              <a:ext uri="{FF2B5EF4-FFF2-40B4-BE49-F238E27FC236}">
                <a16:creationId xmlns:a16="http://schemas.microsoft.com/office/drawing/2014/main" id="{BCB10925-B176-7AD3-65D2-3A0B24410983}"/>
              </a:ext>
            </a:extLst>
          </p:cNvPr>
          <p:cNvSpPr>
            <a:spLocks noGrp="1"/>
          </p:cNvSpPr>
          <p:nvPr/>
        </p:nvSpPr>
        <p:spPr>
          <a:xfrm>
            <a:off x="6402306" y="2583013"/>
            <a:ext cx="1702260" cy="247789"/>
          </a:xfrm>
          <a:prstGeom prst="line">
            <a:avLst/>
          </a:prstGeom>
          <a:noFill/>
          <a:ln w="9777">
            <a:solidFill>
              <a:srgbClr val="55A96F"/>
            </a:solidFill>
            <a:prstDash val="solid"/>
          </a:ln>
        </p:spPr>
      </p:sp>
      <p:sp>
        <p:nvSpPr>
          <p:cNvPr id="881" name="rolling-bullets">
            <a:extLst>
              <a:ext uri="{FF2B5EF4-FFF2-40B4-BE49-F238E27FC236}">
                <a16:creationId xmlns:a16="http://schemas.microsoft.com/office/drawing/2014/main" id="{92AD0192-9144-E7FB-83EC-DC7B695B548D}"/>
              </a:ext>
            </a:extLst>
          </p:cNvPr>
          <p:cNvSpPr>
            <a:spLocks noGrp="1"/>
          </p:cNvSpPr>
          <p:nvPr/>
        </p:nvSpPr>
        <p:spPr>
          <a:xfrm>
            <a:off x="4722643" y="2875855"/>
            <a:ext cx="3351796" cy="315368"/>
          </a:xfrm>
          <a:prstGeom prst="rect">
            <a:avLst/>
          </a:prstGeom>
          <a:noFill/>
          <a:ln w="0">
            <a:noFill/>
            <a:prstDash val="solid"/>
          </a:ln>
        </p:spPr>
        <p:txBody>
          <a:bodyPr/>
          <a:lstStyle/>
          <a:p>
            <a:pPr algn="l">
              <a:defRPr sz="711" b="1">
                <a:solidFill>
                  <a:srgbClr val="006B3C"/>
                </a:solidFill>
              </a:defRPr>
            </a:pPr>
            <a:r>
              <a:rPr sz="800" b="1" dirty="0">
                <a:solidFill>
                  <a:srgbClr val="006B3C"/>
                </a:solidFill>
              </a:rPr>
              <a:t>• </a:t>
            </a:r>
            <a:r>
              <a:rPr sz="800" b="1" dirty="0" err="1">
                <a:solidFill>
                  <a:srgbClr val="006B3C"/>
                </a:solidFill>
              </a:rPr>
              <a:t>ここまでの運用成果は既に実現済み</a:t>
            </a:r>
            <a:endParaRPr sz="800" b="1" dirty="0">
              <a:solidFill>
                <a:srgbClr val="006B3C"/>
              </a:solidFill>
            </a:endParaRPr>
          </a:p>
          <a:p>
            <a:pPr algn="l">
              <a:defRPr sz="711" b="1">
                <a:solidFill>
                  <a:srgbClr val="006B3C"/>
                </a:solidFill>
              </a:defRPr>
            </a:pPr>
            <a:r>
              <a:rPr sz="800" b="1" dirty="0">
                <a:solidFill>
                  <a:srgbClr val="006B3C"/>
                </a:solidFill>
              </a:rPr>
              <a:t>• </a:t>
            </a:r>
            <a:r>
              <a:rPr sz="800" b="1" dirty="0" err="1">
                <a:solidFill>
                  <a:srgbClr val="006B3C"/>
                </a:solidFill>
              </a:rPr>
              <a:t>ここから先に残るリスクだけを見る</a:t>
            </a:r>
            <a:endParaRPr sz="800" b="1" dirty="0">
              <a:solidFill>
                <a:srgbClr val="006B3C"/>
              </a:solidFill>
            </a:endParaRPr>
          </a:p>
        </p:txBody>
      </p:sp>
    </p:spTree>
    <p:extLst>
      <p:ext uri="{BB962C8B-B14F-4D97-AF65-F5344CB8AC3E}">
        <p14:creationId xmlns:p14="http://schemas.microsoft.com/office/powerpoint/2010/main" val="8753977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F649C-1011-96E0-F317-72F5E09BB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4461AA-F4AF-6A61-47FB-727CBB4CE269}"/>
              </a:ext>
            </a:extLst>
          </p:cNvPr>
          <p:cNvSpPr>
            <a:spLocks noGrp="1"/>
          </p:cNvSpPr>
          <p:nvPr>
            <p:ph type="title"/>
          </p:nvPr>
        </p:nvSpPr>
        <p:spPr>
          <a:xfrm>
            <a:off x="457200" y="990600"/>
            <a:ext cx="8229600" cy="609600"/>
          </a:xfrm>
        </p:spPr>
        <p:txBody>
          <a:bodyPr wrap="none" lIns="0" tIns="0" rIns="0" bIns="0" anchor="ctr">
            <a:normAutofit/>
          </a:bodyPr>
          <a:lstStyle/>
          <a:p>
            <a:pPr algn="l">
              <a:buNone/>
              <a:defRPr sz="1935" b="1">
                <a:solidFill>
                  <a:srgbClr val="111827"/>
                </a:solidFill>
                <a:latin typeface="Noto Sans CJK JP"/>
                <a:ea typeface="Noto Sans CJK JP"/>
                <a:cs typeface="Noto Sans CJK JP"/>
              </a:defRPr>
            </a:pPr>
            <a:r>
              <a:rPr lang="ja-JP" altLang="en-US" sz="1935" dirty="0">
                <a:solidFill>
                  <a:srgbClr val="111827"/>
                </a:solidFill>
                <a:latin typeface="Noto Sans CJK JP"/>
                <a:ea typeface="Noto Sans CJK JP"/>
                <a:cs typeface="Noto Sans CJK JP"/>
              </a:rPr>
              <a:t>将来時点のある</a:t>
            </a:r>
            <a:r>
              <a:rPr lang="ja-JP" altLang="en-US" sz="1935" b="1" dirty="0">
                <a:solidFill>
                  <a:srgbClr val="111827"/>
                </a:solidFill>
                <a:latin typeface="Noto Sans CJK JP"/>
                <a:ea typeface="Noto Sans CJK JP"/>
                <a:cs typeface="Noto Sans CJK JP"/>
              </a:rPr>
              <a:t>残</a:t>
            </a:r>
            <a:r>
              <a:rPr sz="1935" b="1" dirty="0" err="1">
                <a:solidFill>
                  <a:srgbClr val="111827"/>
                </a:solidFill>
                <a:latin typeface="Noto Sans CJK JP"/>
                <a:ea typeface="Noto Sans CJK JP"/>
                <a:cs typeface="Noto Sans CJK JP"/>
              </a:rPr>
              <a:t>高から始</a:t>
            </a:r>
            <a:r>
              <a:rPr lang="ja-JP" altLang="en-US" sz="1935" dirty="0">
                <a:solidFill>
                  <a:srgbClr val="111827"/>
                </a:solidFill>
                <a:latin typeface="Noto Sans CJK JP"/>
                <a:ea typeface="Noto Sans CJK JP"/>
                <a:cs typeface="Noto Sans CJK JP"/>
              </a:rPr>
              <a:t>め</a:t>
            </a:r>
            <a:r>
              <a:rPr sz="1935" b="1" dirty="0" err="1">
                <a:solidFill>
                  <a:srgbClr val="111827"/>
                </a:solidFill>
                <a:latin typeface="Noto Sans CJK JP"/>
                <a:ea typeface="Noto Sans CJK JP"/>
                <a:cs typeface="Noto Sans CJK JP"/>
              </a:rPr>
              <a:t>ると、dTCMVは</a:t>
            </a:r>
            <a:r>
              <a:rPr lang="ja-JP" altLang="en-US" sz="1935" b="1" dirty="0">
                <a:solidFill>
                  <a:srgbClr val="111827"/>
                </a:solidFill>
                <a:latin typeface="Noto Sans CJK JP"/>
                <a:ea typeface="Noto Sans CJK JP"/>
                <a:cs typeface="Noto Sans CJK JP"/>
              </a:rPr>
              <a:t>より</a:t>
            </a:r>
            <a:r>
              <a:rPr lang="ja-JP" altLang="en-US" sz="1935" dirty="0">
                <a:solidFill>
                  <a:srgbClr val="111827"/>
                </a:solidFill>
                <a:latin typeface="Noto Sans CJK JP"/>
                <a:ea typeface="Noto Sans CJK JP"/>
                <a:cs typeface="Noto Sans CJK JP"/>
              </a:rPr>
              <a:t>上方への裾が広がる</a:t>
            </a:r>
            <a:endParaRPr sz="1935" b="1" dirty="0">
              <a:solidFill>
                <a:srgbClr val="111827"/>
              </a:solidFill>
              <a:latin typeface="Noto Sans CJK JP"/>
              <a:ea typeface="Noto Sans CJK JP"/>
              <a:cs typeface="Noto Sans CJK JP"/>
            </a:endParaRPr>
          </a:p>
        </p:txBody>
      </p:sp>
      <p:sp>
        <p:nvSpPr>
          <p:cNvPr id="3" name="title-divider">
            <a:extLst>
              <a:ext uri="{FF2B5EF4-FFF2-40B4-BE49-F238E27FC236}">
                <a16:creationId xmlns:a16="http://schemas.microsoft.com/office/drawing/2014/main" id="{34B4F9D6-C751-5FE8-701C-AFF76ED96ECE}"/>
              </a:ext>
            </a:extLst>
          </p:cNvPr>
          <p:cNvSpPr>
            <a:spLocks noGrp="1"/>
          </p:cNvSpPr>
          <p:nvPr/>
        </p:nvSpPr>
        <p:spPr>
          <a:xfrm>
            <a:off x="457200" y="1676400"/>
            <a:ext cx="8229600" cy="9525"/>
          </a:xfrm>
          <a:prstGeom prst="rect">
            <a:avLst/>
          </a:prstGeom>
          <a:solidFill>
            <a:srgbClr val="E5EAF0"/>
          </a:solidFill>
          <a:ln w="0">
            <a:noFill/>
            <a:prstDash val="solid"/>
          </a:ln>
        </p:spPr>
      </p:sp>
      <p:sp>
        <p:nvSpPr>
          <p:cNvPr id="4" name="title-accent">
            <a:extLst>
              <a:ext uri="{FF2B5EF4-FFF2-40B4-BE49-F238E27FC236}">
                <a16:creationId xmlns:a16="http://schemas.microsoft.com/office/drawing/2014/main" id="{0A0B7C9F-696E-47B0-82F3-12DF29112F3E}"/>
              </a:ext>
            </a:extLst>
          </p:cNvPr>
          <p:cNvSpPr>
            <a:spLocks noGrp="1"/>
          </p:cNvSpPr>
          <p:nvPr/>
        </p:nvSpPr>
        <p:spPr>
          <a:xfrm>
            <a:off x="457200" y="1666875"/>
            <a:ext cx="552450" cy="38100"/>
          </a:xfrm>
          <a:prstGeom prst="rect">
            <a:avLst/>
          </a:prstGeom>
          <a:solidFill>
            <a:srgbClr val="4A90E2"/>
          </a:solidFill>
          <a:ln w="0">
            <a:noFill/>
            <a:prstDash val="solid"/>
          </a:ln>
        </p:spPr>
      </p:sp>
      <p:sp>
        <p:nvSpPr>
          <p:cNvPr id="14" name="chapter-tab-1">
            <a:extLst>
              <a:ext uri="{FF2B5EF4-FFF2-40B4-BE49-F238E27FC236}">
                <a16:creationId xmlns:a16="http://schemas.microsoft.com/office/drawing/2014/main" id="{9D588DBB-C306-F1D2-C40F-56BF0F191089}"/>
              </a:ext>
            </a:extLst>
          </p:cNvPr>
          <p:cNvSpPr>
            <a:spLocks noGrp="1"/>
          </p:cNvSpPr>
          <p:nvPr/>
        </p:nvSpPr>
        <p:spPr>
          <a:xfrm>
            <a:off x="457200" y="4857750"/>
            <a:ext cx="2057400" cy="238125"/>
          </a:xfrm>
          <a:prstGeom prst="parallelogram">
            <a:avLst/>
          </a:prstGeom>
          <a:solidFill>
            <a:srgbClr val="FFFFFF"/>
          </a:solidFill>
          <a:ln w="10001">
            <a:solidFill>
              <a:srgbClr val="4A90E2"/>
            </a:solidFill>
            <a:prstDash val="solid"/>
          </a:ln>
        </p:spPr>
        <p:txBody>
          <a:bodyPr wrap="none" lIns="76200" tIns="0" rIns="76200" bIns="0" anchor="ctr">
            <a:normAutofit/>
          </a:bodyPr>
          <a:lstStyle/>
          <a:p>
            <a:pPr algn="ctr">
              <a:buNone/>
              <a:defRPr sz="998" b="1">
                <a:solidFill>
                  <a:srgbClr val="4A90E2"/>
                </a:solidFill>
                <a:latin typeface="Noto Sans CJK JP"/>
                <a:ea typeface="Noto Sans CJK JP"/>
                <a:cs typeface="Noto Sans CJK JP"/>
              </a:defRPr>
            </a:pPr>
            <a:r>
              <a:rPr sz="998" b="1">
                <a:solidFill>
                  <a:srgbClr val="4A90E2"/>
                </a:solidFill>
                <a:latin typeface="Noto Sans CJK JP"/>
                <a:ea typeface="Noto Sans CJK JP"/>
                <a:cs typeface="Noto Sans CJK JP"/>
              </a:rPr>
              <a:t>1 前提</a:t>
            </a:r>
          </a:p>
        </p:txBody>
      </p:sp>
      <p:sp>
        <p:nvSpPr>
          <p:cNvPr id="15" name="chapter-tab-2">
            <a:extLst>
              <a:ext uri="{FF2B5EF4-FFF2-40B4-BE49-F238E27FC236}">
                <a16:creationId xmlns:a16="http://schemas.microsoft.com/office/drawing/2014/main" id="{C84CC310-43B5-2473-6411-D0F99458EF6C}"/>
              </a:ext>
            </a:extLst>
          </p:cNvPr>
          <p:cNvSpPr>
            <a:spLocks noGrp="1"/>
          </p:cNvSpPr>
          <p:nvPr/>
        </p:nvSpPr>
        <p:spPr>
          <a:xfrm>
            <a:off x="2428875" y="4857750"/>
            <a:ext cx="2057400" cy="238125"/>
          </a:xfrm>
          <a:prstGeom prst="parallelogram">
            <a:avLst/>
          </a:prstGeom>
          <a:solidFill>
            <a:srgbClr val="FFFFFF"/>
          </a:solidFill>
          <a:ln w="10001">
            <a:solidFill>
              <a:srgbClr val="2F73B7"/>
            </a:solidFill>
            <a:prstDash val="solid"/>
          </a:ln>
        </p:spPr>
        <p:txBody>
          <a:bodyPr wrap="none" lIns="76200" tIns="0" rIns="76200" bIns="0" anchor="ctr">
            <a:normAutofit/>
          </a:bodyPr>
          <a:lstStyle/>
          <a:p>
            <a:pPr algn="ctr">
              <a:buNone/>
              <a:defRPr sz="998" b="1">
                <a:solidFill>
                  <a:srgbClr val="2F73B7"/>
                </a:solidFill>
                <a:latin typeface="Noto Sans CJK JP"/>
                <a:ea typeface="Noto Sans CJK JP"/>
                <a:cs typeface="Noto Sans CJK JP"/>
              </a:defRPr>
            </a:pPr>
            <a:r>
              <a:rPr sz="998" b="1">
                <a:solidFill>
                  <a:srgbClr val="2F73B7"/>
                </a:solidFill>
                <a:latin typeface="Noto Sans CJK JP"/>
                <a:ea typeface="Noto Sans CJK JP"/>
                <a:cs typeface="Noto Sans CJK JP"/>
              </a:rPr>
              <a:t>2 数理理論</a:t>
            </a:r>
          </a:p>
        </p:txBody>
      </p:sp>
      <p:sp>
        <p:nvSpPr>
          <p:cNvPr id="16" name="chapter-tab-3">
            <a:extLst>
              <a:ext uri="{FF2B5EF4-FFF2-40B4-BE49-F238E27FC236}">
                <a16:creationId xmlns:a16="http://schemas.microsoft.com/office/drawing/2014/main" id="{86D2FE30-27E7-500C-AF81-B33FE48FA24B}"/>
              </a:ext>
            </a:extLst>
          </p:cNvPr>
          <p:cNvSpPr>
            <a:spLocks noGrp="1"/>
          </p:cNvSpPr>
          <p:nvPr/>
        </p:nvSpPr>
        <p:spPr>
          <a:xfrm>
            <a:off x="4400550" y="4857750"/>
            <a:ext cx="2057400" cy="238125"/>
          </a:xfrm>
          <a:prstGeom prst="parallelogram">
            <a:avLst/>
          </a:prstGeom>
          <a:solidFill>
            <a:srgbClr val="2A8F6A"/>
          </a:solidFill>
          <a:ln w="11430">
            <a:solidFill>
              <a:srgbClr val="2A8F6A"/>
            </a:solidFill>
            <a:prstDash val="solid"/>
          </a:ln>
        </p:spPr>
        <p:txBody>
          <a:bodyPr wrap="none" lIns="76200" tIns="0" rIns="76200" bIns="0" anchor="ctr">
            <a:normAutofit/>
          </a:bodyPr>
          <a:lstStyle/>
          <a:p>
            <a:pPr algn="ctr">
              <a:buNone/>
              <a:defRPr sz="998" b="1">
                <a:solidFill>
                  <a:srgbClr val="FFFFFF"/>
                </a:solidFill>
                <a:latin typeface="Noto Sans CJK JP"/>
                <a:ea typeface="Noto Sans CJK JP"/>
                <a:cs typeface="Noto Sans CJK JP"/>
              </a:defRPr>
            </a:pPr>
            <a:r>
              <a:rPr sz="998" b="1">
                <a:solidFill>
                  <a:srgbClr val="FFFFFF"/>
                </a:solidFill>
                <a:latin typeface="Noto Sans CJK JP"/>
                <a:ea typeface="Noto Sans CJK JP"/>
                <a:cs typeface="Noto Sans CJK JP"/>
              </a:rPr>
              <a:t>3 シミュレーション</a:t>
            </a:r>
          </a:p>
        </p:txBody>
      </p:sp>
      <p:sp>
        <p:nvSpPr>
          <p:cNvPr id="17" name="chapter-tab-4">
            <a:extLst>
              <a:ext uri="{FF2B5EF4-FFF2-40B4-BE49-F238E27FC236}">
                <a16:creationId xmlns:a16="http://schemas.microsoft.com/office/drawing/2014/main" id="{38CD6B05-275B-174C-0657-34706BBE558E}"/>
              </a:ext>
            </a:extLst>
          </p:cNvPr>
          <p:cNvSpPr>
            <a:spLocks noGrp="1"/>
          </p:cNvSpPr>
          <p:nvPr/>
        </p:nvSpPr>
        <p:spPr>
          <a:xfrm>
            <a:off x="6372225" y="4857750"/>
            <a:ext cx="2057400" cy="238125"/>
          </a:xfrm>
          <a:prstGeom prst="parallelogram">
            <a:avLst/>
          </a:prstGeom>
          <a:solidFill>
            <a:srgbClr val="FFFFFF"/>
          </a:solidFill>
          <a:ln w="10001">
            <a:solidFill>
              <a:srgbClr val="C9534B"/>
            </a:solidFill>
            <a:prstDash val="solid"/>
          </a:ln>
        </p:spPr>
        <p:txBody>
          <a:bodyPr wrap="none" lIns="76200" tIns="0" rIns="76200" bIns="0" anchor="ctr">
            <a:normAutofit/>
          </a:bodyPr>
          <a:lstStyle/>
          <a:p>
            <a:pPr algn="ctr">
              <a:buNone/>
              <a:defRPr sz="998" b="1">
                <a:solidFill>
                  <a:srgbClr val="C9534B"/>
                </a:solidFill>
                <a:latin typeface="Noto Sans CJK JP"/>
                <a:ea typeface="Noto Sans CJK JP"/>
                <a:cs typeface="Noto Sans CJK JP"/>
              </a:defRPr>
            </a:pPr>
            <a:r>
              <a:rPr sz="998" b="1">
                <a:solidFill>
                  <a:srgbClr val="C9534B"/>
                </a:solidFill>
                <a:latin typeface="Noto Sans CJK JP"/>
                <a:ea typeface="Noto Sans CJK JP"/>
                <a:cs typeface="Noto Sans CJK JP"/>
              </a:rPr>
              <a:t>4 結論</a:t>
            </a:r>
          </a:p>
        </p:txBody>
      </p:sp>
      <p:sp>
        <p:nvSpPr>
          <p:cNvPr id="18" name="s14-tag-shape">
            <a:extLst>
              <a:ext uri="{FF2B5EF4-FFF2-40B4-BE49-F238E27FC236}">
                <a16:creationId xmlns:a16="http://schemas.microsoft.com/office/drawing/2014/main" id="{1E6D043B-DC1E-BAA6-706A-D401DB4C31AD}"/>
              </a:ext>
            </a:extLst>
          </p:cNvPr>
          <p:cNvSpPr>
            <a:spLocks noGrp="1"/>
          </p:cNvSpPr>
          <p:nvPr/>
        </p:nvSpPr>
        <p:spPr>
          <a:xfrm>
            <a:off x="548224" y="2652518"/>
            <a:ext cx="1626200" cy="314325"/>
          </a:xfrm>
          <a:prstGeom prst="roundRect">
            <a:avLst>
              <a:gd name="adj" fmla="val 25000"/>
            </a:avLst>
          </a:prstGeom>
          <a:solidFill>
            <a:srgbClr val="FFFFFF"/>
          </a:solidFill>
          <a:ln w="9525">
            <a:solidFill>
              <a:srgbClr val="215FB4"/>
            </a:solidFill>
            <a:prstDash val="solid"/>
          </a:ln>
        </p:spPr>
      </p:sp>
      <p:sp>
        <p:nvSpPr>
          <p:cNvPr id="19" name="s14-tag-text">
            <a:extLst>
              <a:ext uri="{FF2B5EF4-FFF2-40B4-BE49-F238E27FC236}">
                <a16:creationId xmlns:a16="http://schemas.microsoft.com/office/drawing/2014/main" id="{A429214E-F4AE-5D26-FD92-2063E5938F51}"/>
              </a:ext>
            </a:extLst>
          </p:cNvPr>
          <p:cNvSpPr>
            <a:spLocks noGrp="1"/>
          </p:cNvSpPr>
          <p:nvPr/>
        </p:nvSpPr>
        <p:spPr>
          <a:xfrm>
            <a:off x="548224" y="2667862"/>
            <a:ext cx="1626200" cy="314324"/>
          </a:xfrm>
          <a:prstGeom prst="rect">
            <a:avLst/>
          </a:prstGeom>
          <a:noFill/>
          <a:ln w="0">
            <a:noFill/>
            <a:prstDash val="solid"/>
          </a:ln>
        </p:spPr>
        <p:txBody>
          <a:bodyPr wrap="square" lIns="0" tIns="0" rIns="0" bIns="0" anchor="ctr">
            <a:normAutofit/>
          </a:bodyPr>
          <a:lstStyle/>
          <a:p>
            <a:pPr algn="ctr">
              <a:defRPr sz="840" b="1">
                <a:solidFill>
                  <a:srgbClr val="215FB4"/>
                </a:solidFill>
                <a:latin typeface="Noto Sans CJK JP"/>
                <a:ea typeface="Noto Sans CJK JP"/>
                <a:cs typeface="Noto Sans CJK JP"/>
              </a:defRPr>
            </a:pPr>
            <a:r>
              <a:rPr lang="ja-JP" altLang="en-US" sz="840" b="1" dirty="0">
                <a:solidFill>
                  <a:srgbClr val="215FB4"/>
                </a:solidFill>
                <a:latin typeface="Noto Sans CJK JP"/>
                <a:ea typeface="Noto Sans CJK JP"/>
                <a:cs typeface="Noto Sans CJK JP"/>
              </a:rPr>
              <a:t>同じ</a:t>
            </a:r>
            <a:r>
              <a:rPr lang="en-US" altLang="ja-JP" sz="840" b="1" dirty="0">
                <a:solidFill>
                  <a:srgbClr val="215FB4"/>
                </a:solidFill>
                <a:latin typeface="Noto Sans CJK JP"/>
                <a:ea typeface="Noto Sans CJK JP"/>
                <a:cs typeface="Noto Sans CJK JP"/>
              </a:rPr>
              <a:t>(t, x)</a:t>
            </a:r>
            <a:r>
              <a:rPr lang="ja-JP" altLang="en-US" sz="840" b="1" dirty="0">
                <a:solidFill>
                  <a:srgbClr val="215FB4"/>
                </a:solidFill>
                <a:latin typeface="Noto Sans CJK JP"/>
                <a:ea typeface="Noto Sans CJK JP"/>
                <a:cs typeface="Noto Sans CJK JP"/>
              </a:rPr>
              <a:t>に固定</a:t>
            </a:r>
            <a:endParaRPr lang="en-US" altLang="ja-JP" sz="840" b="1" dirty="0">
              <a:solidFill>
                <a:srgbClr val="215FB4"/>
              </a:solidFill>
              <a:latin typeface="Noto Sans CJK JP"/>
              <a:ea typeface="Noto Sans CJK JP"/>
              <a:cs typeface="Noto Sans CJK JP"/>
            </a:endParaRPr>
          </a:p>
          <a:p>
            <a:pPr algn="ctr">
              <a:defRPr sz="840" b="1">
                <a:solidFill>
                  <a:srgbClr val="215FB4"/>
                </a:solidFill>
                <a:latin typeface="Noto Sans CJK JP"/>
                <a:ea typeface="Noto Sans CJK JP"/>
                <a:cs typeface="Noto Sans CJK JP"/>
              </a:defRPr>
            </a:pPr>
            <a:r>
              <a:rPr lang="en-US" altLang="ja-JP" sz="840" b="1" dirty="0">
                <a:solidFill>
                  <a:srgbClr val="215FB4"/>
                </a:solidFill>
                <a:latin typeface="Noto Sans CJK JP"/>
                <a:ea typeface="Noto Sans CJK JP"/>
                <a:cs typeface="Noto Sans CJK JP"/>
              </a:rPr>
              <a:t>t</a:t>
            </a:r>
            <a:r>
              <a:rPr lang="ja-JP" altLang="en-US" sz="840" b="1" dirty="0">
                <a:solidFill>
                  <a:srgbClr val="215FB4"/>
                </a:solidFill>
                <a:latin typeface="Noto Sans CJK JP"/>
                <a:ea typeface="Noto Sans CJK JP"/>
                <a:cs typeface="Noto Sans CJK JP"/>
              </a:rPr>
              <a:t> </a:t>
            </a:r>
            <a:r>
              <a:rPr lang="en-US" altLang="ja-JP" sz="840" b="1" dirty="0">
                <a:solidFill>
                  <a:srgbClr val="215FB4"/>
                </a:solidFill>
                <a:latin typeface="Noto Sans CJK JP"/>
                <a:ea typeface="Noto Sans CJK JP"/>
                <a:cs typeface="Noto Sans CJK JP"/>
              </a:rPr>
              <a:t>= </a:t>
            </a:r>
            <a:r>
              <a:rPr sz="840" b="1" dirty="0">
                <a:solidFill>
                  <a:srgbClr val="215FB4"/>
                </a:solidFill>
                <a:latin typeface="Noto Sans CJK JP"/>
                <a:ea typeface="Noto Sans CJK JP"/>
                <a:cs typeface="Noto Sans CJK JP"/>
              </a:rPr>
              <a:t>30年・中央値状態  x = 45.27</a:t>
            </a:r>
          </a:p>
        </p:txBody>
      </p:sp>
      <p:sp>
        <p:nvSpPr>
          <p:cNvPr id="21" name="s14-start-dot">
            <a:extLst>
              <a:ext uri="{FF2B5EF4-FFF2-40B4-BE49-F238E27FC236}">
                <a16:creationId xmlns:a16="http://schemas.microsoft.com/office/drawing/2014/main" id="{1C160324-D613-81F0-4ABD-859C303CEE22}"/>
              </a:ext>
            </a:extLst>
          </p:cNvPr>
          <p:cNvSpPr>
            <a:spLocks noGrp="1"/>
          </p:cNvSpPr>
          <p:nvPr/>
        </p:nvSpPr>
        <p:spPr>
          <a:xfrm>
            <a:off x="2402148" y="2752725"/>
            <a:ext cx="133350" cy="133350"/>
          </a:xfrm>
          <a:prstGeom prst="ellipse">
            <a:avLst/>
          </a:prstGeom>
          <a:solidFill>
            <a:srgbClr val="07183B"/>
          </a:solidFill>
          <a:ln w="0">
            <a:noFill/>
            <a:prstDash val="solid"/>
          </a:ln>
        </p:spPr>
      </p:sp>
      <p:sp>
        <p:nvSpPr>
          <p:cNvPr id="22" name="s14-upper-branch">
            <a:extLst>
              <a:ext uri="{FF2B5EF4-FFF2-40B4-BE49-F238E27FC236}">
                <a16:creationId xmlns:a16="http://schemas.microsoft.com/office/drawing/2014/main" id="{5DA35E1E-C091-EF6F-7949-A2601C7DAFD5}"/>
              </a:ext>
            </a:extLst>
          </p:cNvPr>
          <p:cNvSpPr>
            <a:spLocks noGrp="1"/>
          </p:cNvSpPr>
          <p:nvPr/>
        </p:nvSpPr>
        <p:spPr>
          <a:xfrm>
            <a:off x="2535498" y="2438400"/>
            <a:ext cx="628650" cy="381000"/>
          </a:xfrm>
          <a:custGeom>
            <a:avLst/>
            <a:gdLst/>
            <a:ahLst/>
            <a:cxnLst/>
            <a:rect l="0" t="0" r="0" b="0"/>
            <a:pathLst>
              <a:path w="628650" h="381000">
                <a:moveTo>
                  <a:pt x="0" y="381000"/>
                </a:moveTo>
                <a:lnTo>
                  <a:pt x="390525" y="0"/>
                </a:lnTo>
                <a:lnTo>
                  <a:pt x="628650" y="0"/>
                </a:lnTo>
              </a:path>
            </a:pathLst>
          </a:custGeom>
          <a:noFill/>
          <a:ln w="12383">
            <a:solidFill>
              <a:srgbClr val="16875C"/>
            </a:solidFill>
            <a:prstDash val="solid"/>
          </a:ln>
        </p:spPr>
      </p:sp>
      <p:sp>
        <p:nvSpPr>
          <p:cNvPr id="23" name="s14-lower-branch">
            <a:extLst>
              <a:ext uri="{FF2B5EF4-FFF2-40B4-BE49-F238E27FC236}">
                <a16:creationId xmlns:a16="http://schemas.microsoft.com/office/drawing/2014/main" id="{45E88D4C-5E9C-85BA-6D0A-2BDFBA058417}"/>
              </a:ext>
            </a:extLst>
          </p:cNvPr>
          <p:cNvSpPr>
            <a:spLocks noGrp="1"/>
          </p:cNvSpPr>
          <p:nvPr/>
        </p:nvSpPr>
        <p:spPr>
          <a:xfrm>
            <a:off x="2535498" y="2819400"/>
            <a:ext cx="628650" cy="400050"/>
          </a:xfrm>
          <a:custGeom>
            <a:avLst/>
            <a:gdLst/>
            <a:ahLst/>
            <a:cxnLst/>
            <a:rect l="0" t="0" r="0" b="0"/>
            <a:pathLst>
              <a:path w="628650" h="400050">
                <a:moveTo>
                  <a:pt x="0" y="0"/>
                </a:moveTo>
                <a:lnTo>
                  <a:pt x="390525" y="400050"/>
                </a:lnTo>
                <a:lnTo>
                  <a:pt x="628650" y="400050"/>
                </a:lnTo>
              </a:path>
            </a:pathLst>
          </a:custGeom>
          <a:noFill/>
          <a:ln w="12383">
            <a:solidFill>
              <a:srgbClr val="D94138"/>
            </a:solidFill>
            <a:prstDash val="solid"/>
          </a:ln>
        </p:spPr>
      </p:sp>
      <p:sp>
        <p:nvSpPr>
          <p:cNvPr id="24" name="s14-c-code">
            <a:extLst>
              <a:ext uri="{FF2B5EF4-FFF2-40B4-BE49-F238E27FC236}">
                <a16:creationId xmlns:a16="http://schemas.microsoft.com/office/drawing/2014/main" id="{B52B4C58-D5F2-BF6A-6C61-BDD493A8EB70}"/>
              </a:ext>
            </a:extLst>
          </p:cNvPr>
          <p:cNvSpPr>
            <a:spLocks noGrp="1"/>
          </p:cNvSpPr>
          <p:nvPr/>
        </p:nvSpPr>
        <p:spPr>
          <a:xfrm>
            <a:off x="3211773" y="2295525"/>
            <a:ext cx="952500" cy="247650"/>
          </a:xfrm>
          <a:prstGeom prst="rect">
            <a:avLst/>
          </a:prstGeom>
          <a:noFill/>
          <a:ln w="0">
            <a:noFill/>
            <a:prstDash val="solid"/>
          </a:ln>
        </p:spPr>
        <p:txBody>
          <a:bodyPr wrap="square" lIns="0" tIns="0" rIns="0" bIns="0" anchor="ctr">
            <a:normAutofit/>
          </a:bodyPr>
          <a:lstStyle/>
          <a:p>
            <a:pPr algn="l">
              <a:defRPr sz="1350" b="1">
                <a:solidFill>
                  <a:srgbClr val="16875C"/>
                </a:solidFill>
                <a:latin typeface="Arial"/>
                <a:ea typeface="Arial"/>
                <a:cs typeface="Arial"/>
              </a:defRPr>
            </a:pPr>
            <a:r>
              <a:rPr sz="1350" b="1" dirty="0" err="1">
                <a:solidFill>
                  <a:srgbClr val="16875C"/>
                </a:solidFill>
                <a:latin typeface="Arial"/>
                <a:ea typeface="Arial"/>
                <a:cs typeface="Arial"/>
              </a:rPr>
              <a:t>cTCMV</a:t>
            </a:r>
            <a:endParaRPr sz="1350" b="1" dirty="0">
              <a:solidFill>
                <a:srgbClr val="16875C"/>
              </a:solidFill>
              <a:latin typeface="Arial"/>
              <a:ea typeface="Arial"/>
              <a:cs typeface="Arial"/>
            </a:endParaRPr>
          </a:p>
        </p:txBody>
      </p:sp>
      <p:sp>
        <p:nvSpPr>
          <p:cNvPr id="25" name="s14-d-code">
            <a:extLst>
              <a:ext uri="{FF2B5EF4-FFF2-40B4-BE49-F238E27FC236}">
                <a16:creationId xmlns:a16="http://schemas.microsoft.com/office/drawing/2014/main" id="{1FF781AC-B4A6-E7C9-9E8C-4634854DEFC1}"/>
              </a:ext>
            </a:extLst>
          </p:cNvPr>
          <p:cNvSpPr>
            <a:spLocks noGrp="1"/>
          </p:cNvSpPr>
          <p:nvPr/>
        </p:nvSpPr>
        <p:spPr>
          <a:xfrm>
            <a:off x="3211773" y="3076575"/>
            <a:ext cx="952500" cy="247650"/>
          </a:xfrm>
          <a:prstGeom prst="rect">
            <a:avLst/>
          </a:prstGeom>
          <a:noFill/>
          <a:ln w="0">
            <a:noFill/>
            <a:prstDash val="solid"/>
          </a:ln>
        </p:spPr>
        <p:txBody>
          <a:bodyPr wrap="square" lIns="0" tIns="0" rIns="0" bIns="0" anchor="ctr">
            <a:normAutofit/>
          </a:bodyPr>
          <a:lstStyle/>
          <a:p>
            <a:pPr algn="l">
              <a:defRPr sz="1350" b="1">
                <a:solidFill>
                  <a:srgbClr val="D94138"/>
                </a:solidFill>
                <a:latin typeface="Arial"/>
                <a:ea typeface="Arial"/>
                <a:cs typeface="Arial"/>
              </a:defRPr>
            </a:pPr>
            <a:r>
              <a:rPr sz="1350" b="1" dirty="0" err="1">
                <a:solidFill>
                  <a:srgbClr val="D94138"/>
                </a:solidFill>
                <a:latin typeface="Arial"/>
                <a:ea typeface="Arial"/>
                <a:cs typeface="Arial"/>
              </a:rPr>
              <a:t>dTCMV</a:t>
            </a:r>
            <a:endParaRPr sz="1350" b="1" dirty="0">
              <a:solidFill>
                <a:srgbClr val="D94138"/>
              </a:solidFill>
              <a:latin typeface="Arial"/>
              <a:ea typeface="Arial"/>
              <a:cs typeface="Arial"/>
            </a:endParaRPr>
          </a:p>
        </p:txBody>
      </p:sp>
      <p:sp>
        <p:nvSpPr>
          <p:cNvPr id="26" name="s14-axis">
            <a:extLst>
              <a:ext uri="{FF2B5EF4-FFF2-40B4-BE49-F238E27FC236}">
                <a16:creationId xmlns:a16="http://schemas.microsoft.com/office/drawing/2014/main" id="{2BC2E4E4-4E0D-4834-9BDF-BE3B7A1C6ED2}"/>
              </a:ext>
            </a:extLst>
          </p:cNvPr>
          <p:cNvSpPr>
            <a:spLocks noGrp="1"/>
          </p:cNvSpPr>
          <p:nvPr/>
        </p:nvSpPr>
        <p:spPr>
          <a:xfrm>
            <a:off x="3250803" y="3810000"/>
            <a:ext cx="4572000" cy="133350"/>
          </a:xfrm>
          <a:prstGeom prst="rightArrow">
            <a:avLst/>
          </a:prstGeom>
          <a:solidFill>
            <a:srgbClr val="07183B"/>
          </a:solidFill>
          <a:ln w="0">
            <a:noFill/>
            <a:prstDash val="solid"/>
          </a:ln>
        </p:spPr>
      </p:sp>
      <p:sp>
        <p:nvSpPr>
          <p:cNvPr id="27" name="s14-tick-0">
            <a:extLst>
              <a:ext uri="{FF2B5EF4-FFF2-40B4-BE49-F238E27FC236}">
                <a16:creationId xmlns:a16="http://schemas.microsoft.com/office/drawing/2014/main" id="{643D0C42-DBD9-D41E-ABAF-3A76DEC6BF5E}"/>
              </a:ext>
            </a:extLst>
          </p:cNvPr>
          <p:cNvSpPr>
            <a:spLocks noGrp="1"/>
          </p:cNvSpPr>
          <p:nvPr/>
        </p:nvSpPr>
        <p:spPr>
          <a:xfrm>
            <a:off x="3250803" y="3838575"/>
            <a:ext cx="9525" cy="76200"/>
          </a:xfrm>
          <a:prstGeom prst="rect">
            <a:avLst/>
          </a:prstGeom>
          <a:solidFill>
            <a:srgbClr val="94A3B8"/>
          </a:solidFill>
          <a:ln w="0">
            <a:noFill/>
            <a:prstDash val="solid"/>
          </a:ln>
        </p:spPr>
      </p:sp>
      <p:sp>
        <p:nvSpPr>
          <p:cNvPr id="28" name="s14-tick-label-0">
            <a:extLst>
              <a:ext uri="{FF2B5EF4-FFF2-40B4-BE49-F238E27FC236}">
                <a16:creationId xmlns:a16="http://schemas.microsoft.com/office/drawing/2014/main" id="{EAC0FDA0-D512-DD14-E65F-1CD72836016C}"/>
              </a:ext>
            </a:extLst>
          </p:cNvPr>
          <p:cNvSpPr>
            <a:spLocks noGrp="1"/>
          </p:cNvSpPr>
          <p:nvPr/>
        </p:nvSpPr>
        <p:spPr>
          <a:xfrm>
            <a:off x="3029823" y="3962400"/>
            <a:ext cx="457200" cy="171450"/>
          </a:xfrm>
          <a:prstGeom prst="rect">
            <a:avLst/>
          </a:prstGeom>
          <a:noFill/>
          <a:ln w="0">
            <a:noFill/>
            <a:prstDash val="solid"/>
          </a:ln>
        </p:spPr>
        <p:txBody>
          <a:bodyPr wrap="square" lIns="0" tIns="0" rIns="0" bIns="0" anchor="ctr">
            <a:normAutofit/>
          </a:bodyPr>
          <a:lstStyle/>
          <a:p>
            <a:pPr algn="ctr">
              <a:defRPr sz="788" b="0">
                <a:solidFill>
                  <a:srgbClr val="64748B"/>
                </a:solidFill>
                <a:latin typeface="Arial"/>
                <a:ea typeface="Arial"/>
                <a:cs typeface="Arial"/>
              </a:defRPr>
            </a:pPr>
            <a:r>
              <a:rPr sz="788" b="0" dirty="0">
                <a:solidFill>
                  <a:srgbClr val="64748B"/>
                </a:solidFill>
                <a:latin typeface="Arial"/>
                <a:ea typeface="Arial"/>
                <a:cs typeface="Arial"/>
              </a:rPr>
              <a:t>0</a:t>
            </a:r>
          </a:p>
        </p:txBody>
      </p:sp>
      <p:sp>
        <p:nvSpPr>
          <p:cNvPr id="29" name="s14-tick-50">
            <a:extLst>
              <a:ext uri="{FF2B5EF4-FFF2-40B4-BE49-F238E27FC236}">
                <a16:creationId xmlns:a16="http://schemas.microsoft.com/office/drawing/2014/main" id="{C96DA85B-7B42-8064-4A4B-02DF1F9C30AF}"/>
              </a:ext>
            </a:extLst>
          </p:cNvPr>
          <p:cNvSpPr>
            <a:spLocks noGrp="1"/>
          </p:cNvSpPr>
          <p:nvPr/>
        </p:nvSpPr>
        <p:spPr>
          <a:xfrm>
            <a:off x="4727178" y="3838575"/>
            <a:ext cx="9525" cy="76200"/>
          </a:xfrm>
          <a:prstGeom prst="rect">
            <a:avLst/>
          </a:prstGeom>
          <a:solidFill>
            <a:srgbClr val="94A3B8"/>
          </a:solidFill>
          <a:ln w="0">
            <a:noFill/>
            <a:prstDash val="solid"/>
          </a:ln>
        </p:spPr>
      </p:sp>
      <p:sp>
        <p:nvSpPr>
          <p:cNvPr id="30" name="s14-tick-label-50">
            <a:extLst>
              <a:ext uri="{FF2B5EF4-FFF2-40B4-BE49-F238E27FC236}">
                <a16:creationId xmlns:a16="http://schemas.microsoft.com/office/drawing/2014/main" id="{36E48A69-4117-688A-4DEE-A8417C2BBD1F}"/>
              </a:ext>
            </a:extLst>
          </p:cNvPr>
          <p:cNvSpPr>
            <a:spLocks noGrp="1"/>
          </p:cNvSpPr>
          <p:nvPr/>
        </p:nvSpPr>
        <p:spPr>
          <a:xfrm>
            <a:off x="4498578" y="3962400"/>
            <a:ext cx="457200" cy="171450"/>
          </a:xfrm>
          <a:prstGeom prst="rect">
            <a:avLst/>
          </a:prstGeom>
          <a:noFill/>
          <a:ln w="0">
            <a:noFill/>
            <a:prstDash val="solid"/>
          </a:ln>
        </p:spPr>
        <p:txBody>
          <a:bodyPr wrap="square" lIns="0" tIns="0" rIns="0" bIns="0" anchor="ctr">
            <a:normAutofit/>
          </a:bodyPr>
          <a:lstStyle/>
          <a:p>
            <a:pPr algn="ctr">
              <a:defRPr sz="788" b="0">
                <a:solidFill>
                  <a:srgbClr val="64748B"/>
                </a:solidFill>
                <a:latin typeface="Arial"/>
                <a:ea typeface="Arial"/>
                <a:cs typeface="Arial"/>
              </a:defRPr>
            </a:pPr>
            <a:r>
              <a:rPr sz="788" b="0">
                <a:solidFill>
                  <a:srgbClr val="64748B"/>
                </a:solidFill>
                <a:latin typeface="Arial"/>
                <a:ea typeface="Arial"/>
                <a:cs typeface="Arial"/>
              </a:rPr>
              <a:t>50</a:t>
            </a:r>
          </a:p>
        </p:txBody>
      </p:sp>
      <p:sp>
        <p:nvSpPr>
          <p:cNvPr id="31" name="s14-tick-100">
            <a:extLst>
              <a:ext uri="{FF2B5EF4-FFF2-40B4-BE49-F238E27FC236}">
                <a16:creationId xmlns:a16="http://schemas.microsoft.com/office/drawing/2014/main" id="{BBC1B773-54EE-0480-5BA9-DAD3841F8307}"/>
              </a:ext>
            </a:extLst>
          </p:cNvPr>
          <p:cNvSpPr>
            <a:spLocks noGrp="1"/>
          </p:cNvSpPr>
          <p:nvPr/>
        </p:nvSpPr>
        <p:spPr>
          <a:xfrm>
            <a:off x="6203553" y="3838575"/>
            <a:ext cx="9525" cy="76200"/>
          </a:xfrm>
          <a:prstGeom prst="rect">
            <a:avLst/>
          </a:prstGeom>
          <a:solidFill>
            <a:srgbClr val="94A3B8"/>
          </a:solidFill>
          <a:ln w="0">
            <a:noFill/>
            <a:prstDash val="solid"/>
          </a:ln>
        </p:spPr>
      </p:sp>
      <p:sp>
        <p:nvSpPr>
          <p:cNvPr id="32" name="s14-tick-label-100">
            <a:extLst>
              <a:ext uri="{FF2B5EF4-FFF2-40B4-BE49-F238E27FC236}">
                <a16:creationId xmlns:a16="http://schemas.microsoft.com/office/drawing/2014/main" id="{1F9905C7-79A2-644C-A6CE-5E18246C2673}"/>
              </a:ext>
            </a:extLst>
          </p:cNvPr>
          <p:cNvSpPr>
            <a:spLocks noGrp="1"/>
          </p:cNvSpPr>
          <p:nvPr/>
        </p:nvSpPr>
        <p:spPr>
          <a:xfrm>
            <a:off x="5974953" y="3962400"/>
            <a:ext cx="457200" cy="171450"/>
          </a:xfrm>
          <a:prstGeom prst="rect">
            <a:avLst/>
          </a:prstGeom>
          <a:noFill/>
          <a:ln w="0">
            <a:noFill/>
            <a:prstDash val="solid"/>
          </a:ln>
        </p:spPr>
        <p:txBody>
          <a:bodyPr wrap="square" lIns="0" tIns="0" rIns="0" bIns="0" anchor="ctr">
            <a:normAutofit/>
          </a:bodyPr>
          <a:lstStyle/>
          <a:p>
            <a:pPr algn="ctr">
              <a:defRPr sz="788" b="0">
                <a:solidFill>
                  <a:srgbClr val="64748B"/>
                </a:solidFill>
                <a:latin typeface="Arial"/>
                <a:ea typeface="Arial"/>
                <a:cs typeface="Arial"/>
              </a:defRPr>
            </a:pPr>
            <a:r>
              <a:rPr sz="788" b="0">
                <a:solidFill>
                  <a:srgbClr val="64748B"/>
                </a:solidFill>
                <a:latin typeface="Arial"/>
                <a:ea typeface="Arial"/>
                <a:cs typeface="Arial"/>
              </a:rPr>
              <a:t>100</a:t>
            </a:r>
          </a:p>
        </p:txBody>
      </p:sp>
      <p:sp>
        <p:nvSpPr>
          <p:cNvPr id="33" name="s14-tick-150">
            <a:extLst>
              <a:ext uri="{FF2B5EF4-FFF2-40B4-BE49-F238E27FC236}">
                <a16:creationId xmlns:a16="http://schemas.microsoft.com/office/drawing/2014/main" id="{D84E44BC-DA63-E37C-0FE1-5819F32DB7FB}"/>
              </a:ext>
            </a:extLst>
          </p:cNvPr>
          <p:cNvSpPr>
            <a:spLocks noGrp="1"/>
          </p:cNvSpPr>
          <p:nvPr/>
        </p:nvSpPr>
        <p:spPr>
          <a:xfrm>
            <a:off x="7679928" y="3838575"/>
            <a:ext cx="9525" cy="76200"/>
          </a:xfrm>
          <a:prstGeom prst="rect">
            <a:avLst/>
          </a:prstGeom>
          <a:solidFill>
            <a:srgbClr val="94A3B8"/>
          </a:solidFill>
          <a:ln w="0">
            <a:noFill/>
            <a:prstDash val="solid"/>
          </a:ln>
        </p:spPr>
      </p:sp>
      <p:sp>
        <p:nvSpPr>
          <p:cNvPr id="34" name="s14-tick-label-150">
            <a:extLst>
              <a:ext uri="{FF2B5EF4-FFF2-40B4-BE49-F238E27FC236}">
                <a16:creationId xmlns:a16="http://schemas.microsoft.com/office/drawing/2014/main" id="{517C7160-BD95-E595-5DAD-B282AE20C3DC}"/>
              </a:ext>
            </a:extLst>
          </p:cNvPr>
          <p:cNvSpPr>
            <a:spLocks noGrp="1"/>
          </p:cNvSpPr>
          <p:nvPr/>
        </p:nvSpPr>
        <p:spPr>
          <a:xfrm>
            <a:off x="7451328" y="3962400"/>
            <a:ext cx="457200" cy="171450"/>
          </a:xfrm>
          <a:prstGeom prst="rect">
            <a:avLst/>
          </a:prstGeom>
          <a:noFill/>
          <a:ln w="0">
            <a:noFill/>
            <a:prstDash val="solid"/>
          </a:ln>
        </p:spPr>
        <p:txBody>
          <a:bodyPr wrap="square" lIns="0" tIns="0" rIns="0" bIns="0" anchor="ctr">
            <a:normAutofit/>
          </a:bodyPr>
          <a:lstStyle/>
          <a:p>
            <a:pPr algn="ctr">
              <a:defRPr sz="788" b="0">
                <a:solidFill>
                  <a:srgbClr val="64748B"/>
                </a:solidFill>
                <a:latin typeface="Arial"/>
                <a:ea typeface="Arial"/>
                <a:cs typeface="Arial"/>
              </a:defRPr>
            </a:pPr>
            <a:r>
              <a:rPr sz="788" b="0">
                <a:solidFill>
                  <a:srgbClr val="64748B"/>
                </a:solidFill>
                <a:latin typeface="Arial"/>
                <a:ea typeface="Arial"/>
                <a:cs typeface="Arial"/>
              </a:rPr>
              <a:t>150</a:t>
            </a:r>
          </a:p>
        </p:txBody>
      </p:sp>
      <p:sp>
        <p:nvSpPr>
          <p:cNvPr id="37" name="s14-axis-label">
            <a:extLst>
              <a:ext uri="{FF2B5EF4-FFF2-40B4-BE49-F238E27FC236}">
                <a16:creationId xmlns:a16="http://schemas.microsoft.com/office/drawing/2014/main" id="{5B390089-DEF8-D6ED-160F-940DA74856BB}"/>
              </a:ext>
            </a:extLst>
          </p:cNvPr>
          <p:cNvSpPr>
            <a:spLocks noGrp="1"/>
          </p:cNvSpPr>
          <p:nvPr/>
        </p:nvSpPr>
        <p:spPr>
          <a:xfrm>
            <a:off x="5346303" y="4171950"/>
            <a:ext cx="2476500" cy="171450"/>
          </a:xfrm>
          <a:prstGeom prst="rect">
            <a:avLst/>
          </a:prstGeom>
          <a:noFill/>
          <a:ln w="0">
            <a:noFill/>
            <a:prstDash val="solid"/>
          </a:ln>
        </p:spPr>
        <p:txBody>
          <a:bodyPr wrap="square" lIns="0" tIns="0" rIns="0" bIns="0" anchor="ctr">
            <a:normAutofit/>
          </a:bodyPr>
          <a:lstStyle/>
          <a:p>
            <a:pPr algn="ctr">
              <a:defRPr sz="863" b="0">
                <a:solidFill>
                  <a:srgbClr val="64748B"/>
                </a:solidFill>
                <a:latin typeface="Noto Sans CJK JP"/>
                <a:ea typeface="Noto Sans CJK JP"/>
                <a:cs typeface="Noto Sans CJK JP"/>
              </a:defRPr>
            </a:pPr>
            <a:r>
              <a:rPr sz="863" b="0" dirty="0" err="1">
                <a:solidFill>
                  <a:srgbClr val="64748B"/>
                </a:solidFill>
                <a:latin typeface="Noto Sans CJK JP"/>
                <a:ea typeface="Noto Sans CJK JP"/>
                <a:cs typeface="Noto Sans CJK JP"/>
              </a:rPr>
              <a:t>終端</a:t>
            </a:r>
            <a:r>
              <a:rPr lang="en-US" altLang="ja-JP" sz="863" dirty="0" err="1">
                <a:solidFill>
                  <a:srgbClr val="64748B"/>
                </a:solidFill>
                <a:latin typeface="Noto Sans CJK JP"/>
                <a:ea typeface="Noto Sans CJK JP"/>
                <a:cs typeface="Noto Sans CJK JP"/>
              </a:rPr>
              <a:t>D</a:t>
            </a:r>
            <a:r>
              <a:rPr sz="863" b="0" dirty="0" err="1">
                <a:solidFill>
                  <a:srgbClr val="64748B"/>
                </a:solidFill>
                <a:latin typeface="Noto Sans CJK JP"/>
                <a:ea typeface="Noto Sans CJK JP"/>
                <a:cs typeface="Noto Sans CJK JP"/>
              </a:rPr>
              <a:t>C</a:t>
            </a:r>
            <a:r>
              <a:rPr lang="ja-JP" altLang="en-US" sz="863" dirty="0">
                <a:solidFill>
                  <a:srgbClr val="64748B"/>
                </a:solidFill>
                <a:latin typeface="Noto Sans CJK JP"/>
                <a:ea typeface="Noto Sans CJK JP"/>
                <a:cs typeface="Noto Sans CJK JP"/>
              </a:rPr>
              <a:t>残高</a:t>
            </a:r>
            <a:r>
              <a:rPr sz="863" b="0" dirty="0">
                <a:solidFill>
                  <a:srgbClr val="64748B"/>
                </a:solidFill>
                <a:latin typeface="Noto Sans CJK JP"/>
                <a:ea typeface="Noto Sans CJK JP"/>
                <a:cs typeface="Noto Sans CJK JP"/>
              </a:rPr>
              <a:t>（</a:t>
            </a:r>
            <a:r>
              <a:rPr sz="863" b="0" dirty="0" err="1">
                <a:solidFill>
                  <a:srgbClr val="64748B"/>
                </a:solidFill>
                <a:latin typeface="Noto Sans CJK JP"/>
                <a:ea typeface="Noto Sans CJK JP"/>
                <a:cs typeface="Noto Sans CJK JP"/>
              </a:rPr>
              <a:t>条件付き終端富</a:t>
            </a:r>
            <a:r>
              <a:rPr sz="863" b="0" dirty="0">
                <a:solidFill>
                  <a:srgbClr val="64748B"/>
                </a:solidFill>
                <a:latin typeface="Noto Sans CJK JP"/>
                <a:ea typeface="Noto Sans CJK JP"/>
                <a:cs typeface="Noto Sans CJK JP"/>
              </a:rPr>
              <a:t>）</a:t>
            </a:r>
          </a:p>
        </p:txBody>
      </p:sp>
      <p:sp>
        <p:nvSpPr>
          <p:cNvPr id="38" name="s14-range-0">
            <a:extLst>
              <a:ext uri="{FF2B5EF4-FFF2-40B4-BE49-F238E27FC236}">
                <a16:creationId xmlns:a16="http://schemas.microsoft.com/office/drawing/2014/main" id="{EF66F7CB-C83E-0B20-1289-D536EB88C9E9}"/>
              </a:ext>
            </a:extLst>
          </p:cNvPr>
          <p:cNvSpPr>
            <a:spLocks noGrp="1"/>
          </p:cNvSpPr>
          <p:nvPr/>
        </p:nvSpPr>
        <p:spPr>
          <a:xfrm>
            <a:off x="4681706" y="2447925"/>
            <a:ext cx="1429131" cy="24765"/>
          </a:xfrm>
          <a:prstGeom prst="rect">
            <a:avLst/>
          </a:prstGeom>
          <a:solidFill>
            <a:srgbClr val="16875C"/>
          </a:solidFill>
          <a:ln w="0">
            <a:noFill/>
            <a:prstDash val="solid"/>
          </a:ln>
        </p:spPr>
      </p:sp>
      <p:sp>
        <p:nvSpPr>
          <p:cNvPr id="39" name="s14-cap-l-0">
            <a:extLst>
              <a:ext uri="{FF2B5EF4-FFF2-40B4-BE49-F238E27FC236}">
                <a16:creationId xmlns:a16="http://schemas.microsoft.com/office/drawing/2014/main" id="{92019A2C-97F4-3CEA-80C3-7691F49A4AA8}"/>
              </a:ext>
            </a:extLst>
          </p:cNvPr>
          <p:cNvSpPr>
            <a:spLocks noGrp="1"/>
          </p:cNvSpPr>
          <p:nvPr/>
        </p:nvSpPr>
        <p:spPr>
          <a:xfrm>
            <a:off x="4681706" y="2371725"/>
            <a:ext cx="13335" cy="152400"/>
          </a:xfrm>
          <a:prstGeom prst="rect">
            <a:avLst/>
          </a:prstGeom>
          <a:solidFill>
            <a:srgbClr val="16875C"/>
          </a:solidFill>
          <a:ln w="0">
            <a:noFill/>
            <a:prstDash val="solid"/>
          </a:ln>
        </p:spPr>
      </p:sp>
      <p:sp>
        <p:nvSpPr>
          <p:cNvPr id="40" name="s14-cap-r-0">
            <a:extLst>
              <a:ext uri="{FF2B5EF4-FFF2-40B4-BE49-F238E27FC236}">
                <a16:creationId xmlns:a16="http://schemas.microsoft.com/office/drawing/2014/main" id="{6B863C27-55C0-0D31-A857-831A42F91CAE}"/>
              </a:ext>
            </a:extLst>
          </p:cNvPr>
          <p:cNvSpPr>
            <a:spLocks noGrp="1"/>
          </p:cNvSpPr>
          <p:nvPr/>
        </p:nvSpPr>
        <p:spPr>
          <a:xfrm>
            <a:off x="6110837" y="2371725"/>
            <a:ext cx="13335" cy="152400"/>
          </a:xfrm>
          <a:prstGeom prst="rect">
            <a:avLst/>
          </a:prstGeom>
          <a:solidFill>
            <a:srgbClr val="16875C"/>
          </a:solidFill>
          <a:ln w="0">
            <a:noFill/>
            <a:prstDash val="solid"/>
          </a:ln>
        </p:spPr>
      </p:sp>
      <p:sp>
        <p:nvSpPr>
          <p:cNvPr id="41" name="s14-mean-0">
            <a:extLst>
              <a:ext uri="{FF2B5EF4-FFF2-40B4-BE49-F238E27FC236}">
                <a16:creationId xmlns:a16="http://schemas.microsoft.com/office/drawing/2014/main" id="{2EC100B2-573F-888D-03EF-475CCB031167}"/>
              </a:ext>
            </a:extLst>
          </p:cNvPr>
          <p:cNvSpPr>
            <a:spLocks noGrp="1"/>
          </p:cNvSpPr>
          <p:nvPr/>
        </p:nvSpPr>
        <p:spPr>
          <a:xfrm>
            <a:off x="5340969" y="2400300"/>
            <a:ext cx="95250" cy="95250"/>
          </a:xfrm>
          <a:prstGeom prst="ellipse">
            <a:avLst/>
          </a:prstGeom>
          <a:solidFill>
            <a:srgbClr val="16875C"/>
          </a:solidFill>
          <a:ln w="0">
            <a:noFill/>
            <a:prstDash val="solid"/>
          </a:ln>
        </p:spPr>
      </p:sp>
      <p:sp>
        <p:nvSpPr>
          <p:cNvPr id="42" name="s14-q05-label-0">
            <a:extLst>
              <a:ext uri="{FF2B5EF4-FFF2-40B4-BE49-F238E27FC236}">
                <a16:creationId xmlns:a16="http://schemas.microsoft.com/office/drawing/2014/main" id="{E5E70C9C-18F5-02AB-0903-B5B26D687539}"/>
              </a:ext>
            </a:extLst>
          </p:cNvPr>
          <p:cNvSpPr>
            <a:spLocks noGrp="1"/>
          </p:cNvSpPr>
          <p:nvPr/>
        </p:nvSpPr>
        <p:spPr>
          <a:xfrm>
            <a:off x="4376906" y="2038350"/>
            <a:ext cx="609600" cy="333375"/>
          </a:xfrm>
          <a:prstGeom prst="rect">
            <a:avLst/>
          </a:prstGeom>
          <a:noFill/>
          <a:ln w="0">
            <a:noFill/>
            <a:prstDash val="solid"/>
          </a:ln>
        </p:spPr>
        <p:txBody>
          <a:bodyPr wrap="square" lIns="0" tIns="0" rIns="0" bIns="0" anchor="ctr">
            <a:normAutofit/>
          </a:bodyPr>
          <a:lstStyle/>
          <a:p>
            <a:pPr algn="ctr">
              <a:defRPr sz="788" b="0">
                <a:solidFill>
                  <a:srgbClr val="16875C"/>
                </a:solidFill>
                <a:latin typeface="Arial"/>
                <a:ea typeface="Arial"/>
                <a:cs typeface="Arial"/>
              </a:defRPr>
            </a:pPr>
            <a:r>
              <a:rPr sz="788" b="0">
                <a:solidFill>
                  <a:srgbClr val="16875C"/>
                </a:solidFill>
                <a:latin typeface="Arial"/>
                <a:ea typeface="Arial"/>
                <a:cs typeface="Arial"/>
              </a:rPr>
              <a:t>q05</a:t>
            </a:r>
          </a:p>
          <a:p>
            <a:pPr algn="ctr">
              <a:defRPr sz="788" b="0">
                <a:solidFill>
                  <a:srgbClr val="16875C"/>
                </a:solidFill>
                <a:latin typeface="Arial"/>
                <a:ea typeface="Arial"/>
                <a:cs typeface="Arial"/>
              </a:defRPr>
            </a:pPr>
            <a:r>
              <a:rPr sz="788" b="0">
                <a:solidFill>
                  <a:srgbClr val="16875C"/>
                </a:solidFill>
                <a:latin typeface="Arial"/>
                <a:ea typeface="Arial"/>
                <a:cs typeface="Arial"/>
              </a:rPr>
              <a:t>48.46</a:t>
            </a:r>
          </a:p>
        </p:txBody>
      </p:sp>
      <p:sp>
        <p:nvSpPr>
          <p:cNvPr id="43" name="s14-mean-label-0">
            <a:extLst>
              <a:ext uri="{FF2B5EF4-FFF2-40B4-BE49-F238E27FC236}">
                <a16:creationId xmlns:a16="http://schemas.microsoft.com/office/drawing/2014/main" id="{1D53DC02-7A0D-D394-421A-3249A2832421}"/>
              </a:ext>
            </a:extLst>
          </p:cNvPr>
          <p:cNvSpPr>
            <a:spLocks noGrp="1"/>
          </p:cNvSpPr>
          <p:nvPr/>
        </p:nvSpPr>
        <p:spPr>
          <a:xfrm>
            <a:off x="5009982" y="2043112"/>
            <a:ext cx="392678" cy="333375"/>
          </a:xfrm>
          <a:prstGeom prst="rect">
            <a:avLst/>
          </a:prstGeom>
          <a:noFill/>
          <a:ln w="0">
            <a:noFill/>
            <a:prstDash val="solid"/>
          </a:ln>
        </p:spPr>
        <p:txBody>
          <a:bodyPr wrap="square" lIns="0" tIns="0" rIns="0" bIns="0" anchor="ctr">
            <a:normAutofit/>
          </a:bodyPr>
          <a:lstStyle/>
          <a:p>
            <a:pPr algn="ctr">
              <a:defRPr sz="788" b="1">
                <a:solidFill>
                  <a:srgbClr val="16875C"/>
                </a:solidFill>
                <a:latin typeface="Arial"/>
                <a:ea typeface="Arial"/>
                <a:cs typeface="Arial"/>
              </a:defRPr>
            </a:pPr>
            <a:r>
              <a:rPr sz="788" b="1" dirty="0" err="1">
                <a:solidFill>
                  <a:srgbClr val="16875C"/>
                </a:solidFill>
                <a:latin typeface="Arial"/>
                <a:ea typeface="Arial"/>
                <a:cs typeface="Arial"/>
              </a:rPr>
              <a:t>平均</a:t>
            </a:r>
            <a:endParaRPr sz="788" b="1" dirty="0">
              <a:solidFill>
                <a:srgbClr val="16875C"/>
              </a:solidFill>
              <a:latin typeface="Arial"/>
              <a:ea typeface="Arial"/>
              <a:cs typeface="Arial"/>
            </a:endParaRPr>
          </a:p>
          <a:p>
            <a:pPr algn="ctr">
              <a:defRPr sz="788" b="1">
                <a:solidFill>
                  <a:srgbClr val="16875C"/>
                </a:solidFill>
                <a:latin typeface="Arial"/>
                <a:ea typeface="Arial"/>
                <a:cs typeface="Arial"/>
              </a:defRPr>
            </a:pPr>
            <a:r>
              <a:rPr sz="788" b="1" dirty="0">
                <a:solidFill>
                  <a:srgbClr val="16875C"/>
                </a:solidFill>
                <a:latin typeface="Arial"/>
                <a:ea typeface="Arial"/>
                <a:cs typeface="Arial"/>
              </a:rPr>
              <a:t>72.4</a:t>
            </a:r>
            <a:r>
              <a:rPr lang="en-US" sz="788" b="1" dirty="0">
                <a:solidFill>
                  <a:srgbClr val="16875C"/>
                </a:solidFill>
                <a:latin typeface="Arial"/>
                <a:ea typeface="Arial"/>
                <a:cs typeface="Arial"/>
              </a:rPr>
              <a:t>1</a:t>
            </a:r>
            <a:endParaRPr sz="788" b="1" dirty="0">
              <a:solidFill>
                <a:srgbClr val="16875C"/>
              </a:solidFill>
              <a:latin typeface="Arial"/>
              <a:ea typeface="Arial"/>
              <a:cs typeface="Arial"/>
            </a:endParaRPr>
          </a:p>
        </p:txBody>
      </p:sp>
      <p:sp>
        <p:nvSpPr>
          <p:cNvPr id="44" name="s14-q95-label-0">
            <a:extLst>
              <a:ext uri="{FF2B5EF4-FFF2-40B4-BE49-F238E27FC236}">
                <a16:creationId xmlns:a16="http://schemas.microsoft.com/office/drawing/2014/main" id="{5C50E4FF-8AF0-FCEC-783F-265D1AA233CB}"/>
              </a:ext>
            </a:extLst>
          </p:cNvPr>
          <p:cNvSpPr>
            <a:spLocks noGrp="1"/>
          </p:cNvSpPr>
          <p:nvPr/>
        </p:nvSpPr>
        <p:spPr>
          <a:xfrm>
            <a:off x="5777462" y="2038350"/>
            <a:ext cx="666750" cy="333375"/>
          </a:xfrm>
          <a:prstGeom prst="rect">
            <a:avLst/>
          </a:prstGeom>
          <a:noFill/>
          <a:ln w="0">
            <a:noFill/>
            <a:prstDash val="solid"/>
          </a:ln>
        </p:spPr>
        <p:txBody>
          <a:bodyPr wrap="square" lIns="0" tIns="0" rIns="0" bIns="0" anchor="ctr">
            <a:normAutofit/>
          </a:bodyPr>
          <a:lstStyle/>
          <a:p>
            <a:pPr algn="ctr">
              <a:defRPr sz="788" b="0">
                <a:solidFill>
                  <a:srgbClr val="16875C"/>
                </a:solidFill>
                <a:latin typeface="Arial"/>
                <a:ea typeface="Arial"/>
                <a:cs typeface="Arial"/>
              </a:defRPr>
            </a:pPr>
            <a:r>
              <a:rPr sz="788" b="0">
                <a:solidFill>
                  <a:srgbClr val="16875C"/>
                </a:solidFill>
                <a:latin typeface="Arial"/>
                <a:ea typeface="Arial"/>
                <a:cs typeface="Arial"/>
              </a:rPr>
              <a:t>q95</a:t>
            </a:r>
          </a:p>
          <a:p>
            <a:pPr algn="ctr">
              <a:defRPr sz="788" b="0">
                <a:solidFill>
                  <a:srgbClr val="16875C"/>
                </a:solidFill>
                <a:latin typeface="Arial"/>
                <a:ea typeface="Arial"/>
                <a:cs typeface="Arial"/>
              </a:defRPr>
            </a:pPr>
            <a:r>
              <a:rPr sz="788" b="0">
                <a:solidFill>
                  <a:srgbClr val="16875C"/>
                </a:solidFill>
                <a:latin typeface="Arial"/>
                <a:ea typeface="Arial"/>
                <a:cs typeface="Arial"/>
              </a:rPr>
              <a:t>96.86</a:t>
            </a:r>
          </a:p>
        </p:txBody>
      </p:sp>
      <p:sp>
        <p:nvSpPr>
          <p:cNvPr id="45" name="s14-range-1">
            <a:extLst>
              <a:ext uri="{FF2B5EF4-FFF2-40B4-BE49-F238E27FC236}">
                <a16:creationId xmlns:a16="http://schemas.microsoft.com/office/drawing/2014/main" id="{266369D4-9B7D-2F4B-C14D-0F808FB9410C}"/>
              </a:ext>
            </a:extLst>
          </p:cNvPr>
          <p:cNvSpPr>
            <a:spLocks noGrp="1"/>
          </p:cNvSpPr>
          <p:nvPr/>
        </p:nvSpPr>
        <p:spPr>
          <a:xfrm>
            <a:off x="4406509" y="3228975"/>
            <a:ext cx="3038084" cy="24765"/>
          </a:xfrm>
          <a:prstGeom prst="rect">
            <a:avLst/>
          </a:prstGeom>
          <a:solidFill>
            <a:srgbClr val="D94138"/>
          </a:solidFill>
          <a:ln w="0">
            <a:noFill/>
            <a:prstDash val="solid"/>
          </a:ln>
        </p:spPr>
      </p:sp>
      <p:sp>
        <p:nvSpPr>
          <p:cNvPr id="46" name="s14-cap-l-1">
            <a:extLst>
              <a:ext uri="{FF2B5EF4-FFF2-40B4-BE49-F238E27FC236}">
                <a16:creationId xmlns:a16="http://schemas.microsoft.com/office/drawing/2014/main" id="{BF7F2C8D-A045-4A47-CBDD-A4B5DF6A5875}"/>
              </a:ext>
            </a:extLst>
          </p:cNvPr>
          <p:cNvSpPr>
            <a:spLocks noGrp="1"/>
          </p:cNvSpPr>
          <p:nvPr/>
        </p:nvSpPr>
        <p:spPr>
          <a:xfrm>
            <a:off x="4406509" y="3152775"/>
            <a:ext cx="13335" cy="152400"/>
          </a:xfrm>
          <a:prstGeom prst="rect">
            <a:avLst/>
          </a:prstGeom>
          <a:solidFill>
            <a:srgbClr val="D94138"/>
          </a:solidFill>
          <a:ln w="0">
            <a:noFill/>
            <a:prstDash val="solid"/>
          </a:ln>
        </p:spPr>
      </p:sp>
      <p:sp>
        <p:nvSpPr>
          <p:cNvPr id="47" name="s14-cap-r-1">
            <a:extLst>
              <a:ext uri="{FF2B5EF4-FFF2-40B4-BE49-F238E27FC236}">
                <a16:creationId xmlns:a16="http://schemas.microsoft.com/office/drawing/2014/main" id="{B8FBDBDF-414C-0B93-3F12-A74D2FB169A0}"/>
              </a:ext>
            </a:extLst>
          </p:cNvPr>
          <p:cNvSpPr>
            <a:spLocks noGrp="1"/>
          </p:cNvSpPr>
          <p:nvPr/>
        </p:nvSpPr>
        <p:spPr>
          <a:xfrm>
            <a:off x="7444594" y="3152775"/>
            <a:ext cx="13335" cy="152400"/>
          </a:xfrm>
          <a:prstGeom prst="rect">
            <a:avLst/>
          </a:prstGeom>
          <a:solidFill>
            <a:srgbClr val="D94138"/>
          </a:solidFill>
          <a:ln w="0">
            <a:noFill/>
            <a:prstDash val="solid"/>
          </a:ln>
        </p:spPr>
      </p:sp>
      <p:sp>
        <p:nvSpPr>
          <p:cNvPr id="48" name="s14-mean-1">
            <a:extLst>
              <a:ext uri="{FF2B5EF4-FFF2-40B4-BE49-F238E27FC236}">
                <a16:creationId xmlns:a16="http://schemas.microsoft.com/office/drawing/2014/main" id="{43BC242D-66DF-7AEC-DF66-96595AB1C755}"/>
              </a:ext>
            </a:extLst>
          </p:cNvPr>
          <p:cNvSpPr>
            <a:spLocks noGrp="1"/>
          </p:cNvSpPr>
          <p:nvPr/>
        </p:nvSpPr>
        <p:spPr>
          <a:xfrm>
            <a:off x="5606717" y="3181350"/>
            <a:ext cx="95250" cy="95250"/>
          </a:xfrm>
          <a:prstGeom prst="ellipse">
            <a:avLst/>
          </a:prstGeom>
          <a:solidFill>
            <a:srgbClr val="D94138"/>
          </a:solidFill>
          <a:ln w="0">
            <a:noFill/>
            <a:prstDash val="solid"/>
          </a:ln>
        </p:spPr>
      </p:sp>
      <p:sp>
        <p:nvSpPr>
          <p:cNvPr id="49" name="s14-q05-label-1">
            <a:extLst>
              <a:ext uri="{FF2B5EF4-FFF2-40B4-BE49-F238E27FC236}">
                <a16:creationId xmlns:a16="http://schemas.microsoft.com/office/drawing/2014/main" id="{6E9472A9-4508-5F7B-33EC-AC0A6239F398}"/>
              </a:ext>
            </a:extLst>
          </p:cNvPr>
          <p:cNvSpPr>
            <a:spLocks noGrp="1"/>
          </p:cNvSpPr>
          <p:nvPr/>
        </p:nvSpPr>
        <p:spPr>
          <a:xfrm>
            <a:off x="4101709" y="2819400"/>
            <a:ext cx="609600" cy="333375"/>
          </a:xfrm>
          <a:prstGeom prst="rect">
            <a:avLst/>
          </a:prstGeom>
          <a:noFill/>
          <a:ln w="0">
            <a:noFill/>
            <a:prstDash val="solid"/>
          </a:ln>
        </p:spPr>
        <p:txBody>
          <a:bodyPr wrap="square" lIns="0" tIns="0" rIns="0" bIns="0" anchor="ctr">
            <a:normAutofit/>
          </a:bodyPr>
          <a:lstStyle/>
          <a:p>
            <a:pPr algn="ctr">
              <a:defRPr sz="788" b="0">
                <a:solidFill>
                  <a:srgbClr val="D94138"/>
                </a:solidFill>
                <a:latin typeface="Arial"/>
                <a:ea typeface="Arial"/>
                <a:cs typeface="Arial"/>
              </a:defRPr>
            </a:pPr>
            <a:r>
              <a:rPr sz="788" b="0">
                <a:solidFill>
                  <a:srgbClr val="D94138"/>
                </a:solidFill>
                <a:latin typeface="Arial"/>
                <a:ea typeface="Arial"/>
                <a:cs typeface="Arial"/>
              </a:rPr>
              <a:t>q05</a:t>
            </a:r>
          </a:p>
          <a:p>
            <a:pPr algn="ctr">
              <a:defRPr sz="788" b="0">
                <a:solidFill>
                  <a:srgbClr val="D94138"/>
                </a:solidFill>
                <a:latin typeface="Arial"/>
                <a:ea typeface="Arial"/>
                <a:cs typeface="Arial"/>
              </a:defRPr>
            </a:pPr>
            <a:r>
              <a:rPr sz="788" b="0">
                <a:solidFill>
                  <a:srgbClr val="D94138"/>
                </a:solidFill>
                <a:latin typeface="Arial"/>
                <a:ea typeface="Arial"/>
                <a:cs typeface="Arial"/>
              </a:rPr>
              <a:t>39.14</a:t>
            </a:r>
          </a:p>
        </p:txBody>
      </p:sp>
      <p:sp>
        <p:nvSpPr>
          <p:cNvPr id="50" name="s14-mean-label-1">
            <a:extLst>
              <a:ext uri="{FF2B5EF4-FFF2-40B4-BE49-F238E27FC236}">
                <a16:creationId xmlns:a16="http://schemas.microsoft.com/office/drawing/2014/main" id="{A68181A7-E641-9695-634A-0199D7905289}"/>
              </a:ext>
            </a:extLst>
          </p:cNvPr>
          <p:cNvSpPr>
            <a:spLocks noGrp="1"/>
          </p:cNvSpPr>
          <p:nvPr/>
        </p:nvSpPr>
        <p:spPr>
          <a:xfrm>
            <a:off x="5330492" y="2819400"/>
            <a:ext cx="647700" cy="333375"/>
          </a:xfrm>
          <a:prstGeom prst="rect">
            <a:avLst/>
          </a:prstGeom>
          <a:noFill/>
          <a:ln w="0">
            <a:noFill/>
            <a:prstDash val="solid"/>
          </a:ln>
        </p:spPr>
        <p:txBody>
          <a:bodyPr wrap="square" lIns="0" tIns="0" rIns="0" bIns="0" anchor="ctr">
            <a:normAutofit/>
          </a:bodyPr>
          <a:lstStyle/>
          <a:p>
            <a:pPr algn="ctr">
              <a:defRPr sz="788" b="1">
                <a:solidFill>
                  <a:srgbClr val="D94138"/>
                </a:solidFill>
                <a:latin typeface="Arial"/>
                <a:ea typeface="Arial"/>
                <a:cs typeface="Arial"/>
              </a:defRPr>
            </a:pPr>
            <a:r>
              <a:rPr lang="ja-JP" altLang="en-US" sz="788" b="1" dirty="0">
                <a:solidFill>
                  <a:srgbClr val="D94138"/>
                </a:solidFill>
                <a:latin typeface="Arial"/>
                <a:ea typeface="Arial"/>
                <a:cs typeface="Arial"/>
              </a:rPr>
              <a:t>中央値</a:t>
            </a:r>
            <a:endParaRPr sz="788" b="1" dirty="0">
              <a:solidFill>
                <a:srgbClr val="D94138"/>
              </a:solidFill>
              <a:latin typeface="Arial"/>
              <a:ea typeface="Arial"/>
              <a:cs typeface="Arial"/>
            </a:endParaRPr>
          </a:p>
          <a:p>
            <a:pPr algn="ctr">
              <a:defRPr sz="788" b="1">
                <a:solidFill>
                  <a:srgbClr val="D94138"/>
                </a:solidFill>
                <a:latin typeface="Arial"/>
                <a:ea typeface="Arial"/>
                <a:cs typeface="Arial"/>
              </a:defRPr>
            </a:pPr>
            <a:r>
              <a:rPr lang="en-US" altLang="ja-JP" sz="788" b="1" dirty="0">
                <a:solidFill>
                  <a:srgbClr val="D94138"/>
                </a:solidFill>
                <a:latin typeface="Arial"/>
                <a:ea typeface="Arial"/>
                <a:cs typeface="Arial"/>
              </a:rPr>
              <a:t>74.87</a:t>
            </a:r>
            <a:endParaRPr sz="788" b="1" dirty="0">
              <a:solidFill>
                <a:srgbClr val="D94138"/>
              </a:solidFill>
              <a:latin typeface="Arial"/>
              <a:ea typeface="Arial"/>
              <a:cs typeface="Arial"/>
            </a:endParaRPr>
          </a:p>
        </p:txBody>
      </p:sp>
      <p:sp>
        <p:nvSpPr>
          <p:cNvPr id="51" name="s14-q95-label-1">
            <a:extLst>
              <a:ext uri="{FF2B5EF4-FFF2-40B4-BE49-F238E27FC236}">
                <a16:creationId xmlns:a16="http://schemas.microsoft.com/office/drawing/2014/main" id="{70C4A372-F560-093E-2C31-A2CE37170EAA}"/>
              </a:ext>
            </a:extLst>
          </p:cNvPr>
          <p:cNvSpPr>
            <a:spLocks noGrp="1"/>
          </p:cNvSpPr>
          <p:nvPr/>
        </p:nvSpPr>
        <p:spPr>
          <a:xfrm>
            <a:off x="7111219" y="2819400"/>
            <a:ext cx="666750" cy="333375"/>
          </a:xfrm>
          <a:prstGeom prst="rect">
            <a:avLst/>
          </a:prstGeom>
          <a:noFill/>
          <a:ln w="0">
            <a:noFill/>
            <a:prstDash val="solid"/>
          </a:ln>
        </p:spPr>
        <p:txBody>
          <a:bodyPr wrap="square" lIns="0" tIns="0" rIns="0" bIns="0" anchor="ctr">
            <a:normAutofit/>
          </a:bodyPr>
          <a:lstStyle/>
          <a:p>
            <a:pPr algn="ctr">
              <a:defRPr sz="788" b="0">
                <a:solidFill>
                  <a:srgbClr val="D94138"/>
                </a:solidFill>
                <a:latin typeface="Arial"/>
                <a:ea typeface="Arial"/>
                <a:cs typeface="Arial"/>
              </a:defRPr>
            </a:pPr>
            <a:r>
              <a:rPr sz="788" b="0">
                <a:solidFill>
                  <a:srgbClr val="D94138"/>
                </a:solidFill>
                <a:latin typeface="Arial"/>
                <a:ea typeface="Arial"/>
                <a:cs typeface="Arial"/>
              </a:rPr>
              <a:t>q95</a:t>
            </a:r>
          </a:p>
          <a:p>
            <a:pPr algn="ctr">
              <a:defRPr sz="788" b="0">
                <a:solidFill>
                  <a:srgbClr val="D94138"/>
                </a:solidFill>
                <a:latin typeface="Arial"/>
                <a:ea typeface="Arial"/>
                <a:cs typeface="Arial"/>
              </a:defRPr>
            </a:pPr>
            <a:r>
              <a:rPr sz="788" b="0">
                <a:solidFill>
                  <a:srgbClr val="D94138"/>
                </a:solidFill>
                <a:latin typeface="Arial"/>
                <a:ea typeface="Arial"/>
                <a:cs typeface="Arial"/>
              </a:rPr>
              <a:t>142.03</a:t>
            </a:r>
          </a:p>
        </p:txBody>
      </p:sp>
      <p:sp>
        <p:nvSpPr>
          <p:cNvPr id="56" name="s14-bottom">
            <a:extLst>
              <a:ext uri="{FF2B5EF4-FFF2-40B4-BE49-F238E27FC236}">
                <a16:creationId xmlns:a16="http://schemas.microsoft.com/office/drawing/2014/main" id="{1A1462BE-3346-210B-5D94-3769AD7D20AE}"/>
              </a:ext>
            </a:extLst>
          </p:cNvPr>
          <p:cNvSpPr>
            <a:spLocks noGrp="1"/>
          </p:cNvSpPr>
          <p:nvPr/>
        </p:nvSpPr>
        <p:spPr>
          <a:xfrm>
            <a:off x="1045147" y="4467225"/>
            <a:ext cx="7239000" cy="266700"/>
          </a:xfrm>
          <a:prstGeom prst="rect">
            <a:avLst/>
          </a:prstGeom>
          <a:noFill/>
          <a:ln w="0">
            <a:noFill/>
            <a:prstDash val="solid"/>
          </a:ln>
        </p:spPr>
        <p:txBody>
          <a:bodyPr wrap="square" lIns="0" tIns="0" rIns="0" bIns="0" anchor="ctr">
            <a:normAutofit/>
          </a:bodyPr>
          <a:lstStyle/>
          <a:p>
            <a:pPr>
              <a:defRPr sz="1238" b="1">
                <a:solidFill>
                  <a:srgbClr val="215FB4"/>
                </a:solidFill>
                <a:latin typeface="Noto Sans CJK JP"/>
                <a:ea typeface="Noto Sans CJK JP"/>
                <a:cs typeface="Noto Sans CJK JP"/>
              </a:defRPr>
            </a:pPr>
            <a:r>
              <a:rPr lang="en-US" altLang="ja-JP" sz="1238" b="1" dirty="0" err="1">
                <a:solidFill>
                  <a:srgbClr val="D94138"/>
                </a:solidFill>
                <a:latin typeface="Noto Sans CJK JP"/>
                <a:ea typeface="Noto Sans CJK JP"/>
                <a:cs typeface="Noto Sans CJK JP"/>
              </a:rPr>
              <a:t>dTCMV</a:t>
            </a:r>
            <a:r>
              <a:rPr lang="ja-JP" altLang="en-US" sz="1238" b="1" dirty="0">
                <a:solidFill>
                  <a:srgbClr val="215FB4"/>
                </a:solidFill>
                <a:latin typeface="Noto Sans CJK JP"/>
                <a:ea typeface="Noto Sans CJK JP"/>
                <a:cs typeface="Noto Sans CJK JP"/>
              </a:rPr>
              <a:t>は</a:t>
            </a:r>
            <a:r>
              <a:rPr lang="ja-JP" altLang="en-US" sz="1238" b="1" dirty="0">
                <a:solidFill>
                  <a:srgbClr val="D94138"/>
                </a:solidFill>
                <a:latin typeface="Noto Sans CJK JP"/>
                <a:ea typeface="Noto Sans CJK JP"/>
                <a:cs typeface="Noto Sans CJK JP"/>
              </a:rPr>
              <a:t>上振れ幅を大きく広げる</a:t>
            </a:r>
            <a:r>
              <a:rPr lang="ja-JP" altLang="en-US" sz="1238" b="1" dirty="0">
                <a:solidFill>
                  <a:srgbClr val="215FB4"/>
                </a:solidFill>
                <a:latin typeface="Noto Sans CJK JP"/>
                <a:ea typeface="Noto Sans CJK JP"/>
                <a:cs typeface="Noto Sans CJK JP"/>
              </a:rPr>
              <a:t>一方、下位</a:t>
            </a:r>
            <a:r>
              <a:rPr lang="en-US" altLang="ja-JP" sz="1238" b="1" dirty="0">
                <a:solidFill>
                  <a:srgbClr val="215FB4"/>
                </a:solidFill>
                <a:latin typeface="Noto Sans CJK JP"/>
                <a:ea typeface="Noto Sans CJK JP"/>
                <a:cs typeface="Noto Sans CJK JP"/>
              </a:rPr>
              <a:t>5</a:t>
            </a:r>
            <a:r>
              <a:rPr lang="ja-JP" altLang="en-US" sz="1238" b="1" dirty="0">
                <a:solidFill>
                  <a:srgbClr val="215FB4"/>
                </a:solidFill>
                <a:latin typeface="Noto Sans CJK JP"/>
                <a:ea typeface="Noto Sans CJK JP"/>
                <a:cs typeface="Noto Sans CJK JP"/>
              </a:rPr>
              <a:t>％点は</a:t>
            </a:r>
            <a:r>
              <a:rPr lang="en-US" altLang="ja-JP" sz="1238" b="1" dirty="0" err="1">
                <a:solidFill>
                  <a:srgbClr val="16875C"/>
                </a:solidFill>
                <a:latin typeface="Noto Sans CJK JP"/>
                <a:ea typeface="Noto Sans CJK JP"/>
                <a:cs typeface="Noto Sans CJK JP"/>
              </a:rPr>
              <a:t>cTCMV</a:t>
            </a:r>
            <a:r>
              <a:rPr lang="ja-JP" altLang="en-US" sz="1238" b="1" dirty="0">
                <a:solidFill>
                  <a:srgbClr val="215FB4"/>
                </a:solidFill>
                <a:latin typeface="Noto Sans CJK JP"/>
                <a:ea typeface="Noto Sans CJK JP"/>
                <a:cs typeface="Noto Sans CJK JP"/>
              </a:rPr>
              <a:t>よりわずかに下がる</a:t>
            </a:r>
          </a:p>
        </p:txBody>
      </p:sp>
      <p:sp>
        <p:nvSpPr>
          <p:cNvPr id="57" name="s14-bottom-icon">
            <a:extLst>
              <a:ext uri="{FF2B5EF4-FFF2-40B4-BE49-F238E27FC236}">
                <a16:creationId xmlns:a16="http://schemas.microsoft.com/office/drawing/2014/main" id="{680CF1EF-2573-FEB7-4A4C-C2482BA8CD36}"/>
              </a:ext>
            </a:extLst>
          </p:cNvPr>
          <p:cNvSpPr>
            <a:spLocks noGrp="1"/>
          </p:cNvSpPr>
          <p:nvPr/>
        </p:nvSpPr>
        <p:spPr>
          <a:xfrm>
            <a:off x="752803" y="4495800"/>
            <a:ext cx="190500" cy="190500"/>
          </a:xfrm>
          <a:prstGeom prst="ellipse">
            <a:avLst/>
          </a:prstGeom>
          <a:solidFill>
            <a:srgbClr val="215FB4"/>
          </a:solidFill>
          <a:ln w="0">
            <a:noFill/>
            <a:prstDash val="solid"/>
          </a:ln>
        </p:spPr>
      </p:sp>
      <p:sp>
        <p:nvSpPr>
          <p:cNvPr id="58" name="s14-bottom-arrow">
            <a:extLst>
              <a:ext uri="{FF2B5EF4-FFF2-40B4-BE49-F238E27FC236}">
                <a16:creationId xmlns:a16="http://schemas.microsoft.com/office/drawing/2014/main" id="{B4B9BF9F-48CD-BD8F-0C65-590B8AC0F0BB}"/>
              </a:ext>
            </a:extLst>
          </p:cNvPr>
          <p:cNvSpPr>
            <a:spLocks noGrp="1"/>
          </p:cNvSpPr>
          <p:nvPr/>
        </p:nvSpPr>
        <p:spPr>
          <a:xfrm>
            <a:off x="752803" y="4486275"/>
            <a:ext cx="190500" cy="190500"/>
          </a:xfrm>
          <a:prstGeom prst="rect">
            <a:avLst/>
          </a:prstGeom>
          <a:noFill/>
          <a:ln w="0">
            <a:noFill/>
            <a:prstDash val="solid"/>
          </a:ln>
        </p:spPr>
        <p:txBody>
          <a:bodyPr wrap="square" lIns="0" tIns="0" rIns="0" bIns="0" anchor="ctr">
            <a:normAutofit/>
          </a:bodyPr>
          <a:lstStyle/>
          <a:p>
            <a:pPr algn="ctr">
              <a:defRPr sz="1050" b="1">
                <a:solidFill>
                  <a:srgbClr val="FFFFFF"/>
                </a:solidFill>
                <a:latin typeface="Noto Sans CJK JP"/>
                <a:ea typeface="Noto Sans CJK JP"/>
                <a:cs typeface="Noto Sans CJK JP"/>
              </a:defRPr>
            </a:pPr>
            <a:r>
              <a:rPr sz="1050" b="1" dirty="0">
                <a:solidFill>
                  <a:srgbClr val="FFFFFF"/>
                </a:solidFill>
                <a:latin typeface="Noto Sans CJK JP"/>
                <a:ea typeface="Noto Sans CJK JP"/>
                <a:cs typeface="Noto Sans CJK JP"/>
              </a:rPr>
              <a:t>→</a:t>
            </a:r>
          </a:p>
        </p:txBody>
      </p:sp>
      <p:sp>
        <p:nvSpPr>
          <p:cNvPr id="7" name="s8-contribution">
            <a:extLst>
              <a:ext uri="{FF2B5EF4-FFF2-40B4-BE49-F238E27FC236}">
                <a16:creationId xmlns:a16="http://schemas.microsoft.com/office/drawing/2014/main" id="{01CC2580-9F8B-46D5-2DB3-2BF02FB6F1C9}"/>
              </a:ext>
            </a:extLst>
          </p:cNvPr>
          <p:cNvSpPr>
            <a:spLocks noGrp="1"/>
          </p:cNvSpPr>
          <p:nvPr/>
        </p:nvSpPr>
        <p:spPr>
          <a:xfrm>
            <a:off x="432478" y="798046"/>
            <a:ext cx="2183043" cy="232708"/>
          </a:xfrm>
          <a:prstGeom prst="rect">
            <a:avLst/>
          </a:prstGeom>
          <a:ln/>
        </p:spPr>
        <p:style>
          <a:lnRef idx="2">
            <a:schemeClr val="accent2"/>
          </a:lnRef>
          <a:fillRef idx="1">
            <a:schemeClr val="lt1"/>
          </a:fillRef>
          <a:effectRef idx="0">
            <a:schemeClr val="accent2"/>
          </a:effectRef>
          <a:fontRef idx="minor">
            <a:schemeClr val="dk1"/>
          </a:fontRef>
        </p:style>
        <p:txBody>
          <a:bodyPr wrap="square" lIns="0" tIns="0" rIns="0" bIns="0" anchor="ctr">
            <a:normAutofit/>
          </a:bodyPr>
          <a:lstStyle/>
          <a:p>
            <a:pPr algn="ctr">
              <a:defRPr sz="915" b="0">
                <a:solidFill>
                  <a:srgbClr val="64748B"/>
                </a:solidFill>
                <a:latin typeface="Noto Sans CJK JP"/>
                <a:ea typeface="Noto Sans CJK JP"/>
                <a:cs typeface="Noto Sans CJK JP"/>
              </a:defRPr>
            </a:pPr>
            <a:r>
              <a:rPr lang="ja-JP" altLang="en-US" sz="915" b="1" dirty="0">
                <a:solidFill>
                  <a:srgbClr val="C00000"/>
                </a:solidFill>
                <a:latin typeface="Noto Sans CJK JP"/>
                <a:ea typeface="Noto Sans CJK JP"/>
                <a:cs typeface="Noto Sans CJK JP"/>
              </a:rPr>
              <a:t>主結果②　</a:t>
            </a:r>
            <a:r>
              <a:rPr lang="en-US" sz="915" b="1" dirty="0">
                <a:solidFill>
                  <a:srgbClr val="C00000"/>
                </a:solidFill>
                <a:latin typeface="Noto Sans CJK JP"/>
                <a:ea typeface="Noto Sans CJK JP"/>
                <a:cs typeface="Noto Sans CJK JP"/>
              </a:rPr>
              <a:t>M</a:t>
            </a:r>
            <a:r>
              <a:rPr lang="en-US" altLang="ja-JP" sz="915" b="1" dirty="0">
                <a:solidFill>
                  <a:srgbClr val="C00000"/>
                </a:solidFill>
                <a:latin typeface="Noto Sans CJK JP"/>
                <a:ea typeface="Noto Sans CJK JP"/>
                <a:cs typeface="Noto Sans CJK JP"/>
              </a:rPr>
              <a:t>–</a:t>
            </a:r>
            <a:r>
              <a:rPr sz="915" b="1" dirty="0">
                <a:solidFill>
                  <a:srgbClr val="C00000"/>
                </a:solidFill>
                <a:latin typeface="Noto Sans CJK JP"/>
                <a:ea typeface="Noto Sans CJK JP"/>
                <a:cs typeface="Noto Sans CJK JP"/>
              </a:rPr>
              <a:t>G–H</a:t>
            </a:r>
            <a:r>
              <a:rPr lang="en-US" sz="915" b="1" dirty="0">
                <a:solidFill>
                  <a:srgbClr val="C00000"/>
                </a:solidFill>
                <a:latin typeface="Noto Sans CJK JP"/>
                <a:ea typeface="Noto Sans CJK JP"/>
                <a:cs typeface="Noto Sans CJK JP"/>
              </a:rPr>
              <a:t> Engine</a:t>
            </a:r>
            <a:r>
              <a:rPr lang="ja-JP" altLang="en-US" sz="915" b="1" dirty="0">
                <a:solidFill>
                  <a:srgbClr val="C00000"/>
                </a:solidFill>
                <a:latin typeface="Noto Sans CJK JP"/>
                <a:ea typeface="Noto Sans CJK JP"/>
                <a:cs typeface="Noto Sans CJK JP"/>
              </a:rPr>
              <a:t> </a:t>
            </a:r>
            <a:r>
              <a:rPr lang="en-US" altLang="ja-JP" sz="915" b="1" dirty="0">
                <a:solidFill>
                  <a:srgbClr val="C00000"/>
                </a:solidFill>
                <a:latin typeface="Noto Sans CJK JP"/>
                <a:ea typeface="Noto Sans CJK JP"/>
                <a:cs typeface="Noto Sans CJK JP"/>
              </a:rPr>
              <a:t>&amp;</a:t>
            </a:r>
            <a:r>
              <a:rPr lang="ja-JP" altLang="en-US" sz="915" b="1" dirty="0">
                <a:solidFill>
                  <a:srgbClr val="C00000"/>
                </a:solidFill>
                <a:latin typeface="Noto Sans CJK JP"/>
                <a:ea typeface="Noto Sans CJK JP"/>
                <a:cs typeface="Noto Sans CJK JP"/>
              </a:rPr>
              <a:t> </a:t>
            </a:r>
            <a:r>
              <a:rPr lang="en-US" altLang="ja-JP" sz="915" b="1" dirty="0" err="1">
                <a:solidFill>
                  <a:srgbClr val="C00000"/>
                </a:solidFill>
                <a:latin typeface="Noto Sans CJK JP"/>
                <a:ea typeface="Noto Sans CJK JP"/>
                <a:cs typeface="Noto Sans CJK JP"/>
              </a:rPr>
              <a:t>rollig</a:t>
            </a:r>
            <a:r>
              <a:rPr lang="ja-JP" altLang="en-US" sz="915" b="1" dirty="0">
                <a:solidFill>
                  <a:srgbClr val="C00000"/>
                </a:solidFill>
                <a:latin typeface="Noto Sans CJK JP"/>
                <a:ea typeface="Noto Sans CJK JP"/>
                <a:cs typeface="Noto Sans CJK JP"/>
              </a:rPr>
              <a:t>評価</a:t>
            </a:r>
            <a:endParaRPr sz="915" b="1" dirty="0">
              <a:solidFill>
                <a:srgbClr val="C00000"/>
              </a:solidFill>
              <a:latin typeface="Noto Sans CJK JP"/>
              <a:ea typeface="Noto Sans CJK JP"/>
              <a:cs typeface="Noto Sans CJK JP"/>
            </a:endParaRPr>
          </a:p>
        </p:txBody>
      </p:sp>
      <p:pic>
        <p:nvPicPr>
          <p:cNvPr id="10" name="図 9">
            <a:extLst>
              <a:ext uri="{FF2B5EF4-FFF2-40B4-BE49-F238E27FC236}">
                <a16:creationId xmlns:a16="http://schemas.microsoft.com/office/drawing/2014/main" id="{04A25E28-04D4-0A9A-50B4-E5EC65F12DF4}"/>
              </a:ext>
            </a:extLst>
          </p:cNvPr>
          <p:cNvPicPr>
            <a:picLocks noChangeAspect="1"/>
          </p:cNvPicPr>
          <p:nvPr/>
        </p:nvPicPr>
        <p:blipFill>
          <a:blip r:embed="rId3"/>
          <a:stretch>
            <a:fillRect/>
          </a:stretch>
        </p:blipFill>
        <p:spPr>
          <a:xfrm>
            <a:off x="417163" y="3057331"/>
            <a:ext cx="1953979" cy="1009844"/>
          </a:xfrm>
          <a:prstGeom prst="rect">
            <a:avLst/>
          </a:prstGeom>
        </p:spPr>
      </p:pic>
      <p:grpSp>
        <p:nvGrpSpPr>
          <p:cNvPr id="59" name="グループ化 58">
            <a:extLst>
              <a:ext uri="{FF2B5EF4-FFF2-40B4-BE49-F238E27FC236}">
                <a16:creationId xmlns:a16="http://schemas.microsoft.com/office/drawing/2014/main" id="{1A4382B8-69C1-CF36-0923-8628CB1E6C3C}"/>
              </a:ext>
            </a:extLst>
          </p:cNvPr>
          <p:cNvGrpSpPr/>
          <p:nvPr/>
        </p:nvGrpSpPr>
        <p:grpSpPr>
          <a:xfrm>
            <a:off x="457200" y="3359356"/>
            <a:ext cx="1913942" cy="774494"/>
            <a:chOff x="457200" y="3359356"/>
            <a:chExt cx="1913942" cy="774494"/>
          </a:xfrm>
        </p:grpSpPr>
        <p:sp>
          <p:nvSpPr>
            <p:cNvPr id="11" name="正方形/長方形 10">
              <a:extLst>
                <a:ext uri="{FF2B5EF4-FFF2-40B4-BE49-F238E27FC236}">
                  <a16:creationId xmlns:a16="http://schemas.microsoft.com/office/drawing/2014/main" id="{FEB3C83B-6F21-4AEB-1196-C6C36CB6885A}"/>
                </a:ext>
              </a:extLst>
            </p:cNvPr>
            <p:cNvSpPr/>
            <p:nvPr/>
          </p:nvSpPr>
          <p:spPr>
            <a:xfrm>
              <a:off x="457200" y="3476431"/>
              <a:ext cx="1913942" cy="6574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正方形/長方形 53">
              <a:extLst>
                <a:ext uri="{FF2B5EF4-FFF2-40B4-BE49-F238E27FC236}">
                  <a16:creationId xmlns:a16="http://schemas.microsoft.com/office/drawing/2014/main" id="{E7075131-1131-B916-3A72-6981D29192A2}"/>
                </a:ext>
              </a:extLst>
            </p:cNvPr>
            <p:cNvSpPr/>
            <p:nvPr/>
          </p:nvSpPr>
          <p:spPr>
            <a:xfrm>
              <a:off x="683897" y="3359356"/>
              <a:ext cx="1490527" cy="36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61" name="直線コネクタ 60">
            <a:extLst>
              <a:ext uri="{FF2B5EF4-FFF2-40B4-BE49-F238E27FC236}">
                <a16:creationId xmlns:a16="http://schemas.microsoft.com/office/drawing/2014/main" id="{86ADB3F9-06BB-6D8E-2509-4879837F7BAD}"/>
              </a:ext>
            </a:extLst>
          </p:cNvPr>
          <p:cNvCxnSpPr>
            <a:cxnSpLocks/>
          </p:cNvCxnSpPr>
          <p:nvPr/>
        </p:nvCxnSpPr>
        <p:spPr>
          <a:xfrm>
            <a:off x="792871" y="2967196"/>
            <a:ext cx="676981" cy="322989"/>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直線コネクタ 61">
            <a:extLst>
              <a:ext uri="{FF2B5EF4-FFF2-40B4-BE49-F238E27FC236}">
                <a16:creationId xmlns:a16="http://schemas.microsoft.com/office/drawing/2014/main" id="{F5A6ECDF-0E6B-08E6-75CC-C7EC92AA477A}"/>
              </a:ext>
            </a:extLst>
          </p:cNvPr>
          <p:cNvCxnSpPr>
            <a:cxnSpLocks/>
            <a:endCxn id="21" idx="2"/>
          </p:cNvCxnSpPr>
          <p:nvPr/>
        </p:nvCxnSpPr>
        <p:spPr>
          <a:xfrm flipV="1">
            <a:off x="2173914" y="2819400"/>
            <a:ext cx="228234" cy="667"/>
          </a:xfrm>
          <a:prstGeom prst="line">
            <a:avLst/>
          </a:prstGeom>
        </p:spPr>
        <p:style>
          <a:lnRef idx="1">
            <a:schemeClr val="accent1"/>
          </a:lnRef>
          <a:fillRef idx="0">
            <a:schemeClr val="accent1"/>
          </a:fillRef>
          <a:effectRef idx="0">
            <a:schemeClr val="accent1"/>
          </a:effectRef>
          <a:fontRef idx="minor">
            <a:schemeClr val="tx1"/>
          </a:fontRef>
        </p:style>
      </p:cxnSp>
      <p:sp>
        <p:nvSpPr>
          <p:cNvPr id="65" name="正方形/長方形 64">
            <a:extLst>
              <a:ext uri="{FF2B5EF4-FFF2-40B4-BE49-F238E27FC236}">
                <a16:creationId xmlns:a16="http://schemas.microsoft.com/office/drawing/2014/main" id="{9A825B15-E216-0BC8-6C05-CFEA8F90F043}"/>
              </a:ext>
            </a:extLst>
          </p:cNvPr>
          <p:cNvSpPr/>
          <p:nvPr/>
        </p:nvSpPr>
        <p:spPr>
          <a:xfrm rot="2586308">
            <a:off x="5901130" y="3199241"/>
            <a:ext cx="72000" cy="72000"/>
          </a:xfrm>
          <a:prstGeom prst="rect">
            <a:avLst/>
          </a:prstGeom>
          <a:solidFill>
            <a:schemeClr val="bg1"/>
          </a:solidFill>
          <a:ln>
            <a:solidFill>
              <a:srgbClr val="D941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s14-mean-label-1">
            <a:extLst>
              <a:ext uri="{FF2B5EF4-FFF2-40B4-BE49-F238E27FC236}">
                <a16:creationId xmlns:a16="http://schemas.microsoft.com/office/drawing/2014/main" id="{E273E052-FB7C-9CD7-18F7-C97F796901AA}"/>
              </a:ext>
            </a:extLst>
          </p:cNvPr>
          <p:cNvSpPr>
            <a:spLocks noGrp="1"/>
          </p:cNvSpPr>
          <p:nvPr/>
        </p:nvSpPr>
        <p:spPr>
          <a:xfrm>
            <a:off x="5619245" y="2814637"/>
            <a:ext cx="647700" cy="333375"/>
          </a:xfrm>
          <a:prstGeom prst="rect">
            <a:avLst/>
          </a:prstGeom>
          <a:noFill/>
          <a:ln w="0">
            <a:noFill/>
            <a:prstDash val="solid"/>
          </a:ln>
        </p:spPr>
        <p:txBody>
          <a:bodyPr wrap="square" lIns="0" tIns="0" rIns="0" bIns="0" anchor="ctr">
            <a:normAutofit/>
          </a:bodyPr>
          <a:lstStyle/>
          <a:p>
            <a:pPr algn="ctr">
              <a:defRPr sz="788" b="1">
                <a:solidFill>
                  <a:srgbClr val="D94138"/>
                </a:solidFill>
                <a:latin typeface="Arial"/>
                <a:ea typeface="Arial"/>
                <a:cs typeface="Arial"/>
              </a:defRPr>
            </a:pPr>
            <a:r>
              <a:rPr sz="788" b="1" dirty="0" err="1">
                <a:solidFill>
                  <a:srgbClr val="D94138"/>
                </a:solidFill>
                <a:latin typeface="Arial"/>
                <a:ea typeface="Arial"/>
                <a:cs typeface="Arial"/>
              </a:rPr>
              <a:t>平均</a:t>
            </a:r>
            <a:endParaRPr sz="788" b="1" dirty="0">
              <a:solidFill>
                <a:srgbClr val="D94138"/>
              </a:solidFill>
              <a:latin typeface="Arial"/>
              <a:ea typeface="Arial"/>
              <a:cs typeface="Arial"/>
            </a:endParaRPr>
          </a:p>
          <a:p>
            <a:pPr algn="ctr">
              <a:defRPr sz="788" b="1">
                <a:solidFill>
                  <a:srgbClr val="D94138"/>
                </a:solidFill>
                <a:latin typeface="Arial"/>
                <a:ea typeface="Arial"/>
                <a:cs typeface="Arial"/>
              </a:defRPr>
            </a:pPr>
            <a:r>
              <a:rPr sz="788" b="1" dirty="0">
                <a:solidFill>
                  <a:srgbClr val="D94138"/>
                </a:solidFill>
                <a:latin typeface="Arial"/>
                <a:ea typeface="Arial"/>
                <a:cs typeface="Arial"/>
              </a:rPr>
              <a:t>81.</a:t>
            </a:r>
            <a:r>
              <a:rPr lang="en-US" sz="788" b="1" dirty="0">
                <a:solidFill>
                  <a:srgbClr val="D94138"/>
                </a:solidFill>
                <a:latin typeface="Arial"/>
                <a:ea typeface="Arial"/>
                <a:cs typeface="Arial"/>
              </a:rPr>
              <a:t>37</a:t>
            </a:r>
            <a:endParaRPr sz="788" b="1" dirty="0">
              <a:solidFill>
                <a:srgbClr val="D94138"/>
              </a:solidFill>
              <a:latin typeface="Arial"/>
              <a:ea typeface="Arial"/>
              <a:cs typeface="Arial"/>
            </a:endParaRPr>
          </a:p>
        </p:txBody>
      </p:sp>
      <p:sp>
        <p:nvSpPr>
          <p:cNvPr id="69" name="正方形/長方形 68">
            <a:extLst>
              <a:ext uri="{FF2B5EF4-FFF2-40B4-BE49-F238E27FC236}">
                <a16:creationId xmlns:a16="http://schemas.microsoft.com/office/drawing/2014/main" id="{C7441163-05E1-15DD-A86A-114EB2219E0B}"/>
              </a:ext>
            </a:extLst>
          </p:cNvPr>
          <p:cNvSpPr/>
          <p:nvPr/>
        </p:nvSpPr>
        <p:spPr>
          <a:xfrm rot="2586308">
            <a:off x="5221205" y="2416137"/>
            <a:ext cx="72000" cy="72000"/>
          </a:xfrm>
          <a:prstGeom prst="rect">
            <a:avLst/>
          </a:prstGeom>
          <a:solidFill>
            <a:schemeClr val="bg1"/>
          </a:solidFill>
          <a:ln>
            <a:solidFill>
              <a:srgbClr val="0457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s14-mean-label-0">
            <a:extLst>
              <a:ext uri="{FF2B5EF4-FFF2-40B4-BE49-F238E27FC236}">
                <a16:creationId xmlns:a16="http://schemas.microsoft.com/office/drawing/2014/main" id="{BD70902B-2DD5-DF4D-9332-94160EA8C170}"/>
              </a:ext>
            </a:extLst>
          </p:cNvPr>
          <p:cNvSpPr>
            <a:spLocks noGrp="1"/>
          </p:cNvSpPr>
          <p:nvPr/>
        </p:nvSpPr>
        <p:spPr>
          <a:xfrm>
            <a:off x="5289658" y="2047874"/>
            <a:ext cx="392678" cy="333375"/>
          </a:xfrm>
          <a:prstGeom prst="rect">
            <a:avLst/>
          </a:prstGeom>
          <a:noFill/>
          <a:ln w="0">
            <a:noFill/>
            <a:prstDash val="solid"/>
          </a:ln>
        </p:spPr>
        <p:txBody>
          <a:bodyPr wrap="square" lIns="0" tIns="0" rIns="0" bIns="0" anchor="ctr">
            <a:normAutofit/>
          </a:bodyPr>
          <a:lstStyle/>
          <a:p>
            <a:pPr algn="ctr">
              <a:defRPr sz="788" b="1">
                <a:solidFill>
                  <a:srgbClr val="16875C"/>
                </a:solidFill>
                <a:latin typeface="Arial"/>
                <a:ea typeface="Arial"/>
                <a:cs typeface="Arial"/>
              </a:defRPr>
            </a:pPr>
            <a:r>
              <a:rPr lang="ja-JP" altLang="en-US" sz="788" b="1" dirty="0">
                <a:solidFill>
                  <a:srgbClr val="16875C"/>
                </a:solidFill>
                <a:latin typeface="Arial"/>
                <a:ea typeface="Arial"/>
                <a:cs typeface="Arial"/>
              </a:rPr>
              <a:t>中央値</a:t>
            </a:r>
            <a:endParaRPr sz="788" b="1" dirty="0">
              <a:solidFill>
                <a:srgbClr val="16875C"/>
              </a:solidFill>
              <a:latin typeface="Arial"/>
              <a:ea typeface="Arial"/>
              <a:cs typeface="Arial"/>
            </a:endParaRPr>
          </a:p>
          <a:p>
            <a:pPr algn="ctr">
              <a:defRPr sz="788" b="1">
                <a:solidFill>
                  <a:srgbClr val="16875C"/>
                </a:solidFill>
                <a:latin typeface="Arial"/>
                <a:ea typeface="Arial"/>
                <a:cs typeface="Arial"/>
              </a:defRPr>
            </a:pPr>
            <a:r>
              <a:rPr sz="788" b="1" dirty="0">
                <a:solidFill>
                  <a:srgbClr val="16875C"/>
                </a:solidFill>
                <a:latin typeface="Arial"/>
                <a:ea typeface="Arial"/>
                <a:cs typeface="Arial"/>
              </a:rPr>
              <a:t>72.</a:t>
            </a:r>
            <a:r>
              <a:rPr lang="en-US" sz="788" b="1" dirty="0">
                <a:solidFill>
                  <a:srgbClr val="16875C"/>
                </a:solidFill>
                <a:latin typeface="Arial"/>
                <a:ea typeface="Arial"/>
                <a:cs typeface="Arial"/>
              </a:rPr>
              <a:t>98</a:t>
            </a:r>
            <a:endParaRPr sz="788" b="1" dirty="0">
              <a:solidFill>
                <a:srgbClr val="16875C"/>
              </a:solidFill>
              <a:latin typeface="Arial"/>
              <a:ea typeface="Arial"/>
              <a:cs typeface="Arial"/>
            </a:endParaRPr>
          </a:p>
        </p:txBody>
      </p:sp>
    </p:spTree>
    <p:extLst>
      <p:ext uri="{BB962C8B-B14F-4D97-AF65-F5344CB8AC3E}">
        <p14:creationId xmlns:p14="http://schemas.microsoft.com/office/powerpoint/2010/main" val="14112741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00D92-04D6-FC94-3926-2FE4074BD3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1A866C-023A-192A-16C2-76FEBC388EED}"/>
              </a:ext>
            </a:extLst>
          </p:cNvPr>
          <p:cNvSpPr>
            <a:spLocks noGrp="1"/>
          </p:cNvSpPr>
          <p:nvPr>
            <p:ph type="title"/>
          </p:nvPr>
        </p:nvSpPr>
        <p:spPr>
          <a:xfrm>
            <a:off x="457200" y="990600"/>
            <a:ext cx="8229600" cy="609600"/>
          </a:xfrm>
        </p:spPr>
        <p:txBody>
          <a:bodyPr wrap="none" lIns="0" tIns="0" rIns="0" bIns="0" anchor="ctr">
            <a:normAutofit/>
          </a:bodyPr>
          <a:lstStyle/>
          <a:p>
            <a:pPr algn="l">
              <a:defRPr sz="1935" b="1">
                <a:solidFill>
                  <a:srgbClr val="111827"/>
                </a:solidFill>
                <a:latin typeface="Noto Sans CJK JP"/>
                <a:ea typeface="Noto Sans CJK JP"/>
                <a:cs typeface="Noto Sans CJK JP"/>
              </a:defRPr>
            </a:pPr>
            <a:r>
              <a:rPr lang="ja-JP" altLang="en-US" sz="1935" dirty="0">
                <a:solidFill>
                  <a:srgbClr val="111827"/>
                </a:solidFill>
                <a:latin typeface="Noto Sans CJK JP"/>
                <a:ea typeface="Noto Sans CJK JP"/>
                <a:cs typeface="Noto Sans CJK JP"/>
              </a:rPr>
              <a:t>（参考）ローリング後の</a:t>
            </a:r>
            <a:r>
              <a:rPr lang="ja-JP" altLang="en-US" sz="2000" dirty="0">
                <a:solidFill>
                  <a:srgbClr val="111827"/>
                </a:solidFill>
                <a:latin typeface="Noto Sans CJK JP"/>
                <a:ea typeface="Noto Sans CJK JP"/>
                <a:cs typeface="Noto Sans CJK JP"/>
              </a:rPr>
              <a:t>定年時点での残高分布</a:t>
            </a:r>
            <a:endParaRPr sz="1935" b="1" dirty="0">
              <a:solidFill>
                <a:srgbClr val="111827"/>
              </a:solidFill>
              <a:latin typeface="Noto Sans CJK JP"/>
              <a:ea typeface="Noto Sans CJK JP"/>
              <a:cs typeface="Noto Sans CJK JP"/>
            </a:endParaRPr>
          </a:p>
        </p:txBody>
      </p:sp>
      <p:sp>
        <p:nvSpPr>
          <p:cNvPr id="3" name="title-divider">
            <a:extLst>
              <a:ext uri="{FF2B5EF4-FFF2-40B4-BE49-F238E27FC236}">
                <a16:creationId xmlns:a16="http://schemas.microsoft.com/office/drawing/2014/main" id="{D7AC2267-86AD-82C4-3519-6FA39013DA4F}"/>
              </a:ext>
            </a:extLst>
          </p:cNvPr>
          <p:cNvSpPr>
            <a:spLocks noGrp="1"/>
          </p:cNvSpPr>
          <p:nvPr/>
        </p:nvSpPr>
        <p:spPr>
          <a:xfrm>
            <a:off x="457200" y="1676400"/>
            <a:ext cx="8229600" cy="9525"/>
          </a:xfrm>
          <a:prstGeom prst="rect">
            <a:avLst/>
          </a:prstGeom>
          <a:solidFill>
            <a:srgbClr val="E5EAF0"/>
          </a:solidFill>
          <a:ln w="0">
            <a:noFill/>
            <a:prstDash val="solid"/>
          </a:ln>
        </p:spPr>
      </p:sp>
      <p:sp>
        <p:nvSpPr>
          <p:cNvPr id="4" name="title-accent">
            <a:extLst>
              <a:ext uri="{FF2B5EF4-FFF2-40B4-BE49-F238E27FC236}">
                <a16:creationId xmlns:a16="http://schemas.microsoft.com/office/drawing/2014/main" id="{DC811C94-656E-5A3A-9C89-5C3F9254A22E}"/>
              </a:ext>
            </a:extLst>
          </p:cNvPr>
          <p:cNvSpPr>
            <a:spLocks noGrp="1"/>
          </p:cNvSpPr>
          <p:nvPr/>
        </p:nvSpPr>
        <p:spPr>
          <a:xfrm>
            <a:off x="457200" y="1666875"/>
            <a:ext cx="552450" cy="38100"/>
          </a:xfrm>
          <a:prstGeom prst="rect">
            <a:avLst/>
          </a:prstGeom>
          <a:solidFill>
            <a:srgbClr val="4A90E2"/>
          </a:solidFill>
          <a:ln w="0">
            <a:noFill/>
            <a:prstDash val="solid"/>
          </a:ln>
        </p:spPr>
      </p:sp>
      <p:sp>
        <p:nvSpPr>
          <p:cNvPr id="14" name="chapter-tab-1">
            <a:extLst>
              <a:ext uri="{FF2B5EF4-FFF2-40B4-BE49-F238E27FC236}">
                <a16:creationId xmlns:a16="http://schemas.microsoft.com/office/drawing/2014/main" id="{28E50B78-8C4B-46F3-62BC-62B9198F0436}"/>
              </a:ext>
            </a:extLst>
          </p:cNvPr>
          <p:cNvSpPr>
            <a:spLocks noGrp="1"/>
          </p:cNvSpPr>
          <p:nvPr/>
        </p:nvSpPr>
        <p:spPr>
          <a:xfrm>
            <a:off x="457200" y="4857750"/>
            <a:ext cx="2057400" cy="238125"/>
          </a:xfrm>
          <a:prstGeom prst="parallelogram">
            <a:avLst/>
          </a:prstGeom>
          <a:solidFill>
            <a:srgbClr val="FFFFFF"/>
          </a:solidFill>
          <a:ln w="10001">
            <a:solidFill>
              <a:srgbClr val="4A90E2"/>
            </a:solidFill>
            <a:prstDash val="solid"/>
          </a:ln>
        </p:spPr>
        <p:txBody>
          <a:bodyPr wrap="none" lIns="76200" tIns="0" rIns="76200" bIns="0" anchor="ctr">
            <a:normAutofit/>
          </a:bodyPr>
          <a:lstStyle/>
          <a:p>
            <a:pPr algn="ctr">
              <a:buNone/>
              <a:defRPr sz="998" b="1">
                <a:solidFill>
                  <a:srgbClr val="4A90E2"/>
                </a:solidFill>
                <a:latin typeface="Noto Sans CJK JP"/>
                <a:ea typeface="Noto Sans CJK JP"/>
                <a:cs typeface="Noto Sans CJK JP"/>
              </a:defRPr>
            </a:pPr>
            <a:r>
              <a:rPr sz="998" b="1">
                <a:solidFill>
                  <a:srgbClr val="4A90E2"/>
                </a:solidFill>
                <a:latin typeface="Noto Sans CJK JP"/>
                <a:ea typeface="Noto Sans CJK JP"/>
                <a:cs typeface="Noto Sans CJK JP"/>
              </a:rPr>
              <a:t>1 前提</a:t>
            </a:r>
          </a:p>
        </p:txBody>
      </p:sp>
      <p:sp>
        <p:nvSpPr>
          <p:cNvPr id="15" name="chapter-tab-2">
            <a:extLst>
              <a:ext uri="{FF2B5EF4-FFF2-40B4-BE49-F238E27FC236}">
                <a16:creationId xmlns:a16="http://schemas.microsoft.com/office/drawing/2014/main" id="{D38658A8-832B-1106-46CC-89847111CE4E}"/>
              </a:ext>
            </a:extLst>
          </p:cNvPr>
          <p:cNvSpPr>
            <a:spLocks noGrp="1"/>
          </p:cNvSpPr>
          <p:nvPr/>
        </p:nvSpPr>
        <p:spPr>
          <a:xfrm>
            <a:off x="2428875" y="4857750"/>
            <a:ext cx="2057400" cy="238125"/>
          </a:xfrm>
          <a:prstGeom prst="parallelogram">
            <a:avLst/>
          </a:prstGeom>
          <a:solidFill>
            <a:srgbClr val="FFFFFF"/>
          </a:solidFill>
          <a:ln w="10001">
            <a:solidFill>
              <a:srgbClr val="2F73B7"/>
            </a:solidFill>
            <a:prstDash val="solid"/>
          </a:ln>
        </p:spPr>
        <p:txBody>
          <a:bodyPr wrap="none" lIns="76200" tIns="0" rIns="76200" bIns="0" anchor="ctr">
            <a:normAutofit/>
          </a:bodyPr>
          <a:lstStyle/>
          <a:p>
            <a:pPr algn="ctr">
              <a:buNone/>
              <a:defRPr sz="998" b="1">
                <a:solidFill>
                  <a:srgbClr val="2F73B7"/>
                </a:solidFill>
                <a:latin typeface="Noto Sans CJK JP"/>
                <a:ea typeface="Noto Sans CJK JP"/>
                <a:cs typeface="Noto Sans CJK JP"/>
              </a:defRPr>
            </a:pPr>
            <a:r>
              <a:rPr sz="998" b="1">
                <a:solidFill>
                  <a:srgbClr val="2F73B7"/>
                </a:solidFill>
                <a:latin typeface="Noto Sans CJK JP"/>
                <a:ea typeface="Noto Sans CJK JP"/>
                <a:cs typeface="Noto Sans CJK JP"/>
              </a:rPr>
              <a:t>2 数理理論</a:t>
            </a:r>
          </a:p>
        </p:txBody>
      </p:sp>
      <p:sp>
        <p:nvSpPr>
          <p:cNvPr id="16" name="chapter-tab-3">
            <a:extLst>
              <a:ext uri="{FF2B5EF4-FFF2-40B4-BE49-F238E27FC236}">
                <a16:creationId xmlns:a16="http://schemas.microsoft.com/office/drawing/2014/main" id="{B1031FCC-BDC4-2909-E0F3-459E0DE6B6F8}"/>
              </a:ext>
            </a:extLst>
          </p:cNvPr>
          <p:cNvSpPr>
            <a:spLocks noGrp="1"/>
          </p:cNvSpPr>
          <p:nvPr/>
        </p:nvSpPr>
        <p:spPr>
          <a:xfrm>
            <a:off x="4400550" y="4857750"/>
            <a:ext cx="2057400" cy="238125"/>
          </a:xfrm>
          <a:prstGeom prst="parallelogram">
            <a:avLst/>
          </a:prstGeom>
          <a:solidFill>
            <a:srgbClr val="2A8F6A"/>
          </a:solidFill>
          <a:ln w="11430">
            <a:solidFill>
              <a:srgbClr val="2A8F6A"/>
            </a:solidFill>
            <a:prstDash val="solid"/>
          </a:ln>
        </p:spPr>
        <p:txBody>
          <a:bodyPr wrap="none" lIns="76200" tIns="0" rIns="76200" bIns="0" anchor="ctr">
            <a:normAutofit/>
          </a:bodyPr>
          <a:lstStyle/>
          <a:p>
            <a:pPr algn="ctr">
              <a:buNone/>
              <a:defRPr sz="998" b="1">
                <a:solidFill>
                  <a:srgbClr val="FFFFFF"/>
                </a:solidFill>
                <a:latin typeface="Noto Sans CJK JP"/>
                <a:ea typeface="Noto Sans CJK JP"/>
                <a:cs typeface="Noto Sans CJK JP"/>
              </a:defRPr>
            </a:pPr>
            <a:r>
              <a:rPr sz="998" b="1">
                <a:solidFill>
                  <a:srgbClr val="FFFFFF"/>
                </a:solidFill>
                <a:latin typeface="Noto Sans CJK JP"/>
                <a:ea typeface="Noto Sans CJK JP"/>
                <a:cs typeface="Noto Sans CJK JP"/>
              </a:rPr>
              <a:t>3 シミュレーション</a:t>
            </a:r>
          </a:p>
        </p:txBody>
      </p:sp>
      <p:sp>
        <p:nvSpPr>
          <p:cNvPr id="17" name="chapter-tab-4">
            <a:extLst>
              <a:ext uri="{FF2B5EF4-FFF2-40B4-BE49-F238E27FC236}">
                <a16:creationId xmlns:a16="http://schemas.microsoft.com/office/drawing/2014/main" id="{25A7A5EB-D798-77B1-9E59-2BF4928DB540}"/>
              </a:ext>
            </a:extLst>
          </p:cNvPr>
          <p:cNvSpPr>
            <a:spLocks noGrp="1"/>
          </p:cNvSpPr>
          <p:nvPr/>
        </p:nvSpPr>
        <p:spPr>
          <a:xfrm>
            <a:off x="6372225" y="4857750"/>
            <a:ext cx="2057400" cy="238125"/>
          </a:xfrm>
          <a:prstGeom prst="parallelogram">
            <a:avLst/>
          </a:prstGeom>
          <a:solidFill>
            <a:srgbClr val="FFFFFF"/>
          </a:solidFill>
          <a:ln w="10001">
            <a:solidFill>
              <a:srgbClr val="C9534B"/>
            </a:solidFill>
            <a:prstDash val="solid"/>
          </a:ln>
        </p:spPr>
        <p:txBody>
          <a:bodyPr wrap="none" lIns="76200" tIns="0" rIns="76200" bIns="0" anchor="ctr">
            <a:normAutofit/>
          </a:bodyPr>
          <a:lstStyle/>
          <a:p>
            <a:pPr algn="ctr">
              <a:buNone/>
              <a:defRPr sz="998" b="1">
                <a:solidFill>
                  <a:srgbClr val="C9534B"/>
                </a:solidFill>
                <a:latin typeface="Noto Sans CJK JP"/>
                <a:ea typeface="Noto Sans CJK JP"/>
                <a:cs typeface="Noto Sans CJK JP"/>
              </a:defRPr>
            </a:pPr>
            <a:r>
              <a:rPr sz="998" b="1">
                <a:solidFill>
                  <a:srgbClr val="C9534B"/>
                </a:solidFill>
                <a:latin typeface="Noto Sans CJK JP"/>
                <a:ea typeface="Noto Sans CJK JP"/>
                <a:cs typeface="Noto Sans CJK JP"/>
              </a:rPr>
              <a:t>4 結論</a:t>
            </a:r>
          </a:p>
        </p:txBody>
      </p:sp>
      <p:sp>
        <p:nvSpPr>
          <p:cNvPr id="18" name="s14-tag-shape">
            <a:extLst>
              <a:ext uri="{FF2B5EF4-FFF2-40B4-BE49-F238E27FC236}">
                <a16:creationId xmlns:a16="http://schemas.microsoft.com/office/drawing/2014/main" id="{15AE5868-01EB-EDCD-25A3-589C500DAF03}"/>
              </a:ext>
            </a:extLst>
          </p:cNvPr>
          <p:cNvSpPr>
            <a:spLocks noGrp="1"/>
          </p:cNvSpPr>
          <p:nvPr/>
        </p:nvSpPr>
        <p:spPr>
          <a:xfrm>
            <a:off x="590550" y="1790700"/>
            <a:ext cx="2857500" cy="228600"/>
          </a:xfrm>
          <a:prstGeom prst="roundRect">
            <a:avLst>
              <a:gd name="adj" fmla="val 25000"/>
            </a:avLst>
          </a:prstGeom>
          <a:solidFill>
            <a:srgbClr val="FFFFFF"/>
          </a:solidFill>
          <a:ln w="9525">
            <a:solidFill>
              <a:srgbClr val="215FB4"/>
            </a:solidFill>
            <a:prstDash val="solid"/>
          </a:ln>
        </p:spPr>
      </p:sp>
      <p:sp>
        <p:nvSpPr>
          <p:cNvPr id="19" name="s14-tag-text">
            <a:extLst>
              <a:ext uri="{FF2B5EF4-FFF2-40B4-BE49-F238E27FC236}">
                <a16:creationId xmlns:a16="http://schemas.microsoft.com/office/drawing/2014/main" id="{DE7D915F-3692-F7D5-99E5-95E47BFF3E39}"/>
              </a:ext>
            </a:extLst>
          </p:cNvPr>
          <p:cNvSpPr>
            <a:spLocks noGrp="1"/>
          </p:cNvSpPr>
          <p:nvPr/>
        </p:nvSpPr>
        <p:spPr>
          <a:xfrm>
            <a:off x="590550" y="1790700"/>
            <a:ext cx="2857500" cy="228600"/>
          </a:xfrm>
          <a:prstGeom prst="rect">
            <a:avLst/>
          </a:prstGeom>
          <a:noFill/>
          <a:ln w="0">
            <a:noFill/>
            <a:prstDash val="solid"/>
          </a:ln>
        </p:spPr>
        <p:txBody>
          <a:bodyPr wrap="square" lIns="0" tIns="0" rIns="0" bIns="0" anchor="ctr">
            <a:normAutofit/>
          </a:bodyPr>
          <a:lstStyle/>
          <a:p>
            <a:pPr algn="ctr">
              <a:defRPr sz="840" b="1">
                <a:solidFill>
                  <a:srgbClr val="215FB4"/>
                </a:solidFill>
                <a:latin typeface="Noto Sans CJK JP"/>
                <a:ea typeface="Noto Sans CJK JP"/>
                <a:cs typeface="Noto Sans CJK JP"/>
              </a:defRPr>
            </a:pPr>
            <a:r>
              <a:rPr sz="840" b="1" dirty="0" err="1">
                <a:solidFill>
                  <a:srgbClr val="215FB4"/>
                </a:solidFill>
                <a:latin typeface="Noto Sans CJK JP"/>
                <a:ea typeface="Noto Sans CJK JP"/>
                <a:cs typeface="Noto Sans CJK JP"/>
              </a:rPr>
              <a:t>rolling評価</a:t>
            </a:r>
            <a:r>
              <a:rPr sz="840" b="1" dirty="0">
                <a:solidFill>
                  <a:srgbClr val="215FB4"/>
                </a:solidFill>
                <a:latin typeface="Noto Sans CJK JP"/>
                <a:ea typeface="Noto Sans CJK JP"/>
                <a:cs typeface="Noto Sans CJK JP"/>
              </a:rPr>
              <a:t> ｜ </a:t>
            </a:r>
            <a:r>
              <a:rPr lang="en-US" altLang="ja-JP" sz="840" b="1" dirty="0">
                <a:solidFill>
                  <a:srgbClr val="215FB4"/>
                </a:solidFill>
                <a:latin typeface="Noto Sans CJK JP"/>
                <a:ea typeface="Noto Sans CJK JP"/>
                <a:cs typeface="Noto Sans CJK JP"/>
              </a:rPr>
              <a:t>t</a:t>
            </a:r>
            <a:r>
              <a:rPr lang="ja-JP" altLang="en-US" sz="840" b="1" dirty="0">
                <a:solidFill>
                  <a:srgbClr val="215FB4"/>
                </a:solidFill>
                <a:latin typeface="Noto Sans CJK JP"/>
                <a:ea typeface="Noto Sans CJK JP"/>
                <a:cs typeface="Noto Sans CJK JP"/>
              </a:rPr>
              <a:t> </a:t>
            </a:r>
            <a:r>
              <a:rPr lang="en-US" altLang="ja-JP" sz="840" b="1" dirty="0">
                <a:solidFill>
                  <a:srgbClr val="215FB4"/>
                </a:solidFill>
                <a:latin typeface="Noto Sans CJK JP"/>
                <a:ea typeface="Noto Sans CJK JP"/>
                <a:cs typeface="Noto Sans CJK JP"/>
              </a:rPr>
              <a:t>= </a:t>
            </a:r>
            <a:r>
              <a:rPr sz="840" b="1" dirty="0">
                <a:solidFill>
                  <a:srgbClr val="215FB4"/>
                </a:solidFill>
                <a:latin typeface="Noto Sans CJK JP"/>
                <a:ea typeface="Noto Sans CJK JP"/>
                <a:cs typeface="Noto Sans CJK JP"/>
              </a:rPr>
              <a:t>30年・中央値状態  x = 45.27</a:t>
            </a:r>
          </a:p>
        </p:txBody>
      </p:sp>
      <p:graphicFrame>
        <p:nvGraphicFramePr>
          <p:cNvPr id="9" name="表 8">
            <a:extLst>
              <a:ext uri="{FF2B5EF4-FFF2-40B4-BE49-F238E27FC236}">
                <a16:creationId xmlns:a16="http://schemas.microsoft.com/office/drawing/2014/main" id="{27A2AC37-B815-1EBD-49FF-637C7207B6F4}"/>
              </a:ext>
            </a:extLst>
          </p:cNvPr>
          <p:cNvGraphicFramePr/>
          <p:nvPr>
            <p:extLst>
              <p:ext uri="{D42A27DB-BD31-4B8C-83A1-F6EECF244321}">
                <p14:modId xmlns:p14="http://schemas.microsoft.com/office/powerpoint/2010/main" val="1154447053"/>
              </p:ext>
            </p:extLst>
          </p:nvPr>
        </p:nvGraphicFramePr>
        <p:xfrm>
          <a:off x="5226691" y="2121681"/>
          <a:ext cx="3748141" cy="1546809"/>
        </p:xfrm>
        <a:graphic>
          <a:graphicData uri="http://schemas.openxmlformats.org/drawingml/2006/table">
            <a:tbl>
              <a:tblPr/>
              <a:tblGrid>
                <a:gridCol w="724141">
                  <a:extLst>
                    <a:ext uri="{9D8B030D-6E8A-4147-A177-3AD203B41FA5}">
                      <a16:colId xmlns:a16="http://schemas.microsoft.com/office/drawing/2014/main" val="20000"/>
                    </a:ext>
                  </a:extLst>
                </a:gridCol>
                <a:gridCol w="756000">
                  <a:extLst>
                    <a:ext uri="{9D8B030D-6E8A-4147-A177-3AD203B41FA5}">
                      <a16:colId xmlns:a16="http://schemas.microsoft.com/office/drawing/2014/main" val="20001"/>
                    </a:ext>
                  </a:extLst>
                </a:gridCol>
                <a:gridCol w="756000">
                  <a:extLst>
                    <a:ext uri="{9D8B030D-6E8A-4147-A177-3AD203B41FA5}">
                      <a16:colId xmlns:a16="http://schemas.microsoft.com/office/drawing/2014/main" val="20002"/>
                    </a:ext>
                  </a:extLst>
                </a:gridCol>
                <a:gridCol w="756000">
                  <a:extLst>
                    <a:ext uri="{9D8B030D-6E8A-4147-A177-3AD203B41FA5}">
                      <a16:colId xmlns:a16="http://schemas.microsoft.com/office/drawing/2014/main" val="20003"/>
                    </a:ext>
                  </a:extLst>
                </a:gridCol>
                <a:gridCol w="756000">
                  <a:extLst>
                    <a:ext uri="{9D8B030D-6E8A-4147-A177-3AD203B41FA5}">
                      <a16:colId xmlns:a16="http://schemas.microsoft.com/office/drawing/2014/main" val="4135616146"/>
                    </a:ext>
                  </a:extLst>
                </a:gridCol>
              </a:tblGrid>
              <a:tr h="319395">
                <a:tc>
                  <a:txBody>
                    <a:bodyPr/>
                    <a:lstStyle/>
                    <a:p>
                      <a:pPr algn="ctr">
                        <a:buNone/>
                      </a:pPr>
                      <a:r>
                        <a:rPr sz="1163" b="1" dirty="0" err="1">
                          <a:solidFill>
                            <a:srgbClr val="2F73B7"/>
                          </a:solidFill>
                          <a:latin typeface="Noto Sans CJK JP"/>
                          <a:ea typeface="Noto Sans CJK JP"/>
                          <a:cs typeface="Noto Sans CJK JP"/>
                        </a:rPr>
                        <a:t>解概念</a:t>
                      </a:r>
                      <a:endParaRPr sz="1163" b="1" dirty="0">
                        <a:solidFill>
                          <a:srgbClr val="2F73B7"/>
                        </a:solidFill>
                        <a:latin typeface="Noto Sans CJK JP"/>
                        <a:ea typeface="Noto Sans CJK JP"/>
                        <a:cs typeface="Noto Sans CJK JP"/>
                      </a:endParaRPr>
                    </a:p>
                  </a:txBody>
                  <a:tcPr anchor="ctr">
                    <a:solidFill>
                      <a:srgbClr val="EAF3FB"/>
                    </a:solidFill>
                  </a:tcPr>
                </a:tc>
                <a:tc>
                  <a:txBody>
                    <a:bodyPr/>
                    <a:lstStyle/>
                    <a:p>
                      <a:pPr algn="ctr">
                        <a:buNone/>
                      </a:pPr>
                      <a:r>
                        <a:rPr lang="en-US" sz="1163" b="1" dirty="0">
                          <a:solidFill>
                            <a:srgbClr val="2F73B7"/>
                          </a:solidFill>
                          <a:latin typeface="Noto Sans CJK JP"/>
                          <a:ea typeface="Noto Sans CJK JP"/>
                          <a:cs typeface="Noto Sans CJK JP"/>
                        </a:rPr>
                        <a:t>mean</a:t>
                      </a:r>
                      <a:endParaRPr sz="1163" b="1" dirty="0">
                        <a:solidFill>
                          <a:srgbClr val="2F73B7"/>
                        </a:solidFill>
                        <a:latin typeface="Noto Sans CJK JP"/>
                        <a:ea typeface="Noto Sans CJK JP"/>
                        <a:cs typeface="Noto Sans CJK JP"/>
                      </a:endParaRPr>
                    </a:p>
                  </a:txBody>
                  <a:tcPr anchor="ctr">
                    <a:solidFill>
                      <a:srgbClr val="EAF3FB"/>
                    </a:solidFill>
                  </a:tcPr>
                </a:tc>
                <a:tc>
                  <a:txBody>
                    <a:bodyPr/>
                    <a:lstStyle/>
                    <a:p>
                      <a:pPr algn="ctr">
                        <a:buNone/>
                      </a:pPr>
                      <a:r>
                        <a:rPr lang="en-US" sz="1163" b="1" dirty="0">
                          <a:solidFill>
                            <a:srgbClr val="2F73B7"/>
                          </a:solidFill>
                          <a:latin typeface="Noto Sans CJK JP"/>
                          <a:ea typeface="Noto Sans CJK JP"/>
                          <a:cs typeface="Noto Sans CJK JP"/>
                        </a:rPr>
                        <a:t>q05</a:t>
                      </a:r>
                      <a:endParaRPr sz="1163" b="1" dirty="0">
                        <a:solidFill>
                          <a:srgbClr val="2F73B7"/>
                        </a:solidFill>
                        <a:latin typeface="Noto Sans CJK JP"/>
                        <a:ea typeface="Noto Sans CJK JP"/>
                        <a:cs typeface="Noto Sans CJK JP"/>
                      </a:endParaRPr>
                    </a:p>
                  </a:txBody>
                  <a:tcPr anchor="ctr">
                    <a:solidFill>
                      <a:srgbClr val="EAF3FB"/>
                    </a:solidFill>
                  </a:tcPr>
                </a:tc>
                <a:tc>
                  <a:txBody>
                    <a:bodyPr/>
                    <a:lstStyle/>
                    <a:p>
                      <a:pPr algn="ctr">
                        <a:buNone/>
                      </a:pPr>
                      <a:r>
                        <a:rPr lang="en-US" sz="1163" b="1" dirty="0">
                          <a:solidFill>
                            <a:srgbClr val="2F73B7"/>
                          </a:solidFill>
                          <a:latin typeface="Noto Sans CJK JP"/>
                          <a:ea typeface="Noto Sans CJK JP"/>
                          <a:cs typeface="Noto Sans CJK JP"/>
                        </a:rPr>
                        <a:t>median</a:t>
                      </a:r>
                      <a:endParaRPr sz="1163" b="1" dirty="0">
                        <a:solidFill>
                          <a:srgbClr val="2F73B7"/>
                        </a:solidFill>
                        <a:latin typeface="Noto Sans CJK JP"/>
                        <a:ea typeface="Noto Sans CJK JP"/>
                        <a:cs typeface="Noto Sans CJK JP"/>
                      </a:endParaRPr>
                    </a:p>
                  </a:txBody>
                  <a:tcPr anchor="ctr">
                    <a:solidFill>
                      <a:srgbClr val="EAF3FB"/>
                    </a:solidFill>
                  </a:tcPr>
                </a:tc>
                <a:tc>
                  <a:txBody>
                    <a:bodyPr/>
                    <a:lstStyle/>
                    <a:p>
                      <a:pPr algn="ctr">
                        <a:buNone/>
                      </a:pPr>
                      <a:r>
                        <a:rPr lang="en-US" sz="1163" b="1" dirty="0">
                          <a:solidFill>
                            <a:srgbClr val="2F73B7"/>
                          </a:solidFill>
                          <a:latin typeface="Noto Sans CJK JP"/>
                          <a:ea typeface="Noto Sans CJK JP"/>
                          <a:cs typeface="Noto Sans CJK JP"/>
                        </a:rPr>
                        <a:t>q95</a:t>
                      </a:r>
                      <a:endParaRPr sz="1163" b="1" dirty="0">
                        <a:solidFill>
                          <a:srgbClr val="2F73B7"/>
                        </a:solidFill>
                        <a:latin typeface="Noto Sans CJK JP"/>
                        <a:ea typeface="Noto Sans CJK JP"/>
                        <a:cs typeface="Noto Sans CJK JP"/>
                      </a:endParaRPr>
                    </a:p>
                  </a:txBody>
                  <a:tcPr anchor="ctr">
                    <a:solidFill>
                      <a:srgbClr val="EAF3FB"/>
                    </a:solidFill>
                  </a:tcPr>
                </a:tc>
                <a:extLst>
                  <a:ext uri="{0D108BD9-81ED-4DB2-BD59-A6C34878D82A}">
                    <a16:rowId xmlns:a16="http://schemas.microsoft.com/office/drawing/2014/main" val="10000"/>
                  </a:ext>
                </a:extLst>
              </a:tr>
              <a:tr h="613707">
                <a:tc>
                  <a:txBody>
                    <a:bodyPr/>
                    <a:lstStyle/>
                    <a:p>
                      <a:pPr algn="ctr">
                        <a:buNone/>
                      </a:pPr>
                      <a:r>
                        <a:rPr sz="1200" b="0" dirty="0" err="1">
                          <a:solidFill>
                            <a:srgbClr val="2F8F73"/>
                          </a:solidFill>
                          <a:latin typeface="Century Gothic"/>
                          <a:ea typeface="Century Gothic"/>
                          <a:cs typeface="Century Gothic"/>
                        </a:rPr>
                        <a:t>cTCMV</a:t>
                      </a:r>
                      <a:endParaRPr sz="1200" b="0" dirty="0">
                        <a:solidFill>
                          <a:srgbClr val="2F8F73"/>
                        </a:solidFill>
                        <a:latin typeface="Century Gothic"/>
                        <a:ea typeface="Century Gothic"/>
                        <a:cs typeface="Century Gothic"/>
                      </a:endParaRPr>
                    </a:p>
                  </a:txBody>
                  <a:tcPr anchor="ctr">
                    <a:solidFill>
                      <a:schemeClr val="bg1"/>
                    </a:solidFill>
                  </a:tcPr>
                </a:tc>
                <a:tc>
                  <a:txBody>
                    <a:bodyPr/>
                    <a:lstStyle/>
                    <a:p>
                      <a:pPr algn="ctr">
                        <a:buNone/>
                      </a:pPr>
                      <a:r>
                        <a:rPr lang="en-US" sz="1200" b="0" dirty="0">
                          <a:solidFill>
                            <a:srgbClr val="2F8F73"/>
                          </a:solidFill>
                          <a:latin typeface="Century Gothic"/>
                          <a:ea typeface="Century Gothic"/>
                          <a:cs typeface="Century Gothic"/>
                        </a:rPr>
                        <a:t>72.41</a:t>
                      </a:r>
                      <a:endParaRPr sz="1200" b="0" dirty="0">
                        <a:solidFill>
                          <a:srgbClr val="2F8F73"/>
                        </a:solidFill>
                        <a:latin typeface="Century Gothic"/>
                        <a:ea typeface="Century Gothic"/>
                        <a:cs typeface="Century Gothic"/>
                      </a:endParaRPr>
                    </a:p>
                  </a:txBody>
                  <a:tcPr anchor="ctr">
                    <a:solidFill>
                      <a:schemeClr val="bg1"/>
                    </a:solidFill>
                  </a:tcPr>
                </a:tc>
                <a:tc>
                  <a:txBody>
                    <a:bodyPr/>
                    <a:lstStyle/>
                    <a:p>
                      <a:pPr algn="ctr">
                        <a:buNone/>
                      </a:pPr>
                      <a:r>
                        <a:rPr lang="en-US" sz="1200" b="1" dirty="0">
                          <a:solidFill>
                            <a:srgbClr val="2F8F73"/>
                          </a:solidFill>
                          <a:latin typeface="Century Gothic"/>
                          <a:ea typeface="Century Gothic"/>
                          <a:cs typeface="Century Gothic"/>
                        </a:rPr>
                        <a:t>48.46</a:t>
                      </a:r>
                      <a:endParaRPr sz="1200" b="1" dirty="0">
                        <a:solidFill>
                          <a:srgbClr val="2F8F73"/>
                        </a:solidFill>
                        <a:latin typeface="Century Gothic"/>
                        <a:ea typeface="Century Gothic"/>
                        <a:cs typeface="Century Gothic"/>
                      </a:endParaRPr>
                    </a:p>
                  </a:txBody>
                  <a:tcPr anchor="ctr">
                    <a:solidFill>
                      <a:schemeClr val="bg1"/>
                    </a:solidFill>
                  </a:tcPr>
                </a:tc>
                <a:tc>
                  <a:txBody>
                    <a:bodyPr/>
                    <a:lstStyle/>
                    <a:p>
                      <a:pPr algn="ctr">
                        <a:buNone/>
                      </a:pPr>
                      <a:r>
                        <a:rPr lang="en-US" sz="1200" b="0" dirty="0">
                          <a:solidFill>
                            <a:srgbClr val="2F8F73"/>
                          </a:solidFill>
                          <a:latin typeface="Century Gothic"/>
                          <a:ea typeface="Century Gothic"/>
                          <a:cs typeface="Century Gothic"/>
                        </a:rPr>
                        <a:t>72.98</a:t>
                      </a:r>
                      <a:endParaRPr sz="1200" b="0" dirty="0">
                        <a:solidFill>
                          <a:srgbClr val="2F8F73"/>
                        </a:solidFill>
                        <a:latin typeface="Century Gothic"/>
                        <a:ea typeface="Century Gothic"/>
                        <a:cs typeface="Century Gothic"/>
                      </a:endParaRPr>
                    </a:p>
                  </a:txBody>
                  <a:tcPr anchor="ctr">
                    <a:solidFill>
                      <a:schemeClr val="bg1"/>
                    </a:solidFill>
                  </a:tcPr>
                </a:tc>
                <a:tc>
                  <a:txBody>
                    <a:bodyPr/>
                    <a:lstStyle/>
                    <a:p>
                      <a:pPr algn="ctr">
                        <a:buNone/>
                      </a:pPr>
                      <a:r>
                        <a:rPr lang="en-US" sz="1200" b="1" dirty="0">
                          <a:solidFill>
                            <a:srgbClr val="2F8F73"/>
                          </a:solidFill>
                          <a:latin typeface="Century Gothic"/>
                          <a:ea typeface="Century Gothic"/>
                          <a:cs typeface="Century Gothic"/>
                        </a:rPr>
                        <a:t>96.86</a:t>
                      </a:r>
                      <a:endParaRPr sz="1200" b="1" dirty="0">
                        <a:solidFill>
                          <a:srgbClr val="2F8F73"/>
                        </a:solidFill>
                        <a:latin typeface="Century Gothic"/>
                        <a:ea typeface="Century Gothic"/>
                        <a:cs typeface="Century Gothic"/>
                      </a:endParaRPr>
                    </a:p>
                  </a:txBody>
                  <a:tcPr anchor="ctr">
                    <a:solidFill>
                      <a:schemeClr val="bg1"/>
                    </a:solidFill>
                  </a:tcPr>
                </a:tc>
                <a:extLst>
                  <a:ext uri="{0D108BD9-81ED-4DB2-BD59-A6C34878D82A}">
                    <a16:rowId xmlns:a16="http://schemas.microsoft.com/office/drawing/2014/main" val="10003"/>
                  </a:ext>
                </a:extLst>
              </a:tr>
              <a:tr h="613707">
                <a:tc>
                  <a:txBody>
                    <a:bodyPr/>
                    <a:lstStyle/>
                    <a:p>
                      <a:pPr algn="ctr">
                        <a:buNone/>
                      </a:pPr>
                      <a:r>
                        <a:rPr sz="1200" b="0" dirty="0" err="1">
                          <a:solidFill>
                            <a:srgbClr val="C9534B"/>
                          </a:solidFill>
                          <a:latin typeface="Century Gothic"/>
                          <a:ea typeface="Century Gothic"/>
                          <a:cs typeface="Century Gothic"/>
                        </a:rPr>
                        <a:t>dTCMV</a:t>
                      </a:r>
                      <a:endParaRPr sz="1200" b="0" dirty="0">
                        <a:solidFill>
                          <a:srgbClr val="C9534B"/>
                        </a:solidFill>
                        <a:latin typeface="Century Gothic"/>
                        <a:ea typeface="Century Gothic"/>
                        <a:cs typeface="Century Gothic"/>
                      </a:endParaRPr>
                    </a:p>
                  </a:txBody>
                  <a:tcPr anchor="ctr">
                    <a:solidFill>
                      <a:schemeClr val="bg1"/>
                    </a:solidFill>
                  </a:tcPr>
                </a:tc>
                <a:tc>
                  <a:txBody>
                    <a:bodyPr/>
                    <a:lstStyle/>
                    <a:p>
                      <a:pPr algn="ctr">
                        <a:buNone/>
                      </a:pPr>
                      <a:r>
                        <a:rPr lang="en-US" sz="1200" b="0" dirty="0">
                          <a:solidFill>
                            <a:srgbClr val="C9534B"/>
                          </a:solidFill>
                          <a:latin typeface="Century Gothic"/>
                          <a:ea typeface="Century Gothic"/>
                          <a:cs typeface="Century Gothic"/>
                        </a:rPr>
                        <a:t>81.37</a:t>
                      </a:r>
                      <a:endParaRPr sz="1200" b="0" dirty="0">
                        <a:solidFill>
                          <a:srgbClr val="C9534B"/>
                        </a:solidFill>
                        <a:latin typeface="Century Gothic"/>
                        <a:ea typeface="Century Gothic"/>
                        <a:cs typeface="Century Gothic"/>
                      </a:endParaRPr>
                    </a:p>
                  </a:txBody>
                  <a:tcPr anchor="ctr">
                    <a:solidFill>
                      <a:schemeClr val="bg1"/>
                    </a:solidFill>
                  </a:tcPr>
                </a:tc>
                <a:tc>
                  <a:txBody>
                    <a:bodyPr/>
                    <a:lstStyle/>
                    <a:p>
                      <a:pPr algn="ctr">
                        <a:buNone/>
                      </a:pPr>
                      <a:r>
                        <a:rPr lang="en-US" sz="1200" b="1" dirty="0">
                          <a:solidFill>
                            <a:srgbClr val="C9534B"/>
                          </a:solidFill>
                          <a:latin typeface="Century Gothic"/>
                          <a:ea typeface="Century Gothic"/>
                          <a:cs typeface="Century Gothic"/>
                        </a:rPr>
                        <a:t>39.14</a:t>
                      </a:r>
                      <a:endParaRPr sz="1200" b="1" dirty="0">
                        <a:solidFill>
                          <a:srgbClr val="C9534B"/>
                        </a:solidFill>
                        <a:latin typeface="Century Gothic"/>
                        <a:ea typeface="Century Gothic"/>
                        <a:cs typeface="Century Gothic"/>
                      </a:endParaRPr>
                    </a:p>
                  </a:txBody>
                  <a:tcPr anchor="ctr">
                    <a:solidFill>
                      <a:schemeClr val="bg1"/>
                    </a:solidFill>
                  </a:tcPr>
                </a:tc>
                <a:tc>
                  <a:txBody>
                    <a:bodyPr/>
                    <a:lstStyle/>
                    <a:p>
                      <a:pPr algn="ctr">
                        <a:buNone/>
                      </a:pPr>
                      <a:r>
                        <a:rPr lang="en-US" sz="1200" b="0" dirty="0">
                          <a:solidFill>
                            <a:srgbClr val="C9534B"/>
                          </a:solidFill>
                          <a:latin typeface="Century Gothic"/>
                          <a:ea typeface="Century Gothic"/>
                          <a:cs typeface="Century Gothic"/>
                        </a:rPr>
                        <a:t>74.87</a:t>
                      </a:r>
                      <a:endParaRPr sz="1200" b="0" dirty="0">
                        <a:solidFill>
                          <a:srgbClr val="C9534B"/>
                        </a:solidFill>
                        <a:latin typeface="Century Gothic"/>
                        <a:ea typeface="Century Gothic"/>
                        <a:cs typeface="Century Gothic"/>
                      </a:endParaRPr>
                    </a:p>
                  </a:txBody>
                  <a:tcPr anchor="ctr">
                    <a:solidFill>
                      <a:schemeClr val="bg1"/>
                    </a:solidFill>
                  </a:tcPr>
                </a:tc>
                <a:tc>
                  <a:txBody>
                    <a:bodyPr/>
                    <a:lstStyle/>
                    <a:p>
                      <a:pPr algn="ctr">
                        <a:buNone/>
                      </a:pPr>
                      <a:r>
                        <a:rPr lang="en-US" sz="1200" b="1" dirty="0">
                          <a:solidFill>
                            <a:srgbClr val="C9534B"/>
                          </a:solidFill>
                          <a:latin typeface="Century Gothic"/>
                          <a:ea typeface="Century Gothic"/>
                          <a:cs typeface="Century Gothic"/>
                        </a:rPr>
                        <a:t>142.03</a:t>
                      </a:r>
                      <a:endParaRPr sz="1200" b="1" dirty="0">
                        <a:solidFill>
                          <a:srgbClr val="C9534B"/>
                        </a:solidFill>
                        <a:latin typeface="Century Gothic"/>
                        <a:ea typeface="Century Gothic"/>
                        <a:cs typeface="Century Gothic"/>
                      </a:endParaRPr>
                    </a:p>
                  </a:txBody>
                  <a:tcPr anchor="ctr">
                    <a:solidFill>
                      <a:schemeClr val="bg1"/>
                    </a:solidFill>
                  </a:tcPr>
                </a:tc>
                <a:extLst>
                  <a:ext uri="{0D108BD9-81ED-4DB2-BD59-A6C34878D82A}">
                    <a16:rowId xmlns:a16="http://schemas.microsoft.com/office/drawing/2014/main" val="10004"/>
                  </a:ext>
                </a:extLst>
              </a:tr>
            </a:tbl>
          </a:graphicData>
        </a:graphic>
      </p:graphicFrame>
      <p:sp>
        <p:nvSpPr>
          <p:cNvPr id="11" name="s14-bottom">
            <a:extLst>
              <a:ext uri="{FF2B5EF4-FFF2-40B4-BE49-F238E27FC236}">
                <a16:creationId xmlns:a16="http://schemas.microsoft.com/office/drawing/2014/main" id="{896171CF-5172-DFB4-B615-49FA1D031D72}"/>
              </a:ext>
            </a:extLst>
          </p:cNvPr>
          <p:cNvSpPr>
            <a:spLocks noGrp="1"/>
          </p:cNvSpPr>
          <p:nvPr/>
        </p:nvSpPr>
        <p:spPr>
          <a:xfrm>
            <a:off x="5652853" y="3943566"/>
            <a:ext cx="2776772" cy="595869"/>
          </a:xfrm>
          <a:prstGeom prst="rect">
            <a:avLst/>
          </a:prstGeom>
          <a:noFill/>
          <a:ln w="0">
            <a:noFill/>
            <a:prstDash val="solid"/>
          </a:ln>
        </p:spPr>
        <p:txBody>
          <a:bodyPr wrap="square" lIns="0" tIns="0" rIns="0" bIns="0" anchor="ctr">
            <a:normAutofit/>
          </a:bodyPr>
          <a:lstStyle/>
          <a:p>
            <a:pPr>
              <a:defRPr sz="1238" b="1">
                <a:solidFill>
                  <a:srgbClr val="215FB4"/>
                </a:solidFill>
                <a:latin typeface="Noto Sans CJK JP"/>
                <a:ea typeface="Noto Sans CJK JP"/>
                <a:cs typeface="Noto Sans CJK JP"/>
              </a:defRPr>
            </a:pPr>
            <a:r>
              <a:rPr sz="1238" b="1" dirty="0" err="1">
                <a:solidFill>
                  <a:srgbClr val="215FB4"/>
                </a:solidFill>
                <a:latin typeface="Noto Sans CJK JP"/>
                <a:ea typeface="Noto Sans CJK JP"/>
                <a:cs typeface="Noto Sans CJK JP"/>
              </a:rPr>
              <a:t>将来方策を変え</a:t>
            </a:r>
            <a:r>
              <a:rPr lang="ja-JP" altLang="en-US" sz="1238" b="1" dirty="0">
                <a:solidFill>
                  <a:srgbClr val="215FB4"/>
                </a:solidFill>
                <a:latin typeface="Noto Sans CJK JP"/>
                <a:ea typeface="Noto Sans CJK JP"/>
                <a:cs typeface="Noto Sans CJK JP"/>
              </a:rPr>
              <a:t>た違いによる、</a:t>
            </a:r>
            <a:endParaRPr lang="en-US" sz="1238" b="1" dirty="0">
              <a:solidFill>
                <a:srgbClr val="215FB4"/>
              </a:solidFill>
              <a:latin typeface="Noto Sans CJK JP"/>
              <a:ea typeface="Noto Sans CJK JP"/>
              <a:cs typeface="Noto Sans CJK JP"/>
            </a:endParaRPr>
          </a:p>
          <a:p>
            <a:pPr>
              <a:defRPr sz="1238" b="1">
                <a:solidFill>
                  <a:srgbClr val="215FB4"/>
                </a:solidFill>
                <a:latin typeface="Noto Sans CJK JP"/>
                <a:ea typeface="Noto Sans CJK JP"/>
                <a:cs typeface="Noto Sans CJK JP"/>
              </a:defRPr>
            </a:pPr>
            <a:r>
              <a:rPr sz="1238" b="1" dirty="0" err="1">
                <a:solidFill>
                  <a:srgbClr val="215FB4"/>
                </a:solidFill>
                <a:latin typeface="Noto Sans CJK JP"/>
                <a:ea typeface="Noto Sans CJK JP"/>
                <a:cs typeface="Noto Sans CJK JP"/>
              </a:rPr>
              <a:t>上方参加と下方リスクの交換が見える</a:t>
            </a:r>
            <a:endParaRPr sz="1238" b="1" dirty="0">
              <a:solidFill>
                <a:srgbClr val="215FB4"/>
              </a:solidFill>
              <a:latin typeface="Noto Sans CJK JP"/>
              <a:ea typeface="Noto Sans CJK JP"/>
              <a:cs typeface="Noto Sans CJK JP"/>
            </a:endParaRPr>
          </a:p>
        </p:txBody>
      </p:sp>
      <p:sp>
        <p:nvSpPr>
          <p:cNvPr id="54" name="s14-bottom-icon">
            <a:extLst>
              <a:ext uri="{FF2B5EF4-FFF2-40B4-BE49-F238E27FC236}">
                <a16:creationId xmlns:a16="http://schemas.microsoft.com/office/drawing/2014/main" id="{70E6491F-B6C9-F9BF-EB49-3A1CE17A1FE9}"/>
              </a:ext>
            </a:extLst>
          </p:cNvPr>
          <p:cNvSpPr>
            <a:spLocks noGrp="1"/>
          </p:cNvSpPr>
          <p:nvPr/>
        </p:nvSpPr>
        <p:spPr>
          <a:xfrm>
            <a:off x="5309804" y="4060526"/>
            <a:ext cx="190500" cy="190500"/>
          </a:xfrm>
          <a:prstGeom prst="ellipse">
            <a:avLst/>
          </a:prstGeom>
          <a:solidFill>
            <a:srgbClr val="215FB4"/>
          </a:solidFill>
          <a:ln w="0">
            <a:noFill/>
            <a:prstDash val="solid"/>
          </a:ln>
        </p:spPr>
      </p:sp>
      <p:sp>
        <p:nvSpPr>
          <p:cNvPr id="60" name="s14-bottom-arrow">
            <a:extLst>
              <a:ext uri="{FF2B5EF4-FFF2-40B4-BE49-F238E27FC236}">
                <a16:creationId xmlns:a16="http://schemas.microsoft.com/office/drawing/2014/main" id="{1EF86F85-7568-A9A9-8977-405E9BD17C9A}"/>
              </a:ext>
            </a:extLst>
          </p:cNvPr>
          <p:cNvSpPr>
            <a:spLocks noGrp="1"/>
          </p:cNvSpPr>
          <p:nvPr/>
        </p:nvSpPr>
        <p:spPr>
          <a:xfrm>
            <a:off x="5309804" y="4051001"/>
            <a:ext cx="190500" cy="190500"/>
          </a:xfrm>
          <a:prstGeom prst="rect">
            <a:avLst/>
          </a:prstGeom>
          <a:noFill/>
          <a:ln w="0">
            <a:noFill/>
            <a:prstDash val="solid"/>
          </a:ln>
        </p:spPr>
        <p:txBody>
          <a:bodyPr wrap="square" lIns="0" tIns="0" rIns="0" bIns="0" anchor="ctr">
            <a:normAutofit/>
          </a:bodyPr>
          <a:lstStyle/>
          <a:p>
            <a:pPr algn="ctr">
              <a:defRPr sz="1050" b="1">
                <a:solidFill>
                  <a:srgbClr val="FFFFFF"/>
                </a:solidFill>
                <a:latin typeface="Noto Sans CJK JP"/>
                <a:ea typeface="Noto Sans CJK JP"/>
                <a:cs typeface="Noto Sans CJK JP"/>
              </a:defRPr>
            </a:pPr>
            <a:r>
              <a:rPr sz="1050" b="1" dirty="0">
                <a:solidFill>
                  <a:srgbClr val="FFFFFF"/>
                </a:solidFill>
                <a:latin typeface="Noto Sans CJK JP"/>
                <a:ea typeface="Noto Sans CJK JP"/>
                <a:cs typeface="Noto Sans CJK JP"/>
              </a:rPr>
              <a:t>→</a:t>
            </a:r>
          </a:p>
        </p:txBody>
      </p:sp>
      <p:pic>
        <p:nvPicPr>
          <p:cNvPr id="64" name="図 63">
            <a:extLst>
              <a:ext uri="{FF2B5EF4-FFF2-40B4-BE49-F238E27FC236}">
                <a16:creationId xmlns:a16="http://schemas.microsoft.com/office/drawing/2014/main" id="{4F287429-DCD7-AFDA-01AA-3531B1F8C72C}"/>
              </a:ext>
            </a:extLst>
          </p:cNvPr>
          <p:cNvPicPr>
            <a:picLocks noChangeAspect="1"/>
          </p:cNvPicPr>
          <p:nvPr/>
        </p:nvPicPr>
        <p:blipFill>
          <a:blip r:embed="rId3"/>
          <a:stretch>
            <a:fillRect/>
          </a:stretch>
        </p:blipFill>
        <p:spPr>
          <a:xfrm>
            <a:off x="389744" y="2124074"/>
            <a:ext cx="4684398" cy="2607175"/>
          </a:xfrm>
          <a:prstGeom prst="rect">
            <a:avLst/>
          </a:prstGeom>
        </p:spPr>
      </p:pic>
    </p:spTree>
    <p:extLst>
      <p:ext uri="{BB962C8B-B14F-4D97-AF65-F5344CB8AC3E}">
        <p14:creationId xmlns:p14="http://schemas.microsoft.com/office/powerpoint/2010/main" val="41089504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B5FB2-DE08-01C4-4B0F-3D45E31A046E}"/>
              </a:ext>
            </a:extLst>
          </p:cNvPr>
          <p:cNvSpPr>
            <a:spLocks noGrp="1"/>
          </p:cNvSpPr>
          <p:nvPr>
            <p:ph type="title"/>
          </p:nvPr>
        </p:nvSpPr>
        <p:spPr>
          <a:xfrm>
            <a:off x="457200" y="990600"/>
            <a:ext cx="8229600" cy="609600"/>
          </a:xfrm>
        </p:spPr>
        <p:txBody>
          <a:bodyPr wrap="none" lIns="0" tIns="0" rIns="0" bIns="0" anchor="ctr">
            <a:normAutofit/>
          </a:bodyPr>
          <a:lstStyle/>
          <a:p>
            <a:pPr algn="l">
              <a:buNone/>
              <a:defRPr sz="2063" b="1">
                <a:solidFill>
                  <a:srgbClr val="111827"/>
                </a:solidFill>
                <a:latin typeface="Noto Sans CJK JP"/>
                <a:ea typeface="Noto Sans CJK JP"/>
                <a:cs typeface="Noto Sans CJK JP"/>
              </a:defRPr>
            </a:pPr>
            <a:r>
              <a:rPr sz="2063" b="1" dirty="0" err="1">
                <a:solidFill>
                  <a:srgbClr val="111827"/>
                </a:solidFill>
                <a:latin typeface="Noto Sans CJK JP"/>
                <a:ea typeface="Noto Sans CJK JP"/>
                <a:cs typeface="Noto Sans CJK JP"/>
              </a:rPr>
              <a:t>歪度選好は「リスクを取る時期」を組み替える</a:t>
            </a:r>
            <a:endParaRPr sz="2063" b="1" dirty="0">
              <a:solidFill>
                <a:srgbClr val="111827"/>
              </a:solidFill>
              <a:latin typeface="Noto Sans CJK JP"/>
              <a:ea typeface="Noto Sans CJK JP"/>
              <a:cs typeface="Noto Sans CJK JP"/>
            </a:endParaRPr>
          </a:p>
        </p:txBody>
      </p:sp>
      <p:sp>
        <p:nvSpPr>
          <p:cNvPr id="3" name="title-divider">
            <a:extLst>
              <a:ext uri="{FF2B5EF4-FFF2-40B4-BE49-F238E27FC236}">
                <a16:creationId xmlns:a16="http://schemas.microsoft.com/office/drawing/2014/main" id="{D214EF4D-4FF9-43A7-9DCB-E3092C07A0BD}"/>
              </a:ext>
            </a:extLst>
          </p:cNvPr>
          <p:cNvSpPr>
            <a:spLocks noGrp="1"/>
          </p:cNvSpPr>
          <p:nvPr/>
        </p:nvSpPr>
        <p:spPr>
          <a:xfrm>
            <a:off x="457200" y="1676400"/>
            <a:ext cx="8229600" cy="9525"/>
          </a:xfrm>
          <a:prstGeom prst="rect">
            <a:avLst/>
          </a:prstGeom>
          <a:solidFill>
            <a:srgbClr val="E5EAF0"/>
          </a:solidFill>
          <a:ln w="0">
            <a:noFill/>
            <a:prstDash val="solid"/>
          </a:ln>
        </p:spPr>
      </p:sp>
      <p:sp>
        <p:nvSpPr>
          <p:cNvPr id="4" name="title-accent">
            <a:extLst>
              <a:ext uri="{FF2B5EF4-FFF2-40B4-BE49-F238E27FC236}">
                <a16:creationId xmlns:a16="http://schemas.microsoft.com/office/drawing/2014/main" id="{3F3AA29A-3A33-4079-94ED-4DAE0EC4D019}"/>
              </a:ext>
            </a:extLst>
          </p:cNvPr>
          <p:cNvSpPr>
            <a:spLocks noGrp="1"/>
          </p:cNvSpPr>
          <p:nvPr/>
        </p:nvSpPr>
        <p:spPr>
          <a:xfrm>
            <a:off x="457200" y="1666875"/>
            <a:ext cx="552450" cy="38100"/>
          </a:xfrm>
          <a:prstGeom prst="rect">
            <a:avLst/>
          </a:prstGeom>
          <a:solidFill>
            <a:srgbClr val="4A90E2"/>
          </a:solidFill>
          <a:ln w="0">
            <a:noFill/>
            <a:prstDash val="solid"/>
          </a:ln>
        </p:spPr>
      </p:sp>
      <p:sp>
        <p:nvSpPr>
          <p:cNvPr id="14" name="chapter-tab-1">
            <a:extLst>
              <a:ext uri="{FF2B5EF4-FFF2-40B4-BE49-F238E27FC236}">
                <a16:creationId xmlns:a16="http://schemas.microsoft.com/office/drawing/2014/main" id="{D0F7FB58-389F-46EA-8F36-ABA8968F4F1F}"/>
              </a:ext>
            </a:extLst>
          </p:cNvPr>
          <p:cNvSpPr>
            <a:spLocks noGrp="1"/>
          </p:cNvSpPr>
          <p:nvPr/>
        </p:nvSpPr>
        <p:spPr>
          <a:xfrm>
            <a:off x="457200" y="4857750"/>
            <a:ext cx="2057400" cy="238125"/>
          </a:xfrm>
          <a:prstGeom prst="parallelogram">
            <a:avLst/>
          </a:prstGeom>
          <a:solidFill>
            <a:srgbClr val="FFFFFF"/>
          </a:solidFill>
          <a:ln w="10001">
            <a:solidFill>
              <a:srgbClr val="4A90E2"/>
            </a:solidFill>
            <a:prstDash val="solid"/>
          </a:ln>
        </p:spPr>
        <p:txBody>
          <a:bodyPr wrap="none" lIns="76200" tIns="0" rIns="76200" bIns="0" anchor="ctr">
            <a:normAutofit/>
          </a:bodyPr>
          <a:lstStyle/>
          <a:p>
            <a:pPr algn="ctr">
              <a:buNone/>
              <a:defRPr sz="998" b="1">
                <a:solidFill>
                  <a:srgbClr val="4A90E2"/>
                </a:solidFill>
                <a:latin typeface="Noto Sans CJK JP"/>
                <a:ea typeface="Noto Sans CJK JP"/>
                <a:cs typeface="Noto Sans CJK JP"/>
              </a:defRPr>
            </a:pPr>
            <a:r>
              <a:rPr sz="998" b="1">
                <a:solidFill>
                  <a:srgbClr val="4A90E2"/>
                </a:solidFill>
                <a:latin typeface="Noto Sans CJK JP"/>
                <a:ea typeface="Noto Sans CJK JP"/>
                <a:cs typeface="Noto Sans CJK JP"/>
              </a:rPr>
              <a:t>1 前提</a:t>
            </a:r>
          </a:p>
        </p:txBody>
      </p:sp>
      <p:sp>
        <p:nvSpPr>
          <p:cNvPr id="15" name="chapter-tab-2">
            <a:extLst>
              <a:ext uri="{FF2B5EF4-FFF2-40B4-BE49-F238E27FC236}">
                <a16:creationId xmlns:a16="http://schemas.microsoft.com/office/drawing/2014/main" id="{8A9B40EE-4941-42F7-9D11-9A23A94E2A53}"/>
              </a:ext>
            </a:extLst>
          </p:cNvPr>
          <p:cNvSpPr>
            <a:spLocks noGrp="1"/>
          </p:cNvSpPr>
          <p:nvPr/>
        </p:nvSpPr>
        <p:spPr>
          <a:xfrm>
            <a:off x="2428875" y="4857750"/>
            <a:ext cx="2057400" cy="238125"/>
          </a:xfrm>
          <a:prstGeom prst="parallelogram">
            <a:avLst/>
          </a:prstGeom>
          <a:solidFill>
            <a:srgbClr val="FFFFFF"/>
          </a:solidFill>
          <a:ln w="10001">
            <a:solidFill>
              <a:srgbClr val="2F73B7"/>
            </a:solidFill>
            <a:prstDash val="solid"/>
          </a:ln>
        </p:spPr>
        <p:txBody>
          <a:bodyPr wrap="none" lIns="76200" tIns="0" rIns="76200" bIns="0" anchor="ctr">
            <a:normAutofit/>
          </a:bodyPr>
          <a:lstStyle/>
          <a:p>
            <a:pPr algn="ctr">
              <a:buNone/>
              <a:defRPr sz="998" b="1">
                <a:solidFill>
                  <a:srgbClr val="2F73B7"/>
                </a:solidFill>
                <a:latin typeface="Noto Sans CJK JP"/>
                <a:ea typeface="Noto Sans CJK JP"/>
                <a:cs typeface="Noto Sans CJK JP"/>
              </a:defRPr>
            </a:pPr>
            <a:r>
              <a:rPr sz="998" b="1">
                <a:solidFill>
                  <a:srgbClr val="2F73B7"/>
                </a:solidFill>
                <a:latin typeface="Noto Sans CJK JP"/>
                <a:ea typeface="Noto Sans CJK JP"/>
                <a:cs typeface="Noto Sans CJK JP"/>
              </a:rPr>
              <a:t>2 数理理論</a:t>
            </a:r>
          </a:p>
        </p:txBody>
      </p:sp>
      <p:sp>
        <p:nvSpPr>
          <p:cNvPr id="16" name="chapter-tab-3">
            <a:extLst>
              <a:ext uri="{FF2B5EF4-FFF2-40B4-BE49-F238E27FC236}">
                <a16:creationId xmlns:a16="http://schemas.microsoft.com/office/drawing/2014/main" id="{A8A1FEF9-3959-4916-B244-BF5B133C52F3}"/>
              </a:ext>
            </a:extLst>
          </p:cNvPr>
          <p:cNvSpPr>
            <a:spLocks noGrp="1"/>
          </p:cNvSpPr>
          <p:nvPr/>
        </p:nvSpPr>
        <p:spPr>
          <a:xfrm>
            <a:off x="4400550" y="4857750"/>
            <a:ext cx="2057400" cy="238125"/>
          </a:xfrm>
          <a:prstGeom prst="parallelogram">
            <a:avLst/>
          </a:prstGeom>
          <a:solidFill>
            <a:srgbClr val="2A8F6A"/>
          </a:solidFill>
          <a:ln w="11430">
            <a:solidFill>
              <a:srgbClr val="2A8F6A"/>
            </a:solidFill>
            <a:prstDash val="solid"/>
          </a:ln>
        </p:spPr>
        <p:txBody>
          <a:bodyPr wrap="none" lIns="76200" tIns="0" rIns="76200" bIns="0" anchor="ctr">
            <a:normAutofit/>
          </a:bodyPr>
          <a:lstStyle/>
          <a:p>
            <a:pPr algn="ctr">
              <a:buNone/>
              <a:defRPr sz="998" b="1">
                <a:solidFill>
                  <a:srgbClr val="FFFFFF"/>
                </a:solidFill>
                <a:latin typeface="Noto Sans CJK JP"/>
                <a:ea typeface="Noto Sans CJK JP"/>
                <a:cs typeface="Noto Sans CJK JP"/>
              </a:defRPr>
            </a:pPr>
            <a:r>
              <a:rPr sz="998" b="1">
                <a:solidFill>
                  <a:srgbClr val="FFFFFF"/>
                </a:solidFill>
                <a:latin typeface="Noto Sans CJK JP"/>
                <a:ea typeface="Noto Sans CJK JP"/>
                <a:cs typeface="Noto Sans CJK JP"/>
              </a:rPr>
              <a:t>3 シミュレーション</a:t>
            </a:r>
          </a:p>
        </p:txBody>
      </p:sp>
      <p:sp>
        <p:nvSpPr>
          <p:cNvPr id="17" name="chapter-tab-4">
            <a:extLst>
              <a:ext uri="{FF2B5EF4-FFF2-40B4-BE49-F238E27FC236}">
                <a16:creationId xmlns:a16="http://schemas.microsoft.com/office/drawing/2014/main" id="{7497A38D-4DE0-43CA-ACB6-6262DE8729E5}"/>
              </a:ext>
            </a:extLst>
          </p:cNvPr>
          <p:cNvSpPr>
            <a:spLocks noGrp="1"/>
          </p:cNvSpPr>
          <p:nvPr/>
        </p:nvSpPr>
        <p:spPr>
          <a:xfrm>
            <a:off x="6372225" y="4857750"/>
            <a:ext cx="2057400" cy="238125"/>
          </a:xfrm>
          <a:prstGeom prst="parallelogram">
            <a:avLst/>
          </a:prstGeom>
          <a:solidFill>
            <a:srgbClr val="FFFFFF"/>
          </a:solidFill>
          <a:ln w="10001">
            <a:solidFill>
              <a:srgbClr val="C9534B"/>
            </a:solidFill>
            <a:prstDash val="solid"/>
          </a:ln>
        </p:spPr>
        <p:txBody>
          <a:bodyPr wrap="none" lIns="76200" tIns="0" rIns="76200" bIns="0" anchor="ctr">
            <a:normAutofit/>
          </a:bodyPr>
          <a:lstStyle/>
          <a:p>
            <a:pPr algn="ctr">
              <a:buNone/>
              <a:defRPr sz="998" b="1">
                <a:solidFill>
                  <a:srgbClr val="C9534B"/>
                </a:solidFill>
                <a:latin typeface="Noto Sans CJK JP"/>
                <a:ea typeface="Noto Sans CJK JP"/>
                <a:cs typeface="Noto Sans CJK JP"/>
              </a:defRPr>
            </a:pPr>
            <a:r>
              <a:rPr sz="998" b="1">
                <a:solidFill>
                  <a:srgbClr val="C9534B"/>
                </a:solidFill>
                <a:latin typeface="Noto Sans CJK JP"/>
                <a:ea typeface="Noto Sans CJK JP"/>
                <a:cs typeface="Noto Sans CJK JP"/>
              </a:rPr>
              <a:t>4 結論</a:t>
            </a:r>
          </a:p>
        </p:txBody>
      </p:sp>
      <p:pic>
        <p:nvPicPr>
          <p:cNvPr id="48" name="グラフィックス 47"/>
          <p:cNvPicPr>
            <a:picLocks noChangeAspect="1"/>
          </p:cNvPicPr>
          <p:nvPr/>
        </p:nvPicPr>
        <p:blipFill>
          <a:blip>
            <a:extLst>
              <a:ext uri="{96DAC541-7B7A-43D3-8B79-37D633B846F1}">
                <asvg:svgBlip xmlns:asvg="http://schemas.microsoft.com/office/drawing/2016/SVG/main" r:embed="rId3"/>
              </a:ext>
            </a:extLst>
          </a:blip>
          <a:stretch/>
        </p:blipFill>
        <p:spPr>
          <a:xfrm>
            <a:off x="1466850" y="1788602"/>
            <a:ext cx="4762500" cy="401864"/>
          </a:xfrm>
          <a:prstGeom prst="rect">
            <a:avLst/>
          </a:prstGeom>
        </p:spPr>
      </p:pic>
      <p:pic>
        <p:nvPicPr>
          <p:cNvPr id="49" name="図 48"/>
          <p:cNvPicPr>
            <a:picLocks noChangeAspect="1"/>
          </p:cNvPicPr>
          <p:nvPr/>
        </p:nvPicPr>
        <p:blipFill>
          <a:blip r:embed="rId4"/>
          <a:stretch/>
        </p:blipFill>
        <p:spPr>
          <a:xfrm>
            <a:off x="1933387" y="2266378"/>
            <a:ext cx="4001454" cy="2400872"/>
          </a:xfrm>
          <a:prstGeom prst="rect">
            <a:avLst/>
          </a:prstGeom>
        </p:spPr>
      </p:pic>
      <p:sp>
        <p:nvSpPr>
          <p:cNvPr id="20" name="s15-rail">
            <a:extLst>
              <a:ext uri="{FF2B5EF4-FFF2-40B4-BE49-F238E27FC236}">
                <a16:creationId xmlns:a16="http://schemas.microsoft.com/office/drawing/2014/main" id="{7152C80D-AE9C-44B4-BDA9-19D1A0C90CC8}"/>
              </a:ext>
            </a:extLst>
          </p:cNvPr>
          <p:cNvSpPr>
            <a:spLocks noGrp="1"/>
          </p:cNvSpPr>
          <p:nvPr/>
        </p:nvSpPr>
        <p:spPr>
          <a:xfrm>
            <a:off x="6715125" y="1924050"/>
            <a:ext cx="11430" cy="2571750"/>
          </a:xfrm>
          <a:prstGeom prst="rect">
            <a:avLst/>
          </a:prstGeom>
          <a:solidFill>
            <a:srgbClr val="DDE4EC"/>
          </a:solidFill>
          <a:ln w="0">
            <a:noFill/>
            <a:prstDash val="solid"/>
          </a:ln>
        </p:spPr>
      </p:sp>
      <p:sp>
        <p:nvSpPr>
          <p:cNvPr id="21" name="s15-confirm-head">
            <a:extLst>
              <a:ext uri="{FF2B5EF4-FFF2-40B4-BE49-F238E27FC236}">
                <a16:creationId xmlns:a16="http://schemas.microsoft.com/office/drawing/2014/main" id="{814307BD-705B-48CE-8E17-1332BD723950}"/>
              </a:ext>
            </a:extLst>
          </p:cNvPr>
          <p:cNvSpPr>
            <a:spLocks noGrp="1"/>
          </p:cNvSpPr>
          <p:nvPr/>
        </p:nvSpPr>
        <p:spPr>
          <a:xfrm>
            <a:off x="6953250" y="3388519"/>
            <a:ext cx="1714500" cy="228600"/>
          </a:xfrm>
          <a:prstGeom prst="rect">
            <a:avLst/>
          </a:prstGeom>
          <a:noFill/>
          <a:ln w="0">
            <a:noFill/>
            <a:prstDash val="solid"/>
          </a:ln>
        </p:spPr>
        <p:txBody>
          <a:bodyPr wrap="square" lIns="0" tIns="0" rIns="0" bIns="0" anchor="ctr">
            <a:normAutofit/>
          </a:bodyPr>
          <a:lstStyle/>
          <a:p>
            <a:pPr algn="l">
              <a:defRPr sz="1275" b="1">
                <a:solidFill>
                  <a:srgbClr val="16875C"/>
                </a:solidFill>
                <a:latin typeface="Noto Sans CJK JP"/>
                <a:ea typeface="Noto Sans CJK JP"/>
                <a:cs typeface="Noto Sans CJK JP"/>
              </a:defRPr>
            </a:pPr>
            <a:r>
              <a:rPr lang="ja-JP" altLang="en-US" sz="1275" b="1" dirty="0">
                <a:solidFill>
                  <a:srgbClr val="1C75B3"/>
                </a:solidFill>
                <a:latin typeface="Noto Sans CJK JP"/>
                <a:ea typeface="Noto Sans CJK JP"/>
                <a:cs typeface="Noto Sans CJK JP"/>
              </a:rPr>
              <a:t>その他　</a:t>
            </a:r>
            <a:r>
              <a:rPr sz="1275" b="1" dirty="0" err="1">
                <a:solidFill>
                  <a:srgbClr val="1C75B3"/>
                </a:solidFill>
                <a:latin typeface="Noto Sans CJK JP"/>
                <a:ea typeface="Noto Sans CJK JP"/>
                <a:cs typeface="Noto Sans CJK JP"/>
              </a:rPr>
              <a:t>確認済み</a:t>
            </a:r>
            <a:r>
              <a:rPr lang="ja-JP" altLang="en-US" sz="1275" b="1" dirty="0">
                <a:solidFill>
                  <a:srgbClr val="1C75B3"/>
                </a:solidFill>
                <a:latin typeface="Noto Sans CJK JP"/>
                <a:ea typeface="Noto Sans CJK JP"/>
                <a:cs typeface="Noto Sans CJK JP"/>
              </a:rPr>
              <a:t>事項</a:t>
            </a:r>
            <a:endParaRPr sz="1275" b="1" dirty="0">
              <a:solidFill>
                <a:srgbClr val="1C75B3"/>
              </a:solidFill>
              <a:latin typeface="Noto Sans CJK JP"/>
              <a:ea typeface="Noto Sans CJK JP"/>
              <a:cs typeface="Noto Sans CJK JP"/>
            </a:endParaRPr>
          </a:p>
        </p:txBody>
      </p:sp>
      <p:sp>
        <p:nvSpPr>
          <p:cNvPr id="24" name="s15-ok-0">
            <a:extLst>
              <a:ext uri="{FF2B5EF4-FFF2-40B4-BE49-F238E27FC236}">
                <a16:creationId xmlns:a16="http://schemas.microsoft.com/office/drawing/2014/main" id="{1A6BC293-9623-4384-8AB7-0EFAB792C62A}"/>
              </a:ext>
            </a:extLst>
          </p:cNvPr>
          <p:cNvSpPr>
            <a:spLocks noGrp="1"/>
          </p:cNvSpPr>
          <p:nvPr/>
        </p:nvSpPr>
        <p:spPr>
          <a:xfrm>
            <a:off x="7181850" y="3693319"/>
            <a:ext cx="1571625" cy="228600"/>
          </a:xfrm>
          <a:prstGeom prst="rect">
            <a:avLst/>
          </a:prstGeom>
          <a:noFill/>
          <a:ln w="0">
            <a:noFill/>
            <a:prstDash val="solid"/>
          </a:ln>
        </p:spPr>
        <p:txBody>
          <a:bodyPr wrap="square" lIns="0" tIns="0" rIns="0" bIns="0" anchor="ctr">
            <a:normAutofit/>
          </a:bodyPr>
          <a:lstStyle/>
          <a:p>
            <a:pPr algn="l">
              <a:defRPr sz="878" b="0">
                <a:solidFill>
                  <a:srgbClr val="111827"/>
                </a:solidFill>
                <a:latin typeface="Noto Sans CJK JP"/>
                <a:ea typeface="Noto Sans CJK JP"/>
                <a:cs typeface="Noto Sans CJK JP"/>
              </a:defRPr>
            </a:pPr>
            <a:r>
              <a:rPr sz="878" b="0" dirty="0">
                <a:solidFill>
                  <a:srgbClr val="111827"/>
                </a:solidFill>
                <a:latin typeface="Noto Sans CJK JP"/>
                <a:ea typeface="Noto Sans CJK JP"/>
                <a:cs typeface="Noto Sans CJK JP"/>
              </a:rPr>
              <a:t>η = 0 で </a:t>
            </a:r>
            <a:r>
              <a:rPr sz="878" b="0" dirty="0" err="1">
                <a:solidFill>
                  <a:srgbClr val="111827"/>
                </a:solidFill>
                <a:latin typeface="Noto Sans CJK JP"/>
                <a:ea typeface="Noto Sans CJK JP"/>
                <a:cs typeface="Noto Sans CJK JP"/>
              </a:rPr>
              <a:t>MVへ一致</a:t>
            </a:r>
            <a:endParaRPr sz="878" b="0" dirty="0">
              <a:solidFill>
                <a:srgbClr val="111827"/>
              </a:solidFill>
              <a:latin typeface="Noto Sans CJK JP"/>
              <a:ea typeface="Noto Sans CJK JP"/>
              <a:cs typeface="Noto Sans CJK JP"/>
            </a:endParaRPr>
          </a:p>
        </p:txBody>
      </p:sp>
      <p:sp>
        <p:nvSpPr>
          <p:cNvPr id="25" name="s15-ok-dot-1">
            <a:extLst>
              <a:ext uri="{FF2B5EF4-FFF2-40B4-BE49-F238E27FC236}">
                <a16:creationId xmlns:a16="http://schemas.microsoft.com/office/drawing/2014/main" id="{B05CF8E4-AF6F-45EF-9A62-9EA24DCCAFF9}"/>
              </a:ext>
            </a:extLst>
          </p:cNvPr>
          <p:cNvSpPr>
            <a:spLocks noGrp="1"/>
          </p:cNvSpPr>
          <p:nvPr/>
        </p:nvSpPr>
        <p:spPr>
          <a:xfrm>
            <a:off x="6953250" y="4026694"/>
            <a:ext cx="142875" cy="142875"/>
          </a:xfrm>
          <a:prstGeom prst="ellipse">
            <a:avLst/>
          </a:prstGeom>
          <a:solidFill>
            <a:srgbClr val="1C75B3"/>
          </a:solidFill>
          <a:ln w="0">
            <a:noFill/>
            <a:prstDash val="solid"/>
          </a:ln>
        </p:spPr>
      </p:sp>
      <p:sp>
        <p:nvSpPr>
          <p:cNvPr id="26" name="s15-ok-check-1">
            <a:extLst>
              <a:ext uri="{FF2B5EF4-FFF2-40B4-BE49-F238E27FC236}">
                <a16:creationId xmlns:a16="http://schemas.microsoft.com/office/drawing/2014/main" id="{8C0A297F-1D29-4DDA-A59F-E57ACA83F22B}"/>
              </a:ext>
            </a:extLst>
          </p:cNvPr>
          <p:cNvSpPr>
            <a:spLocks noGrp="1"/>
          </p:cNvSpPr>
          <p:nvPr/>
        </p:nvSpPr>
        <p:spPr>
          <a:xfrm>
            <a:off x="6953250" y="4007644"/>
            <a:ext cx="142875" cy="161925"/>
          </a:xfrm>
          <a:prstGeom prst="rect">
            <a:avLst/>
          </a:prstGeom>
          <a:noFill/>
          <a:ln w="0">
            <a:noFill/>
            <a:prstDash val="solid"/>
          </a:ln>
        </p:spPr>
        <p:txBody>
          <a:bodyPr wrap="square" lIns="0" tIns="0" rIns="0" bIns="0" anchor="ctr">
            <a:normAutofit/>
          </a:bodyPr>
          <a:lstStyle/>
          <a:p>
            <a:pPr algn="ctr">
              <a:defRPr sz="788" b="1">
                <a:solidFill>
                  <a:srgbClr val="FFFFFF"/>
                </a:solidFill>
                <a:latin typeface="Noto Sans CJK JP"/>
                <a:ea typeface="Noto Sans CJK JP"/>
                <a:cs typeface="Noto Sans CJK JP"/>
              </a:defRPr>
            </a:pPr>
            <a:r>
              <a:rPr sz="788" b="1">
                <a:solidFill>
                  <a:srgbClr val="FFFFFF"/>
                </a:solidFill>
                <a:latin typeface="Noto Sans CJK JP"/>
                <a:ea typeface="Noto Sans CJK JP"/>
                <a:cs typeface="Noto Sans CJK JP"/>
              </a:rPr>
              <a:t>✓</a:t>
            </a:r>
          </a:p>
        </p:txBody>
      </p:sp>
      <p:sp>
        <p:nvSpPr>
          <p:cNvPr id="27" name="s15-ok-1">
            <a:extLst>
              <a:ext uri="{FF2B5EF4-FFF2-40B4-BE49-F238E27FC236}">
                <a16:creationId xmlns:a16="http://schemas.microsoft.com/office/drawing/2014/main" id="{D0AB804B-510F-4732-B7FB-619F0719ADF5}"/>
              </a:ext>
            </a:extLst>
          </p:cNvPr>
          <p:cNvSpPr>
            <a:spLocks noGrp="1"/>
          </p:cNvSpPr>
          <p:nvPr/>
        </p:nvSpPr>
        <p:spPr>
          <a:xfrm>
            <a:off x="7181850" y="3979069"/>
            <a:ext cx="1571625" cy="228600"/>
          </a:xfrm>
          <a:prstGeom prst="rect">
            <a:avLst/>
          </a:prstGeom>
          <a:noFill/>
          <a:ln w="0">
            <a:noFill/>
            <a:prstDash val="solid"/>
          </a:ln>
        </p:spPr>
        <p:txBody>
          <a:bodyPr wrap="square" lIns="0" tIns="0" rIns="0" bIns="0" anchor="ctr">
            <a:normAutofit/>
          </a:bodyPr>
          <a:lstStyle/>
          <a:p>
            <a:pPr algn="l">
              <a:defRPr sz="878" b="0">
                <a:solidFill>
                  <a:srgbClr val="111827"/>
                </a:solidFill>
                <a:latin typeface="Noto Sans CJK JP"/>
                <a:ea typeface="Noto Sans CJK JP"/>
                <a:cs typeface="Noto Sans CJK JP"/>
              </a:defRPr>
            </a:pPr>
            <a:r>
              <a:rPr sz="878" b="0" dirty="0">
                <a:solidFill>
                  <a:srgbClr val="111827"/>
                </a:solidFill>
                <a:latin typeface="Noto Sans CJK JP"/>
                <a:ea typeface="Noto Sans CJK JP"/>
                <a:cs typeface="Noto Sans CJK JP"/>
              </a:rPr>
              <a:t>全4戦略</a:t>
            </a:r>
            <a:r>
              <a:rPr lang="ja-JP" altLang="en-US" sz="878" b="0" dirty="0">
                <a:solidFill>
                  <a:srgbClr val="111827"/>
                </a:solidFill>
                <a:latin typeface="Noto Sans CJK JP"/>
                <a:ea typeface="Noto Sans CJK JP"/>
                <a:cs typeface="Noto Sans CJK JP"/>
              </a:rPr>
              <a:t>でも検証済み</a:t>
            </a:r>
            <a:endParaRPr sz="878" b="0" dirty="0">
              <a:solidFill>
                <a:srgbClr val="111827"/>
              </a:solidFill>
              <a:latin typeface="Noto Sans CJK JP"/>
              <a:ea typeface="Noto Sans CJK JP"/>
              <a:cs typeface="Noto Sans CJK JP"/>
            </a:endParaRPr>
          </a:p>
        </p:txBody>
      </p:sp>
      <p:sp>
        <p:nvSpPr>
          <p:cNvPr id="30" name="s15-ok-2">
            <a:extLst>
              <a:ext uri="{FF2B5EF4-FFF2-40B4-BE49-F238E27FC236}">
                <a16:creationId xmlns:a16="http://schemas.microsoft.com/office/drawing/2014/main" id="{72B1B4EE-0E00-4A73-B69E-4F3AD737EA96}"/>
              </a:ext>
            </a:extLst>
          </p:cNvPr>
          <p:cNvSpPr>
            <a:spLocks noGrp="1"/>
          </p:cNvSpPr>
          <p:nvPr/>
        </p:nvSpPr>
        <p:spPr>
          <a:xfrm>
            <a:off x="7181850" y="4264819"/>
            <a:ext cx="1571625" cy="228600"/>
          </a:xfrm>
          <a:prstGeom prst="rect">
            <a:avLst/>
          </a:prstGeom>
          <a:noFill/>
          <a:ln w="0">
            <a:noFill/>
            <a:prstDash val="solid"/>
          </a:ln>
        </p:spPr>
        <p:txBody>
          <a:bodyPr wrap="square" lIns="0" tIns="0" rIns="0" bIns="0" anchor="ctr">
            <a:normAutofit/>
          </a:bodyPr>
          <a:lstStyle/>
          <a:p>
            <a:pPr algn="l">
              <a:defRPr sz="878" b="0">
                <a:solidFill>
                  <a:srgbClr val="111827"/>
                </a:solidFill>
                <a:latin typeface="Noto Sans CJK JP"/>
                <a:ea typeface="Noto Sans CJK JP"/>
                <a:cs typeface="Noto Sans CJK JP"/>
              </a:defRPr>
            </a:pPr>
            <a:r>
              <a:rPr sz="878" b="0">
                <a:solidFill>
                  <a:srgbClr val="111827"/>
                </a:solidFill>
                <a:latin typeface="Noto Sans CJK JP"/>
                <a:ea typeface="Noto Sans CJK JP"/>
                <a:cs typeface="Noto Sans CJK JP"/>
              </a:rPr>
              <a:t>cTCMV≒cTCMV（制約時・clip）</a:t>
            </a:r>
          </a:p>
        </p:txBody>
      </p:sp>
      <p:sp>
        <p:nvSpPr>
          <p:cNvPr id="38" name="s15-bottom">
            <a:extLst>
              <a:ext uri="{FF2B5EF4-FFF2-40B4-BE49-F238E27FC236}">
                <a16:creationId xmlns:a16="http://schemas.microsoft.com/office/drawing/2014/main" id="{38F50F8C-3E86-4E9A-A20A-E1F07F3666ED}"/>
              </a:ext>
            </a:extLst>
          </p:cNvPr>
          <p:cNvSpPr>
            <a:spLocks noGrp="1"/>
          </p:cNvSpPr>
          <p:nvPr/>
        </p:nvSpPr>
        <p:spPr>
          <a:xfrm>
            <a:off x="1309692" y="4588669"/>
            <a:ext cx="5298277" cy="209550"/>
          </a:xfrm>
          <a:prstGeom prst="rect">
            <a:avLst/>
          </a:prstGeom>
          <a:noFill/>
          <a:ln w="0">
            <a:noFill/>
            <a:prstDash val="solid"/>
          </a:ln>
        </p:spPr>
        <p:txBody>
          <a:bodyPr wrap="square" lIns="0" tIns="0" rIns="0" bIns="0" anchor="ctr">
            <a:normAutofit/>
          </a:bodyPr>
          <a:lstStyle/>
          <a:p>
            <a:pPr>
              <a:defRPr sz="1163" b="1">
                <a:solidFill>
                  <a:srgbClr val="215FB4"/>
                </a:solidFill>
                <a:latin typeface="Noto Sans CJK JP"/>
                <a:ea typeface="Noto Sans CJK JP"/>
                <a:cs typeface="Noto Sans CJK JP"/>
              </a:defRPr>
            </a:pPr>
            <a:r>
              <a:rPr sz="1163" b="1" dirty="0" err="1">
                <a:solidFill>
                  <a:srgbClr val="215FB4"/>
                </a:solidFill>
                <a:latin typeface="Noto Sans CJK JP"/>
                <a:ea typeface="Noto Sans CJK JP"/>
                <a:cs typeface="Noto Sans CJK JP"/>
              </a:rPr>
              <a:t>正の</a:t>
            </a:r>
            <a:r>
              <a:rPr sz="1163" b="1" dirty="0">
                <a:solidFill>
                  <a:srgbClr val="215FB4"/>
                </a:solidFill>
                <a:latin typeface="Noto Sans CJK JP"/>
                <a:ea typeface="Noto Sans CJK JP"/>
                <a:cs typeface="Noto Sans CJK JP"/>
              </a:rPr>
              <a:t> η は、</a:t>
            </a:r>
            <a:r>
              <a:rPr lang="ja-JP" altLang="en-US" sz="1163" b="1" dirty="0">
                <a:solidFill>
                  <a:srgbClr val="215FB4"/>
                </a:solidFill>
                <a:latin typeface="Noto Sans CJK JP"/>
                <a:ea typeface="Noto Sans CJK JP"/>
                <a:cs typeface="Noto Sans CJK JP"/>
              </a:rPr>
              <a:t>上振れを狙うためにリスク配分時期をコントロールする</a:t>
            </a:r>
            <a:endParaRPr sz="1163" b="1" dirty="0">
              <a:solidFill>
                <a:srgbClr val="215FB4"/>
              </a:solidFill>
              <a:latin typeface="Noto Sans CJK JP"/>
              <a:ea typeface="Noto Sans CJK JP"/>
              <a:cs typeface="Noto Sans CJK JP"/>
            </a:endParaRPr>
          </a:p>
        </p:txBody>
      </p:sp>
      <p:sp>
        <p:nvSpPr>
          <p:cNvPr id="39" name="s15-bottom-icon">
            <a:extLst>
              <a:ext uri="{FF2B5EF4-FFF2-40B4-BE49-F238E27FC236}">
                <a16:creationId xmlns:a16="http://schemas.microsoft.com/office/drawing/2014/main" id="{AC0F50EA-1552-4556-80F0-CE68CA349556}"/>
              </a:ext>
            </a:extLst>
          </p:cNvPr>
          <p:cNvSpPr>
            <a:spLocks noGrp="1"/>
          </p:cNvSpPr>
          <p:nvPr/>
        </p:nvSpPr>
        <p:spPr>
          <a:xfrm>
            <a:off x="1102523" y="4612481"/>
            <a:ext cx="171450" cy="171450"/>
          </a:xfrm>
          <a:prstGeom prst="ellipse">
            <a:avLst/>
          </a:prstGeom>
          <a:solidFill>
            <a:srgbClr val="215FB4"/>
          </a:solidFill>
          <a:ln w="0">
            <a:noFill/>
            <a:prstDash val="solid"/>
          </a:ln>
        </p:spPr>
      </p:sp>
      <p:sp>
        <p:nvSpPr>
          <p:cNvPr id="40" name="s15-bottom-arrow">
            <a:extLst>
              <a:ext uri="{FF2B5EF4-FFF2-40B4-BE49-F238E27FC236}">
                <a16:creationId xmlns:a16="http://schemas.microsoft.com/office/drawing/2014/main" id="{94336870-F3BF-4461-A39E-D6E9C3390B8A}"/>
              </a:ext>
            </a:extLst>
          </p:cNvPr>
          <p:cNvSpPr>
            <a:spLocks noGrp="1"/>
          </p:cNvSpPr>
          <p:nvPr/>
        </p:nvSpPr>
        <p:spPr>
          <a:xfrm>
            <a:off x="1102523" y="4602956"/>
            <a:ext cx="171450" cy="171450"/>
          </a:xfrm>
          <a:prstGeom prst="rect">
            <a:avLst/>
          </a:prstGeom>
          <a:noFill/>
          <a:ln w="0">
            <a:noFill/>
            <a:prstDash val="solid"/>
          </a:ln>
        </p:spPr>
        <p:txBody>
          <a:bodyPr wrap="square" lIns="0" tIns="0" rIns="0" bIns="0" anchor="ctr">
            <a:normAutofit/>
          </a:bodyPr>
          <a:lstStyle/>
          <a:p>
            <a:pPr algn="ctr">
              <a:defRPr sz="975" b="1">
                <a:solidFill>
                  <a:srgbClr val="FFFFFF"/>
                </a:solidFill>
                <a:latin typeface="Noto Sans CJK JP"/>
                <a:ea typeface="Noto Sans CJK JP"/>
                <a:cs typeface="Noto Sans CJK JP"/>
              </a:defRPr>
            </a:pPr>
            <a:r>
              <a:rPr sz="975" b="1" dirty="0">
                <a:solidFill>
                  <a:srgbClr val="FFFFFF"/>
                </a:solidFill>
                <a:latin typeface="Noto Sans CJK JP"/>
                <a:ea typeface="Noto Sans CJK JP"/>
                <a:cs typeface="Noto Sans CJK JP"/>
              </a:rPr>
              <a:t>→</a:t>
            </a:r>
          </a:p>
        </p:txBody>
      </p:sp>
      <p:sp>
        <p:nvSpPr>
          <p:cNvPr id="13" name="s15-confirm-head">
            <a:extLst>
              <a:ext uri="{FF2B5EF4-FFF2-40B4-BE49-F238E27FC236}">
                <a16:creationId xmlns:a16="http://schemas.microsoft.com/office/drawing/2014/main" id="{3DDD1F98-D0D0-F5DC-38D2-F80D0ED87A46}"/>
              </a:ext>
            </a:extLst>
          </p:cNvPr>
          <p:cNvSpPr>
            <a:spLocks noGrp="1"/>
          </p:cNvSpPr>
          <p:nvPr/>
        </p:nvSpPr>
        <p:spPr>
          <a:xfrm>
            <a:off x="6953250" y="2225689"/>
            <a:ext cx="1714500" cy="228600"/>
          </a:xfrm>
          <a:prstGeom prst="rect">
            <a:avLst/>
          </a:prstGeom>
          <a:noFill/>
          <a:ln w="0">
            <a:noFill/>
            <a:prstDash val="solid"/>
          </a:ln>
        </p:spPr>
        <p:txBody>
          <a:bodyPr wrap="square" lIns="0" tIns="0" rIns="0" bIns="0" anchor="ctr">
            <a:normAutofit/>
          </a:bodyPr>
          <a:lstStyle/>
          <a:p>
            <a:pPr algn="l">
              <a:defRPr sz="1275" b="1">
                <a:solidFill>
                  <a:srgbClr val="16875C"/>
                </a:solidFill>
                <a:latin typeface="Noto Sans CJK JP"/>
                <a:ea typeface="Noto Sans CJK JP"/>
                <a:cs typeface="Noto Sans CJK JP"/>
              </a:defRPr>
            </a:pPr>
            <a:r>
              <a:rPr lang="en-US" altLang="ja-JP" sz="1275" b="1" dirty="0" err="1">
                <a:solidFill>
                  <a:srgbClr val="C9534B"/>
                </a:solidFill>
                <a:latin typeface="Noto Sans CJK JP"/>
                <a:ea typeface="Noto Sans CJK JP"/>
                <a:cs typeface="Noto Sans CJK JP"/>
              </a:rPr>
              <a:t>dTCMVS</a:t>
            </a:r>
            <a:r>
              <a:rPr lang="ja-JP" altLang="en-US" sz="1275" b="1" dirty="0">
                <a:solidFill>
                  <a:srgbClr val="C9534B"/>
                </a:solidFill>
                <a:latin typeface="Noto Sans CJK JP"/>
                <a:ea typeface="Noto Sans CJK JP"/>
                <a:cs typeface="Noto Sans CJK JP"/>
              </a:rPr>
              <a:t>における進化</a:t>
            </a:r>
            <a:endParaRPr sz="1275" b="1" dirty="0">
              <a:solidFill>
                <a:srgbClr val="C9534B"/>
              </a:solidFill>
              <a:latin typeface="Noto Sans CJK JP"/>
              <a:ea typeface="Noto Sans CJK JP"/>
              <a:cs typeface="Noto Sans CJK JP"/>
            </a:endParaRPr>
          </a:p>
        </p:txBody>
      </p:sp>
      <p:sp>
        <p:nvSpPr>
          <p:cNvPr id="44" name="s15-ok-0">
            <a:extLst>
              <a:ext uri="{FF2B5EF4-FFF2-40B4-BE49-F238E27FC236}">
                <a16:creationId xmlns:a16="http://schemas.microsoft.com/office/drawing/2014/main" id="{D5B5D331-18D5-F2DB-85DC-C3622EE30CF8}"/>
              </a:ext>
            </a:extLst>
          </p:cNvPr>
          <p:cNvSpPr>
            <a:spLocks noGrp="1"/>
          </p:cNvSpPr>
          <p:nvPr/>
        </p:nvSpPr>
        <p:spPr>
          <a:xfrm>
            <a:off x="7181850" y="2515499"/>
            <a:ext cx="1571625" cy="260746"/>
          </a:xfrm>
          <a:prstGeom prst="rect">
            <a:avLst/>
          </a:prstGeom>
          <a:noFill/>
          <a:ln w="0">
            <a:noFill/>
            <a:prstDash val="solid"/>
          </a:ln>
        </p:spPr>
        <p:txBody>
          <a:bodyPr wrap="square" lIns="0" tIns="0" rIns="0" bIns="0" anchor="ctr">
            <a:normAutofit/>
          </a:bodyPr>
          <a:lstStyle/>
          <a:p>
            <a:pPr algn="l">
              <a:defRPr sz="878" b="0">
                <a:solidFill>
                  <a:srgbClr val="111827"/>
                </a:solidFill>
                <a:latin typeface="Noto Sans CJK JP"/>
                <a:ea typeface="Noto Sans CJK JP"/>
                <a:cs typeface="Noto Sans CJK JP"/>
              </a:defRPr>
            </a:pPr>
            <a:r>
              <a:rPr lang="ja-JP" altLang="en-US" sz="878" dirty="0">
                <a:solidFill>
                  <a:srgbClr val="111827"/>
                </a:solidFill>
                <a:latin typeface="Noto Sans CJK JP"/>
                <a:ea typeface="Noto Sans CJK JP"/>
                <a:cs typeface="Noto Sans CJK JP"/>
              </a:rPr>
              <a:t>グライドパスの明らかな変化</a:t>
            </a:r>
            <a:endParaRPr sz="878" b="0" dirty="0">
              <a:solidFill>
                <a:srgbClr val="111827"/>
              </a:solidFill>
              <a:latin typeface="Noto Sans CJK JP"/>
              <a:ea typeface="Noto Sans CJK JP"/>
              <a:cs typeface="Noto Sans CJK JP"/>
            </a:endParaRPr>
          </a:p>
        </p:txBody>
      </p:sp>
      <p:sp>
        <p:nvSpPr>
          <p:cNvPr id="46" name="s15-ok-dot-0">
            <a:extLst>
              <a:ext uri="{FF2B5EF4-FFF2-40B4-BE49-F238E27FC236}">
                <a16:creationId xmlns:a16="http://schemas.microsoft.com/office/drawing/2014/main" id="{0732C82A-7D8F-535A-B996-84BE44A11D8B}"/>
              </a:ext>
            </a:extLst>
          </p:cNvPr>
          <p:cNvSpPr>
            <a:spLocks noGrp="1"/>
          </p:cNvSpPr>
          <p:nvPr/>
        </p:nvSpPr>
        <p:spPr>
          <a:xfrm>
            <a:off x="6953250" y="2924585"/>
            <a:ext cx="142875" cy="142875"/>
          </a:xfrm>
          <a:prstGeom prst="ellipse">
            <a:avLst/>
          </a:prstGeom>
          <a:solidFill>
            <a:srgbClr val="C9534B"/>
          </a:solidFill>
          <a:ln w="0">
            <a:noFill/>
            <a:prstDash val="solid"/>
          </a:ln>
        </p:spPr>
      </p:sp>
      <p:sp>
        <p:nvSpPr>
          <p:cNvPr id="50" name="s15-ok-check-0">
            <a:extLst>
              <a:ext uri="{FF2B5EF4-FFF2-40B4-BE49-F238E27FC236}">
                <a16:creationId xmlns:a16="http://schemas.microsoft.com/office/drawing/2014/main" id="{65EF4219-B40C-DB5F-0918-18975149D432}"/>
              </a:ext>
            </a:extLst>
          </p:cNvPr>
          <p:cNvSpPr>
            <a:spLocks noGrp="1"/>
          </p:cNvSpPr>
          <p:nvPr/>
        </p:nvSpPr>
        <p:spPr>
          <a:xfrm>
            <a:off x="6953250" y="2905535"/>
            <a:ext cx="142875" cy="161925"/>
          </a:xfrm>
          <a:prstGeom prst="rect">
            <a:avLst/>
          </a:prstGeom>
          <a:noFill/>
          <a:ln w="0">
            <a:noFill/>
            <a:prstDash val="solid"/>
          </a:ln>
        </p:spPr>
        <p:txBody>
          <a:bodyPr wrap="square" lIns="0" tIns="0" rIns="0" bIns="0" anchor="ctr">
            <a:normAutofit/>
          </a:bodyPr>
          <a:lstStyle/>
          <a:p>
            <a:pPr algn="ctr">
              <a:defRPr sz="788" b="1">
                <a:solidFill>
                  <a:srgbClr val="FFFFFF"/>
                </a:solidFill>
                <a:latin typeface="Noto Sans CJK JP"/>
                <a:ea typeface="Noto Sans CJK JP"/>
                <a:cs typeface="Noto Sans CJK JP"/>
              </a:defRPr>
            </a:pPr>
            <a:r>
              <a:rPr sz="788" b="1">
                <a:solidFill>
                  <a:srgbClr val="FFFFFF"/>
                </a:solidFill>
                <a:latin typeface="Noto Sans CJK JP"/>
                <a:ea typeface="Noto Sans CJK JP"/>
                <a:cs typeface="Noto Sans CJK JP"/>
              </a:rPr>
              <a:t>✓</a:t>
            </a:r>
          </a:p>
        </p:txBody>
      </p:sp>
      <p:sp>
        <p:nvSpPr>
          <p:cNvPr id="52" name="s15-ok-0">
            <a:extLst>
              <a:ext uri="{FF2B5EF4-FFF2-40B4-BE49-F238E27FC236}">
                <a16:creationId xmlns:a16="http://schemas.microsoft.com/office/drawing/2014/main" id="{0B2517FB-6CC0-4FA0-5273-377ED76E8142}"/>
              </a:ext>
            </a:extLst>
          </p:cNvPr>
          <p:cNvSpPr>
            <a:spLocks noGrp="1"/>
          </p:cNvSpPr>
          <p:nvPr/>
        </p:nvSpPr>
        <p:spPr>
          <a:xfrm>
            <a:off x="7181850" y="2861970"/>
            <a:ext cx="1893570" cy="259849"/>
          </a:xfrm>
          <a:prstGeom prst="rect">
            <a:avLst/>
          </a:prstGeom>
          <a:noFill/>
          <a:ln w="0">
            <a:noFill/>
            <a:prstDash val="solid"/>
          </a:ln>
        </p:spPr>
        <p:txBody>
          <a:bodyPr wrap="square" lIns="0" tIns="0" rIns="0" bIns="0" anchor="ctr">
            <a:normAutofit/>
          </a:bodyPr>
          <a:lstStyle/>
          <a:p>
            <a:pPr algn="l">
              <a:defRPr sz="878" b="0">
                <a:solidFill>
                  <a:srgbClr val="111827"/>
                </a:solidFill>
                <a:latin typeface="Noto Sans CJK JP"/>
                <a:ea typeface="Noto Sans CJK JP"/>
                <a:cs typeface="Noto Sans CJK JP"/>
              </a:defRPr>
            </a:pPr>
            <a:r>
              <a:rPr lang="ja-JP" altLang="en-US" sz="878" b="0" dirty="0">
                <a:solidFill>
                  <a:srgbClr val="111827"/>
                </a:solidFill>
                <a:latin typeface="Noto Sans CJK JP"/>
                <a:ea typeface="Noto Sans CJK JP"/>
                <a:cs typeface="Noto Sans CJK JP"/>
              </a:rPr>
              <a:t>退職金分布は上裾増加・下裾微増</a:t>
            </a:r>
            <a:endParaRPr sz="878" b="0" dirty="0">
              <a:solidFill>
                <a:srgbClr val="111827"/>
              </a:solidFill>
              <a:latin typeface="Noto Sans CJK JP"/>
              <a:ea typeface="Noto Sans CJK JP"/>
              <a:cs typeface="Noto Sans CJK JP"/>
            </a:endParaRPr>
          </a:p>
        </p:txBody>
      </p:sp>
      <p:sp>
        <p:nvSpPr>
          <p:cNvPr id="6" name="s8-contribution">
            <a:extLst>
              <a:ext uri="{FF2B5EF4-FFF2-40B4-BE49-F238E27FC236}">
                <a16:creationId xmlns:a16="http://schemas.microsoft.com/office/drawing/2014/main" id="{75607E71-7866-0AB3-1315-7C8571C72BE4}"/>
              </a:ext>
            </a:extLst>
          </p:cNvPr>
          <p:cNvSpPr>
            <a:spLocks noGrp="1"/>
          </p:cNvSpPr>
          <p:nvPr/>
        </p:nvSpPr>
        <p:spPr>
          <a:xfrm>
            <a:off x="432478" y="798046"/>
            <a:ext cx="2183043" cy="232708"/>
          </a:xfrm>
          <a:prstGeom prst="rect">
            <a:avLst/>
          </a:prstGeom>
          <a:ln/>
        </p:spPr>
        <p:style>
          <a:lnRef idx="2">
            <a:schemeClr val="accent1"/>
          </a:lnRef>
          <a:fillRef idx="1">
            <a:schemeClr val="lt1"/>
          </a:fillRef>
          <a:effectRef idx="0">
            <a:schemeClr val="accent1"/>
          </a:effectRef>
          <a:fontRef idx="minor">
            <a:schemeClr val="dk1"/>
          </a:fontRef>
        </p:style>
        <p:txBody>
          <a:bodyPr wrap="square" lIns="0" tIns="0" rIns="0" bIns="0" anchor="ctr">
            <a:normAutofit/>
          </a:bodyPr>
          <a:lstStyle/>
          <a:p>
            <a:pPr algn="ctr">
              <a:defRPr sz="915" b="0">
                <a:solidFill>
                  <a:srgbClr val="64748B"/>
                </a:solidFill>
                <a:latin typeface="Noto Sans CJK JP"/>
                <a:ea typeface="Noto Sans CJK JP"/>
                <a:cs typeface="Noto Sans CJK JP"/>
              </a:defRPr>
            </a:pPr>
            <a:r>
              <a:rPr lang="ja-JP" altLang="en-US" sz="915" b="1" dirty="0">
                <a:solidFill>
                  <a:srgbClr val="2A7EB8"/>
                </a:solidFill>
                <a:latin typeface="Noto Sans CJK JP"/>
                <a:ea typeface="Noto Sans CJK JP"/>
                <a:cs typeface="Noto Sans CJK JP"/>
              </a:rPr>
              <a:t>理論研究中：シミュレーションのみ実行</a:t>
            </a:r>
            <a:endParaRPr sz="915" b="1" dirty="0">
              <a:solidFill>
                <a:srgbClr val="2A7EB8"/>
              </a:solidFill>
              <a:latin typeface="Noto Sans CJK JP"/>
              <a:ea typeface="Noto Sans CJK JP"/>
              <a:cs typeface="Noto Sans CJK JP"/>
            </a:endParaRPr>
          </a:p>
        </p:txBody>
      </p:sp>
      <p:sp>
        <p:nvSpPr>
          <p:cNvPr id="7" name="s14-d-code">
            <a:extLst>
              <a:ext uri="{FF2B5EF4-FFF2-40B4-BE49-F238E27FC236}">
                <a16:creationId xmlns:a16="http://schemas.microsoft.com/office/drawing/2014/main" id="{0387537D-E912-439A-2741-5C330E4184EC}"/>
              </a:ext>
            </a:extLst>
          </p:cNvPr>
          <p:cNvSpPr>
            <a:spLocks noGrp="1"/>
          </p:cNvSpPr>
          <p:nvPr/>
        </p:nvSpPr>
        <p:spPr>
          <a:xfrm>
            <a:off x="395920" y="2820427"/>
            <a:ext cx="1070929" cy="608530"/>
          </a:xfrm>
          <a:prstGeom prst="rect">
            <a:avLst/>
          </a:prstGeom>
          <a:noFill/>
          <a:ln w="0">
            <a:noFill/>
            <a:prstDash val="solid"/>
          </a:ln>
        </p:spPr>
        <p:txBody>
          <a:bodyPr wrap="square" lIns="0" tIns="0" rIns="0" bIns="0" anchor="ctr">
            <a:normAutofit lnSpcReduction="10000"/>
          </a:bodyPr>
          <a:lstStyle/>
          <a:p>
            <a:pPr algn="l">
              <a:defRPr sz="1350" b="1">
                <a:solidFill>
                  <a:srgbClr val="D94138"/>
                </a:solidFill>
                <a:latin typeface="Arial"/>
                <a:ea typeface="Arial"/>
                <a:cs typeface="Arial"/>
              </a:defRPr>
            </a:pPr>
            <a:r>
              <a:rPr sz="1350" b="1" dirty="0" err="1">
                <a:solidFill>
                  <a:srgbClr val="D94138"/>
                </a:solidFill>
                <a:latin typeface="Arial"/>
                <a:ea typeface="Arial"/>
                <a:cs typeface="Arial"/>
              </a:rPr>
              <a:t>dTCMV</a:t>
            </a:r>
            <a:r>
              <a:rPr lang="ja-JP" altLang="en-US" sz="1350" b="1" dirty="0">
                <a:solidFill>
                  <a:srgbClr val="D94138"/>
                </a:solidFill>
                <a:latin typeface="Arial"/>
                <a:ea typeface="Arial"/>
                <a:cs typeface="Arial"/>
              </a:rPr>
              <a:t>に</a:t>
            </a:r>
            <a:endParaRPr lang="en-US" altLang="ja-JP" sz="1350" b="1" dirty="0">
              <a:solidFill>
                <a:srgbClr val="D94138"/>
              </a:solidFill>
              <a:latin typeface="Arial"/>
              <a:ea typeface="Arial"/>
              <a:cs typeface="Arial"/>
            </a:endParaRPr>
          </a:p>
          <a:p>
            <a:pPr algn="l">
              <a:defRPr sz="1350" b="1">
                <a:solidFill>
                  <a:srgbClr val="D94138"/>
                </a:solidFill>
                <a:latin typeface="Arial"/>
                <a:ea typeface="Arial"/>
                <a:cs typeface="Arial"/>
              </a:defRPr>
            </a:pPr>
            <a:r>
              <a:rPr lang="ja-JP" altLang="en-US" sz="1350" b="1" dirty="0">
                <a:solidFill>
                  <a:srgbClr val="D94138"/>
                </a:solidFill>
                <a:latin typeface="Arial"/>
                <a:ea typeface="Arial"/>
                <a:cs typeface="Arial"/>
              </a:rPr>
              <a:t>歪度を追加</a:t>
            </a:r>
            <a:endParaRPr lang="en-US" altLang="ja-JP" sz="1350" b="1" dirty="0">
              <a:solidFill>
                <a:srgbClr val="D94138"/>
              </a:solidFill>
              <a:latin typeface="Arial"/>
              <a:ea typeface="Arial"/>
              <a:cs typeface="Arial"/>
            </a:endParaRPr>
          </a:p>
          <a:p>
            <a:pPr>
              <a:defRPr sz="1350" b="1">
                <a:solidFill>
                  <a:srgbClr val="D94138"/>
                </a:solidFill>
                <a:latin typeface="Arial"/>
                <a:ea typeface="Arial"/>
                <a:cs typeface="Arial"/>
              </a:defRPr>
            </a:pPr>
            <a:r>
              <a:rPr lang="ja-JP" altLang="en-US" sz="1350" b="1" dirty="0">
                <a:solidFill>
                  <a:srgbClr val="D94138"/>
                </a:solidFill>
                <a:latin typeface="Arial"/>
                <a:ea typeface="Arial"/>
                <a:cs typeface="Arial"/>
              </a:rPr>
              <a:t>（</a:t>
            </a:r>
            <a:r>
              <a:rPr lang="en-US" altLang="ja-JP" sz="1350" b="1" dirty="0" err="1">
                <a:solidFill>
                  <a:srgbClr val="D94138"/>
                </a:solidFill>
                <a:latin typeface="Arial"/>
                <a:ea typeface="Arial"/>
                <a:cs typeface="Arial"/>
              </a:rPr>
              <a:t>dTCMVS</a:t>
            </a:r>
            <a:r>
              <a:rPr lang="ja-JP" altLang="en-US" sz="1350" b="1" dirty="0">
                <a:solidFill>
                  <a:srgbClr val="D94138"/>
                </a:solidFill>
                <a:latin typeface="Arial"/>
                <a:ea typeface="Arial"/>
                <a:cs typeface="Arial"/>
              </a:rPr>
              <a:t>）</a:t>
            </a:r>
            <a:endParaRPr sz="1350" b="1" dirty="0">
              <a:solidFill>
                <a:srgbClr val="D94138"/>
              </a:solidFill>
              <a:latin typeface="Arial"/>
              <a:ea typeface="Arial"/>
              <a:cs typeface="Arial"/>
            </a:endParaRPr>
          </a:p>
        </p:txBody>
      </p:sp>
      <p:sp>
        <p:nvSpPr>
          <p:cNvPr id="9" name="forward-chevron">
            <a:extLst>
              <a:ext uri="{FF2B5EF4-FFF2-40B4-BE49-F238E27FC236}">
                <a16:creationId xmlns:a16="http://schemas.microsoft.com/office/drawing/2014/main" id="{047DB141-57D7-01F1-6C70-6EF2318FAB31}"/>
              </a:ext>
            </a:extLst>
          </p:cNvPr>
          <p:cNvSpPr>
            <a:spLocks noGrp="1"/>
          </p:cNvSpPr>
          <p:nvPr/>
        </p:nvSpPr>
        <p:spPr>
          <a:xfrm>
            <a:off x="1390193" y="2851713"/>
            <a:ext cx="153313" cy="498465"/>
          </a:xfrm>
          <a:prstGeom prst="rightArrow">
            <a:avLst/>
          </a:prstGeom>
          <a:solidFill>
            <a:srgbClr val="C9534B"/>
          </a:solidFill>
          <a:ln w="5477">
            <a:noFill/>
            <a:prstDash val="solid"/>
          </a:ln>
        </p:spPr>
      </p:sp>
      <p:sp>
        <p:nvSpPr>
          <p:cNvPr id="11" name="s15-ok-dot-0">
            <a:extLst>
              <a:ext uri="{FF2B5EF4-FFF2-40B4-BE49-F238E27FC236}">
                <a16:creationId xmlns:a16="http://schemas.microsoft.com/office/drawing/2014/main" id="{D1AA906A-A80D-C076-25F0-23A7BEF70FEF}"/>
              </a:ext>
            </a:extLst>
          </p:cNvPr>
          <p:cNvSpPr>
            <a:spLocks noGrp="1"/>
          </p:cNvSpPr>
          <p:nvPr/>
        </p:nvSpPr>
        <p:spPr>
          <a:xfrm>
            <a:off x="6955750" y="2559830"/>
            <a:ext cx="142875" cy="142875"/>
          </a:xfrm>
          <a:prstGeom prst="ellipse">
            <a:avLst/>
          </a:prstGeom>
          <a:solidFill>
            <a:srgbClr val="C9534B"/>
          </a:solidFill>
          <a:ln w="0">
            <a:noFill/>
            <a:prstDash val="solid"/>
          </a:ln>
        </p:spPr>
      </p:sp>
      <p:sp>
        <p:nvSpPr>
          <p:cNvPr id="18" name="s15-ok-check-0">
            <a:extLst>
              <a:ext uri="{FF2B5EF4-FFF2-40B4-BE49-F238E27FC236}">
                <a16:creationId xmlns:a16="http://schemas.microsoft.com/office/drawing/2014/main" id="{C68B4528-F37C-9B4D-47A4-D1D2AB3579A1}"/>
              </a:ext>
            </a:extLst>
          </p:cNvPr>
          <p:cNvSpPr>
            <a:spLocks noGrp="1"/>
          </p:cNvSpPr>
          <p:nvPr/>
        </p:nvSpPr>
        <p:spPr>
          <a:xfrm>
            <a:off x="6955750" y="2540780"/>
            <a:ext cx="142875" cy="161925"/>
          </a:xfrm>
          <a:prstGeom prst="rect">
            <a:avLst/>
          </a:prstGeom>
          <a:noFill/>
          <a:ln w="0">
            <a:noFill/>
            <a:prstDash val="solid"/>
          </a:ln>
        </p:spPr>
        <p:txBody>
          <a:bodyPr wrap="square" lIns="0" tIns="0" rIns="0" bIns="0" anchor="ctr">
            <a:normAutofit/>
          </a:bodyPr>
          <a:lstStyle/>
          <a:p>
            <a:pPr algn="ctr">
              <a:defRPr sz="788" b="1">
                <a:solidFill>
                  <a:srgbClr val="FFFFFF"/>
                </a:solidFill>
                <a:latin typeface="Noto Sans CJK JP"/>
                <a:ea typeface="Noto Sans CJK JP"/>
                <a:cs typeface="Noto Sans CJK JP"/>
              </a:defRPr>
            </a:pPr>
            <a:r>
              <a:rPr sz="788" b="1">
                <a:solidFill>
                  <a:srgbClr val="FFFFFF"/>
                </a:solidFill>
                <a:latin typeface="Noto Sans CJK JP"/>
                <a:ea typeface="Noto Sans CJK JP"/>
                <a:cs typeface="Noto Sans CJK JP"/>
              </a:rPr>
              <a:t>✓</a:t>
            </a:r>
          </a:p>
        </p:txBody>
      </p:sp>
      <p:sp>
        <p:nvSpPr>
          <p:cNvPr id="32" name="s15-ok-dot-1">
            <a:extLst>
              <a:ext uri="{FF2B5EF4-FFF2-40B4-BE49-F238E27FC236}">
                <a16:creationId xmlns:a16="http://schemas.microsoft.com/office/drawing/2014/main" id="{CEA88F10-5736-43A4-1CD9-9A42E506FC4B}"/>
              </a:ext>
            </a:extLst>
          </p:cNvPr>
          <p:cNvSpPr>
            <a:spLocks noGrp="1"/>
          </p:cNvSpPr>
          <p:nvPr/>
        </p:nvSpPr>
        <p:spPr>
          <a:xfrm>
            <a:off x="6955750" y="4308872"/>
            <a:ext cx="142875" cy="142875"/>
          </a:xfrm>
          <a:prstGeom prst="ellipse">
            <a:avLst/>
          </a:prstGeom>
          <a:solidFill>
            <a:srgbClr val="1C75B3"/>
          </a:solidFill>
          <a:ln w="0">
            <a:noFill/>
            <a:prstDash val="solid"/>
          </a:ln>
        </p:spPr>
      </p:sp>
      <p:sp>
        <p:nvSpPr>
          <p:cNvPr id="34" name="s15-ok-check-1">
            <a:extLst>
              <a:ext uri="{FF2B5EF4-FFF2-40B4-BE49-F238E27FC236}">
                <a16:creationId xmlns:a16="http://schemas.microsoft.com/office/drawing/2014/main" id="{76CEF72A-9EEE-2366-C9FB-CFFB389A8BE7}"/>
              </a:ext>
            </a:extLst>
          </p:cNvPr>
          <p:cNvSpPr>
            <a:spLocks noGrp="1"/>
          </p:cNvSpPr>
          <p:nvPr/>
        </p:nvSpPr>
        <p:spPr>
          <a:xfrm>
            <a:off x="6955750" y="4289822"/>
            <a:ext cx="142875" cy="161925"/>
          </a:xfrm>
          <a:prstGeom prst="rect">
            <a:avLst/>
          </a:prstGeom>
          <a:noFill/>
          <a:ln w="0">
            <a:noFill/>
            <a:prstDash val="solid"/>
          </a:ln>
        </p:spPr>
        <p:txBody>
          <a:bodyPr wrap="square" lIns="0" tIns="0" rIns="0" bIns="0" anchor="ctr">
            <a:normAutofit/>
          </a:bodyPr>
          <a:lstStyle/>
          <a:p>
            <a:pPr algn="ctr">
              <a:defRPr sz="788" b="1">
                <a:solidFill>
                  <a:srgbClr val="FFFFFF"/>
                </a:solidFill>
                <a:latin typeface="Noto Sans CJK JP"/>
                <a:ea typeface="Noto Sans CJK JP"/>
                <a:cs typeface="Noto Sans CJK JP"/>
              </a:defRPr>
            </a:pPr>
            <a:r>
              <a:rPr sz="788" b="1">
                <a:solidFill>
                  <a:srgbClr val="FFFFFF"/>
                </a:solidFill>
                <a:latin typeface="Noto Sans CJK JP"/>
                <a:ea typeface="Noto Sans CJK JP"/>
                <a:cs typeface="Noto Sans CJK JP"/>
              </a:rPr>
              <a:t>✓</a:t>
            </a:r>
          </a:p>
        </p:txBody>
      </p:sp>
      <p:sp>
        <p:nvSpPr>
          <p:cNvPr id="36" name="s15-ok-dot-1">
            <a:extLst>
              <a:ext uri="{FF2B5EF4-FFF2-40B4-BE49-F238E27FC236}">
                <a16:creationId xmlns:a16="http://schemas.microsoft.com/office/drawing/2014/main" id="{E2ED3A25-7E8E-7842-21BF-791A6DE124DA}"/>
              </a:ext>
            </a:extLst>
          </p:cNvPr>
          <p:cNvSpPr>
            <a:spLocks noGrp="1"/>
          </p:cNvSpPr>
          <p:nvPr/>
        </p:nvSpPr>
        <p:spPr>
          <a:xfrm>
            <a:off x="6953250" y="3744516"/>
            <a:ext cx="142875" cy="142875"/>
          </a:xfrm>
          <a:prstGeom prst="ellipse">
            <a:avLst/>
          </a:prstGeom>
          <a:solidFill>
            <a:srgbClr val="1C75B3"/>
          </a:solidFill>
          <a:ln w="0">
            <a:noFill/>
            <a:prstDash val="solid"/>
          </a:ln>
        </p:spPr>
      </p:sp>
      <p:sp>
        <p:nvSpPr>
          <p:cNvPr id="41" name="s15-ok-check-1">
            <a:extLst>
              <a:ext uri="{FF2B5EF4-FFF2-40B4-BE49-F238E27FC236}">
                <a16:creationId xmlns:a16="http://schemas.microsoft.com/office/drawing/2014/main" id="{27D7ABC8-A94E-7DB4-5D17-D07B44221FFE}"/>
              </a:ext>
            </a:extLst>
          </p:cNvPr>
          <p:cNvSpPr>
            <a:spLocks noGrp="1"/>
          </p:cNvSpPr>
          <p:nvPr/>
        </p:nvSpPr>
        <p:spPr>
          <a:xfrm>
            <a:off x="6953250" y="3725466"/>
            <a:ext cx="142875" cy="161925"/>
          </a:xfrm>
          <a:prstGeom prst="rect">
            <a:avLst/>
          </a:prstGeom>
          <a:noFill/>
          <a:ln w="0">
            <a:noFill/>
            <a:prstDash val="solid"/>
          </a:ln>
        </p:spPr>
        <p:txBody>
          <a:bodyPr wrap="square" lIns="0" tIns="0" rIns="0" bIns="0" anchor="ctr">
            <a:normAutofit/>
          </a:bodyPr>
          <a:lstStyle/>
          <a:p>
            <a:pPr algn="ctr">
              <a:defRPr sz="788" b="1">
                <a:solidFill>
                  <a:srgbClr val="FFFFFF"/>
                </a:solidFill>
                <a:latin typeface="Noto Sans CJK JP"/>
                <a:ea typeface="Noto Sans CJK JP"/>
                <a:cs typeface="Noto Sans CJK JP"/>
              </a:defRPr>
            </a:pPr>
            <a:r>
              <a:rPr sz="788" b="1">
                <a:solidFill>
                  <a:srgbClr val="FFFFFF"/>
                </a:solidFill>
                <a:latin typeface="Noto Sans CJK JP"/>
                <a:ea typeface="Noto Sans CJK JP"/>
                <a:cs typeface="Noto Sans CJK JP"/>
              </a:rPr>
              <a:t>✓</a:t>
            </a:r>
          </a:p>
        </p:txBody>
      </p:sp>
    </p:spTree>
    <p:extLst>
      <p:ext uri="{BB962C8B-B14F-4D97-AF65-F5344CB8AC3E}">
        <p14:creationId xmlns:p14="http://schemas.microsoft.com/office/powerpoint/2010/main" val="8753977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DC98D-6CE2-673E-301F-A2A48A090686}"/>
            </a:ext>
          </a:extLst>
        </p:cNvPr>
        <p:cNvGrpSpPr/>
        <p:nvPr/>
      </p:nvGrpSpPr>
      <p:grpSpPr>
        <a:xfrm>
          <a:off x="0" y="0"/>
          <a:ext cx="0" cy="0"/>
          <a:chOff x="0" y="0"/>
          <a:chExt cx="0" cy="0"/>
        </a:xfrm>
      </p:grpSpPr>
      <p:pic>
        <p:nvPicPr>
          <p:cNvPr id="5" name="図 4" descr="GitHub体裁に合わせた終端分布">
            <a:extLst>
              <a:ext uri="{FF2B5EF4-FFF2-40B4-BE49-F238E27FC236}">
                <a16:creationId xmlns:a16="http://schemas.microsoft.com/office/drawing/2014/main" id="{35AA39F6-5D1A-003B-7877-DDA3AD009A4C}"/>
              </a:ext>
            </a:extLst>
          </p:cNvPr>
          <p:cNvPicPr>
            <a:picLocks noChangeAspect="1"/>
          </p:cNvPicPr>
          <p:nvPr/>
        </p:nvPicPr>
        <p:blipFill>
          <a:blip r:embed="rId3"/>
          <a:stretch>
            <a:fillRect/>
          </a:stretch>
        </p:blipFill>
        <p:spPr>
          <a:xfrm>
            <a:off x="276459" y="1980003"/>
            <a:ext cx="4950232" cy="2970139"/>
          </a:xfrm>
          <a:prstGeom prst="rect">
            <a:avLst/>
          </a:prstGeom>
        </p:spPr>
      </p:pic>
      <p:sp>
        <p:nvSpPr>
          <p:cNvPr id="2" name="Title 1">
            <a:extLst>
              <a:ext uri="{FF2B5EF4-FFF2-40B4-BE49-F238E27FC236}">
                <a16:creationId xmlns:a16="http://schemas.microsoft.com/office/drawing/2014/main" id="{51020B14-84F5-CAE5-221D-4B8F4572016D}"/>
              </a:ext>
            </a:extLst>
          </p:cNvPr>
          <p:cNvSpPr>
            <a:spLocks noGrp="1"/>
          </p:cNvSpPr>
          <p:nvPr>
            <p:ph type="title"/>
          </p:nvPr>
        </p:nvSpPr>
        <p:spPr>
          <a:xfrm>
            <a:off x="457200" y="990600"/>
            <a:ext cx="8229600" cy="609600"/>
          </a:xfrm>
        </p:spPr>
        <p:txBody>
          <a:bodyPr wrap="none" lIns="0" tIns="0" rIns="0" bIns="0" anchor="ctr">
            <a:normAutofit/>
          </a:bodyPr>
          <a:lstStyle/>
          <a:p>
            <a:pPr algn="l">
              <a:defRPr sz="1935" b="1">
                <a:solidFill>
                  <a:srgbClr val="111827"/>
                </a:solidFill>
                <a:latin typeface="Noto Sans CJK JP"/>
                <a:ea typeface="Noto Sans CJK JP"/>
                <a:cs typeface="Noto Sans CJK JP"/>
              </a:defRPr>
            </a:pPr>
            <a:r>
              <a:rPr lang="ja-JP" altLang="en-US" sz="1935" dirty="0">
                <a:solidFill>
                  <a:srgbClr val="111827"/>
                </a:solidFill>
                <a:latin typeface="Noto Sans CJK JP"/>
                <a:ea typeface="Noto Sans CJK JP"/>
                <a:cs typeface="Noto Sans CJK JP"/>
              </a:rPr>
              <a:t>（参考）</a:t>
            </a:r>
            <a:r>
              <a:rPr lang="en-US" altLang="ja-JP" sz="1935" dirty="0">
                <a:solidFill>
                  <a:srgbClr val="111827"/>
                </a:solidFill>
                <a:latin typeface="Noto Sans CJK JP"/>
                <a:ea typeface="Noto Sans CJK JP"/>
                <a:cs typeface="Noto Sans CJK JP"/>
              </a:rPr>
              <a:t>MVS</a:t>
            </a:r>
            <a:r>
              <a:rPr lang="ja-JP" altLang="en-US" sz="1935" dirty="0">
                <a:solidFill>
                  <a:srgbClr val="111827"/>
                </a:solidFill>
                <a:latin typeface="Noto Sans CJK JP"/>
                <a:ea typeface="Noto Sans CJK JP"/>
                <a:cs typeface="Noto Sans CJK JP"/>
              </a:rPr>
              <a:t>最適化の</a:t>
            </a:r>
            <a:r>
              <a:rPr lang="ja-JP" altLang="en-US" sz="2000" dirty="0">
                <a:solidFill>
                  <a:srgbClr val="111827"/>
                </a:solidFill>
                <a:latin typeface="Noto Sans CJK JP"/>
                <a:ea typeface="Noto Sans CJK JP"/>
                <a:cs typeface="Noto Sans CJK JP"/>
              </a:rPr>
              <a:t>定年時点での残高分布</a:t>
            </a:r>
            <a:endParaRPr sz="1935" b="1" dirty="0">
              <a:solidFill>
                <a:srgbClr val="111827"/>
              </a:solidFill>
              <a:latin typeface="Noto Sans CJK JP"/>
              <a:ea typeface="Noto Sans CJK JP"/>
              <a:cs typeface="Noto Sans CJK JP"/>
            </a:endParaRPr>
          </a:p>
        </p:txBody>
      </p:sp>
      <p:sp>
        <p:nvSpPr>
          <p:cNvPr id="3" name="title-divider">
            <a:extLst>
              <a:ext uri="{FF2B5EF4-FFF2-40B4-BE49-F238E27FC236}">
                <a16:creationId xmlns:a16="http://schemas.microsoft.com/office/drawing/2014/main" id="{9E237DF5-51E9-EC01-74CF-8E5546151DA9}"/>
              </a:ext>
            </a:extLst>
          </p:cNvPr>
          <p:cNvSpPr>
            <a:spLocks noGrp="1"/>
          </p:cNvSpPr>
          <p:nvPr/>
        </p:nvSpPr>
        <p:spPr>
          <a:xfrm>
            <a:off x="457200" y="1676400"/>
            <a:ext cx="8229600" cy="9525"/>
          </a:xfrm>
          <a:prstGeom prst="rect">
            <a:avLst/>
          </a:prstGeom>
          <a:solidFill>
            <a:srgbClr val="E5EAF0"/>
          </a:solidFill>
          <a:ln w="0">
            <a:noFill/>
            <a:prstDash val="solid"/>
          </a:ln>
        </p:spPr>
      </p:sp>
      <p:sp>
        <p:nvSpPr>
          <p:cNvPr id="4" name="title-accent">
            <a:extLst>
              <a:ext uri="{FF2B5EF4-FFF2-40B4-BE49-F238E27FC236}">
                <a16:creationId xmlns:a16="http://schemas.microsoft.com/office/drawing/2014/main" id="{5C7C1F1D-D809-24D1-FA21-8BC2EBD91DD6}"/>
              </a:ext>
            </a:extLst>
          </p:cNvPr>
          <p:cNvSpPr>
            <a:spLocks noGrp="1"/>
          </p:cNvSpPr>
          <p:nvPr/>
        </p:nvSpPr>
        <p:spPr>
          <a:xfrm>
            <a:off x="457200" y="1666875"/>
            <a:ext cx="552450" cy="38100"/>
          </a:xfrm>
          <a:prstGeom prst="rect">
            <a:avLst/>
          </a:prstGeom>
          <a:solidFill>
            <a:srgbClr val="4A90E2"/>
          </a:solidFill>
          <a:ln w="0">
            <a:noFill/>
            <a:prstDash val="solid"/>
          </a:ln>
        </p:spPr>
      </p:sp>
      <p:sp>
        <p:nvSpPr>
          <p:cNvPr id="14" name="chapter-tab-1">
            <a:extLst>
              <a:ext uri="{FF2B5EF4-FFF2-40B4-BE49-F238E27FC236}">
                <a16:creationId xmlns:a16="http://schemas.microsoft.com/office/drawing/2014/main" id="{8D19DB40-4B82-8111-FD48-E55DAE15BC84}"/>
              </a:ext>
            </a:extLst>
          </p:cNvPr>
          <p:cNvSpPr>
            <a:spLocks noGrp="1"/>
          </p:cNvSpPr>
          <p:nvPr/>
        </p:nvSpPr>
        <p:spPr>
          <a:xfrm>
            <a:off x="457200" y="4857750"/>
            <a:ext cx="2057400" cy="238125"/>
          </a:xfrm>
          <a:prstGeom prst="parallelogram">
            <a:avLst/>
          </a:prstGeom>
          <a:solidFill>
            <a:srgbClr val="FFFFFF"/>
          </a:solidFill>
          <a:ln w="10001">
            <a:solidFill>
              <a:srgbClr val="4A90E2"/>
            </a:solidFill>
            <a:prstDash val="solid"/>
          </a:ln>
        </p:spPr>
        <p:txBody>
          <a:bodyPr wrap="none" lIns="76200" tIns="0" rIns="76200" bIns="0" anchor="ctr">
            <a:normAutofit/>
          </a:bodyPr>
          <a:lstStyle/>
          <a:p>
            <a:pPr algn="ctr">
              <a:buNone/>
              <a:defRPr sz="998" b="1">
                <a:solidFill>
                  <a:srgbClr val="4A90E2"/>
                </a:solidFill>
                <a:latin typeface="Noto Sans CJK JP"/>
                <a:ea typeface="Noto Sans CJK JP"/>
                <a:cs typeface="Noto Sans CJK JP"/>
              </a:defRPr>
            </a:pPr>
            <a:r>
              <a:rPr sz="998" b="1">
                <a:solidFill>
                  <a:srgbClr val="4A90E2"/>
                </a:solidFill>
                <a:latin typeface="Noto Sans CJK JP"/>
                <a:ea typeface="Noto Sans CJK JP"/>
                <a:cs typeface="Noto Sans CJK JP"/>
              </a:rPr>
              <a:t>1 前提</a:t>
            </a:r>
          </a:p>
        </p:txBody>
      </p:sp>
      <p:sp>
        <p:nvSpPr>
          <p:cNvPr id="15" name="chapter-tab-2">
            <a:extLst>
              <a:ext uri="{FF2B5EF4-FFF2-40B4-BE49-F238E27FC236}">
                <a16:creationId xmlns:a16="http://schemas.microsoft.com/office/drawing/2014/main" id="{8D74A81B-91FD-BBCE-805D-3F5B4725C757}"/>
              </a:ext>
            </a:extLst>
          </p:cNvPr>
          <p:cNvSpPr>
            <a:spLocks noGrp="1"/>
          </p:cNvSpPr>
          <p:nvPr/>
        </p:nvSpPr>
        <p:spPr>
          <a:xfrm>
            <a:off x="2428875" y="4857750"/>
            <a:ext cx="2057400" cy="238125"/>
          </a:xfrm>
          <a:prstGeom prst="parallelogram">
            <a:avLst/>
          </a:prstGeom>
          <a:solidFill>
            <a:srgbClr val="FFFFFF"/>
          </a:solidFill>
          <a:ln w="10001">
            <a:solidFill>
              <a:srgbClr val="2F73B7"/>
            </a:solidFill>
            <a:prstDash val="solid"/>
          </a:ln>
        </p:spPr>
        <p:txBody>
          <a:bodyPr wrap="none" lIns="76200" tIns="0" rIns="76200" bIns="0" anchor="ctr">
            <a:normAutofit/>
          </a:bodyPr>
          <a:lstStyle/>
          <a:p>
            <a:pPr algn="ctr">
              <a:buNone/>
              <a:defRPr sz="998" b="1">
                <a:solidFill>
                  <a:srgbClr val="2F73B7"/>
                </a:solidFill>
                <a:latin typeface="Noto Sans CJK JP"/>
                <a:ea typeface="Noto Sans CJK JP"/>
                <a:cs typeface="Noto Sans CJK JP"/>
              </a:defRPr>
            </a:pPr>
            <a:r>
              <a:rPr sz="998" b="1">
                <a:solidFill>
                  <a:srgbClr val="2F73B7"/>
                </a:solidFill>
                <a:latin typeface="Noto Sans CJK JP"/>
                <a:ea typeface="Noto Sans CJK JP"/>
                <a:cs typeface="Noto Sans CJK JP"/>
              </a:rPr>
              <a:t>2 数理理論</a:t>
            </a:r>
          </a:p>
        </p:txBody>
      </p:sp>
      <p:sp>
        <p:nvSpPr>
          <p:cNvPr id="16" name="chapter-tab-3">
            <a:extLst>
              <a:ext uri="{FF2B5EF4-FFF2-40B4-BE49-F238E27FC236}">
                <a16:creationId xmlns:a16="http://schemas.microsoft.com/office/drawing/2014/main" id="{7855D4F7-8E6B-9EFB-760C-2D5BC49F406B}"/>
              </a:ext>
            </a:extLst>
          </p:cNvPr>
          <p:cNvSpPr>
            <a:spLocks noGrp="1"/>
          </p:cNvSpPr>
          <p:nvPr/>
        </p:nvSpPr>
        <p:spPr>
          <a:xfrm>
            <a:off x="4400550" y="4857750"/>
            <a:ext cx="2057400" cy="238125"/>
          </a:xfrm>
          <a:prstGeom prst="parallelogram">
            <a:avLst/>
          </a:prstGeom>
          <a:solidFill>
            <a:srgbClr val="2A8F6A"/>
          </a:solidFill>
          <a:ln w="11430">
            <a:solidFill>
              <a:srgbClr val="2A8F6A"/>
            </a:solidFill>
            <a:prstDash val="solid"/>
          </a:ln>
        </p:spPr>
        <p:txBody>
          <a:bodyPr wrap="none" lIns="76200" tIns="0" rIns="76200" bIns="0" anchor="ctr">
            <a:normAutofit/>
          </a:bodyPr>
          <a:lstStyle/>
          <a:p>
            <a:pPr algn="ctr">
              <a:buNone/>
              <a:defRPr sz="998" b="1">
                <a:solidFill>
                  <a:srgbClr val="FFFFFF"/>
                </a:solidFill>
                <a:latin typeface="Noto Sans CJK JP"/>
                <a:ea typeface="Noto Sans CJK JP"/>
                <a:cs typeface="Noto Sans CJK JP"/>
              </a:defRPr>
            </a:pPr>
            <a:r>
              <a:rPr sz="998" b="1">
                <a:solidFill>
                  <a:srgbClr val="FFFFFF"/>
                </a:solidFill>
                <a:latin typeface="Noto Sans CJK JP"/>
                <a:ea typeface="Noto Sans CJK JP"/>
                <a:cs typeface="Noto Sans CJK JP"/>
              </a:rPr>
              <a:t>3 シミュレーション</a:t>
            </a:r>
          </a:p>
        </p:txBody>
      </p:sp>
      <p:sp>
        <p:nvSpPr>
          <p:cNvPr id="17" name="chapter-tab-4">
            <a:extLst>
              <a:ext uri="{FF2B5EF4-FFF2-40B4-BE49-F238E27FC236}">
                <a16:creationId xmlns:a16="http://schemas.microsoft.com/office/drawing/2014/main" id="{9BF53771-7884-C128-EEC7-6554ED2321E4}"/>
              </a:ext>
            </a:extLst>
          </p:cNvPr>
          <p:cNvSpPr>
            <a:spLocks noGrp="1"/>
          </p:cNvSpPr>
          <p:nvPr/>
        </p:nvSpPr>
        <p:spPr>
          <a:xfrm>
            <a:off x="6372225" y="4857750"/>
            <a:ext cx="2057400" cy="238125"/>
          </a:xfrm>
          <a:prstGeom prst="parallelogram">
            <a:avLst/>
          </a:prstGeom>
          <a:solidFill>
            <a:srgbClr val="FFFFFF"/>
          </a:solidFill>
          <a:ln w="10001">
            <a:solidFill>
              <a:srgbClr val="C9534B"/>
            </a:solidFill>
            <a:prstDash val="solid"/>
          </a:ln>
        </p:spPr>
        <p:txBody>
          <a:bodyPr wrap="none" lIns="76200" tIns="0" rIns="76200" bIns="0" anchor="ctr">
            <a:normAutofit/>
          </a:bodyPr>
          <a:lstStyle/>
          <a:p>
            <a:pPr algn="ctr">
              <a:buNone/>
              <a:defRPr sz="998" b="1">
                <a:solidFill>
                  <a:srgbClr val="C9534B"/>
                </a:solidFill>
                <a:latin typeface="Noto Sans CJK JP"/>
                <a:ea typeface="Noto Sans CJK JP"/>
                <a:cs typeface="Noto Sans CJK JP"/>
              </a:defRPr>
            </a:pPr>
            <a:r>
              <a:rPr sz="998" b="1">
                <a:solidFill>
                  <a:srgbClr val="C9534B"/>
                </a:solidFill>
                <a:latin typeface="Noto Sans CJK JP"/>
                <a:ea typeface="Noto Sans CJK JP"/>
                <a:cs typeface="Noto Sans CJK JP"/>
              </a:rPr>
              <a:t>4 結論</a:t>
            </a:r>
          </a:p>
        </p:txBody>
      </p:sp>
      <p:graphicFrame>
        <p:nvGraphicFramePr>
          <p:cNvPr id="9" name="表 8">
            <a:extLst>
              <a:ext uri="{FF2B5EF4-FFF2-40B4-BE49-F238E27FC236}">
                <a16:creationId xmlns:a16="http://schemas.microsoft.com/office/drawing/2014/main" id="{8D236E4C-3525-7B6F-7CFC-D72C6A6E4E55}"/>
              </a:ext>
            </a:extLst>
          </p:cNvPr>
          <p:cNvGraphicFramePr/>
          <p:nvPr>
            <p:extLst>
              <p:ext uri="{D42A27DB-BD31-4B8C-83A1-F6EECF244321}">
                <p14:modId xmlns:p14="http://schemas.microsoft.com/office/powerpoint/2010/main" val="1746689199"/>
              </p:ext>
            </p:extLst>
          </p:nvPr>
        </p:nvGraphicFramePr>
        <p:xfrm>
          <a:off x="5226691" y="2121681"/>
          <a:ext cx="3748141" cy="1546809"/>
        </p:xfrm>
        <a:graphic>
          <a:graphicData uri="http://schemas.openxmlformats.org/drawingml/2006/table">
            <a:tbl>
              <a:tblPr/>
              <a:tblGrid>
                <a:gridCol w="724141">
                  <a:extLst>
                    <a:ext uri="{9D8B030D-6E8A-4147-A177-3AD203B41FA5}">
                      <a16:colId xmlns:a16="http://schemas.microsoft.com/office/drawing/2014/main" val="20000"/>
                    </a:ext>
                  </a:extLst>
                </a:gridCol>
                <a:gridCol w="756000">
                  <a:extLst>
                    <a:ext uri="{9D8B030D-6E8A-4147-A177-3AD203B41FA5}">
                      <a16:colId xmlns:a16="http://schemas.microsoft.com/office/drawing/2014/main" val="20001"/>
                    </a:ext>
                  </a:extLst>
                </a:gridCol>
                <a:gridCol w="756000">
                  <a:extLst>
                    <a:ext uri="{9D8B030D-6E8A-4147-A177-3AD203B41FA5}">
                      <a16:colId xmlns:a16="http://schemas.microsoft.com/office/drawing/2014/main" val="20002"/>
                    </a:ext>
                  </a:extLst>
                </a:gridCol>
                <a:gridCol w="756000">
                  <a:extLst>
                    <a:ext uri="{9D8B030D-6E8A-4147-A177-3AD203B41FA5}">
                      <a16:colId xmlns:a16="http://schemas.microsoft.com/office/drawing/2014/main" val="20003"/>
                    </a:ext>
                  </a:extLst>
                </a:gridCol>
                <a:gridCol w="756000">
                  <a:extLst>
                    <a:ext uri="{9D8B030D-6E8A-4147-A177-3AD203B41FA5}">
                      <a16:colId xmlns:a16="http://schemas.microsoft.com/office/drawing/2014/main" val="4135616146"/>
                    </a:ext>
                  </a:extLst>
                </a:gridCol>
              </a:tblGrid>
              <a:tr h="319395">
                <a:tc>
                  <a:txBody>
                    <a:bodyPr/>
                    <a:lstStyle/>
                    <a:p>
                      <a:pPr algn="ctr">
                        <a:buNone/>
                      </a:pPr>
                      <a:r>
                        <a:rPr lang="en-US" altLang="ja-JP" sz="1163" b="1" dirty="0">
                          <a:solidFill>
                            <a:srgbClr val="2F73B7"/>
                          </a:solidFill>
                          <a:latin typeface="Noto Sans CJK JP"/>
                          <a:ea typeface="Noto Sans CJK JP"/>
                          <a:cs typeface="Noto Sans CJK JP"/>
                        </a:rPr>
                        <a:t>η</a:t>
                      </a:r>
                      <a:endParaRPr sz="1163" b="1" dirty="0">
                        <a:solidFill>
                          <a:srgbClr val="2F73B7"/>
                        </a:solidFill>
                        <a:latin typeface="Noto Sans CJK JP"/>
                        <a:ea typeface="Noto Sans CJK JP"/>
                        <a:cs typeface="Noto Sans CJK JP"/>
                      </a:endParaRPr>
                    </a:p>
                  </a:txBody>
                  <a:tcPr anchor="ctr">
                    <a:solidFill>
                      <a:srgbClr val="EAF3FB"/>
                    </a:solidFill>
                  </a:tcPr>
                </a:tc>
                <a:tc>
                  <a:txBody>
                    <a:bodyPr/>
                    <a:lstStyle/>
                    <a:p>
                      <a:pPr algn="ctr">
                        <a:buNone/>
                      </a:pPr>
                      <a:r>
                        <a:rPr lang="en-US" sz="1163" b="1" dirty="0">
                          <a:solidFill>
                            <a:srgbClr val="2F73B7"/>
                          </a:solidFill>
                          <a:latin typeface="Noto Sans CJK JP"/>
                          <a:ea typeface="Noto Sans CJK JP"/>
                          <a:cs typeface="Noto Sans CJK JP"/>
                        </a:rPr>
                        <a:t>Mean</a:t>
                      </a:r>
                      <a:endParaRPr sz="1163" b="1" dirty="0">
                        <a:solidFill>
                          <a:srgbClr val="2F73B7"/>
                        </a:solidFill>
                        <a:latin typeface="Noto Sans CJK JP"/>
                        <a:ea typeface="Noto Sans CJK JP"/>
                        <a:cs typeface="Noto Sans CJK JP"/>
                      </a:endParaRPr>
                    </a:p>
                  </a:txBody>
                  <a:tcPr anchor="ctr">
                    <a:solidFill>
                      <a:srgbClr val="EAF3FB"/>
                    </a:solidFill>
                  </a:tcPr>
                </a:tc>
                <a:tc>
                  <a:txBody>
                    <a:bodyPr/>
                    <a:lstStyle/>
                    <a:p>
                      <a:pPr algn="ctr">
                        <a:buNone/>
                      </a:pPr>
                      <a:r>
                        <a:rPr lang="en-US" sz="1163" b="1" dirty="0">
                          <a:solidFill>
                            <a:srgbClr val="2F73B7"/>
                          </a:solidFill>
                          <a:latin typeface="Noto Sans CJK JP"/>
                          <a:ea typeface="Noto Sans CJK JP"/>
                          <a:cs typeface="Noto Sans CJK JP"/>
                        </a:rPr>
                        <a:t>q05</a:t>
                      </a:r>
                      <a:endParaRPr sz="1163" b="1" dirty="0">
                        <a:solidFill>
                          <a:srgbClr val="2F73B7"/>
                        </a:solidFill>
                        <a:latin typeface="Noto Sans CJK JP"/>
                        <a:ea typeface="Noto Sans CJK JP"/>
                        <a:cs typeface="Noto Sans CJK JP"/>
                      </a:endParaRPr>
                    </a:p>
                  </a:txBody>
                  <a:tcPr anchor="ctr">
                    <a:solidFill>
                      <a:srgbClr val="EAF3FB"/>
                    </a:solidFill>
                  </a:tcPr>
                </a:tc>
                <a:tc>
                  <a:txBody>
                    <a:bodyPr/>
                    <a:lstStyle/>
                    <a:p>
                      <a:pPr algn="ctr">
                        <a:buNone/>
                      </a:pPr>
                      <a:r>
                        <a:rPr lang="en-US" sz="1163" b="1" dirty="0">
                          <a:solidFill>
                            <a:srgbClr val="2F73B7"/>
                          </a:solidFill>
                          <a:latin typeface="Noto Sans CJK JP"/>
                          <a:ea typeface="Noto Sans CJK JP"/>
                          <a:cs typeface="Noto Sans CJK JP"/>
                        </a:rPr>
                        <a:t>median</a:t>
                      </a:r>
                      <a:endParaRPr sz="1163" b="1" dirty="0">
                        <a:solidFill>
                          <a:srgbClr val="2F73B7"/>
                        </a:solidFill>
                        <a:latin typeface="Noto Sans CJK JP"/>
                        <a:ea typeface="Noto Sans CJK JP"/>
                        <a:cs typeface="Noto Sans CJK JP"/>
                      </a:endParaRPr>
                    </a:p>
                  </a:txBody>
                  <a:tcPr anchor="ctr">
                    <a:solidFill>
                      <a:srgbClr val="EAF3FB"/>
                    </a:solidFill>
                  </a:tcPr>
                </a:tc>
                <a:tc>
                  <a:txBody>
                    <a:bodyPr/>
                    <a:lstStyle/>
                    <a:p>
                      <a:pPr algn="ctr">
                        <a:buNone/>
                      </a:pPr>
                      <a:r>
                        <a:rPr lang="en-US" sz="1163" b="1" dirty="0">
                          <a:solidFill>
                            <a:srgbClr val="2F73B7"/>
                          </a:solidFill>
                          <a:latin typeface="Noto Sans CJK JP"/>
                          <a:ea typeface="Noto Sans CJK JP"/>
                          <a:cs typeface="Noto Sans CJK JP"/>
                        </a:rPr>
                        <a:t>q95</a:t>
                      </a:r>
                      <a:endParaRPr sz="1163" b="1" dirty="0">
                        <a:solidFill>
                          <a:srgbClr val="2F73B7"/>
                        </a:solidFill>
                        <a:latin typeface="Noto Sans CJK JP"/>
                        <a:ea typeface="Noto Sans CJK JP"/>
                        <a:cs typeface="Noto Sans CJK JP"/>
                      </a:endParaRPr>
                    </a:p>
                  </a:txBody>
                  <a:tcPr anchor="ctr">
                    <a:solidFill>
                      <a:srgbClr val="EAF3FB"/>
                    </a:solidFill>
                  </a:tcPr>
                </a:tc>
                <a:extLst>
                  <a:ext uri="{0D108BD9-81ED-4DB2-BD59-A6C34878D82A}">
                    <a16:rowId xmlns:a16="http://schemas.microsoft.com/office/drawing/2014/main" val="10000"/>
                  </a:ext>
                </a:extLst>
              </a:tr>
              <a:tr h="613707">
                <a:tc>
                  <a:txBody>
                    <a:bodyPr/>
                    <a:lstStyle/>
                    <a:p>
                      <a:pPr algn="ctr">
                        <a:buNone/>
                      </a:pPr>
                      <a:r>
                        <a:rPr lang="en-US" altLang="ja-JP" sz="1200" b="0" dirty="0">
                          <a:solidFill>
                            <a:srgbClr val="2A7EB8"/>
                          </a:solidFill>
                          <a:latin typeface="Century Gothic"/>
                          <a:ea typeface="Century Gothic"/>
                          <a:cs typeface="Century Gothic"/>
                        </a:rPr>
                        <a:t>0.00</a:t>
                      </a:r>
                    </a:p>
                    <a:p>
                      <a:pPr algn="ctr">
                        <a:buNone/>
                      </a:pPr>
                      <a:r>
                        <a:rPr lang="en-US" sz="1200" b="0" dirty="0">
                          <a:solidFill>
                            <a:srgbClr val="2A7EB8"/>
                          </a:solidFill>
                          <a:latin typeface="Century Gothic"/>
                          <a:ea typeface="Century Gothic"/>
                          <a:cs typeface="Century Gothic"/>
                        </a:rPr>
                        <a:t>(MV)</a:t>
                      </a:r>
                    </a:p>
                  </a:txBody>
                  <a:tcPr anchor="ctr">
                    <a:solidFill>
                      <a:schemeClr val="bg1"/>
                    </a:solidFill>
                  </a:tcPr>
                </a:tc>
                <a:tc>
                  <a:txBody>
                    <a:bodyPr/>
                    <a:lstStyle/>
                    <a:p>
                      <a:pPr algn="ctr">
                        <a:buNone/>
                      </a:pPr>
                      <a:r>
                        <a:rPr lang="en-US" altLang="ja-JP" sz="1200" b="0" dirty="0">
                          <a:solidFill>
                            <a:srgbClr val="1C75B3"/>
                          </a:solidFill>
                          <a:latin typeface="Century Gothic"/>
                          <a:ea typeface="Century Gothic"/>
                          <a:cs typeface="Century Gothic"/>
                        </a:rPr>
                        <a:t>77.65</a:t>
                      </a:r>
                      <a:endParaRPr sz="1200" b="0" dirty="0">
                        <a:solidFill>
                          <a:srgbClr val="1C75B3"/>
                        </a:solidFill>
                        <a:latin typeface="Century Gothic"/>
                        <a:ea typeface="Century Gothic"/>
                        <a:cs typeface="Century Gothic"/>
                      </a:endParaRPr>
                    </a:p>
                  </a:txBody>
                  <a:tcPr anchor="ctr">
                    <a:solidFill>
                      <a:schemeClr val="bg1"/>
                    </a:solidFill>
                  </a:tcPr>
                </a:tc>
                <a:tc>
                  <a:txBody>
                    <a:bodyPr/>
                    <a:lstStyle/>
                    <a:p>
                      <a:pPr algn="ctr">
                        <a:buNone/>
                      </a:pPr>
                      <a:r>
                        <a:rPr lang="en-US" altLang="ja-JP" sz="1200" b="1" dirty="0">
                          <a:solidFill>
                            <a:srgbClr val="1C75B3"/>
                          </a:solidFill>
                          <a:latin typeface="Century Gothic"/>
                          <a:ea typeface="Century Gothic"/>
                          <a:cs typeface="Century Gothic"/>
                        </a:rPr>
                        <a:t>47.16</a:t>
                      </a:r>
                      <a:endParaRPr sz="1200" b="1" dirty="0">
                        <a:solidFill>
                          <a:srgbClr val="1C75B3"/>
                        </a:solidFill>
                        <a:latin typeface="Century Gothic"/>
                        <a:ea typeface="Century Gothic"/>
                        <a:cs typeface="Century Gothic"/>
                      </a:endParaRPr>
                    </a:p>
                  </a:txBody>
                  <a:tcPr anchor="ctr">
                    <a:solidFill>
                      <a:schemeClr val="bg1"/>
                    </a:solidFill>
                  </a:tcPr>
                </a:tc>
                <a:tc>
                  <a:txBody>
                    <a:bodyPr/>
                    <a:lstStyle/>
                    <a:p>
                      <a:pPr algn="ctr">
                        <a:buNone/>
                      </a:pPr>
                      <a:r>
                        <a:rPr lang="en-US" sz="1200" b="0" dirty="0">
                          <a:solidFill>
                            <a:srgbClr val="1C75B3"/>
                          </a:solidFill>
                          <a:latin typeface="Century Gothic"/>
                          <a:ea typeface="Century Gothic"/>
                          <a:cs typeface="Century Gothic"/>
                        </a:rPr>
                        <a:t>74.7</a:t>
                      </a:r>
                      <a:r>
                        <a:rPr lang="en-US" altLang="ja-JP" sz="1200" b="0" dirty="0">
                          <a:solidFill>
                            <a:srgbClr val="1C75B3"/>
                          </a:solidFill>
                          <a:latin typeface="Century Gothic"/>
                          <a:ea typeface="Century Gothic"/>
                          <a:cs typeface="Century Gothic"/>
                        </a:rPr>
                        <a:t>2</a:t>
                      </a:r>
                      <a:endParaRPr sz="1200" b="0" dirty="0">
                        <a:solidFill>
                          <a:srgbClr val="1C75B3"/>
                        </a:solidFill>
                        <a:latin typeface="Century Gothic"/>
                        <a:ea typeface="Century Gothic"/>
                        <a:cs typeface="Century Gothic"/>
                      </a:endParaRPr>
                    </a:p>
                  </a:txBody>
                  <a:tcPr anchor="ctr">
                    <a:solidFill>
                      <a:schemeClr val="bg1"/>
                    </a:solidFill>
                  </a:tcPr>
                </a:tc>
                <a:tc>
                  <a:txBody>
                    <a:bodyPr/>
                    <a:lstStyle/>
                    <a:p>
                      <a:pPr algn="ctr">
                        <a:buNone/>
                      </a:pPr>
                      <a:r>
                        <a:rPr lang="en-US" sz="1200" b="1" dirty="0">
                          <a:solidFill>
                            <a:srgbClr val="1C75B3"/>
                          </a:solidFill>
                          <a:latin typeface="Century Gothic"/>
                          <a:ea typeface="Century Gothic"/>
                          <a:cs typeface="Century Gothic"/>
                        </a:rPr>
                        <a:t>1</a:t>
                      </a:r>
                      <a:r>
                        <a:rPr lang="en-US" altLang="ja-JP" sz="1200" b="1" dirty="0">
                          <a:solidFill>
                            <a:srgbClr val="1C75B3"/>
                          </a:solidFill>
                          <a:latin typeface="Century Gothic"/>
                          <a:ea typeface="Century Gothic"/>
                          <a:cs typeface="Century Gothic"/>
                        </a:rPr>
                        <a:t>18.15</a:t>
                      </a:r>
                      <a:endParaRPr sz="1200" b="1" dirty="0">
                        <a:solidFill>
                          <a:srgbClr val="1C75B3"/>
                        </a:solidFill>
                        <a:latin typeface="Century Gothic"/>
                        <a:ea typeface="Century Gothic"/>
                        <a:cs typeface="Century Gothic"/>
                      </a:endParaRPr>
                    </a:p>
                  </a:txBody>
                  <a:tcPr anchor="ctr">
                    <a:solidFill>
                      <a:schemeClr val="bg1"/>
                    </a:solidFill>
                  </a:tcPr>
                </a:tc>
                <a:extLst>
                  <a:ext uri="{0D108BD9-81ED-4DB2-BD59-A6C34878D82A}">
                    <a16:rowId xmlns:a16="http://schemas.microsoft.com/office/drawing/2014/main" val="10003"/>
                  </a:ext>
                </a:extLst>
              </a:tr>
              <a:tr h="613707">
                <a:tc>
                  <a:txBody>
                    <a:bodyPr/>
                    <a:lstStyle/>
                    <a:p>
                      <a:pPr algn="ctr">
                        <a:buNone/>
                      </a:pPr>
                      <a:r>
                        <a:rPr lang="en-US" sz="1200" b="0" dirty="0">
                          <a:solidFill>
                            <a:srgbClr val="C9534B"/>
                          </a:solidFill>
                          <a:latin typeface="Century Gothic"/>
                          <a:ea typeface="Century Gothic"/>
                          <a:cs typeface="Century Gothic"/>
                        </a:rPr>
                        <a:t>2.00</a:t>
                      </a:r>
                    </a:p>
                    <a:p>
                      <a:pPr algn="ctr">
                        <a:buNone/>
                      </a:pPr>
                      <a:r>
                        <a:rPr lang="en-US" sz="1200" b="0" dirty="0">
                          <a:solidFill>
                            <a:srgbClr val="C9534B"/>
                          </a:solidFill>
                          <a:latin typeface="Century Gothic"/>
                          <a:ea typeface="Century Gothic"/>
                          <a:cs typeface="Century Gothic"/>
                        </a:rPr>
                        <a:t>(MVS)</a:t>
                      </a:r>
                      <a:endParaRPr sz="1200" b="0" dirty="0">
                        <a:solidFill>
                          <a:srgbClr val="C9534B"/>
                        </a:solidFill>
                        <a:latin typeface="Century Gothic"/>
                        <a:ea typeface="Century Gothic"/>
                        <a:cs typeface="Century Gothic"/>
                      </a:endParaRPr>
                    </a:p>
                  </a:txBody>
                  <a:tcPr anchor="ctr">
                    <a:solidFill>
                      <a:schemeClr val="bg1"/>
                    </a:solidFill>
                  </a:tcPr>
                </a:tc>
                <a:tc>
                  <a:txBody>
                    <a:bodyPr/>
                    <a:lstStyle/>
                    <a:p>
                      <a:pPr algn="ctr">
                        <a:buNone/>
                      </a:pPr>
                      <a:r>
                        <a:rPr lang="en-US" altLang="ja-JP" sz="1200" b="0" dirty="0">
                          <a:solidFill>
                            <a:srgbClr val="C9534B"/>
                          </a:solidFill>
                          <a:latin typeface="Century Gothic"/>
                          <a:ea typeface="Century Gothic"/>
                          <a:cs typeface="Century Gothic"/>
                        </a:rPr>
                        <a:t>104.24</a:t>
                      </a:r>
                      <a:endParaRPr sz="1200" b="0" dirty="0">
                        <a:solidFill>
                          <a:srgbClr val="C9534B"/>
                        </a:solidFill>
                        <a:latin typeface="Century Gothic"/>
                        <a:ea typeface="Century Gothic"/>
                        <a:cs typeface="Century Gothic"/>
                      </a:endParaRPr>
                    </a:p>
                  </a:txBody>
                  <a:tcPr anchor="ctr">
                    <a:solidFill>
                      <a:schemeClr val="bg1"/>
                    </a:solidFill>
                  </a:tcPr>
                </a:tc>
                <a:tc>
                  <a:txBody>
                    <a:bodyPr/>
                    <a:lstStyle/>
                    <a:p>
                      <a:pPr algn="ctr">
                        <a:buNone/>
                      </a:pPr>
                      <a:r>
                        <a:rPr lang="en-US" altLang="ja-JP" sz="1200" b="1" dirty="0">
                          <a:solidFill>
                            <a:srgbClr val="C9534B"/>
                          </a:solidFill>
                          <a:latin typeface="Century Gothic"/>
                          <a:ea typeface="Century Gothic"/>
                          <a:cs typeface="Century Gothic"/>
                        </a:rPr>
                        <a:t>41.98</a:t>
                      </a:r>
                      <a:endParaRPr sz="1200" b="1" dirty="0">
                        <a:solidFill>
                          <a:srgbClr val="C9534B"/>
                        </a:solidFill>
                        <a:latin typeface="Century Gothic"/>
                        <a:ea typeface="Century Gothic"/>
                        <a:cs typeface="Century Gothic"/>
                      </a:endParaRPr>
                    </a:p>
                  </a:txBody>
                  <a:tcPr anchor="ctr">
                    <a:solidFill>
                      <a:schemeClr val="bg1"/>
                    </a:solidFill>
                  </a:tcPr>
                </a:tc>
                <a:tc>
                  <a:txBody>
                    <a:bodyPr/>
                    <a:lstStyle/>
                    <a:p>
                      <a:pPr algn="ctr">
                        <a:buNone/>
                      </a:pPr>
                      <a:r>
                        <a:rPr lang="en-US" sz="1200" b="0" dirty="0">
                          <a:solidFill>
                            <a:srgbClr val="C9534B"/>
                          </a:solidFill>
                          <a:latin typeface="Century Gothic"/>
                          <a:ea typeface="Century Gothic"/>
                          <a:cs typeface="Century Gothic"/>
                        </a:rPr>
                        <a:t>8</a:t>
                      </a:r>
                      <a:r>
                        <a:rPr lang="en-US" altLang="ja-JP" sz="1200" b="0" dirty="0">
                          <a:solidFill>
                            <a:srgbClr val="C9534B"/>
                          </a:solidFill>
                          <a:latin typeface="Century Gothic"/>
                          <a:ea typeface="Century Gothic"/>
                          <a:cs typeface="Century Gothic"/>
                        </a:rPr>
                        <a:t>9.21</a:t>
                      </a:r>
                      <a:endParaRPr sz="1200" b="0" dirty="0">
                        <a:solidFill>
                          <a:srgbClr val="C9534B"/>
                        </a:solidFill>
                        <a:latin typeface="Century Gothic"/>
                        <a:ea typeface="Century Gothic"/>
                        <a:cs typeface="Century Gothic"/>
                      </a:endParaRPr>
                    </a:p>
                  </a:txBody>
                  <a:tcPr anchor="ctr">
                    <a:solidFill>
                      <a:schemeClr val="bg1"/>
                    </a:solidFill>
                  </a:tcPr>
                </a:tc>
                <a:tc>
                  <a:txBody>
                    <a:bodyPr/>
                    <a:lstStyle/>
                    <a:p>
                      <a:pPr algn="ctr">
                        <a:buNone/>
                      </a:pPr>
                      <a:r>
                        <a:rPr lang="en-US" altLang="ja-JP" sz="1200" b="1" dirty="0">
                          <a:solidFill>
                            <a:srgbClr val="C9534B"/>
                          </a:solidFill>
                          <a:latin typeface="Century Gothic"/>
                          <a:ea typeface="Century Gothic"/>
                          <a:cs typeface="Century Gothic"/>
                        </a:rPr>
                        <a:t>2</a:t>
                      </a:r>
                      <a:r>
                        <a:rPr lang="en-US" sz="1200" b="1" dirty="0">
                          <a:solidFill>
                            <a:srgbClr val="C9534B"/>
                          </a:solidFill>
                          <a:latin typeface="Century Gothic"/>
                          <a:ea typeface="Century Gothic"/>
                          <a:cs typeface="Century Gothic"/>
                        </a:rPr>
                        <a:t>17.</a:t>
                      </a:r>
                      <a:r>
                        <a:rPr lang="en-US" altLang="ja-JP" sz="1200" b="1" dirty="0">
                          <a:solidFill>
                            <a:srgbClr val="C9534B"/>
                          </a:solidFill>
                          <a:latin typeface="Century Gothic"/>
                          <a:ea typeface="Century Gothic"/>
                          <a:cs typeface="Century Gothic"/>
                        </a:rPr>
                        <a:t>53</a:t>
                      </a:r>
                      <a:endParaRPr sz="1200" b="1" dirty="0">
                        <a:solidFill>
                          <a:srgbClr val="C9534B"/>
                        </a:solidFill>
                        <a:latin typeface="Century Gothic"/>
                        <a:ea typeface="Century Gothic"/>
                        <a:cs typeface="Century Gothic"/>
                      </a:endParaRPr>
                    </a:p>
                  </a:txBody>
                  <a:tcPr anchor="ctr">
                    <a:solidFill>
                      <a:schemeClr val="bg1"/>
                    </a:solidFill>
                  </a:tcPr>
                </a:tc>
                <a:extLst>
                  <a:ext uri="{0D108BD9-81ED-4DB2-BD59-A6C34878D82A}">
                    <a16:rowId xmlns:a16="http://schemas.microsoft.com/office/drawing/2014/main" val="10004"/>
                  </a:ext>
                </a:extLst>
              </a:tr>
            </a:tbl>
          </a:graphicData>
        </a:graphic>
      </p:graphicFrame>
      <p:sp>
        <p:nvSpPr>
          <p:cNvPr id="11" name="s14-bottom">
            <a:extLst>
              <a:ext uri="{FF2B5EF4-FFF2-40B4-BE49-F238E27FC236}">
                <a16:creationId xmlns:a16="http://schemas.microsoft.com/office/drawing/2014/main" id="{B06B71F2-B5E7-17D9-DE12-447106A9A0DA}"/>
              </a:ext>
            </a:extLst>
          </p:cNvPr>
          <p:cNvSpPr>
            <a:spLocks noGrp="1"/>
          </p:cNvSpPr>
          <p:nvPr/>
        </p:nvSpPr>
        <p:spPr>
          <a:xfrm>
            <a:off x="5652853" y="3943566"/>
            <a:ext cx="3214688" cy="436523"/>
          </a:xfrm>
          <a:prstGeom prst="rect">
            <a:avLst/>
          </a:prstGeom>
          <a:noFill/>
          <a:ln w="0">
            <a:noFill/>
            <a:prstDash val="solid"/>
          </a:ln>
        </p:spPr>
        <p:txBody>
          <a:bodyPr wrap="square" lIns="0" tIns="0" rIns="0" bIns="0" anchor="ctr">
            <a:normAutofit/>
          </a:bodyPr>
          <a:lstStyle/>
          <a:p>
            <a:pPr>
              <a:defRPr sz="1238" b="1">
                <a:solidFill>
                  <a:srgbClr val="215FB4"/>
                </a:solidFill>
                <a:latin typeface="Noto Sans CJK JP"/>
                <a:ea typeface="Noto Sans CJK JP"/>
                <a:cs typeface="Noto Sans CJK JP"/>
              </a:defRPr>
            </a:pPr>
            <a:r>
              <a:rPr lang="ja-JP" altLang="en-US" sz="1238" b="1" dirty="0">
                <a:solidFill>
                  <a:srgbClr val="C9534B"/>
                </a:solidFill>
                <a:latin typeface="Noto Sans CJK JP"/>
                <a:ea typeface="Noto Sans CJK JP"/>
                <a:cs typeface="Noto Sans CJK JP"/>
              </a:rPr>
              <a:t>歪度選好が、“ほとんどの確率優越”を生んだ</a:t>
            </a:r>
            <a:endParaRPr sz="1238" b="1" dirty="0">
              <a:solidFill>
                <a:srgbClr val="C9534B"/>
              </a:solidFill>
              <a:latin typeface="Noto Sans CJK JP"/>
              <a:ea typeface="Noto Sans CJK JP"/>
              <a:cs typeface="Noto Sans CJK JP"/>
            </a:endParaRPr>
          </a:p>
        </p:txBody>
      </p:sp>
      <p:sp>
        <p:nvSpPr>
          <p:cNvPr id="54" name="s14-bottom-icon">
            <a:extLst>
              <a:ext uri="{FF2B5EF4-FFF2-40B4-BE49-F238E27FC236}">
                <a16:creationId xmlns:a16="http://schemas.microsoft.com/office/drawing/2014/main" id="{CA1580BC-AE4C-7545-C17B-902417373BF2}"/>
              </a:ext>
            </a:extLst>
          </p:cNvPr>
          <p:cNvSpPr>
            <a:spLocks noGrp="1"/>
          </p:cNvSpPr>
          <p:nvPr/>
        </p:nvSpPr>
        <p:spPr>
          <a:xfrm>
            <a:off x="5309804" y="4060526"/>
            <a:ext cx="190500" cy="190500"/>
          </a:xfrm>
          <a:prstGeom prst="ellipse">
            <a:avLst/>
          </a:prstGeom>
          <a:solidFill>
            <a:srgbClr val="C9534B"/>
          </a:solidFill>
          <a:ln w="0">
            <a:noFill/>
            <a:prstDash val="solid"/>
          </a:ln>
        </p:spPr>
      </p:sp>
      <p:sp>
        <p:nvSpPr>
          <p:cNvPr id="60" name="s14-bottom-arrow">
            <a:extLst>
              <a:ext uri="{FF2B5EF4-FFF2-40B4-BE49-F238E27FC236}">
                <a16:creationId xmlns:a16="http://schemas.microsoft.com/office/drawing/2014/main" id="{AF462A68-CFFD-0AB4-6433-06A6F8FE4AFE}"/>
              </a:ext>
            </a:extLst>
          </p:cNvPr>
          <p:cNvSpPr>
            <a:spLocks noGrp="1"/>
          </p:cNvSpPr>
          <p:nvPr/>
        </p:nvSpPr>
        <p:spPr>
          <a:xfrm>
            <a:off x="5309804" y="4058496"/>
            <a:ext cx="190500" cy="190500"/>
          </a:xfrm>
          <a:prstGeom prst="rect">
            <a:avLst/>
          </a:prstGeom>
          <a:noFill/>
          <a:ln w="0">
            <a:noFill/>
            <a:prstDash val="solid"/>
          </a:ln>
        </p:spPr>
        <p:txBody>
          <a:bodyPr wrap="square" lIns="0" tIns="0" rIns="0" bIns="0" anchor="ctr">
            <a:normAutofit/>
          </a:bodyPr>
          <a:lstStyle/>
          <a:p>
            <a:pPr algn="ctr">
              <a:defRPr sz="1050" b="1">
                <a:solidFill>
                  <a:srgbClr val="FFFFFF"/>
                </a:solidFill>
                <a:latin typeface="Noto Sans CJK JP"/>
                <a:ea typeface="Noto Sans CJK JP"/>
                <a:cs typeface="Noto Sans CJK JP"/>
              </a:defRPr>
            </a:pPr>
            <a:r>
              <a:rPr sz="1050" b="1" dirty="0">
                <a:solidFill>
                  <a:srgbClr val="FFFFFF"/>
                </a:solidFill>
                <a:latin typeface="Noto Sans CJK JP"/>
                <a:ea typeface="Noto Sans CJK JP"/>
                <a:cs typeface="Noto Sans CJK JP"/>
              </a:rPr>
              <a:t>→</a:t>
            </a:r>
          </a:p>
        </p:txBody>
      </p:sp>
      <p:sp>
        <p:nvSpPr>
          <p:cNvPr id="8" name="s8-contribution">
            <a:extLst>
              <a:ext uri="{FF2B5EF4-FFF2-40B4-BE49-F238E27FC236}">
                <a16:creationId xmlns:a16="http://schemas.microsoft.com/office/drawing/2014/main" id="{61158334-996B-E49F-7D45-0F36FF94768D}"/>
              </a:ext>
            </a:extLst>
          </p:cNvPr>
          <p:cNvSpPr>
            <a:spLocks noGrp="1"/>
          </p:cNvSpPr>
          <p:nvPr/>
        </p:nvSpPr>
        <p:spPr>
          <a:xfrm>
            <a:off x="432478" y="798046"/>
            <a:ext cx="2183043" cy="232708"/>
          </a:xfrm>
          <a:prstGeom prst="rect">
            <a:avLst/>
          </a:prstGeom>
          <a:ln/>
        </p:spPr>
        <p:style>
          <a:lnRef idx="2">
            <a:schemeClr val="accent1"/>
          </a:lnRef>
          <a:fillRef idx="1">
            <a:schemeClr val="lt1"/>
          </a:fillRef>
          <a:effectRef idx="0">
            <a:schemeClr val="accent1"/>
          </a:effectRef>
          <a:fontRef idx="minor">
            <a:schemeClr val="dk1"/>
          </a:fontRef>
        </p:style>
        <p:txBody>
          <a:bodyPr wrap="square" lIns="0" tIns="0" rIns="0" bIns="0" anchor="ctr">
            <a:normAutofit/>
          </a:bodyPr>
          <a:lstStyle/>
          <a:p>
            <a:pPr algn="ctr">
              <a:defRPr sz="915" b="0">
                <a:solidFill>
                  <a:srgbClr val="64748B"/>
                </a:solidFill>
                <a:latin typeface="Noto Sans CJK JP"/>
                <a:ea typeface="Noto Sans CJK JP"/>
                <a:cs typeface="Noto Sans CJK JP"/>
              </a:defRPr>
            </a:pPr>
            <a:r>
              <a:rPr lang="ja-JP" altLang="en-US" sz="915" b="1" dirty="0">
                <a:solidFill>
                  <a:srgbClr val="2A7EB8"/>
                </a:solidFill>
                <a:latin typeface="Noto Sans CJK JP"/>
                <a:ea typeface="Noto Sans CJK JP"/>
                <a:cs typeface="Noto Sans CJK JP"/>
              </a:rPr>
              <a:t>理論研究中：シミュレーションのみ実行</a:t>
            </a:r>
            <a:endParaRPr sz="915" b="1" dirty="0">
              <a:solidFill>
                <a:srgbClr val="2A7EB8"/>
              </a:solidFill>
              <a:latin typeface="Noto Sans CJK JP"/>
              <a:ea typeface="Noto Sans CJK JP"/>
              <a:cs typeface="Noto Sans CJK JP"/>
            </a:endParaRPr>
          </a:p>
        </p:txBody>
      </p:sp>
    </p:spTree>
    <p:extLst>
      <p:ext uri="{BB962C8B-B14F-4D97-AF65-F5344CB8AC3E}">
        <p14:creationId xmlns:p14="http://schemas.microsoft.com/office/powerpoint/2010/main" val="35992702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B5FB2-DE08-01C4-4B0F-3D45E31A046E}"/>
              </a:ext>
            </a:extLst>
          </p:cNvPr>
          <p:cNvSpPr>
            <a:spLocks noGrp="1"/>
          </p:cNvSpPr>
          <p:nvPr>
            <p:ph type="title"/>
          </p:nvPr>
        </p:nvSpPr>
        <p:spPr>
          <a:xfrm>
            <a:off x="457200" y="990600"/>
            <a:ext cx="8229600" cy="609600"/>
          </a:xfrm>
        </p:spPr>
        <p:txBody>
          <a:bodyPr wrap="none" lIns="0" tIns="0" rIns="0" bIns="0" anchor="ctr">
            <a:normAutofit/>
          </a:bodyPr>
          <a:lstStyle/>
          <a:p>
            <a:pPr algn="l">
              <a:buNone/>
              <a:defRPr sz="2138" b="1">
                <a:solidFill>
                  <a:srgbClr val="111827"/>
                </a:solidFill>
                <a:latin typeface="Noto Sans CJK JP"/>
                <a:ea typeface="Noto Sans CJK JP"/>
                <a:cs typeface="Noto Sans CJK JP"/>
              </a:defRPr>
            </a:pPr>
            <a:r>
              <a:rPr sz="2138" b="1">
                <a:solidFill>
                  <a:srgbClr val="111827"/>
                </a:solidFill>
                <a:latin typeface="Noto Sans CJK JP"/>
                <a:ea typeface="Noto Sans CJK JP"/>
                <a:cs typeface="Noto Sans CJK JP"/>
              </a:rPr>
              <a:t>4つの解概念は、実務上の3層運用へ翻訳できる</a:t>
            </a:r>
          </a:p>
        </p:txBody>
      </p:sp>
      <p:sp>
        <p:nvSpPr>
          <p:cNvPr id="3" name="title-divider">
            <a:extLst>
              <a:ext uri="{FF2B5EF4-FFF2-40B4-BE49-F238E27FC236}">
                <a16:creationId xmlns:a16="http://schemas.microsoft.com/office/drawing/2014/main" id="{7FA8964C-5038-4D95-936F-92BBB818A136}"/>
              </a:ext>
            </a:extLst>
          </p:cNvPr>
          <p:cNvSpPr>
            <a:spLocks noGrp="1"/>
          </p:cNvSpPr>
          <p:nvPr/>
        </p:nvSpPr>
        <p:spPr>
          <a:xfrm>
            <a:off x="457200" y="1676400"/>
            <a:ext cx="8229600" cy="9525"/>
          </a:xfrm>
          <a:prstGeom prst="rect">
            <a:avLst/>
          </a:prstGeom>
          <a:solidFill>
            <a:srgbClr val="E5EAF0"/>
          </a:solidFill>
          <a:ln w="0">
            <a:noFill/>
            <a:prstDash val="solid"/>
          </a:ln>
        </p:spPr>
      </p:sp>
      <p:sp>
        <p:nvSpPr>
          <p:cNvPr id="4" name="title-accent">
            <a:extLst>
              <a:ext uri="{FF2B5EF4-FFF2-40B4-BE49-F238E27FC236}">
                <a16:creationId xmlns:a16="http://schemas.microsoft.com/office/drawing/2014/main" id="{1BD61FCB-6253-45FF-AD1A-6046DF176F5D}"/>
              </a:ext>
            </a:extLst>
          </p:cNvPr>
          <p:cNvSpPr>
            <a:spLocks noGrp="1"/>
          </p:cNvSpPr>
          <p:nvPr/>
        </p:nvSpPr>
        <p:spPr>
          <a:xfrm>
            <a:off x="457200" y="1666875"/>
            <a:ext cx="552450" cy="38100"/>
          </a:xfrm>
          <a:prstGeom prst="rect">
            <a:avLst/>
          </a:prstGeom>
          <a:solidFill>
            <a:srgbClr val="4A90E2"/>
          </a:solidFill>
          <a:ln w="0">
            <a:noFill/>
            <a:prstDash val="solid"/>
          </a:ln>
        </p:spPr>
      </p:sp>
      <p:sp>
        <p:nvSpPr>
          <p:cNvPr id="18" name="chapter-tab-1">
            <a:extLst>
              <a:ext uri="{FF2B5EF4-FFF2-40B4-BE49-F238E27FC236}">
                <a16:creationId xmlns:a16="http://schemas.microsoft.com/office/drawing/2014/main" id="{DB687A6C-3F56-4271-8A69-845DB05FA6BA}"/>
              </a:ext>
            </a:extLst>
          </p:cNvPr>
          <p:cNvSpPr>
            <a:spLocks noGrp="1"/>
          </p:cNvSpPr>
          <p:nvPr/>
        </p:nvSpPr>
        <p:spPr>
          <a:xfrm>
            <a:off x="457200" y="4857750"/>
            <a:ext cx="2057400" cy="238125"/>
          </a:xfrm>
          <a:prstGeom prst="parallelogram">
            <a:avLst/>
          </a:prstGeom>
          <a:solidFill>
            <a:srgbClr val="FFFFFF"/>
          </a:solidFill>
          <a:ln w="10001">
            <a:solidFill>
              <a:srgbClr val="4A90E2"/>
            </a:solidFill>
            <a:prstDash val="solid"/>
          </a:ln>
        </p:spPr>
        <p:txBody>
          <a:bodyPr wrap="none" lIns="76200" tIns="0" rIns="76200" bIns="0" anchor="ctr">
            <a:normAutofit/>
          </a:bodyPr>
          <a:lstStyle/>
          <a:p>
            <a:pPr algn="ctr">
              <a:buNone/>
              <a:defRPr sz="998" b="1">
                <a:solidFill>
                  <a:srgbClr val="4A90E2"/>
                </a:solidFill>
                <a:latin typeface="Noto Sans CJK JP"/>
                <a:ea typeface="Noto Sans CJK JP"/>
                <a:cs typeface="Noto Sans CJK JP"/>
              </a:defRPr>
            </a:pPr>
            <a:r>
              <a:rPr sz="998" b="1">
                <a:solidFill>
                  <a:srgbClr val="4A90E2"/>
                </a:solidFill>
                <a:latin typeface="Noto Sans CJK JP"/>
                <a:ea typeface="Noto Sans CJK JP"/>
                <a:cs typeface="Noto Sans CJK JP"/>
              </a:rPr>
              <a:t>1 前提</a:t>
            </a:r>
          </a:p>
        </p:txBody>
      </p:sp>
      <p:sp>
        <p:nvSpPr>
          <p:cNvPr id="19" name="chapter-tab-2">
            <a:extLst>
              <a:ext uri="{FF2B5EF4-FFF2-40B4-BE49-F238E27FC236}">
                <a16:creationId xmlns:a16="http://schemas.microsoft.com/office/drawing/2014/main" id="{DCE9B200-4C9C-4CE6-8E4E-A811D65C8C2D}"/>
              </a:ext>
            </a:extLst>
          </p:cNvPr>
          <p:cNvSpPr>
            <a:spLocks noGrp="1"/>
          </p:cNvSpPr>
          <p:nvPr/>
        </p:nvSpPr>
        <p:spPr>
          <a:xfrm>
            <a:off x="2428875" y="4857750"/>
            <a:ext cx="2057400" cy="238125"/>
          </a:xfrm>
          <a:prstGeom prst="parallelogram">
            <a:avLst/>
          </a:prstGeom>
          <a:solidFill>
            <a:srgbClr val="FFFFFF"/>
          </a:solidFill>
          <a:ln w="10001">
            <a:solidFill>
              <a:srgbClr val="2F73B7"/>
            </a:solidFill>
            <a:prstDash val="solid"/>
          </a:ln>
        </p:spPr>
        <p:txBody>
          <a:bodyPr wrap="none" lIns="76200" tIns="0" rIns="76200" bIns="0" anchor="ctr">
            <a:normAutofit/>
          </a:bodyPr>
          <a:lstStyle/>
          <a:p>
            <a:pPr algn="ctr">
              <a:buNone/>
              <a:defRPr sz="998" b="1">
                <a:solidFill>
                  <a:srgbClr val="2F73B7"/>
                </a:solidFill>
                <a:latin typeface="Noto Sans CJK JP"/>
                <a:ea typeface="Noto Sans CJK JP"/>
                <a:cs typeface="Noto Sans CJK JP"/>
              </a:defRPr>
            </a:pPr>
            <a:r>
              <a:rPr sz="998" b="1">
                <a:solidFill>
                  <a:srgbClr val="2F73B7"/>
                </a:solidFill>
                <a:latin typeface="Noto Sans CJK JP"/>
                <a:ea typeface="Noto Sans CJK JP"/>
                <a:cs typeface="Noto Sans CJK JP"/>
              </a:rPr>
              <a:t>2 数理理論</a:t>
            </a:r>
          </a:p>
        </p:txBody>
      </p:sp>
      <p:sp>
        <p:nvSpPr>
          <p:cNvPr id="20" name="chapter-tab-3">
            <a:extLst>
              <a:ext uri="{FF2B5EF4-FFF2-40B4-BE49-F238E27FC236}">
                <a16:creationId xmlns:a16="http://schemas.microsoft.com/office/drawing/2014/main" id="{4D726D9F-E42C-4ADF-94C4-3AD4C84F82BF}"/>
              </a:ext>
            </a:extLst>
          </p:cNvPr>
          <p:cNvSpPr>
            <a:spLocks noGrp="1"/>
          </p:cNvSpPr>
          <p:nvPr/>
        </p:nvSpPr>
        <p:spPr>
          <a:xfrm>
            <a:off x="4400550" y="4857750"/>
            <a:ext cx="2057400" cy="238125"/>
          </a:xfrm>
          <a:prstGeom prst="parallelogram">
            <a:avLst/>
          </a:prstGeom>
          <a:solidFill>
            <a:srgbClr val="FFFFFF"/>
          </a:solidFill>
          <a:ln w="10001">
            <a:solidFill>
              <a:srgbClr val="2A8F6A"/>
            </a:solidFill>
            <a:prstDash val="solid"/>
          </a:ln>
        </p:spPr>
        <p:txBody>
          <a:bodyPr wrap="none" lIns="76200" tIns="0" rIns="76200" bIns="0" anchor="ctr">
            <a:normAutofit/>
          </a:bodyPr>
          <a:lstStyle/>
          <a:p>
            <a:pPr algn="ctr">
              <a:buNone/>
              <a:defRPr sz="998" b="1">
                <a:solidFill>
                  <a:srgbClr val="2A8F6A"/>
                </a:solidFill>
                <a:latin typeface="Noto Sans CJK JP"/>
                <a:ea typeface="Noto Sans CJK JP"/>
                <a:cs typeface="Noto Sans CJK JP"/>
              </a:defRPr>
            </a:pPr>
            <a:r>
              <a:rPr sz="998" b="1">
                <a:solidFill>
                  <a:srgbClr val="2A8F6A"/>
                </a:solidFill>
                <a:latin typeface="Noto Sans CJK JP"/>
                <a:ea typeface="Noto Sans CJK JP"/>
                <a:cs typeface="Noto Sans CJK JP"/>
              </a:rPr>
              <a:t>3 シミュレーション</a:t>
            </a:r>
          </a:p>
        </p:txBody>
      </p:sp>
      <p:sp>
        <p:nvSpPr>
          <p:cNvPr id="21" name="chapter-tab-4">
            <a:extLst>
              <a:ext uri="{FF2B5EF4-FFF2-40B4-BE49-F238E27FC236}">
                <a16:creationId xmlns:a16="http://schemas.microsoft.com/office/drawing/2014/main" id="{BDA5E436-0B51-49C7-91A3-98720D08552C}"/>
              </a:ext>
            </a:extLst>
          </p:cNvPr>
          <p:cNvSpPr>
            <a:spLocks noGrp="1"/>
          </p:cNvSpPr>
          <p:nvPr/>
        </p:nvSpPr>
        <p:spPr>
          <a:xfrm>
            <a:off x="6372225" y="4857750"/>
            <a:ext cx="2057400" cy="238125"/>
          </a:xfrm>
          <a:prstGeom prst="parallelogram">
            <a:avLst/>
          </a:prstGeom>
          <a:solidFill>
            <a:srgbClr val="C9534B"/>
          </a:solidFill>
          <a:ln w="11430">
            <a:solidFill>
              <a:srgbClr val="C9534B"/>
            </a:solidFill>
            <a:prstDash val="solid"/>
          </a:ln>
        </p:spPr>
        <p:txBody>
          <a:bodyPr wrap="none" lIns="76200" tIns="0" rIns="76200" bIns="0" anchor="ctr">
            <a:normAutofit/>
          </a:bodyPr>
          <a:lstStyle/>
          <a:p>
            <a:pPr algn="ctr">
              <a:buNone/>
              <a:defRPr sz="998" b="1">
                <a:solidFill>
                  <a:srgbClr val="FFFFFF"/>
                </a:solidFill>
                <a:latin typeface="Noto Sans CJK JP"/>
                <a:ea typeface="Noto Sans CJK JP"/>
                <a:cs typeface="Noto Sans CJK JP"/>
              </a:defRPr>
            </a:pPr>
            <a:r>
              <a:rPr sz="998" b="1">
                <a:solidFill>
                  <a:srgbClr val="FFFFFF"/>
                </a:solidFill>
                <a:latin typeface="Noto Sans CJK JP"/>
                <a:ea typeface="Noto Sans CJK JP"/>
                <a:cs typeface="Noto Sans CJK JP"/>
              </a:rPr>
              <a:t>4 結論</a:t>
            </a:r>
          </a:p>
        </p:txBody>
      </p:sp>
      <p:sp>
        <p:nvSpPr>
          <p:cNvPr id="22" name="s16-mvs-line-l">
            <a:extLst>
              <a:ext uri="{FF2B5EF4-FFF2-40B4-BE49-F238E27FC236}">
                <a16:creationId xmlns:a16="http://schemas.microsoft.com/office/drawing/2014/main" id="{523D4D1F-A895-4613-82C7-D156EAB43B72}"/>
              </a:ext>
            </a:extLst>
          </p:cNvPr>
          <p:cNvSpPr>
            <a:spLocks noGrp="1"/>
          </p:cNvSpPr>
          <p:nvPr/>
        </p:nvSpPr>
        <p:spPr>
          <a:xfrm>
            <a:off x="666750" y="1838325"/>
            <a:ext cx="2238375" cy="13335"/>
          </a:xfrm>
          <a:prstGeom prst="rect">
            <a:avLst/>
          </a:prstGeom>
          <a:solidFill>
            <a:srgbClr val="E88A00"/>
          </a:solidFill>
          <a:ln w="0">
            <a:noFill/>
            <a:prstDash val="solid"/>
          </a:ln>
        </p:spPr>
      </p:sp>
      <p:sp>
        <p:nvSpPr>
          <p:cNvPr id="23" name="s16-mvs">
            <a:extLst>
              <a:ext uri="{FF2B5EF4-FFF2-40B4-BE49-F238E27FC236}">
                <a16:creationId xmlns:a16="http://schemas.microsoft.com/office/drawing/2014/main" id="{138F838C-E990-4EFE-8672-5FE96A9AFA52}"/>
              </a:ext>
            </a:extLst>
          </p:cNvPr>
          <p:cNvSpPr>
            <a:spLocks noGrp="1"/>
          </p:cNvSpPr>
          <p:nvPr/>
        </p:nvSpPr>
        <p:spPr>
          <a:xfrm>
            <a:off x="2905125" y="1724025"/>
            <a:ext cx="3381375" cy="238125"/>
          </a:xfrm>
          <a:prstGeom prst="rect">
            <a:avLst/>
          </a:prstGeom>
          <a:noFill/>
          <a:ln w="0">
            <a:noFill/>
            <a:prstDash val="solid"/>
          </a:ln>
        </p:spPr>
        <p:txBody>
          <a:bodyPr wrap="square" lIns="0" tIns="0" rIns="0" bIns="0" anchor="ctr">
            <a:normAutofit/>
          </a:bodyPr>
          <a:lstStyle/>
          <a:p>
            <a:pPr algn="ctr">
              <a:defRPr sz="975" b="1">
                <a:solidFill>
                  <a:srgbClr val="E88A00"/>
                </a:solidFill>
                <a:latin typeface="Noto Sans CJK JP"/>
                <a:ea typeface="Noto Sans CJK JP"/>
                <a:cs typeface="Noto Sans CJK JP"/>
              </a:defRPr>
            </a:pPr>
            <a:r>
              <a:rPr sz="975" b="1" dirty="0">
                <a:solidFill>
                  <a:srgbClr val="E88A00"/>
                </a:solidFill>
                <a:latin typeface="Noto Sans CJK JP"/>
                <a:ea typeface="Noto Sans CJK JP"/>
                <a:cs typeface="Noto Sans CJK JP"/>
              </a:rPr>
              <a:t>MVS ｜ </a:t>
            </a:r>
            <a:r>
              <a:rPr sz="975" b="1" dirty="0" err="1">
                <a:solidFill>
                  <a:srgbClr val="E88A00"/>
                </a:solidFill>
                <a:latin typeface="Noto Sans CJK JP"/>
                <a:ea typeface="Noto Sans CJK JP"/>
                <a:cs typeface="Noto Sans CJK JP"/>
              </a:rPr>
              <a:t>係数設定と数値安定性を確認するまで拡張</a:t>
            </a:r>
            <a:r>
              <a:rPr lang="ja-JP" altLang="en-US" sz="975" b="1" dirty="0">
                <a:solidFill>
                  <a:srgbClr val="E88A00"/>
                </a:solidFill>
                <a:latin typeface="Noto Sans CJK JP"/>
                <a:ea typeface="Noto Sans CJK JP"/>
                <a:cs typeface="Noto Sans CJK JP"/>
              </a:rPr>
              <a:t>研究</a:t>
            </a:r>
            <a:endParaRPr sz="975" b="1" dirty="0">
              <a:solidFill>
                <a:srgbClr val="E88A00"/>
              </a:solidFill>
              <a:latin typeface="Noto Sans CJK JP"/>
              <a:ea typeface="Noto Sans CJK JP"/>
              <a:cs typeface="Noto Sans CJK JP"/>
            </a:endParaRPr>
          </a:p>
        </p:txBody>
      </p:sp>
      <p:sp>
        <p:nvSpPr>
          <p:cNvPr id="24" name="s16-mvs-line-r">
            <a:extLst>
              <a:ext uri="{FF2B5EF4-FFF2-40B4-BE49-F238E27FC236}">
                <a16:creationId xmlns:a16="http://schemas.microsoft.com/office/drawing/2014/main" id="{1B600ACF-1FFA-4309-AF6B-ED8868904634}"/>
              </a:ext>
            </a:extLst>
          </p:cNvPr>
          <p:cNvSpPr>
            <a:spLocks noGrp="1"/>
          </p:cNvSpPr>
          <p:nvPr/>
        </p:nvSpPr>
        <p:spPr>
          <a:xfrm>
            <a:off x="6286500" y="1838325"/>
            <a:ext cx="2238375" cy="13335"/>
          </a:xfrm>
          <a:prstGeom prst="rect">
            <a:avLst/>
          </a:prstGeom>
          <a:solidFill>
            <a:srgbClr val="E88A00"/>
          </a:solidFill>
          <a:ln w="0">
            <a:noFill/>
            <a:prstDash val="solid"/>
          </a:ln>
        </p:spPr>
      </p:sp>
      <p:sp>
        <p:nvSpPr>
          <p:cNvPr id="25" name="s16-step1">
            <a:extLst>
              <a:ext uri="{FF2B5EF4-FFF2-40B4-BE49-F238E27FC236}">
                <a16:creationId xmlns:a16="http://schemas.microsoft.com/office/drawing/2014/main" id="{5B0DC708-91EE-46BE-A77A-BCEC542D1807}"/>
              </a:ext>
            </a:extLst>
          </p:cNvPr>
          <p:cNvSpPr>
            <a:spLocks noGrp="1"/>
          </p:cNvSpPr>
          <p:nvPr/>
        </p:nvSpPr>
        <p:spPr>
          <a:xfrm>
            <a:off x="523875" y="3219450"/>
            <a:ext cx="2524125" cy="638175"/>
          </a:xfrm>
          <a:custGeom>
            <a:avLst/>
            <a:gdLst/>
            <a:ahLst/>
            <a:cxnLst/>
            <a:rect l="0" t="0" r="0" b="0"/>
            <a:pathLst>
              <a:path w="2524125" h="638175">
                <a:moveTo>
                  <a:pt x="0" y="638175"/>
                </a:moveTo>
                <a:lnTo>
                  <a:pt x="2524125" y="638175"/>
                </a:lnTo>
                <a:lnTo>
                  <a:pt x="2524125" y="0"/>
                </a:lnTo>
              </a:path>
            </a:pathLst>
          </a:custGeom>
          <a:noFill/>
          <a:ln w="22860">
            <a:solidFill>
              <a:srgbClr val="16875C"/>
            </a:solidFill>
            <a:prstDash val="solid"/>
          </a:ln>
        </p:spPr>
      </p:sp>
      <p:sp>
        <p:nvSpPr>
          <p:cNvPr id="26" name="s16-step2">
            <a:extLst>
              <a:ext uri="{FF2B5EF4-FFF2-40B4-BE49-F238E27FC236}">
                <a16:creationId xmlns:a16="http://schemas.microsoft.com/office/drawing/2014/main" id="{A03F27FC-90AB-4E62-BCCE-D6FB91C0B258}"/>
              </a:ext>
            </a:extLst>
          </p:cNvPr>
          <p:cNvSpPr>
            <a:spLocks noGrp="1"/>
          </p:cNvSpPr>
          <p:nvPr/>
        </p:nvSpPr>
        <p:spPr>
          <a:xfrm>
            <a:off x="3048000" y="2571750"/>
            <a:ext cx="2762250" cy="647700"/>
          </a:xfrm>
          <a:custGeom>
            <a:avLst/>
            <a:gdLst/>
            <a:ahLst/>
            <a:cxnLst/>
            <a:rect l="0" t="0" r="0" b="0"/>
            <a:pathLst>
              <a:path w="2762250" h="647700">
                <a:moveTo>
                  <a:pt x="0" y="647700"/>
                </a:moveTo>
                <a:lnTo>
                  <a:pt x="2762250" y="647700"/>
                </a:lnTo>
                <a:lnTo>
                  <a:pt x="2762250" y="0"/>
                </a:lnTo>
              </a:path>
            </a:pathLst>
          </a:custGeom>
          <a:noFill/>
          <a:ln w="22860">
            <a:solidFill>
              <a:srgbClr val="0E8B95"/>
            </a:solidFill>
            <a:prstDash val="solid"/>
          </a:ln>
        </p:spPr>
      </p:sp>
      <p:sp>
        <p:nvSpPr>
          <p:cNvPr id="27" name="s16-step3">
            <a:extLst>
              <a:ext uri="{FF2B5EF4-FFF2-40B4-BE49-F238E27FC236}">
                <a16:creationId xmlns:a16="http://schemas.microsoft.com/office/drawing/2014/main" id="{D6B09177-748D-4A61-B9CE-B4A06060941F}"/>
              </a:ext>
            </a:extLst>
          </p:cNvPr>
          <p:cNvSpPr>
            <a:spLocks noGrp="1"/>
          </p:cNvSpPr>
          <p:nvPr/>
        </p:nvSpPr>
        <p:spPr>
          <a:xfrm>
            <a:off x="5810250" y="2571750"/>
            <a:ext cx="2762250" cy="9525"/>
          </a:xfrm>
          <a:custGeom>
            <a:avLst/>
            <a:gdLst/>
            <a:ahLst/>
            <a:cxnLst/>
            <a:rect l="0" t="0" r="0" b="0"/>
            <a:pathLst>
              <a:path w="2762250" h="9525">
                <a:moveTo>
                  <a:pt x="0" y="0"/>
                </a:moveTo>
                <a:lnTo>
                  <a:pt x="2762250" y="0"/>
                </a:lnTo>
              </a:path>
            </a:pathLst>
          </a:custGeom>
          <a:noFill/>
          <a:ln w="22860">
            <a:solidFill>
              <a:srgbClr val="D94138"/>
            </a:solidFill>
            <a:prstDash val="solid"/>
          </a:ln>
        </p:spPr>
      </p:sp>
      <p:sp>
        <p:nvSpPr>
          <p:cNvPr id="28" name="s16-num1">
            <a:extLst>
              <a:ext uri="{FF2B5EF4-FFF2-40B4-BE49-F238E27FC236}">
                <a16:creationId xmlns:a16="http://schemas.microsoft.com/office/drawing/2014/main" id="{A0C355D0-AD22-40FB-A445-3F4E690FE4E8}"/>
              </a:ext>
            </a:extLst>
          </p:cNvPr>
          <p:cNvSpPr>
            <a:spLocks noGrp="1"/>
          </p:cNvSpPr>
          <p:nvPr/>
        </p:nvSpPr>
        <p:spPr>
          <a:xfrm>
            <a:off x="647700" y="3286125"/>
            <a:ext cx="428625" cy="495300"/>
          </a:xfrm>
          <a:prstGeom prst="rect">
            <a:avLst/>
          </a:prstGeom>
          <a:noFill/>
          <a:ln w="0">
            <a:noFill/>
            <a:prstDash val="solid"/>
          </a:ln>
        </p:spPr>
        <p:txBody>
          <a:bodyPr wrap="square" lIns="0" tIns="0" rIns="0" bIns="0" anchor="ctr">
            <a:normAutofit/>
          </a:bodyPr>
          <a:lstStyle/>
          <a:p>
            <a:pPr algn="ctr">
              <a:defRPr sz="2550" b="1">
                <a:solidFill>
                  <a:srgbClr val="16875C"/>
                </a:solidFill>
                <a:latin typeface="Georgia"/>
                <a:ea typeface="Georgia"/>
                <a:cs typeface="Georgia"/>
              </a:defRPr>
            </a:pPr>
            <a:r>
              <a:rPr sz="2550" b="1">
                <a:solidFill>
                  <a:srgbClr val="16875C"/>
                </a:solidFill>
                <a:latin typeface="Georgia"/>
                <a:ea typeface="Georgia"/>
                <a:cs typeface="Georgia"/>
              </a:rPr>
              <a:t>1</a:t>
            </a:r>
          </a:p>
        </p:txBody>
      </p:sp>
      <p:sp>
        <p:nvSpPr>
          <p:cNvPr id="29" name="s16-stage1-head">
            <a:extLst>
              <a:ext uri="{FF2B5EF4-FFF2-40B4-BE49-F238E27FC236}">
                <a16:creationId xmlns:a16="http://schemas.microsoft.com/office/drawing/2014/main" id="{B32CBABD-EF30-4EF0-ABF4-9090B7E2CD83}"/>
              </a:ext>
            </a:extLst>
          </p:cNvPr>
          <p:cNvSpPr>
            <a:spLocks noGrp="1"/>
          </p:cNvSpPr>
          <p:nvPr/>
        </p:nvSpPr>
        <p:spPr>
          <a:xfrm>
            <a:off x="1123950" y="3162300"/>
            <a:ext cx="1762125" cy="247650"/>
          </a:xfrm>
          <a:prstGeom prst="rect">
            <a:avLst/>
          </a:prstGeom>
          <a:noFill/>
          <a:ln w="0">
            <a:noFill/>
            <a:prstDash val="solid"/>
          </a:ln>
        </p:spPr>
        <p:txBody>
          <a:bodyPr wrap="square" lIns="0" tIns="0" rIns="0" bIns="0" anchor="ctr">
            <a:normAutofit/>
          </a:bodyPr>
          <a:lstStyle/>
          <a:p>
            <a:pPr algn="l">
              <a:defRPr sz="1275" b="1">
                <a:solidFill>
                  <a:srgbClr val="16875C"/>
                </a:solidFill>
                <a:latin typeface="Noto Sans CJK JP"/>
                <a:ea typeface="Noto Sans CJK JP"/>
                <a:cs typeface="Noto Sans CJK JP"/>
              </a:defRPr>
            </a:pPr>
            <a:r>
              <a:rPr sz="1275" b="1" dirty="0">
                <a:solidFill>
                  <a:srgbClr val="16875C"/>
                </a:solidFill>
                <a:latin typeface="Noto Sans CJK JP"/>
                <a:ea typeface="Noto Sans CJK JP"/>
                <a:cs typeface="Noto Sans CJK JP"/>
              </a:rPr>
              <a:t>第1層　</a:t>
            </a:r>
            <a:r>
              <a:rPr sz="1275" b="1" dirty="0" err="1">
                <a:solidFill>
                  <a:srgbClr val="16875C"/>
                </a:solidFill>
                <a:latin typeface="Noto Sans CJK JP"/>
                <a:ea typeface="Noto Sans CJK JP"/>
                <a:cs typeface="Noto Sans CJK JP"/>
              </a:rPr>
              <a:t>cTCMV</a:t>
            </a:r>
            <a:endParaRPr sz="1275" b="1" dirty="0">
              <a:solidFill>
                <a:srgbClr val="16875C"/>
              </a:solidFill>
              <a:latin typeface="Noto Sans CJK JP"/>
              <a:ea typeface="Noto Sans CJK JP"/>
              <a:cs typeface="Noto Sans CJK JP"/>
            </a:endParaRPr>
          </a:p>
        </p:txBody>
      </p:sp>
      <p:sp>
        <p:nvSpPr>
          <p:cNvPr id="30" name="s16-stage1-body">
            <a:extLst>
              <a:ext uri="{FF2B5EF4-FFF2-40B4-BE49-F238E27FC236}">
                <a16:creationId xmlns:a16="http://schemas.microsoft.com/office/drawing/2014/main" id="{737F987D-5028-4A3F-9719-8578613EC031}"/>
              </a:ext>
            </a:extLst>
          </p:cNvPr>
          <p:cNvSpPr>
            <a:spLocks noGrp="1"/>
          </p:cNvSpPr>
          <p:nvPr/>
        </p:nvSpPr>
        <p:spPr>
          <a:xfrm>
            <a:off x="1123950" y="3438525"/>
            <a:ext cx="1762125" cy="419100"/>
          </a:xfrm>
          <a:prstGeom prst="rect">
            <a:avLst/>
          </a:prstGeom>
          <a:noFill/>
          <a:ln w="0">
            <a:noFill/>
            <a:prstDash val="solid"/>
          </a:ln>
        </p:spPr>
        <p:txBody>
          <a:bodyPr wrap="square" lIns="0" tIns="0" rIns="0" bIns="0" anchor="ctr">
            <a:normAutofit/>
          </a:bodyPr>
          <a:lstStyle/>
          <a:p>
            <a:pPr algn="l">
              <a:defRPr sz="938" b="0">
                <a:solidFill>
                  <a:srgbClr val="111827"/>
                </a:solidFill>
                <a:latin typeface="Noto Sans CJK JP"/>
                <a:ea typeface="Noto Sans CJK JP"/>
                <a:cs typeface="Noto Sans CJK JP"/>
              </a:defRPr>
            </a:pPr>
            <a:r>
              <a:rPr lang="ja-JP" altLang="en-US" sz="938" b="0" dirty="0">
                <a:solidFill>
                  <a:srgbClr val="111827"/>
                </a:solidFill>
                <a:latin typeface="Noto Sans CJK JP"/>
                <a:ea typeface="Noto Sans CJK JP"/>
                <a:cs typeface="Noto Sans CJK JP"/>
              </a:rPr>
              <a:t>指定運用方法</a:t>
            </a:r>
            <a:r>
              <a:rPr lang="ja-JP" altLang="en-US" sz="938" dirty="0">
                <a:solidFill>
                  <a:srgbClr val="111827"/>
                </a:solidFill>
                <a:latin typeface="Noto Sans CJK JP"/>
                <a:ea typeface="Noto Sans CJK JP"/>
                <a:cs typeface="Noto Sans CJK JP"/>
              </a:rPr>
              <a:t>の商品選択基準</a:t>
            </a:r>
            <a:endParaRPr sz="938" b="0" dirty="0">
              <a:solidFill>
                <a:srgbClr val="111827"/>
              </a:solidFill>
              <a:latin typeface="Noto Sans CJK JP"/>
              <a:ea typeface="Noto Sans CJK JP"/>
              <a:cs typeface="Noto Sans CJK JP"/>
            </a:endParaRPr>
          </a:p>
          <a:p>
            <a:pPr algn="l">
              <a:defRPr sz="938" b="0">
                <a:solidFill>
                  <a:srgbClr val="111827"/>
                </a:solidFill>
                <a:latin typeface="Noto Sans CJK JP"/>
                <a:ea typeface="Noto Sans CJK JP"/>
                <a:cs typeface="Noto Sans CJK JP"/>
              </a:defRPr>
            </a:pPr>
            <a:r>
              <a:rPr sz="938" b="0" dirty="0" err="1">
                <a:solidFill>
                  <a:srgbClr val="111827"/>
                </a:solidFill>
                <a:latin typeface="Noto Sans CJK JP"/>
                <a:ea typeface="Noto Sans CJK JP"/>
                <a:cs typeface="Noto Sans CJK JP"/>
              </a:rPr>
              <a:t>clip近似</a:t>
            </a:r>
            <a:endParaRPr sz="938" b="0" dirty="0">
              <a:solidFill>
                <a:srgbClr val="111827"/>
              </a:solidFill>
              <a:latin typeface="Noto Sans CJK JP"/>
              <a:ea typeface="Noto Sans CJK JP"/>
              <a:cs typeface="Noto Sans CJK JP"/>
            </a:endParaRPr>
          </a:p>
        </p:txBody>
      </p:sp>
      <p:sp>
        <p:nvSpPr>
          <p:cNvPr id="31" name="s16-num2">
            <a:extLst>
              <a:ext uri="{FF2B5EF4-FFF2-40B4-BE49-F238E27FC236}">
                <a16:creationId xmlns:a16="http://schemas.microsoft.com/office/drawing/2014/main" id="{E30557AB-668B-4A5E-833B-CF90504338D5}"/>
              </a:ext>
            </a:extLst>
          </p:cNvPr>
          <p:cNvSpPr>
            <a:spLocks noGrp="1"/>
          </p:cNvSpPr>
          <p:nvPr/>
        </p:nvSpPr>
        <p:spPr>
          <a:xfrm>
            <a:off x="3333750" y="2657475"/>
            <a:ext cx="428625" cy="495300"/>
          </a:xfrm>
          <a:prstGeom prst="rect">
            <a:avLst/>
          </a:prstGeom>
          <a:noFill/>
          <a:ln w="0">
            <a:noFill/>
            <a:prstDash val="solid"/>
          </a:ln>
        </p:spPr>
        <p:txBody>
          <a:bodyPr wrap="square" lIns="0" tIns="0" rIns="0" bIns="0" anchor="ctr">
            <a:normAutofit/>
          </a:bodyPr>
          <a:lstStyle/>
          <a:p>
            <a:pPr algn="ctr">
              <a:defRPr sz="2550" b="1">
                <a:solidFill>
                  <a:srgbClr val="0E8B95"/>
                </a:solidFill>
                <a:latin typeface="Georgia"/>
                <a:ea typeface="Georgia"/>
                <a:cs typeface="Georgia"/>
              </a:defRPr>
            </a:pPr>
            <a:r>
              <a:rPr sz="2550" b="1">
                <a:solidFill>
                  <a:srgbClr val="0E8B95"/>
                </a:solidFill>
                <a:latin typeface="Georgia"/>
                <a:ea typeface="Georgia"/>
                <a:cs typeface="Georgia"/>
              </a:rPr>
              <a:t>2</a:t>
            </a:r>
          </a:p>
        </p:txBody>
      </p:sp>
      <p:sp>
        <p:nvSpPr>
          <p:cNvPr id="32" name="s16-stage2-head">
            <a:extLst>
              <a:ext uri="{FF2B5EF4-FFF2-40B4-BE49-F238E27FC236}">
                <a16:creationId xmlns:a16="http://schemas.microsoft.com/office/drawing/2014/main" id="{3E3B8D4C-77D7-4D21-A200-3EB4FD2A02EC}"/>
              </a:ext>
            </a:extLst>
          </p:cNvPr>
          <p:cNvSpPr>
            <a:spLocks noGrp="1"/>
          </p:cNvSpPr>
          <p:nvPr/>
        </p:nvSpPr>
        <p:spPr>
          <a:xfrm>
            <a:off x="3829050" y="2533650"/>
            <a:ext cx="1762125" cy="247650"/>
          </a:xfrm>
          <a:prstGeom prst="rect">
            <a:avLst/>
          </a:prstGeom>
          <a:noFill/>
          <a:ln w="0">
            <a:noFill/>
            <a:prstDash val="solid"/>
          </a:ln>
        </p:spPr>
        <p:txBody>
          <a:bodyPr wrap="square" lIns="0" tIns="0" rIns="0" bIns="0" anchor="ctr">
            <a:normAutofit/>
          </a:bodyPr>
          <a:lstStyle/>
          <a:p>
            <a:pPr algn="l">
              <a:defRPr sz="1275" b="1">
                <a:solidFill>
                  <a:srgbClr val="0E8B95"/>
                </a:solidFill>
                <a:latin typeface="Noto Sans CJK JP"/>
                <a:ea typeface="Noto Sans CJK JP"/>
                <a:cs typeface="Noto Sans CJK JP"/>
              </a:defRPr>
            </a:pPr>
            <a:r>
              <a:rPr sz="1275" b="1" dirty="0">
                <a:solidFill>
                  <a:srgbClr val="0E8B95"/>
                </a:solidFill>
                <a:latin typeface="Noto Sans CJK JP"/>
                <a:ea typeface="Noto Sans CJK JP"/>
                <a:cs typeface="Noto Sans CJK JP"/>
              </a:rPr>
              <a:t>第2層　DOMV</a:t>
            </a:r>
          </a:p>
        </p:txBody>
      </p:sp>
      <p:sp>
        <p:nvSpPr>
          <p:cNvPr id="33" name="s16-stage2-body">
            <a:extLst>
              <a:ext uri="{FF2B5EF4-FFF2-40B4-BE49-F238E27FC236}">
                <a16:creationId xmlns:a16="http://schemas.microsoft.com/office/drawing/2014/main" id="{53020EC1-CDAD-413A-AFE7-ED397F17001B}"/>
              </a:ext>
            </a:extLst>
          </p:cNvPr>
          <p:cNvSpPr>
            <a:spLocks noGrp="1"/>
          </p:cNvSpPr>
          <p:nvPr/>
        </p:nvSpPr>
        <p:spPr>
          <a:xfrm>
            <a:off x="3829050" y="2809875"/>
            <a:ext cx="1981200" cy="400050"/>
          </a:xfrm>
          <a:prstGeom prst="rect">
            <a:avLst/>
          </a:prstGeom>
          <a:noFill/>
          <a:ln w="0">
            <a:noFill/>
            <a:prstDash val="solid"/>
          </a:ln>
        </p:spPr>
        <p:txBody>
          <a:bodyPr wrap="square" lIns="0" tIns="0" rIns="0" bIns="0" anchor="ctr">
            <a:normAutofit/>
          </a:bodyPr>
          <a:lstStyle/>
          <a:p>
            <a:pPr algn="l">
              <a:defRPr sz="938" b="0">
                <a:solidFill>
                  <a:srgbClr val="111827"/>
                </a:solidFill>
                <a:latin typeface="Noto Sans CJK JP"/>
                <a:ea typeface="Noto Sans CJK JP"/>
                <a:cs typeface="Noto Sans CJK JP"/>
              </a:defRPr>
            </a:pPr>
            <a:r>
              <a:rPr lang="en-US" altLang="ja-JP" sz="938" b="0" dirty="0">
                <a:solidFill>
                  <a:srgbClr val="111827"/>
                </a:solidFill>
                <a:latin typeface="Noto Sans CJK JP"/>
                <a:ea typeface="Noto Sans CJK JP"/>
                <a:cs typeface="Noto Sans CJK JP"/>
              </a:rPr>
              <a:t>DC</a:t>
            </a:r>
            <a:r>
              <a:rPr lang="ja-JP" altLang="en-US" sz="938" b="0" dirty="0">
                <a:solidFill>
                  <a:srgbClr val="111827"/>
                </a:solidFill>
                <a:latin typeface="Noto Sans CJK JP"/>
                <a:ea typeface="Noto Sans CJK JP"/>
                <a:cs typeface="Noto Sans CJK JP"/>
              </a:rPr>
              <a:t>のみの</a:t>
            </a:r>
            <a:r>
              <a:rPr sz="938" b="0" dirty="0" err="1">
                <a:solidFill>
                  <a:srgbClr val="111827"/>
                </a:solidFill>
                <a:latin typeface="Noto Sans CJK JP"/>
                <a:ea typeface="Noto Sans CJK JP"/>
                <a:cs typeface="Noto Sans CJK JP"/>
              </a:rPr>
              <a:t>定期的</a:t>
            </a:r>
            <a:r>
              <a:rPr lang="ja-JP" altLang="en-US" sz="938" b="0" dirty="0">
                <a:solidFill>
                  <a:srgbClr val="111827"/>
                </a:solidFill>
                <a:latin typeface="Noto Sans CJK JP"/>
                <a:ea typeface="Noto Sans CJK JP"/>
                <a:cs typeface="Noto Sans CJK JP"/>
              </a:rPr>
              <a:t>なリバランス提案</a:t>
            </a:r>
            <a:endParaRPr sz="938" b="0" dirty="0">
              <a:solidFill>
                <a:srgbClr val="111827"/>
              </a:solidFill>
              <a:latin typeface="Noto Sans CJK JP"/>
              <a:ea typeface="Noto Sans CJK JP"/>
              <a:cs typeface="Noto Sans CJK JP"/>
            </a:endParaRPr>
          </a:p>
          <a:p>
            <a:pPr algn="l">
              <a:defRPr sz="938" b="0">
                <a:solidFill>
                  <a:srgbClr val="111827"/>
                </a:solidFill>
                <a:latin typeface="Noto Sans CJK JP"/>
                <a:ea typeface="Noto Sans CJK JP"/>
                <a:cs typeface="Noto Sans CJK JP"/>
              </a:defRPr>
            </a:pPr>
            <a:r>
              <a:rPr sz="938" b="0" dirty="0" err="1">
                <a:solidFill>
                  <a:srgbClr val="111827"/>
                </a:solidFill>
                <a:latin typeface="Noto Sans CJK JP"/>
                <a:ea typeface="Noto Sans CJK JP"/>
                <a:cs typeface="Noto Sans CJK JP"/>
              </a:rPr>
              <a:t>strict解</a:t>
            </a:r>
            <a:endParaRPr sz="938" b="0" dirty="0">
              <a:solidFill>
                <a:srgbClr val="111827"/>
              </a:solidFill>
              <a:latin typeface="Noto Sans CJK JP"/>
              <a:ea typeface="Noto Sans CJK JP"/>
              <a:cs typeface="Noto Sans CJK JP"/>
            </a:endParaRPr>
          </a:p>
        </p:txBody>
      </p:sp>
      <p:sp>
        <p:nvSpPr>
          <p:cNvPr id="34" name="s16-num3">
            <a:extLst>
              <a:ext uri="{FF2B5EF4-FFF2-40B4-BE49-F238E27FC236}">
                <a16:creationId xmlns:a16="http://schemas.microsoft.com/office/drawing/2014/main" id="{8E2488D5-F682-4006-B058-24985B3BCEFF}"/>
              </a:ext>
            </a:extLst>
          </p:cNvPr>
          <p:cNvSpPr>
            <a:spLocks noGrp="1"/>
          </p:cNvSpPr>
          <p:nvPr/>
        </p:nvSpPr>
        <p:spPr>
          <a:xfrm>
            <a:off x="6096000" y="2019300"/>
            <a:ext cx="428625" cy="495300"/>
          </a:xfrm>
          <a:prstGeom prst="rect">
            <a:avLst/>
          </a:prstGeom>
          <a:noFill/>
          <a:ln w="0">
            <a:noFill/>
            <a:prstDash val="solid"/>
          </a:ln>
        </p:spPr>
        <p:txBody>
          <a:bodyPr wrap="square" lIns="0" tIns="0" rIns="0" bIns="0" anchor="ctr">
            <a:normAutofit/>
          </a:bodyPr>
          <a:lstStyle/>
          <a:p>
            <a:pPr algn="ctr">
              <a:defRPr sz="2550" b="1">
                <a:solidFill>
                  <a:srgbClr val="D94138"/>
                </a:solidFill>
                <a:latin typeface="Georgia"/>
                <a:ea typeface="Georgia"/>
                <a:cs typeface="Georgia"/>
              </a:defRPr>
            </a:pPr>
            <a:r>
              <a:rPr sz="2550" b="1">
                <a:solidFill>
                  <a:srgbClr val="D94138"/>
                </a:solidFill>
                <a:latin typeface="Georgia"/>
                <a:ea typeface="Georgia"/>
                <a:cs typeface="Georgia"/>
              </a:rPr>
              <a:t>3</a:t>
            </a:r>
          </a:p>
        </p:txBody>
      </p:sp>
      <p:sp>
        <p:nvSpPr>
          <p:cNvPr id="35" name="s16-stage3-head">
            <a:extLst>
              <a:ext uri="{FF2B5EF4-FFF2-40B4-BE49-F238E27FC236}">
                <a16:creationId xmlns:a16="http://schemas.microsoft.com/office/drawing/2014/main" id="{D9C9FB51-58D2-458B-B5C5-E4404DF7147A}"/>
              </a:ext>
            </a:extLst>
          </p:cNvPr>
          <p:cNvSpPr>
            <a:spLocks noGrp="1"/>
          </p:cNvSpPr>
          <p:nvPr/>
        </p:nvSpPr>
        <p:spPr>
          <a:xfrm>
            <a:off x="6591300" y="1940717"/>
            <a:ext cx="1809750" cy="247650"/>
          </a:xfrm>
          <a:prstGeom prst="rect">
            <a:avLst/>
          </a:prstGeom>
          <a:noFill/>
          <a:ln w="0">
            <a:noFill/>
            <a:prstDash val="solid"/>
          </a:ln>
        </p:spPr>
        <p:txBody>
          <a:bodyPr wrap="square" lIns="0" tIns="0" rIns="0" bIns="0" anchor="ctr">
            <a:normAutofit/>
          </a:bodyPr>
          <a:lstStyle/>
          <a:p>
            <a:pPr algn="l">
              <a:defRPr sz="1275" b="1">
                <a:solidFill>
                  <a:srgbClr val="D94138"/>
                </a:solidFill>
                <a:latin typeface="Noto Sans CJK JP"/>
                <a:ea typeface="Noto Sans CJK JP"/>
                <a:cs typeface="Noto Sans CJK JP"/>
              </a:defRPr>
            </a:pPr>
            <a:r>
              <a:rPr sz="1275" b="1">
                <a:solidFill>
                  <a:srgbClr val="D94138"/>
                </a:solidFill>
                <a:latin typeface="Noto Sans CJK JP"/>
                <a:ea typeface="Noto Sans CJK JP"/>
                <a:cs typeface="Noto Sans CJK JP"/>
              </a:rPr>
              <a:t>第3層　dTCMV</a:t>
            </a:r>
          </a:p>
        </p:txBody>
      </p:sp>
      <p:sp>
        <p:nvSpPr>
          <p:cNvPr id="36" name="s16-stage3-body">
            <a:extLst>
              <a:ext uri="{FF2B5EF4-FFF2-40B4-BE49-F238E27FC236}">
                <a16:creationId xmlns:a16="http://schemas.microsoft.com/office/drawing/2014/main" id="{D1A69679-9C46-4C21-A9C2-682ED2CEADB4}"/>
              </a:ext>
            </a:extLst>
          </p:cNvPr>
          <p:cNvSpPr>
            <a:spLocks noGrp="1"/>
          </p:cNvSpPr>
          <p:nvPr/>
        </p:nvSpPr>
        <p:spPr>
          <a:xfrm>
            <a:off x="6591299" y="2226467"/>
            <a:ext cx="1933575" cy="361950"/>
          </a:xfrm>
          <a:prstGeom prst="rect">
            <a:avLst/>
          </a:prstGeom>
          <a:noFill/>
          <a:ln w="0">
            <a:noFill/>
            <a:prstDash val="solid"/>
          </a:ln>
        </p:spPr>
        <p:txBody>
          <a:bodyPr wrap="square" lIns="0" tIns="0" rIns="0" bIns="0" anchor="ctr">
            <a:normAutofit/>
          </a:bodyPr>
          <a:lstStyle/>
          <a:p>
            <a:pPr algn="l">
              <a:defRPr sz="938" b="0">
                <a:solidFill>
                  <a:srgbClr val="111827"/>
                </a:solidFill>
                <a:latin typeface="Noto Sans CJK JP"/>
                <a:ea typeface="Noto Sans CJK JP"/>
                <a:cs typeface="Noto Sans CJK JP"/>
              </a:defRPr>
            </a:pPr>
            <a:r>
              <a:rPr sz="938" b="0" dirty="0">
                <a:solidFill>
                  <a:srgbClr val="111827"/>
                </a:solidFill>
                <a:latin typeface="Noto Sans CJK JP"/>
                <a:ea typeface="Noto Sans CJK JP"/>
                <a:cs typeface="Noto Sans CJK JP"/>
              </a:rPr>
              <a:t>総</a:t>
            </a:r>
            <a:r>
              <a:rPr lang="ja-JP" altLang="en-US" sz="938" b="0" dirty="0">
                <a:solidFill>
                  <a:srgbClr val="111827"/>
                </a:solidFill>
                <a:latin typeface="Noto Sans CJK JP"/>
                <a:ea typeface="Noto Sans CJK JP"/>
                <a:cs typeface="Noto Sans CJK JP"/>
              </a:rPr>
              <a:t>資産</a:t>
            </a:r>
            <a:r>
              <a:rPr sz="938" b="0" dirty="0" err="1">
                <a:solidFill>
                  <a:srgbClr val="111827"/>
                </a:solidFill>
                <a:latin typeface="Noto Sans CJK JP"/>
                <a:ea typeface="Noto Sans CJK JP"/>
                <a:cs typeface="Noto Sans CJK JP"/>
              </a:rPr>
              <a:t>に応じた</a:t>
            </a:r>
            <a:r>
              <a:rPr lang="ja-JP" altLang="en-US" sz="938" b="0" dirty="0">
                <a:solidFill>
                  <a:srgbClr val="111827"/>
                </a:solidFill>
                <a:latin typeface="Noto Sans CJK JP"/>
                <a:ea typeface="Noto Sans CJK JP"/>
                <a:cs typeface="Noto Sans CJK JP"/>
              </a:rPr>
              <a:t>パーソナライズ化</a:t>
            </a:r>
            <a:endParaRPr lang="en-US" altLang="ja-JP" sz="938" b="0" dirty="0">
              <a:solidFill>
                <a:srgbClr val="111827"/>
              </a:solidFill>
              <a:latin typeface="Noto Sans CJK JP"/>
              <a:ea typeface="Noto Sans CJK JP"/>
              <a:cs typeface="Noto Sans CJK JP"/>
            </a:endParaRPr>
          </a:p>
          <a:p>
            <a:pPr>
              <a:defRPr sz="938" b="0">
                <a:solidFill>
                  <a:srgbClr val="111827"/>
                </a:solidFill>
                <a:latin typeface="Noto Sans CJK JP"/>
                <a:ea typeface="Noto Sans CJK JP"/>
                <a:cs typeface="Noto Sans CJK JP"/>
              </a:defRPr>
            </a:pPr>
            <a:r>
              <a:rPr lang="en-US" altLang="ja-JP" sz="938" dirty="0">
                <a:solidFill>
                  <a:srgbClr val="111827"/>
                </a:solidFill>
                <a:latin typeface="Noto Sans CJK JP"/>
                <a:ea typeface="Noto Sans CJK JP"/>
                <a:cs typeface="Noto Sans CJK JP"/>
              </a:rPr>
              <a:t>strict</a:t>
            </a:r>
            <a:r>
              <a:rPr lang="ja-JP" altLang="en-US" sz="938" dirty="0">
                <a:solidFill>
                  <a:srgbClr val="111827"/>
                </a:solidFill>
                <a:latin typeface="Noto Sans CJK JP"/>
                <a:ea typeface="Noto Sans CJK JP"/>
                <a:cs typeface="Noto Sans CJK JP"/>
              </a:rPr>
              <a:t>解</a:t>
            </a:r>
            <a:endParaRPr sz="938" b="0" dirty="0">
              <a:solidFill>
                <a:srgbClr val="111827"/>
              </a:solidFill>
              <a:latin typeface="Noto Sans CJK JP"/>
              <a:ea typeface="Noto Sans CJK JP"/>
              <a:cs typeface="Noto Sans CJK JP"/>
            </a:endParaRPr>
          </a:p>
        </p:txBody>
      </p:sp>
      <p:sp>
        <p:nvSpPr>
          <p:cNvPr id="37" name="s16-foundation">
            <a:extLst>
              <a:ext uri="{FF2B5EF4-FFF2-40B4-BE49-F238E27FC236}">
                <a16:creationId xmlns:a16="http://schemas.microsoft.com/office/drawing/2014/main" id="{861113A5-9812-436B-8CA4-A07F6E355605}"/>
              </a:ext>
            </a:extLst>
          </p:cNvPr>
          <p:cNvSpPr>
            <a:spLocks noGrp="1"/>
          </p:cNvSpPr>
          <p:nvPr/>
        </p:nvSpPr>
        <p:spPr>
          <a:xfrm>
            <a:off x="523875" y="4114800"/>
            <a:ext cx="8096250" cy="495300"/>
          </a:xfrm>
          <a:prstGeom prst="rect">
            <a:avLst/>
          </a:prstGeom>
          <a:solidFill>
            <a:srgbClr val="07183B"/>
          </a:solidFill>
          <a:ln w="0">
            <a:noFill/>
            <a:prstDash val="solid"/>
          </a:ln>
        </p:spPr>
      </p:sp>
      <p:sp>
        <p:nvSpPr>
          <p:cNvPr id="38" name="s16-foundation-text">
            <a:extLst>
              <a:ext uri="{FF2B5EF4-FFF2-40B4-BE49-F238E27FC236}">
                <a16:creationId xmlns:a16="http://schemas.microsoft.com/office/drawing/2014/main" id="{FE037DB2-5020-4072-AF42-BACAB7ECA6C6}"/>
              </a:ext>
            </a:extLst>
          </p:cNvPr>
          <p:cNvSpPr>
            <a:spLocks noGrp="1"/>
          </p:cNvSpPr>
          <p:nvPr/>
        </p:nvSpPr>
        <p:spPr>
          <a:xfrm>
            <a:off x="1143000" y="4191000"/>
            <a:ext cx="6858000" cy="342900"/>
          </a:xfrm>
          <a:prstGeom prst="rect">
            <a:avLst/>
          </a:prstGeom>
          <a:noFill/>
          <a:ln w="0">
            <a:noFill/>
            <a:prstDash val="solid"/>
          </a:ln>
        </p:spPr>
        <p:txBody>
          <a:bodyPr wrap="square" lIns="0" tIns="0" rIns="0" bIns="0" anchor="ctr">
            <a:normAutofit/>
          </a:bodyPr>
          <a:lstStyle/>
          <a:p>
            <a:pPr algn="ctr">
              <a:defRPr sz="1350" b="1">
                <a:solidFill>
                  <a:srgbClr val="FFFFFF"/>
                </a:solidFill>
                <a:latin typeface="Noto Sans CJK JP"/>
                <a:ea typeface="Noto Sans CJK JP"/>
                <a:cs typeface="Noto Sans CJK JP"/>
              </a:defRPr>
            </a:pPr>
            <a:r>
              <a:rPr sz="1350" b="1" dirty="0">
                <a:solidFill>
                  <a:srgbClr val="FFFFFF"/>
                </a:solidFill>
                <a:latin typeface="Noto Sans CJK JP"/>
                <a:ea typeface="Noto Sans CJK JP"/>
                <a:cs typeface="Noto Sans CJK JP"/>
              </a:rPr>
              <a:t>PCMV  ｜  </a:t>
            </a:r>
            <a:r>
              <a:rPr lang="ja-JP" altLang="en-US" sz="1350" b="1" dirty="0">
                <a:solidFill>
                  <a:srgbClr val="FFFFFF"/>
                </a:solidFill>
                <a:latin typeface="Noto Sans CJK JP"/>
                <a:ea typeface="Noto Sans CJK JP"/>
                <a:cs typeface="Noto Sans CJK JP"/>
              </a:rPr>
              <a:t>平均分散アプローチとして最も理解しやすいベンチマーク</a:t>
            </a:r>
            <a:endParaRPr sz="1350" b="1" dirty="0">
              <a:solidFill>
                <a:srgbClr val="FFFFFF"/>
              </a:solidFill>
              <a:latin typeface="Noto Sans CJK JP"/>
              <a:ea typeface="Noto Sans CJK JP"/>
              <a:cs typeface="Noto Sans CJK JP"/>
            </a:endParaRPr>
          </a:p>
        </p:txBody>
      </p:sp>
      <p:sp>
        <p:nvSpPr>
          <p:cNvPr id="8" name="s8-contribution">
            <a:extLst>
              <a:ext uri="{FF2B5EF4-FFF2-40B4-BE49-F238E27FC236}">
                <a16:creationId xmlns:a16="http://schemas.microsoft.com/office/drawing/2014/main" id="{D11A7F94-610E-6C6A-C5BF-0EDB04E6F74C}"/>
              </a:ext>
            </a:extLst>
          </p:cNvPr>
          <p:cNvSpPr>
            <a:spLocks noGrp="1"/>
          </p:cNvSpPr>
          <p:nvPr/>
        </p:nvSpPr>
        <p:spPr>
          <a:xfrm>
            <a:off x="432478" y="798046"/>
            <a:ext cx="2183043" cy="232708"/>
          </a:xfrm>
          <a:prstGeom prst="rect">
            <a:avLst/>
          </a:prstGeom>
          <a:ln/>
        </p:spPr>
        <p:style>
          <a:lnRef idx="2">
            <a:schemeClr val="accent2"/>
          </a:lnRef>
          <a:fillRef idx="1">
            <a:schemeClr val="lt1"/>
          </a:fillRef>
          <a:effectRef idx="0">
            <a:schemeClr val="accent2"/>
          </a:effectRef>
          <a:fontRef idx="minor">
            <a:schemeClr val="dk1"/>
          </a:fontRef>
        </p:style>
        <p:txBody>
          <a:bodyPr wrap="square" lIns="0" tIns="0" rIns="0" bIns="0" anchor="ctr">
            <a:normAutofit fontScale="92500"/>
          </a:bodyPr>
          <a:lstStyle/>
          <a:p>
            <a:pPr algn="ctr">
              <a:defRPr sz="915" b="0">
                <a:solidFill>
                  <a:srgbClr val="64748B"/>
                </a:solidFill>
                <a:latin typeface="Noto Sans CJK JP"/>
                <a:ea typeface="Noto Sans CJK JP"/>
                <a:cs typeface="Noto Sans CJK JP"/>
              </a:defRPr>
            </a:pPr>
            <a:r>
              <a:rPr lang="ja-JP" altLang="en-US" sz="915" b="1" dirty="0">
                <a:solidFill>
                  <a:srgbClr val="C00000"/>
                </a:solidFill>
                <a:latin typeface="Noto Sans CJK JP"/>
                <a:ea typeface="Noto Sans CJK JP"/>
                <a:cs typeface="Noto Sans CJK JP"/>
              </a:rPr>
              <a:t>主結果③　解概念から</a:t>
            </a:r>
            <a:r>
              <a:rPr lang="en-US" altLang="ja-JP" sz="915" b="1" dirty="0">
                <a:solidFill>
                  <a:srgbClr val="C00000"/>
                </a:solidFill>
                <a:latin typeface="Noto Sans CJK JP"/>
                <a:ea typeface="Noto Sans CJK JP"/>
                <a:cs typeface="Noto Sans CJK JP"/>
              </a:rPr>
              <a:t>3</a:t>
            </a:r>
            <a:r>
              <a:rPr lang="ja-JP" altLang="en-US" sz="915" b="1" dirty="0">
                <a:solidFill>
                  <a:srgbClr val="C00000"/>
                </a:solidFill>
                <a:latin typeface="Noto Sans CJK JP"/>
                <a:ea typeface="Noto Sans CJK JP"/>
                <a:cs typeface="Noto Sans CJK JP"/>
              </a:rPr>
              <a:t>層運用手法への翻訳</a:t>
            </a:r>
            <a:endParaRPr sz="915" b="1" dirty="0">
              <a:solidFill>
                <a:srgbClr val="C00000"/>
              </a:solidFill>
              <a:latin typeface="Noto Sans CJK JP"/>
              <a:ea typeface="Noto Sans CJK JP"/>
              <a:cs typeface="Noto Sans CJK JP"/>
            </a:endParaRPr>
          </a:p>
        </p:txBody>
      </p:sp>
    </p:spTree>
    <p:extLst>
      <p:ext uri="{BB962C8B-B14F-4D97-AF65-F5344CB8AC3E}">
        <p14:creationId xmlns:p14="http://schemas.microsoft.com/office/powerpoint/2010/main" val="8753977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B5FB2-DE08-01C4-4B0F-3D45E31A046E}"/>
              </a:ext>
            </a:extLst>
          </p:cNvPr>
          <p:cNvSpPr>
            <a:spLocks noGrp="1"/>
          </p:cNvSpPr>
          <p:nvPr>
            <p:ph type="title"/>
          </p:nvPr>
        </p:nvSpPr>
        <p:spPr>
          <a:xfrm>
            <a:off x="457200" y="990600"/>
            <a:ext cx="8229600" cy="609600"/>
          </a:xfrm>
        </p:spPr>
        <p:txBody>
          <a:bodyPr wrap="none" lIns="0" tIns="0" rIns="0" bIns="0" anchor="ctr">
            <a:normAutofit/>
          </a:bodyPr>
          <a:lstStyle/>
          <a:p>
            <a:pPr algn="l">
              <a:buNone/>
              <a:defRPr sz="2063" b="1">
                <a:solidFill>
                  <a:srgbClr val="111827"/>
                </a:solidFill>
                <a:latin typeface="Noto Sans CJK JP"/>
                <a:ea typeface="Noto Sans CJK JP"/>
                <a:cs typeface="Noto Sans CJK JP"/>
              </a:defRPr>
            </a:pPr>
            <a:r>
              <a:rPr lang="ja-JP" altLang="en-US" sz="2063" b="1" dirty="0">
                <a:solidFill>
                  <a:srgbClr val="111827"/>
                </a:solidFill>
                <a:latin typeface="Noto Sans CJK JP"/>
                <a:ea typeface="Noto Sans CJK JP"/>
                <a:cs typeface="Noto Sans CJK JP"/>
              </a:rPr>
              <a:t>まとめ・今回の研究成果</a:t>
            </a:r>
            <a:endParaRPr sz="2063" b="1" dirty="0">
              <a:solidFill>
                <a:srgbClr val="111827"/>
              </a:solidFill>
              <a:latin typeface="Noto Sans CJK JP"/>
              <a:ea typeface="Noto Sans CJK JP"/>
              <a:cs typeface="Noto Sans CJK JP"/>
            </a:endParaRPr>
          </a:p>
        </p:txBody>
      </p:sp>
      <p:sp>
        <p:nvSpPr>
          <p:cNvPr id="3" name="title-divider">
            <a:extLst>
              <a:ext uri="{FF2B5EF4-FFF2-40B4-BE49-F238E27FC236}">
                <a16:creationId xmlns:a16="http://schemas.microsoft.com/office/drawing/2014/main" id="{963FFD01-3783-4809-B365-AFFAF3986142}"/>
              </a:ext>
            </a:extLst>
          </p:cNvPr>
          <p:cNvSpPr>
            <a:spLocks noGrp="1"/>
          </p:cNvSpPr>
          <p:nvPr/>
        </p:nvSpPr>
        <p:spPr>
          <a:xfrm>
            <a:off x="457200" y="1676400"/>
            <a:ext cx="8229600" cy="9525"/>
          </a:xfrm>
          <a:prstGeom prst="rect">
            <a:avLst/>
          </a:prstGeom>
          <a:solidFill>
            <a:srgbClr val="E5EAF0"/>
          </a:solidFill>
          <a:ln w="0">
            <a:noFill/>
            <a:prstDash val="solid"/>
          </a:ln>
        </p:spPr>
      </p:sp>
      <p:sp>
        <p:nvSpPr>
          <p:cNvPr id="4" name="title-accent">
            <a:extLst>
              <a:ext uri="{FF2B5EF4-FFF2-40B4-BE49-F238E27FC236}">
                <a16:creationId xmlns:a16="http://schemas.microsoft.com/office/drawing/2014/main" id="{43E8AF28-4E24-4EB0-B272-BC716AF09654}"/>
              </a:ext>
            </a:extLst>
          </p:cNvPr>
          <p:cNvSpPr>
            <a:spLocks noGrp="1"/>
          </p:cNvSpPr>
          <p:nvPr/>
        </p:nvSpPr>
        <p:spPr>
          <a:xfrm>
            <a:off x="457200" y="1666875"/>
            <a:ext cx="552450" cy="38100"/>
          </a:xfrm>
          <a:prstGeom prst="rect">
            <a:avLst/>
          </a:prstGeom>
          <a:solidFill>
            <a:srgbClr val="4A90E2"/>
          </a:solidFill>
          <a:ln w="0">
            <a:noFill/>
            <a:prstDash val="solid"/>
          </a:ln>
        </p:spPr>
      </p:sp>
      <p:sp>
        <p:nvSpPr>
          <p:cNvPr id="21" name="chapter-tab-1">
            <a:extLst>
              <a:ext uri="{FF2B5EF4-FFF2-40B4-BE49-F238E27FC236}">
                <a16:creationId xmlns:a16="http://schemas.microsoft.com/office/drawing/2014/main" id="{DA5E390E-25C1-4B93-804F-2B6FB8601CB6}"/>
              </a:ext>
            </a:extLst>
          </p:cNvPr>
          <p:cNvSpPr>
            <a:spLocks noGrp="1"/>
          </p:cNvSpPr>
          <p:nvPr/>
        </p:nvSpPr>
        <p:spPr>
          <a:xfrm>
            <a:off x="457200" y="4857750"/>
            <a:ext cx="2057400" cy="238125"/>
          </a:xfrm>
          <a:prstGeom prst="parallelogram">
            <a:avLst/>
          </a:prstGeom>
          <a:solidFill>
            <a:srgbClr val="FFFFFF"/>
          </a:solidFill>
          <a:ln w="10001">
            <a:solidFill>
              <a:srgbClr val="4A90E2"/>
            </a:solidFill>
            <a:prstDash val="solid"/>
          </a:ln>
        </p:spPr>
        <p:txBody>
          <a:bodyPr wrap="none" lIns="76200" tIns="0" rIns="76200" bIns="0" anchor="ctr">
            <a:normAutofit/>
          </a:bodyPr>
          <a:lstStyle/>
          <a:p>
            <a:pPr algn="ctr">
              <a:buNone/>
              <a:defRPr sz="998" b="1">
                <a:solidFill>
                  <a:srgbClr val="4A90E2"/>
                </a:solidFill>
                <a:latin typeface="Noto Sans CJK JP"/>
                <a:ea typeface="Noto Sans CJK JP"/>
                <a:cs typeface="Noto Sans CJK JP"/>
              </a:defRPr>
            </a:pPr>
            <a:r>
              <a:rPr sz="998" b="1">
                <a:solidFill>
                  <a:srgbClr val="4A90E2"/>
                </a:solidFill>
                <a:latin typeface="Noto Sans CJK JP"/>
                <a:ea typeface="Noto Sans CJK JP"/>
                <a:cs typeface="Noto Sans CJK JP"/>
              </a:rPr>
              <a:t>1 前提</a:t>
            </a:r>
          </a:p>
        </p:txBody>
      </p:sp>
      <p:sp>
        <p:nvSpPr>
          <p:cNvPr id="22" name="chapter-tab-2">
            <a:extLst>
              <a:ext uri="{FF2B5EF4-FFF2-40B4-BE49-F238E27FC236}">
                <a16:creationId xmlns:a16="http://schemas.microsoft.com/office/drawing/2014/main" id="{AD981AE8-0D0A-457D-849A-A203664DC234}"/>
              </a:ext>
            </a:extLst>
          </p:cNvPr>
          <p:cNvSpPr>
            <a:spLocks noGrp="1"/>
          </p:cNvSpPr>
          <p:nvPr/>
        </p:nvSpPr>
        <p:spPr>
          <a:xfrm>
            <a:off x="2428875" y="4857750"/>
            <a:ext cx="2057400" cy="238125"/>
          </a:xfrm>
          <a:prstGeom prst="parallelogram">
            <a:avLst/>
          </a:prstGeom>
          <a:solidFill>
            <a:srgbClr val="FFFFFF"/>
          </a:solidFill>
          <a:ln w="10001">
            <a:solidFill>
              <a:srgbClr val="2F73B7"/>
            </a:solidFill>
            <a:prstDash val="solid"/>
          </a:ln>
        </p:spPr>
        <p:txBody>
          <a:bodyPr wrap="none" lIns="76200" tIns="0" rIns="76200" bIns="0" anchor="ctr">
            <a:normAutofit/>
          </a:bodyPr>
          <a:lstStyle/>
          <a:p>
            <a:pPr algn="ctr">
              <a:buNone/>
              <a:defRPr sz="998" b="1">
                <a:solidFill>
                  <a:srgbClr val="2F73B7"/>
                </a:solidFill>
                <a:latin typeface="Noto Sans CJK JP"/>
                <a:ea typeface="Noto Sans CJK JP"/>
                <a:cs typeface="Noto Sans CJK JP"/>
              </a:defRPr>
            </a:pPr>
            <a:r>
              <a:rPr sz="998" b="1">
                <a:solidFill>
                  <a:srgbClr val="2F73B7"/>
                </a:solidFill>
                <a:latin typeface="Noto Sans CJK JP"/>
                <a:ea typeface="Noto Sans CJK JP"/>
                <a:cs typeface="Noto Sans CJK JP"/>
              </a:rPr>
              <a:t>2 数理理論</a:t>
            </a:r>
          </a:p>
        </p:txBody>
      </p:sp>
      <p:sp>
        <p:nvSpPr>
          <p:cNvPr id="23" name="chapter-tab-3">
            <a:extLst>
              <a:ext uri="{FF2B5EF4-FFF2-40B4-BE49-F238E27FC236}">
                <a16:creationId xmlns:a16="http://schemas.microsoft.com/office/drawing/2014/main" id="{119B93BA-2659-43E7-B810-841A19AEEA5E}"/>
              </a:ext>
            </a:extLst>
          </p:cNvPr>
          <p:cNvSpPr>
            <a:spLocks noGrp="1"/>
          </p:cNvSpPr>
          <p:nvPr/>
        </p:nvSpPr>
        <p:spPr>
          <a:xfrm>
            <a:off x="4400550" y="4857750"/>
            <a:ext cx="2057400" cy="238125"/>
          </a:xfrm>
          <a:prstGeom prst="parallelogram">
            <a:avLst/>
          </a:prstGeom>
          <a:solidFill>
            <a:srgbClr val="FFFFFF"/>
          </a:solidFill>
          <a:ln w="10001">
            <a:solidFill>
              <a:srgbClr val="2A8F6A"/>
            </a:solidFill>
            <a:prstDash val="solid"/>
          </a:ln>
        </p:spPr>
        <p:txBody>
          <a:bodyPr wrap="none" lIns="76200" tIns="0" rIns="76200" bIns="0" anchor="ctr">
            <a:normAutofit/>
          </a:bodyPr>
          <a:lstStyle/>
          <a:p>
            <a:pPr algn="ctr">
              <a:buNone/>
              <a:defRPr sz="998" b="1">
                <a:solidFill>
                  <a:srgbClr val="2A8F6A"/>
                </a:solidFill>
                <a:latin typeface="Noto Sans CJK JP"/>
                <a:ea typeface="Noto Sans CJK JP"/>
                <a:cs typeface="Noto Sans CJK JP"/>
              </a:defRPr>
            </a:pPr>
            <a:r>
              <a:rPr sz="998" b="1">
                <a:solidFill>
                  <a:srgbClr val="2A8F6A"/>
                </a:solidFill>
                <a:latin typeface="Noto Sans CJK JP"/>
                <a:ea typeface="Noto Sans CJK JP"/>
                <a:cs typeface="Noto Sans CJK JP"/>
              </a:rPr>
              <a:t>3 シミュレーション</a:t>
            </a:r>
          </a:p>
        </p:txBody>
      </p:sp>
      <p:sp>
        <p:nvSpPr>
          <p:cNvPr id="24" name="chapter-tab-4">
            <a:extLst>
              <a:ext uri="{FF2B5EF4-FFF2-40B4-BE49-F238E27FC236}">
                <a16:creationId xmlns:a16="http://schemas.microsoft.com/office/drawing/2014/main" id="{80A3980F-8106-4B45-A61B-6941C59791A4}"/>
              </a:ext>
            </a:extLst>
          </p:cNvPr>
          <p:cNvSpPr>
            <a:spLocks noGrp="1"/>
          </p:cNvSpPr>
          <p:nvPr/>
        </p:nvSpPr>
        <p:spPr>
          <a:xfrm>
            <a:off x="6372225" y="4857750"/>
            <a:ext cx="2057400" cy="238125"/>
          </a:xfrm>
          <a:prstGeom prst="parallelogram">
            <a:avLst/>
          </a:prstGeom>
          <a:solidFill>
            <a:srgbClr val="C9534B"/>
          </a:solidFill>
          <a:ln w="11430">
            <a:solidFill>
              <a:srgbClr val="C9534B"/>
            </a:solidFill>
            <a:prstDash val="solid"/>
          </a:ln>
        </p:spPr>
        <p:txBody>
          <a:bodyPr wrap="none" lIns="76200" tIns="0" rIns="76200" bIns="0" anchor="ctr">
            <a:normAutofit/>
          </a:bodyPr>
          <a:lstStyle/>
          <a:p>
            <a:pPr algn="ctr">
              <a:buNone/>
              <a:defRPr sz="998" b="1">
                <a:solidFill>
                  <a:srgbClr val="FFFFFF"/>
                </a:solidFill>
                <a:latin typeface="Noto Sans CJK JP"/>
                <a:ea typeface="Noto Sans CJK JP"/>
                <a:cs typeface="Noto Sans CJK JP"/>
              </a:defRPr>
            </a:pPr>
            <a:r>
              <a:rPr sz="998" b="1">
                <a:solidFill>
                  <a:srgbClr val="FFFFFF"/>
                </a:solidFill>
                <a:latin typeface="Noto Sans CJK JP"/>
                <a:ea typeface="Noto Sans CJK JP"/>
                <a:cs typeface="Noto Sans CJK JP"/>
              </a:rPr>
              <a:t>4 結論</a:t>
            </a:r>
          </a:p>
        </p:txBody>
      </p:sp>
      <p:sp>
        <p:nvSpPr>
          <p:cNvPr id="25" name="s18-num-0">
            <a:extLst>
              <a:ext uri="{FF2B5EF4-FFF2-40B4-BE49-F238E27FC236}">
                <a16:creationId xmlns:a16="http://schemas.microsoft.com/office/drawing/2014/main" id="{998A60DF-BE16-48C5-9901-7CF978BCD2A5}"/>
              </a:ext>
            </a:extLst>
          </p:cNvPr>
          <p:cNvSpPr>
            <a:spLocks noGrp="1"/>
          </p:cNvSpPr>
          <p:nvPr/>
        </p:nvSpPr>
        <p:spPr>
          <a:xfrm>
            <a:off x="523875" y="1828800"/>
            <a:ext cx="904875" cy="666750"/>
          </a:xfrm>
          <a:prstGeom prst="rect">
            <a:avLst/>
          </a:prstGeom>
          <a:noFill/>
          <a:ln w="0">
            <a:noFill/>
            <a:prstDash val="solid"/>
          </a:ln>
        </p:spPr>
        <p:txBody>
          <a:bodyPr wrap="square" lIns="0" tIns="0" rIns="0" bIns="0" anchor="ctr">
            <a:normAutofit/>
          </a:bodyPr>
          <a:lstStyle/>
          <a:p>
            <a:pPr algn="r">
              <a:defRPr sz="3075" b="1">
                <a:solidFill>
                  <a:srgbClr val="215FB4"/>
                </a:solidFill>
                <a:latin typeface="Georgia"/>
                <a:ea typeface="Georgia"/>
                <a:cs typeface="Georgia"/>
              </a:defRPr>
            </a:pPr>
            <a:r>
              <a:rPr sz="3075" b="1">
                <a:solidFill>
                  <a:srgbClr val="215FB4"/>
                </a:solidFill>
                <a:latin typeface="Georgia"/>
                <a:ea typeface="Georgia"/>
                <a:cs typeface="Georgia"/>
              </a:rPr>
              <a:t>01</a:t>
            </a:r>
          </a:p>
        </p:txBody>
      </p:sp>
      <p:sp>
        <p:nvSpPr>
          <p:cNvPr id="26" name="s18-vrule-0">
            <a:extLst>
              <a:ext uri="{FF2B5EF4-FFF2-40B4-BE49-F238E27FC236}">
                <a16:creationId xmlns:a16="http://schemas.microsoft.com/office/drawing/2014/main" id="{C5BC3F3F-A82F-41BF-8DAA-DFC395AE423B}"/>
              </a:ext>
            </a:extLst>
          </p:cNvPr>
          <p:cNvSpPr>
            <a:spLocks noGrp="1"/>
          </p:cNvSpPr>
          <p:nvPr/>
        </p:nvSpPr>
        <p:spPr>
          <a:xfrm>
            <a:off x="1571625" y="1857375"/>
            <a:ext cx="19050" cy="619125"/>
          </a:xfrm>
          <a:prstGeom prst="rect">
            <a:avLst/>
          </a:prstGeom>
          <a:solidFill>
            <a:srgbClr val="215FB4"/>
          </a:solidFill>
          <a:ln w="0">
            <a:noFill/>
            <a:prstDash val="solid"/>
          </a:ln>
        </p:spPr>
      </p:sp>
      <p:sp>
        <p:nvSpPr>
          <p:cNvPr id="27" name="s18-title-0">
            <a:extLst>
              <a:ext uri="{FF2B5EF4-FFF2-40B4-BE49-F238E27FC236}">
                <a16:creationId xmlns:a16="http://schemas.microsoft.com/office/drawing/2014/main" id="{5BD94D8B-4918-4EEB-912C-533B9EE96416}"/>
              </a:ext>
            </a:extLst>
          </p:cNvPr>
          <p:cNvSpPr>
            <a:spLocks noGrp="1"/>
          </p:cNvSpPr>
          <p:nvPr/>
        </p:nvSpPr>
        <p:spPr>
          <a:xfrm>
            <a:off x="1828800" y="1828800"/>
            <a:ext cx="6619875" cy="361950"/>
          </a:xfrm>
          <a:prstGeom prst="rect">
            <a:avLst/>
          </a:prstGeom>
          <a:noFill/>
          <a:ln w="0">
            <a:noFill/>
            <a:prstDash val="solid"/>
          </a:ln>
        </p:spPr>
        <p:txBody>
          <a:bodyPr wrap="square" lIns="0" tIns="0" rIns="0" bIns="0" anchor="ctr">
            <a:normAutofit/>
          </a:bodyPr>
          <a:lstStyle/>
          <a:p>
            <a:pPr algn="l">
              <a:defRPr sz="1575" b="1">
                <a:solidFill>
                  <a:srgbClr val="111827"/>
                </a:solidFill>
                <a:latin typeface="Noto Sans CJK JP"/>
                <a:ea typeface="Noto Sans CJK JP"/>
                <a:cs typeface="Noto Sans CJK JP"/>
              </a:defRPr>
            </a:pPr>
            <a:r>
              <a:rPr lang="en-US" sz="1575" b="1" dirty="0">
                <a:solidFill>
                  <a:srgbClr val="111827"/>
                </a:solidFill>
                <a:latin typeface="Noto Sans CJK JP"/>
                <a:ea typeface="Noto Sans CJK JP"/>
                <a:cs typeface="Noto Sans CJK JP"/>
              </a:rPr>
              <a:t>DC</a:t>
            </a:r>
            <a:r>
              <a:rPr lang="ja-JP" altLang="en-US" sz="1575" b="1" dirty="0">
                <a:solidFill>
                  <a:srgbClr val="111827"/>
                </a:solidFill>
                <a:latin typeface="Noto Sans CJK JP"/>
                <a:ea typeface="Noto Sans CJK JP"/>
                <a:cs typeface="Noto Sans CJK JP"/>
              </a:rPr>
              <a:t>固有の制約下で、内生的に最適グライドパスを生成</a:t>
            </a:r>
            <a:endParaRPr sz="1575" b="1" dirty="0">
              <a:solidFill>
                <a:srgbClr val="111827"/>
              </a:solidFill>
              <a:latin typeface="Noto Sans CJK JP"/>
              <a:ea typeface="Noto Sans CJK JP"/>
              <a:cs typeface="Noto Sans CJK JP"/>
            </a:endParaRPr>
          </a:p>
        </p:txBody>
      </p:sp>
      <p:sp>
        <p:nvSpPr>
          <p:cNvPr id="28" name="s18-sub-0">
            <a:extLst>
              <a:ext uri="{FF2B5EF4-FFF2-40B4-BE49-F238E27FC236}">
                <a16:creationId xmlns:a16="http://schemas.microsoft.com/office/drawing/2014/main" id="{365CAD3F-BE09-4029-AD9C-239F97FC8923}"/>
              </a:ext>
            </a:extLst>
          </p:cNvPr>
          <p:cNvSpPr>
            <a:spLocks noGrp="1"/>
          </p:cNvSpPr>
          <p:nvPr/>
        </p:nvSpPr>
        <p:spPr>
          <a:xfrm>
            <a:off x="1828800" y="2200275"/>
            <a:ext cx="6619875" cy="266700"/>
          </a:xfrm>
          <a:prstGeom prst="rect">
            <a:avLst/>
          </a:prstGeom>
          <a:noFill/>
          <a:ln w="0">
            <a:noFill/>
            <a:prstDash val="solid"/>
          </a:ln>
        </p:spPr>
        <p:txBody>
          <a:bodyPr wrap="square" lIns="0" tIns="0" rIns="0" bIns="0" anchor="ctr">
            <a:normAutofit/>
          </a:bodyPr>
          <a:lstStyle/>
          <a:p>
            <a:pPr algn="l">
              <a:defRPr sz="990" b="0">
                <a:solidFill>
                  <a:srgbClr val="64748B"/>
                </a:solidFill>
                <a:latin typeface="Noto Sans CJK JP"/>
                <a:ea typeface="Noto Sans CJK JP"/>
                <a:cs typeface="Noto Sans CJK JP"/>
              </a:defRPr>
            </a:pPr>
            <a:r>
              <a:rPr lang="en-US" altLang="ja-JP" sz="990" b="0" dirty="0">
                <a:solidFill>
                  <a:srgbClr val="64748B"/>
                </a:solidFill>
                <a:latin typeface="Noto Sans CJK JP"/>
                <a:ea typeface="Noto Sans CJK JP"/>
                <a:cs typeface="Noto Sans CJK JP"/>
              </a:rPr>
              <a:t>TDF</a:t>
            </a:r>
            <a:r>
              <a:rPr lang="ja-JP" altLang="en-US" sz="990" b="0" dirty="0">
                <a:solidFill>
                  <a:srgbClr val="64748B"/>
                </a:solidFill>
                <a:latin typeface="Noto Sans CJK JP"/>
                <a:ea typeface="Noto Sans CJK JP"/>
                <a:cs typeface="Noto Sans CJK JP"/>
              </a:rPr>
              <a:t>の特徴的グライドパスは、年齢や残高の状態から内生的に導出</a:t>
            </a:r>
            <a:endParaRPr sz="990" b="0" dirty="0">
              <a:solidFill>
                <a:srgbClr val="64748B"/>
              </a:solidFill>
              <a:latin typeface="Noto Sans CJK JP"/>
              <a:ea typeface="Noto Sans CJK JP"/>
              <a:cs typeface="Noto Sans CJK JP"/>
            </a:endParaRPr>
          </a:p>
        </p:txBody>
      </p:sp>
      <p:sp>
        <p:nvSpPr>
          <p:cNvPr id="29" name="s18-divider-0">
            <a:extLst>
              <a:ext uri="{FF2B5EF4-FFF2-40B4-BE49-F238E27FC236}">
                <a16:creationId xmlns:a16="http://schemas.microsoft.com/office/drawing/2014/main" id="{E7EC1579-D6F7-4656-9546-83288A6E2B56}"/>
              </a:ext>
            </a:extLst>
          </p:cNvPr>
          <p:cNvSpPr>
            <a:spLocks noGrp="1"/>
          </p:cNvSpPr>
          <p:nvPr/>
        </p:nvSpPr>
        <p:spPr>
          <a:xfrm>
            <a:off x="1828800" y="2628900"/>
            <a:ext cx="6619875" cy="9525"/>
          </a:xfrm>
          <a:prstGeom prst="rect">
            <a:avLst/>
          </a:prstGeom>
          <a:solidFill>
            <a:srgbClr val="DDE4EC"/>
          </a:solidFill>
          <a:ln w="0">
            <a:noFill/>
            <a:prstDash val="solid"/>
          </a:ln>
        </p:spPr>
      </p:sp>
      <p:sp>
        <p:nvSpPr>
          <p:cNvPr id="30" name="s18-num-1">
            <a:extLst>
              <a:ext uri="{FF2B5EF4-FFF2-40B4-BE49-F238E27FC236}">
                <a16:creationId xmlns:a16="http://schemas.microsoft.com/office/drawing/2014/main" id="{B6619AD2-2C97-41D9-AB5A-97D8CC00FF1A}"/>
              </a:ext>
            </a:extLst>
          </p:cNvPr>
          <p:cNvSpPr>
            <a:spLocks noGrp="1"/>
          </p:cNvSpPr>
          <p:nvPr/>
        </p:nvSpPr>
        <p:spPr>
          <a:xfrm>
            <a:off x="523875" y="2762250"/>
            <a:ext cx="904875" cy="666750"/>
          </a:xfrm>
          <a:prstGeom prst="rect">
            <a:avLst/>
          </a:prstGeom>
          <a:noFill/>
          <a:ln w="0">
            <a:noFill/>
            <a:prstDash val="solid"/>
          </a:ln>
        </p:spPr>
        <p:txBody>
          <a:bodyPr wrap="square" lIns="0" tIns="0" rIns="0" bIns="0" anchor="ctr">
            <a:normAutofit/>
          </a:bodyPr>
          <a:lstStyle/>
          <a:p>
            <a:pPr algn="r">
              <a:defRPr sz="3075" b="1">
                <a:solidFill>
                  <a:srgbClr val="16875C"/>
                </a:solidFill>
                <a:latin typeface="Georgia"/>
                <a:ea typeface="Georgia"/>
                <a:cs typeface="Georgia"/>
              </a:defRPr>
            </a:pPr>
            <a:r>
              <a:rPr sz="3075" b="1">
                <a:solidFill>
                  <a:srgbClr val="16875C"/>
                </a:solidFill>
                <a:latin typeface="Georgia"/>
                <a:ea typeface="Georgia"/>
                <a:cs typeface="Georgia"/>
              </a:rPr>
              <a:t>02</a:t>
            </a:r>
          </a:p>
        </p:txBody>
      </p:sp>
      <p:sp>
        <p:nvSpPr>
          <p:cNvPr id="31" name="s18-vrule-1">
            <a:extLst>
              <a:ext uri="{FF2B5EF4-FFF2-40B4-BE49-F238E27FC236}">
                <a16:creationId xmlns:a16="http://schemas.microsoft.com/office/drawing/2014/main" id="{DF81800D-7402-4247-B9A0-8CD33D51499D}"/>
              </a:ext>
            </a:extLst>
          </p:cNvPr>
          <p:cNvSpPr>
            <a:spLocks noGrp="1"/>
          </p:cNvSpPr>
          <p:nvPr/>
        </p:nvSpPr>
        <p:spPr>
          <a:xfrm>
            <a:off x="1571625" y="2790825"/>
            <a:ext cx="19050" cy="619125"/>
          </a:xfrm>
          <a:prstGeom prst="rect">
            <a:avLst/>
          </a:prstGeom>
          <a:solidFill>
            <a:srgbClr val="16875C"/>
          </a:solidFill>
          <a:ln w="0">
            <a:noFill/>
            <a:prstDash val="solid"/>
          </a:ln>
        </p:spPr>
      </p:sp>
      <p:sp>
        <p:nvSpPr>
          <p:cNvPr id="32" name="s18-title-1">
            <a:extLst>
              <a:ext uri="{FF2B5EF4-FFF2-40B4-BE49-F238E27FC236}">
                <a16:creationId xmlns:a16="http://schemas.microsoft.com/office/drawing/2014/main" id="{FF7B5820-5A94-4619-9B3E-CB903440A644}"/>
              </a:ext>
            </a:extLst>
          </p:cNvPr>
          <p:cNvSpPr>
            <a:spLocks noGrp="1"/>
          </p:cNvSpPr>
          <p:nvPr/>
        </p:nvSpPr>
        <p:spPr>
          <a:xfrm>
            <a:off x="1828800" y="2762250"/>
            <a:ext cx="7169150" cy="361950"/>
          </a:xfrm>
          <a:prstGeom prst="rect">
            <a:avLst/>
          </a:prstGeom>
          <a:noFill/>
          <a:ln w="0">
            <a:noFill/>
            <a:prstDash val="solid"/>
          </a:ln>
        </p:spPr>
        <p:txBody>
          <a:bodyPr wrap="square" lIns="0" tIns="0" rIns="0" bIns="0" anchor="ctr">
            <a:normAutofit/>
          </a:bodyPr>
          <a:lstStyle/>
          <a:p>
            <a:pPr>
              <a:defRPr sz="1575" b="1">
                <a:solidFill>
                  <a:srgbClr val="111827"/>
                </a:solidFill>
                <a:latin typeface="Noto Sans CJK JP"/>
                <a:ea typeface="Noto Sans CJK JP"/>
                <a:cs typeface="Noto Sans CJK JP"/>
              </a:defRPr>
            </a:pPr>
            <a:r>
              <a:rPr lang="ja-JP" altLang="en-US" sz="1575" b="1" dirty="0"/>
              <a:t>新指標</a:t>
            </a:r>
            <a:r>
              <a:rPr lang="ja-JP" altLang="ja-JP" sz="1575" b="1" dirty="0"/>
              <a:t>ローリング評価</a:t>
            </a:r>
            <a:r>
              <a:rPr lang="ja-JP" altLang="en-US" sz="1575" b="1" dirty="0"/>
              <a:t>と</a:t>
            </a:r>
            <a:r>
              <a:rPr lang="en-US" altLang="ja-JP" sz="1575" b="1" dirty="0"/>
              <a:t>MGH</a:t>
            </a:r>
            <a:r>
              <a:rPr lang="ja-JP" altLang="en-US" sz="1575" b="1" dirty="0"/>
              <a:t>エンジンにより、複雑な数値計算の近似を実現</a:t>
            </a:r>
            <a:endParaRPr sz="1575" b="1" dirty="0">
              <a:solidFill>
                <a:srgbClr val="111827"/>
              </a:solidFill>
              <a:latin typeface="Noto Sans CJK JP"/>
              <a:ea typeface="Noto Sans CJK JP"/>
              <a:cs typeface="Noto Sans CJK JP"/>
            </a:endParaRPr>
          </a:p>
        </p:txBody>
      </p:sp>
      <p:sp>
        <p:nvSpPr>
          <p:cNvPr id="33" name="s18-sub-1">
            <a:extLst>
              <a:ext uri="{FF2B5EF4-FFF2-40B4-BE49-F238E27FC236}">
                <a16:creationId xmlns:a16="http://schemas.microsoft.com/office/drawing/2014/main" id="{E9CB1DC7-E471-4821-8F3C-1A9BDFE8D156}"/>
              </a:ext>
            </a:extLst>
          </p:cNvPr>
          <p:cNvSpPr>
            <a:spLocks noGrp="1"/>
          </p:cNvSpPr>
          <p:nvPr/>
        </p:nvSpPr>
        <p:spPr>
          <a:xfrm>
            <a:off x="1828800" y="3133725"/>
            <a:ext cx="6619875" cy="266700"/>
          </a:xfrm>
          <a:prstGeom prst="rect">
            <a:avLst/>
          </a:prstGeom>
          <a:noFill/>
          <a:ln w="0">
            <a:noFill/>
            <a:prstDash val="solid"/>
          </a:ln>
        </p:spPr>
        <p:txBody>
          <a:bodyPr wrap="square" lIns="0" tIns="0" rIns="0" bIns="0" anchor="ctr">
            <a:normAutofit/>
          </a:bodyPr>
          <a:lstStyle/>
          <a:p>
            <a:pPr>
              <a:defRPr sz="990" b="0">
                <a:solidFill>
                  <a:srgbClr val="64748B"/>
                </a:solidFill>
                <a:latin typeface="Noto Sans CJK JP"/>
                <a:ea typeface="Noto Sans CJK JP"/>
                <a:cs typeface="Noto Sans CJK JP"/>
              </a:defRPr>
            </a:pPr>
            <a:r>
              <a:rPr lang="en-US" altLang="ja-JP" sz="990" b="0" dirty="0">
                <a:solidFill>
                  <a:srgbClr val="64748B"/>
                </a:solidFill>
                <a:latin typeface="Noto Sans CJK JP"/>
                <a:ea typeface="Noto Sans CJK JP"/>
                <a:cs typeface="Noto Sans CJK JP"/>
              </a:rPr>
              <a:t>10000</a:t>
            </a:r>
            <a:r>
              <a:rPr lang="ja-JP" altLang="en-US" sz="990" b="0" dirty="0">
                <a:solidFill>
                  <a:srgbClr val="64748B"/>
                </a:solidFill>
                <a:latin typeface="Noto Sans CJK JP"/>
                <a:ea typeface="Noto Sans CJK JP"/>
                <a:cs typeface="Noto Sans CJK JP"/>
              </a:rPr>
              <a:t>パス</a:t>
            </a:r>
            <a:r>
              <a:rPr lang="en-US" altLang="ja-JP" sz="990" b="0" dirty="0">
                <a:solidFill>
                  <a:srgbClr val="64748B"/>
                </a:solidFill>
                <a:latin typeface="Noto Sans CJK JP"/>
                <a:ea typeface="Noto Sans CJK JP"/>
                <a:cs typeface="Noto Sans CJK JP"/>
              </a:rPr>
              <a:t>×480</a:t>
            </a:r>
            <a:r>
              <a:rPr lang="ja-JP" altLang="en-US" sz="990" b="0" dirty="0">
                <a:solidFill>
                  <a:srgbClr val="64748B"/>
                </a:solidFill>
                <a:latin typeface="Noto Sans CJK JP"/>
                <a:ea typeface="Noto Sans CJK JP"/>
                <a:cs typeface="Noto Sans CJK JP"/>
              </a:rPr>
              <a:t>期のような実務負荷の高い計算から、</a:t>
            </a:r>
            <a:r>
              <a:rPr lang="en-US" altLang="ja-JP" sz="990" b="0" dirty="0">
                <a:solidFill>
                  <a:srgbClr val="64748B"/>
                </a:solidFill>
                <a:latin typeface="Noto Sans CJK JP"/>
                <a:ea typeface="Noto Sans CJK JP"/>
                <a:cs typeface="Noto Sans CJK JP"/>
              </a:rPr>
              <a:t>5</a:t>
            </a:r>
            <a:r>
              <a:rPr lang="ja-JP" altLang="en-US" sz="990" b="0" dirty="0">
                <a:solidFill>
                  <a:srgbClr val="64748B"/>
                </a:solidFill>
                <a:latin typeface="Noto Sans CJK JP"/>
                <a:ea typeface="Noto Sans CJK JP"/>
                <a:cs typeface="Noto Sans CJK JP"/>
              </a:rPr>
              <a:t>ノード</a:t>
            </a:r>
            <a:r>
              <a:rPr lang="en-US" altLang="ja-JP" sz="990" dirty="0">
                <a:solidFill>
                  <a:srgbClr val="64748B"/>
                </a:solidFill>
                <a:latin typeface="Noto Sans CJK JP"/>
                <a:ea typeface="Noto Sans CJK JP"/>
                <a:cs typeface="Noto Sans CJK JP"/>
              </a:rPr>
              <a:t>× 480</a:t>
            </a:r>
            <a:r>
              <a:rPr lang="ja-JP" altLang="en-US" sz="990" dirty="0">
                <a:solidFill>
                  <a:srgbClr val="64748B"/>
                </a:solidFill>
                <a:latin typeface="Noto Sans CJK JP"/>
                <a:ea typeface="Noto Sans CJK JP"/>
                <a:cs typeface="Noto Sans CJK JP"/>
              </a:rPr>
              <a:t>期程度の簡便な計算で本番計算を実現</a:t>
            </a:r>
            <a:endParaRPr sz="990" b="0" dirty="0">
              <a:solidFill>
                <a:srgbClr val="64748B"/>
              </a:solidFill>
              <a:latin typeface="Noto Sans CJK JP"/>
              <a:ea typeface="Noto Sans CJK JP"/>
              <a:cs typeface="Noto Sans CJK JP"/>
            </a:endParaRPr>
          </a:p>
        </p:txBody>
      </p:sp>
      <p:sp>
        <p:nvSpPr>
          <p:cNvPr id="34" name="s18-divider-1">
            <a:extLst>
              <a:ext uri="{FF2B5EF4-FFF2-40B4-BE49-F238E27FC236}">
                <a16:creationId xmlns:a16="http://schemas.microsoft.com/office/drawing/2014/main" id="{84580ACA-E869-4901-8104-A8EEFAE3C5C1}"/>
              </a:ext>
            </a:extLst>
          </p:cNvPr>
          <p:cNvSpPr>
            <a:spLocks noGrp="1"/>
          </p:cNvSpPr>
          <p:nvPr/>
        </p:nvSpPr>
        <p:spPr>
          <a:xfrm>
            <a:off x="1828800" y="3562350"/>
            <a:ext cx="6619875" cy="9525"/>
          </a:xfrm>
          <a:prstGeom prst="rect">
            <a:avLst/>
          </a:prstGeom>
          <a:solidFill>
            <a:srgbClr val="DDE4EC"/>
          </a:solidFill>
          <a:ln w="0">
            <a:noFill/>
            <a:prstDash val="solid"/>
          </a:ln>
        </p:spPr>
      </p:sp>
      <p:sp>
        <p:nvSpPr>
          <p:cNvPr id="35" name="s18-num-2">
            <a:extLst>
              <a:ext uri="{FF2B5EF4-FFF2-40B4-BE49-F238E27FC236}">
                <a16:creationId xmlns:a16="http://schemas.microsoft.com/office/drawing/2014/main" id="{87E99484-B956-47C1-9AA5-49AD30BF422A}"/>
              </a:ext>
            </a:extLst>
          </p:cNvPr>
          <p:cNvSpPr>
            <a:spLocks noGrp="1"/>
          </p:cNvSpPr>
          <p:nvPr/>
        </p:nvSpPr>
        <p:spPr>
          <a:xfrm>
            <a:off x="523875" y="3695700"/>
            <a:ext cx="904875" cy="666750"/>
          </a:xfrm>
          <a:prstGeom prst="rect">
            <a:avLst/>
          </a:prstGeom>
          <a:noFill/>
          <a:ln w="0">
            <a:noFill/>
            <a:prstDash val="solid"/>
          </a:ln>
        </p:spPr>
        <p:txBody>
          <a:bodyPr wrap="square" lIns="0" tIns="0" rIns="0" bIns="0" anchor="ctr">
            <a:normAutofit/>
          </a:bodyPr>
          <a:lstStyle/>
          <a:p>
            <a:pPr algn="r">
              <a:defRPr sz="3075" b="1">
                <a:solidFill>
                  <a:srgbClr val="D94138"/>
                </a:solidFill>
                <a:latin typeface="Georgia"/>
                <a:ea typeface="Georgia"/>
                <a:cs typeface="Georgia"/>
              </a:defRPr>
            </a:pPr>
            <a:r>
              <a:rPr lang="en-US" sz="3075" b="1" dirty="0">
                <a:solidFill>
                  <a:srgbClr val="D94138"/>
                </a:solidFill>
                <a:latin typeface="Georgia"/>
                <a:ea typeface="Georgia"/>
                <a:cs typeface="Georgia"/>
              </a:rPr>
              <a:t>0</a:t>
            </a:r>
            <a:r>
              <a:rPr sz="3075" b="1" dirty="0">
                <a:solidFill>
                  <a:srgbClr val="D94138"/>
                </a:solidFill>
                <a:latin typeface="Georgia"/>
                <a:ea typeface="Georgia"/>
                <a:cs typeface="Georgia"/>
              </a:rPr>
              <a:t>3</a:t>
            </a:r>
          </a:p>
        </p:txBody>
      </p:sp>
      <p:sp>
        <p:nvSpPr>
          <p:cNvPr id="36" name="s18-vrule-2">
            <a:extLst>
              <a:ext uri="{FF2B5EF4-FFF2-40B4-BE49-F238E27FC236}">
                <a16:creationId xmlns:a16="http://schemas.microsoft.com/office/drawing/2014/main" id="{7F618ACB-EBE1-49F4-BA9B-B7DD5808B4F3}"/>
              </a:ext>
            </a:extLst>
          </p:cNvPr>
          <p:cNvSpPr>
            <a:spLocks noGrp="1"/>
          </p:cNvSpPr>
          <p:nvPr/>
        </p:nvSpPr>
        <p:spPr>
          <a:xfrm>
            <a:off x="1571625" y="3724275"/>
            <a:ext cx="19050" cy="619125"/>
          </a:xfrm>
          <a:prstGeom prst="rect">
            <a:avLst/>
          </a:prstGeom>
          <a:solidFill>
            <a:srgbClr val="D94138"/>
          </a:solidFill>
          <a:ln w="0">
            <a:noFill/>
            <a:prstDash val="solid"/>
          </a:ln>
        </p:spPr>
      </p:sp>
      <p:sp>
        <p:nvSpPr>
          <p:cNvPr id="37" name="s18-title-2">
            <a:extLst>
              <a:ext uri="{FF2B5EF4-FFF2-40B4-BE49-F238E27FC236}">
                <a16:creationId xmlns:a16="http://schemas.microsoft.com/office/drawing/2014/main" id="{CB0C6A0A-4A93-4E78-8D3F-CE9EAFF9C45B}"/>
              </a:ext>
            </a:extLst>
          </p:cNvPr>
          <p:cNvSpPr>
            <a:spLocks noGrp="1"/>
          </p:cNvSpPr>
          <p:nvPr/>
        </p:nvSpPr>
        <p:spPr>
          <a:xfrm>
            <a:off x="1828800" y="3695700"/>
            <a:ext cx="6619875" cy="361950"/>
          </a:xfrm>
          <a:prstGeom prst="rect">
            <a:avLst/>
          </a:prstGeom>
          <a:noFill/>
          <a:ln w="0">
            <a:noFill/>
            <a:prstDash val="solid"/>
          </a:ln>
        </p:spPr>
        <p:txBody>
          <a:bodyPr wrap="square" lIns="0" tIns="0" rIns="0" bIns="0" anchor="ctr">
            <a:normAutofit/>
          </a:bodyPr>
          <a:lstStyle/>
          <a:p>
            <a:pPr algn="l">
              <a:defRPr sz="1575" b="1">
                <a:solidFill>
                  <a:srgbClr val="111827"/>
                </a:solidFill>
                <a:latin typeface="Noto Sans CJK JP"/>
                <a:ea typeface="Noto Sans CJK JP"/>
                <a:cs typeface="Noto Sans CJK JP"/>
              </a:defRPr>
            </a:pPr>
            <a:r>
              <a:rPr lang="ja-JP" altLang="en-US" sz="1575" b="1" dirty="0">
                <a:solidFill>
                  <a:srgbClr val="111827"/>
                </a:solidFill>
                <a:latin typeface="Noto Sans CJK JP"/>
                <a:ea typeface="Noto Sans CJK JP"/>
                <a:cs typeface="Noto Sans CJK JP"/>
              </a:rPr>
              <a:t>歪度選好を通じて、より受容可能なパーソナライズ運用を可能に</a:t>
            </a:r>
            <a:endParaRPr sz="1575" b="1" dirty="0">
              <a:solidFill>
                <a:srgbClr val="111827"/>
              </a:solidFill>
              <a:latin typeface="Noto Sans CJK JP"/>
              <a:ea typeface="Noto Sans CJK JP"/>
              <a:cs typeface="Noto Sans CJK JP"/>
            </a:endParaRPr>
          </a:p>
        </p:txBody>
      </p:sp>
      <p:sp>
        <p:nvSpPr>
          <p:cNvPr id="38" name="s18-sub-2">
            <a:extLst>
              <a:ext uri="{FF2B5EF4-FFF2-40B4-BE49-F238E27FC236}">
                <a16:creationId xmlns:a16="http://schemas.microsoft.com/office/drawing/2014/main" id="{A71EE908-D813-40C3-9A20-A29A8F0F1E92}"/>
              </a:ext>
            </a:extLst>
          </p:cNvPr>
          <p:cNvSpPr>
            <a:spLocks noGrp="1"/>
          </p:cNvSpPr>
          <p:nvPr/>
        </p:nvSpPr>
        <p:spPr>
          <a:xfrm>
            <a:off x="1828800" y="4067175"/>
            <a:ext cx="6619875" cy="266700"/>
          </a:xfrm>
          <a:prstGeom prst="rect">
            <a:avLst/>
          </a:prstGeom>
          <a:noFill/>
          <a:ln w="0">
            <a:noFill/>
            <a:prstDash val="solid"/>
          </a:ln>
        </p:spPr>
        <p:txBody>
          <a:bodyPr wrap="square" lIns="0" tIns="0" rIns="0" bIns="0" anchor="ctr">
            <a:normAutofit/>
          </a:bodyPr>
          <a:lstStyle/>
          <a:p>
            <a:pPr algn="l">
              <a:defRPr sz="990" b="0">
                <a:solidFill>
                  <a:srgbClr val="64748B"/>
                </a:solidFill>
                <a:latin typeface="Noto Sans CJK JP"/>
                <a:ea typeface="Noto Sans CJK JP"/>
                <a:cs typeface="Noto Sans CJK JP"/>
              </a:defRPr>
            </a:pPr>
            <a:r>
              <a:rPr lang="en-US" altLang="ja-JP" sz="990" b="0" dirty="0">
                <a:solidFill>
                  <a:srgbClr val="64748B"/>
                </a:solidFill>
                <a:latin typeface="Noto Sans CJK JP"/>
                <a:ea typeface="Noto Sans CJK JP"/>
                <a:cs typeface="Noto Sans CJK JP"/>
              </a:rPr>
              <a:t>U</a:t>
            </a:r>
            <a:r>
              <a:rPr lang="ja-JP" altLang="en-US" sz="990" b="0" dirty="0">
                <a:solidFill>
                  <a:srgbClr val="64748B"/>
                </a:solidFill>
                <a:latin typeface="Noto Sans CJK JP"/>
                <a:ea typeface="Noto Sans CJK JP"/>
                <a:cs typeface="Noto Sans CJK JP"/>
              </a:rPr>
              <a:t>字から減少型のグライドパスへ形状変更し受容可能にしたうえで、上振れ追究も実現</a:t>
            </a:r>
            <a:endParaRPr sz="990" b="0" dirty="0">
              <a:solidFill>
                <a:srgbClr val="64748B"/>
              </a:solidFill>
              <a:latin typeface="Noto Sans CJK JP"/>
              <a:ea typeface="Noto Sans CJK JP"/>
              <a:cs typeface="Noto Sans CJK JP"/>
            </a:endParaRPr>
          </a:p>
        </p:txBody>
      </p:sp>
    </p:spTree>
    <p:extLst>
      <p:ext uri="{BB962C8B-B14F-4D97-AF65-F5344CB8AC3E}">
        <p14:creationId xmlns:p14="http://schemas.microsoft.com/office/powerpoint/2010/main" val="8753977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1386</TotalTime>
  <Words>1883</Words>
  <Application>Microsoft Office PowerPoint</Application>
  <DocSecurity>0</DocSecurity>
  <PresentationFormat>画面に合わせる (16:9)</PresentationFormat>
  <Paragraphs>472</Paragraphs>
  <Slides>24</Slides>
  <Notes>24</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24</vt:i4>
      </vt:variant>
    </vt:vector>
  </HeadingPairs>
  <TitlesOfParts>
    <vt:vector size="33" baseType="lpstr">
      <vt:lpstr>Noto Sans CJK JP</vt:lpstr>
      <vt:lpstr>Noto Sans JP</vt:lpstr>
      <vt:lpstr>Yu Gothic</vt:lpstr>
      <vt:lpstr>Arial</vt:lpstr>
      <vt:lpstr>Calibri</vt:lpstr>
      <vt:lpstr>Cambria Math</vt:lpstr>
      <vt:lpstr>Century Gothic</vt:lpstr>
      <vt:lpstr>Georgia</vt:lpstr>
      <vt:lpstr>Office Theme</vt:lpstr>
      <vt:lpstr>DC年金の制約付き最適グライドパス</vt:lpstr>
      <vt:lpstr>退職時点の残高最大化のために、 運用比率で最適化</vt:lpstr>
      <vt:lpstr>Black–Scholes市場に c と π と投資制約を加え、DC残高 X の富モデルになる</vt:lpstr>
      <vt:lpstr>平均・分散最適化は複数の種類が存在する</vt:lpstr>
      <vt:lpstr>（参考）平均・分散最適化の定式化</vt:lpstr>
      <vt:lpstr>既存研究の比較にDC固有の条件を加え、clipとstrictの差を数値検証</vt:lpstr>
      <vt:lpstr>clipは「解いてから切る」、strictは「制約の中で解く」</vt:lpstr>
      <vt:lpstr>strict解は、制約を3つの投資領域と自由境界へ変える</vt:lpstr>
      <vt:lpstr>1つの遷移核で統合シミュレーション：後退で最適化・前進で評価</vt:lpstr>
      <vt:lpstr>期待終端富を84.78に揃え、分布とリスク時期を比較する</vt:lpstr>
      <vt:lpstr>同じ平均でも、左裾・中央値・右裾は大きく異なる</vt:lpstr>
      <vt:lpstr>（参考）定年時点での残高分布</vt:lpstr>
      <vt:lpstr>dTCMVはU字型、他の戦略は概ね単調減少</vt:lpstr>
      <vt:lpstr>clipの近似精度は解概念に依存する</vt:lpstr>
      <vt:lpstr>（参考）感応度　–安全利回りr  &amp; リスク資産利回りmu –</vt:lpstr>
      <vt:lpstr>（参考）感応度　–リスク資産ボラティリティsigma  &amp; 掛金c –</vt:lpstr>
      <vt:lpstr>（参考）感応度　–総資産D–</vt:lpstr>
      <vt:lpstr>なぜローリング評価=時点ごとのリスク再評価が必要か</vt:lpstr>
      <vt:lpstr>将来時点のある残高から始めると、dTCMVはより上方への裾が広がる</vt:lpstr>
      <vt:lpstr>（参考）ローリング後の定年時点での残高分布</vt:lpstr>
      <vt:lpstr>歪度選好は「リスクを取る時期」を組み替える</vt:lpstr>
      <vt:lpstr>（参考）MVS最適化の定年時点での残高分布</vt:lpstr>
      <vt:lpstr>4つの解概念は、実務上の3層運用へ翻訳できる</vt:lpstr>
      <vt:lpstr>まとめ・今回の研究成果</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義基 永山</cp:lastModifiedBy>
  <cp:revision>19</cp:revision>
  <dcterms:created xsi:type="dcterms:W3CDTF">2026-08-12T09:36:17Z</dcterms:created>
  <dcterms:modified xsi:type="dcterms:W3CDTF">2026-09-14T11:50:57Z</dcterms:modified>
</cp:coreProperties>
</file>